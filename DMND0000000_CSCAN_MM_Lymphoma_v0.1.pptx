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1882" r:id="rId2"/>
    <p:sldId id="2109" r:id="rId3"/>
    <p:sldId id="2110" r:id="rId4"/>
    <p:sldId id="2111" r:id="rId5"/>
    <p:sldId id="2112" r:id="rId6"/>
    <p:sldId id="2113" r:id="rId7"/>
    <p:sldId id="2114" r:id="rId8"/>
    <p:sldId id="2106" r:id="rId9"/>
    <p:sldId id="2107" r:id="rId10"/>
    <p:sldId id="2116" r:id="rId11"/>
    <p:sldId id="21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 N Tripathi" initials="HNT" lastIdx="1" clrIdx="0">
    <p:extLst>
      <p:ext uri="{19B8F6BF-5375-455C-9EA6-DF929625EA0E}">
        <p15:presenceInfo xmlns:p15="http://schemas.microsoft.com/office/powerpoint/2012/main" userId="S::harsh.n.tripathi@zs.com::003d1333-c52e-4198-b04d-74de7066c530" providerId="AD"/>
      </p:ext>
    </p:extLst>
  </p:cmAuthor>
  <p:cmAuthor id="2" name="Prasanth U" initials="PU" lastIdx="4" clrIdx="1">
    <p:extLst>
      <p:ext uri="{19B8F6BF-5375-455C-9EA6-DF929625EA0E}">
        <p15:presenceInfo xmlns:p15="http://schemas.microsoft.com/office/powerpoint/2012/main" userId="S-1-5-21-2460924596-1293597354-2123413825-156092" providerId="AD"/>
      </p:ext>
    </p:extLst>
  </p:cmAuthor>
  <p:cmAuthor id="3" name="Abhay Sharma" initials="AS" lastIdx="2" clrIdx="2">
    <p:extLst>
      <p:ext uri="{19B8F6BF-5375-455C-9EA6-DF929625EA0E}">
        <p15:presenceInfo xmlns:p15="http://schemas.microsoft.com/office/powerpoint/2012/main" userId="S::abhay.sharma@zs.com::3a235f68-679c-4f7c-8d96-4db4025272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CCCC"/>
    <a:srgbClr val="F2F2F2"/>
    <a:srgbClr val="E7EDF4"/>
    <a:srgbClr val="BDFFE3"/>
    <a:srgbClr val="E9EDF4"/>
    <a:srgbClr val="FDA97D"/>
    <a:srgbClr val="D9D9D9"/>
    <a:srgbClr val="9BFFD5"/>
    <a:srgbClr val="BDA2A2"/>
    <a:srgbClr val="BDE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AFD8959-9B3F-4D47-BAAB-44C6AA61CEA2}">
  <a:tblStyle styleId="{7AFD8959-9B3F-4D47-BAAB-44C6AA61CEA2}" styleName="BMS Table Gray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EEE7E7"/>
          </a:solidFill>
        </a:fill>
      </a:tcStyle>
    </a:band2H>
    <a:band1V>
      <a:tcStyle>
        <a:tcBdr/>
        <a:fill>
          <a:solidFill>
            <a:srgbClr val="EEE7E7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chemeClr val="tx1"/>
              </a:solidFill>
            </a:ln>
          </a:top>
          <a:bottom>
            <a:ln w="19050">
              <a:solidFill>
                <a:schemeClr val="tx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1"/>
          </a:solidFill>
        </a:fill>
      </a:tcStyle>
    </a:firstRow>
  </a:tblStyle>
  <a:tblStyle styleId="{AB131486-7932-478D-BA04-5426E13E8524}" styleName="BMS Table Amber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FD186"/>
              </a:solidFill>
            </a:ln>
          </a:top>
          <a:bottom>
            <a:ln w="6350">
              <a:solidFill>
                <a:srgbClr val="FFD186"/>
              </a:solidFill>
            </a:ln>
          </a:bottom>
          <a:insideH>
            <a:ln w="6350">
              <a:solidFill>
                <a:srgbClr val="FFD18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ECCD"/>
          </a:solidFill>
        </a:fill>
      </a:tcStyle>
    </a:band2H>
    <a:band1V>
      <a:tcStyle>
        <a:tcBdr/>
        <a:fill>
          <a:solidFill>
            <a:srgbClr val="FFECCD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FD186"/>
              </a:solidFill>
            </a:ln>
          </a:top>
          <a:bottom>
            <a:ln w="19050">
              <a:solidFill>
                <a:srgbClr val="FFD186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D186"/>
          </a:solidFill>
        </a:fill>
      </a:tcStyle>
    </a:firstRow>
  </a:tblStyle>
  <a:tblStyle styleId="{17987A09-FBC6-4D12-BA78-BE2ACF4811F2}" styleName="BMS Table Peach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DA97D"/>
              </a:solidFill>
            </a:ln>
          </a:top>
          <a:bottom>
            <a:ln w="6350">
              <a:solidFill>
                <a:srgbClr val="FDA97D"/>
              </a:solidFill>
            </a:ln>
          </a:bottom>
          <a:insideH>
            <a:ln w="6350">
              <a:solidFill>
                <a:srgbClr val="FDA97D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EDCCA"/>
          </a:solidFill>
        </a:fill>
      </a:tcStyle>
    </a:band2H>
    <a:band1V>
      <a:tcStyle>
        <a:tcBdr/>
        <a:fill>
          <a:solidFill>
            <a:srgbClr val="FEDCCA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DA97D"/>
              </a:solidFill>
            </a:ln>
          </a:top>
          <a:bottom>
            <a:ln w="19050">
              <a:solidFill>
                <a:srgbClr val="FDA97D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DA97D"/>
          </a:solidFill>
        </a:fill>
      </a:tcStyle>
    </a:firstRow>
  </a:tblStyle>
  <a:tblStyle styleId="{3FB51E2C-7BFB-4B95-B8AA-B85EA3A58659}" styleName="BMS Table Sienn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CB7C78"/>
              </a:solidFill>
            </a:ln>
          </a:top>
          <a:bottom>
            <a:ln w="6350">
              <a:solidFill>
                <a:srgbClr val="CB7C78"/>
              </a:solidFill>
            </a:ln>
          </a:bottom>
          <a:insideH>
            <a:ln w="6350">
              <a:solidFill>
                <a:srgbClr val="CB7C7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AC5C5"/>
          </a:solidFill>
        </a:fill>
      </a:tcStyle>
    </a:band2H>
    <a:band1V>
      <a:tcStyle>
        <a:tcBdr/>
        <a:fill>
          <a:solidFill>
            <a:srgbClr val="DAC5C5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CB7C78"/>
              </a:solidFill>
            </a:ln>
          </a:top>
          <a:bottom>
            <a:ln w="19050">
              <a:solidFill>
                <a:srgbClr val="CB7C78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B7C78"/>
          </a:solidFill>
        </a:fill>
      </a:tcStyle>
    </a:firstRow>
  </a:tblStyle>
  <a:tblStyle styleId="{341639D1-FA1C-4AE1-8705-CAF77B6581E0}" styleName="BMS Table Mint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59FFB9"/>
              </a:solidFill>
            </a:ln>
          </a:top>
          <a:bottom>
            <a:ln w="6350">
              <a:solidFill>
                <a:srgbClr val="59FFB9"/>
              </a:solidFill>
            </a:ln>
          </a:bottom>
          <a:insideH>
            <a:ln w="6350">
              <a:solidFill>
                <a:srgbClr val="59FFB9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5FFE6"/>
          </a:solidFill>
        </a:fill>
      </a:tcStyle>
    </a:band2H>
    <a:band1V>
      <a:tcStyle>
        <a:tcBdr/>
        <a:fill>
          <a:solidFill>
            <a:srgbClr val="C5FFE6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59FFB9"/>
              </a:solidFill>
            </a:ln>
          </a:top>
          <a:bottom>
            <a:ln w="19050">
              <a:solidFill>
                <a:srgbClr val="59FFB9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59FFB9"/>
          </a:solidFill>
        </a:fill>
      </a:tcStyle>
    </a:firstRow>
  </a:tblStyle>
  <a:tblStyle styleId="{634F3CDC-9E1D-4E82-9B7D-985DE547036D}" styleName="BMS Table Aqu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33D6F1"/>
              </a:solidFill>
            </a:ln>
          </a:top>
          <a:bottom>
            <a:ln w="6350">
              <a:solidFill>
                <a:srgbClr val="33D6F1"/>
              </a:solidFill>
            </a:ln>
          </a:bottom>
          <a:insideH>
            <a:ln w="6350">
              <a:solidFill>
                <a:srgbClr val="33D6F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0F2FB"/>
          </a:solidFill>
        </a:fill>
      </a:tcStyle>
    </a:band2H>
    <a:band1V>
      <a:tcStyle>
        <a:tcBdr/>
        <a:fill>
          <a:solidFill>
            <a:srgbClr val="C0F2FB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33D6F1"/>
              </a:solidFill>
            </a:ln>
          </a:top>
          <a:bottom>
            <a:ln w="19050">
              <a:solidFill>
                <a:srgbClr val="33D6F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33D6F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32" autoAdjust="0"/>
  </p:normalViewPr>
  <p:slideViewPr>
    <p:cSldViewPr snapToGrid="0" showGuides="1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66" d="100"/>
          <a:sy n="166" d="100"/>
        </p:scale>
        <p:origin x="546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6B232A-A90B-0843-9FE3-CD41AEF1F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EF4F6-6352-EF49-8B94-F88281AD3C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A1003-23F1-F848-ABD7-AA279ACD1B1C}" type="datetimeFigureOut">
              <a:rPr lang="en-US" smtClean="0"/>
              <a:t>10/13/2020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22398-7E15-714C-85A0-DACC6DC3F1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B2665-97EF-CE47-ABE4-18D4D76C98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B60F0-68D7-274B-9B3A-8BD634CF5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6C0D1-008B-C245-AF1E-F6ADA8BEAF3C}" type="datetimeFigureOut">
              <a:rPr lang="en-US" smtClean="0"/>
              <a:t>10/13/2020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B8535-DC0F-AF47-A510-8461A80C06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spcBef>
        <a:spcPts val="600"/>
      </a:spcBef>
      <a:buFont typeface="Trebuchet MS" panose="020B0603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09728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2801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4630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6459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600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1E892DE-B840-A64B-91A1-1B18F6037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8" name="Disclaimer">
            <a:extLst>
              <a:ext uri="{FF2B5EF4-FFF2-40B4-BE49-F238E27FC236}">
                <a16:creationId xmlns:a16="http://schemas.microsoft.com/office/drawing/2014/main" id="{F95EDC5C-ABEE-824D-9A00-482457322324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962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411480" indent="-411480">
              <a:buFont typeface="+mj-lt"/>
              <a:buAutoNum type="arabicPeriod"/>
              <a:tabLst/>
              <a:defRPr/>
            </a:lvl1pPr>
            <a:lvl2pPr marL="640080" indent="-228600">
              <a:tabLst/>
              <a:defRPr/>
            </a:lvl2pPr>
            <a:lvl3pPr marL="868680" indent="-228600">
              <a:tabLst/>
              <a:defRPr/>
            </a:lvl3pPr>
            <a:lvl4pPr marL="1097280" indent="-228600">
              <a:tabLst/>
              <a:defRPr/>
            </a:lvl4pPr>
            <a:lvl5pPr marL="1325880" indent="-228600">
              <a:tabLst/>
              <a:defRPr/>
            </a:lvl5pPr>
            <a:lvl6pPr marL="1554480" indent="-228600">
              <a:tabLst/>
              <a:defRPr/>
            </a:lvl6pPr>
            <a:lvl7pPr marL="1783080" indent="-228600">
              <a:tabLst/>
              <a:defRPr/>
            </a:lvl7pPr>
            <a:lvl8pPr marL="2011680" indent="-228600">
              <a:tabLst/>
              <a:defRPr/>
            </a:lvl8pPr>
            <a:lvl9pPr marL="2240280" indent="-228600">
              <a:tabLst/>
              <a:defRPr/>
            </a:lvl9pPr>
          </a:lstStyle>
          <a:p>
            <a:pPr lvl="0"/>
            <a:r>
              <a:rPr lang="en-US" dirty="0"/>
              <a:t>[Agenda item]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5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8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488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5216" y="1554480"/>
            <a:ext cx="362102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4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98" userDrawn="1">
          <p15:clr>
            <a:srgbClr val="FBAE40"/>
          </p15:clr>
        </p15:guide>
        <p15:guide id="2" pos="2512" userDrawn="1">
          <p15:clr>
            <a:srgbClr val="FBAE40"/>
          </p15:clr>
        </p15:guide>
        <p15:guide id="3" pos="4982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2001" y="1554480"/>
            <a:ext cx="2641598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0" y="1554480"/>
            <a:ext cx="26416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9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 userDrawn="1">
          <p15:clr>
            <a:srgbClr val="FBAE40"/>
          </p15:clr>
        </p15:guide>
        <p15:guide id="2" pos="1896" userDrawn="1">
          <p15:clr>
            <a:srgbClr val="FBAE40"/>
          </p15:clr>
        </p15:guide>
        <p15:guide id="3" pos="5600" userDrawn="1">
          <p15:clr>
            <a:srgbClr val="FBAE40"/>
          </p15:clr>
        </p15:guide>
        <p15:guide id="4" pos="5784" userDrawn="1">
          <p15:clr>
            <a:srgbClr val="FBAE40"/>
          </p15:clr>
        </p15:guide>
        <p15:guide id="5" pos="3744" userDrawn="1">
          <p15:clr>
            <a:srgbClr val="FBAE40"/>
          </p15:clr>
        </p15:guide>
        <p15:guide id="6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504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1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0" userDrawn="1">
          <p15:clr>
            <a:srgbClr val="FBAE40"/>
          </p15:clr>
        </p15:guide>
        <p15:guide id="2" pos="25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7248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4980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46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9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34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9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9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89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70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08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nent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14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8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6096000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3429000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4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1719072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26BC3F3-33EB-F346-B70E-DE269C6819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0952" y="5148072"/>
            <a:ext cx="3051048" cy="170992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B9E9C5D-8364-0D47-AF90-417652D3C1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126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8A87F8F-2D9A-B243-A5FB-6E555C2704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76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797D6E4-4FD3-FB41-AC2F-B0BC446609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01999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504504-7E85-584D-A20B-448D0D56BB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020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8B42205D-9591-3C43-8A71-9811FC49A76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8400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BC915BB-BDF2-BD44-8C3A-2C34D2A9A6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84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D93C7F7-3C80-DA48-9BC2-95DD73DF87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83624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A585D99-3BCE-844A-8969-7E2EFD217B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821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6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  <p15:guide id="7" orient="horz" pos="2074" userDrawn="1">
          <p15:clr>
            <a:srgbClr val="FBAE40"/>
          </p15:clr>
        </p15:guide>
        <p15:guide id="8" orient="horz" pos="21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F25E4DD-7BAF-CF43-9AF5-512CC541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C9E62E-3AF4-C24D-8B08-8A7FCB7ED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D7CA1-C89E-E24C-B557-52A1F9AEB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0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16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7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96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BF3E53-7A3D-40D5-AE68-3CE4490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>
            <a:extLst>
              <a:ext uri="{FF2B5EF4-FFF2-40B4-BE49-F238E27FC236}">
                <a16:creationId xmlns:a16="http://schemas.microsoft.com/office/drawing/2014/main" id="{B50985CD-7333-F343-85B8-C4893E81FC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645920" y="2194560"/>
            <a:ext cx="9056906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45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4" cy="822960"/>
          </a:xfrm>
          <a:prstGeom prst="rect">
            <a:avLst/>
          </a:prstGeom>
          <a:noFill/>
        </p:spPr>
      </p:pic>
      <p:sp>
        <p:nvSpPr>
          <p:cNvPr id="8" name="Thank You">
            <a:extLst>
              <a:ext uri="{FF2B5EF4-FFF2-40B4-BE49-F238E27FC236}">
                <a16:creationId xmlns:a16="http://schemas.microsoft.com/office/drawing/2014/main" id="{2DF7BC51-D766-5D44-8D23-2A1F0BF208B3}"/>
              </a:ext>
            </a:extLst>
          </p:cNvPr>
          <p:cNvSpPr txBox="1">
            <a:spLocks/>
          </p:cNvSpPr>
          <p:nvPr userDrawn="1"/>
        </p:nvSpPr>
        <p:spPr>
          <a:xfrm>
            <a:off x="365760" y="1554480"/>
            <a:ext cx="754316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D75AF2-C99D-9247-B7AF-B859D95DB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434840"/>
            <a:ext cx="7543165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62417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BO Templa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251346" y="1575162"/>
            <a:ext cx="7708928" cy="1646605"/>
          </a:xfrm>
        </p:spPr>
        <p:txBody>
          <a:bodyPr/>
          <a:lstStyle>
            <a:lvl1pPr marL="0" indent="0">
              <a:buNone/>
              <a:defRPr sz="5400" b="1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sz="5400" b="1" dirty="0"/>
              <a:t>Remote Group Detail Distinguish Approach</a:t>
            </a:r>
            <a:endParaRPr lang="en-US" altLang="ja-JP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241021" y="3339604"/>
            <a:ext cx="8846595" cy="646331"/>
          </a:xfrm>
        </p:spPr>
        <p:txBody>
          <a:bodyPr/>
          <a:lstStyle>
            <a:lvl1pPr marL="0" indent="0">
              <a:buNone/>
              <a:defRPr sz="3600" b="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Subtitle: 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51346" y="4278323"/>
            <a:ext cx="7708928" cy="52322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F66F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Date: Click to edit Master text styles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298E450-4001-45D4-BAAA-81B2CF2D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84800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B202EDA2-849C-5746-B520-4E5047A7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5" name="Bristol Myers Squibb" descr="Bristol Myers Squibb">
            <a:extLst>
              <a:ext uri="{FF2B5EF4-FFF2-40B4-BE49-F238E27FC236}">
                <a16:creationId xmlns:a16="http://schemas.microsoft.com/office/drawing/2014/main" id="{B7697988-37C6-7C4A-AA57-C36971D11EEC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6" name="Disclaimer">
            <a:extLst>
              <a:ext uri="{FF2B5EF4-FFF2-40B4-BE49-F238E27FC236}">
                <a16:creationId xmlns:a16="http://schemas.microsoft.com/office/drawing/2014/main" id="{A785335B-16F9-6F4B-9AC7-614641E447A6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012A93-F35D-41B8-A960-2FAFDF3C47A5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0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9" r:id="rId2"/>
    <p:sldLayoutId id="2147483662" r:id="rId3"/>
    <p:sldLayoutId id="2147483650" r:id="rId4"/>
    <p:sldLayoutId id="2147483652" r:id="rId5"/>
    <p:sldLayoutId id="2147483656" r:id="rId6"/>
    <p:sldLayoutId id="2147483657" r:id="rId7"/>
    <p:sldLayoutId id="2147483660" r:id="rId8"/>
    <p:sldLayoutId id="2147483661" r:id="rId9"/>
    <p:sldLayoutId id="2147483694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2" r:id="rId17"/>
    <p:sldLayoutId id="2147483709" r:id="rId18"/>
    <p:sldLayoutId id="2147483710" r:id="rId19"/>
    <p:sldLayoutId id="2147483690" r:id="rId20"/>
    <p:sldLayoutId id="2147483691" r:id="rId21"/>
    <p:sldLayoutId id="2147483692" r:id="rId22"/>
    <p:sldLayoutId id="2147483693" r:id="rId23"/>
    <p:sldLayoutId id="2147483698" r:id="rId24"/>
    <p:sldLayoutId id="2147483695" r:id="rId25"/>
    <p:sldLayoutId id="214748365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700" r:id="rId35"/>
    <p:sldLayoutId id="2147483654" r:id="rId36"/>
    <p:sldLayoutId id="2147483655" r:id="rId37"/>
    <p:sldLayoutId id="2147483696" r:id="rId38"/>
    <p:sldLayoutId id="2147483697" r:id="rId39"/>
    <p:sldLayoutId id="214748371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Trebuchet MS" panose="020B0603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5" orient="horz" pos="978" userDrawn="1">
          <p15:clr>
            <a:srgbClr val="F26B43"/>
          </p15:clr>
        </p15:guide>
        <p15:guide id="6" orient="horz" pos="38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4139" y="1549727"/>
            <a:ext cx="11123720" cy="769441"/>
          </a:xfrm>
        </p:spPr>
        <p:txBody>
          <a:bodyPr anchor="ctr"/>
          <a:lstStyle/>
          <a:p>
            <a:pPr algn="ctr"/>
            <a:r>
              <a:rPr lang="en-US" sz="4400" dirty="0"/>
              <a:t>Celgene Integration Batch 2 – Japan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672702" y="3321849"/>
            <a:ext cx="8846595" cy="109035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Add new items and logic for counting Myeloma and Lymphoma detail activities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F3ABB-87ED-4A68-86B3-296049248E95}"/>
              </a:ext>
            </a:extLst>
          </p:cNvPr>
          <p:cNvSpPr/>
          <p:nvPr/>
        </p:nvSpPr>
        <p:spPr>
          <a:xfrm>
            <a:off x="-2244" y="-5229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EEFF-5B88-4C04-AEDA-4135CD6B3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439363-5FE5-4E4D-9417-BB298D1E9FA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33061" y="2285482"/>
          <a:ext cx="10743117" cy="31242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374233">
                  <a:extLst>
                    <a:ext uri="{9D8B030D-6E8A-4147-A177-3AD203B41FA5}">
                      <a16:colId xmlns:a16="http://schemas.microsoft.com/office/drawing/2014/main" val="641963053"/>
                    </a:ext>
                  </a:extLst>
                </a:gridCol>
                <a:gridCol w="3989301">
                  <a:extLst>
                    <a:ext uri="{9D8B030D-6E8A-4147-A177-3AD203B41FA5}">
                      <a16:colId xmlns:a16="http://schemas.microsoft.com/office/drawing/2014/main" val="2897162434"/>
                    </a:ext>
                  </a:extLst>
                </a:gridCol>
                <a:gridCol w="2379583">
                  <a:extLst>
                    <a:ext uri="{9D8B030D-6E8A-4147-A177-3AD203B41FA5}">
                      <a16:colId xmlns:a16="http://schemas.microsoft.com/office/drawing/2014/main" val="3491900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2000" b="1" kern="1200" dirty="0"/>
                        <a:t>集計品目</a:t>
                      </a:r>
                      <a:r>
                        <a:rPr lang="en-US" altLang="ja-JP" sz="2000" b="1" kern="1200" dirty="0"/>
                        <a:t>(</a:t>
                      </a:r>
                      <a:r>
                        <a:rPr lang="en-US" sz="2000" b="1" kern="1200" dirty="0"/>
                        <a:t>Group)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2000" b="1" kern="1200"/>
                        <a:t>製品</a:t>
                      </a:r>
                      <a:r>
                        <a:rPr lang="en-US" altLang="ja-JP" sz="2000" b="1" kern="1200"/>
                        <a:t>(</a:t>
                      </a:r>
                      <a:r>
                        <a:rPr lang="en-US" sz="2000" b="1" kern="1200"/>
                        <a:t>Product)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kern="1200" dirty="0"/>
                        <a:t>Abbreviation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4163173"/>
                  </a:ext>
                </a:extLst>
              </a:tr>
              <a:tr h="26965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HEMA MM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 dirty="0"/>
                        <a:t>REVLIMID MM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REV MM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47980004"/>
                  </a:ext>
                </a:extLst>
              </a:tr>
              <a:tr h="2696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POMALYST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POM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4253816"/>
                  </a:ext>
                </a:extLst>
              </a:tr>
              <a:tr h="2696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EMPLICITI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EM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05780821"/>
                  </a:ext>
                </a:extLst>
              </a:tr>
              <a:tr h="26965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HEMA LYM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REVLIMID LYMPHOMA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REV FL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9576492"/>
                  </a:ext>
                </a:extLst>
              </a:tr>
              <a:tr h="2696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ISTODAX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IST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7328642"/>
                  </a:ext>
                </a:extLst>
              </a:tr>
              <a:tr h="26965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HEMA MDS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REVLIMID MDS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REV MDS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7011293"/>
                  </a:ext>
                </a:extLst>
              </a:tr>
              <a:tr h="2696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HEMA ATL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REVLIMID ATLL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REV ATL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02006295"/>
                  </a:ext>
                </a:extLst>
              </a:tr>
              <a:tr h="2696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HEMA CML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SPRYCEL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SP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96980797"/>
                  </a:ext>
                </a:extLst>
              </a:tr>
              <a:tr h="2696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HEMA HL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OPDIVO HL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OP HL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39738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1" y="1586204"/>
            <a:ext cx="3480318" cy="2349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b="1" u="sng" dirty="0"/>
              <a:t>Product Master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7AC18-8C54-4E6E-B296-7F5A89441DFF}"/>
              </a:ext>
            </a:extLst>
          </p:cNvPr>
          <p:cNvSpPr txBox="1"/>
          <p:nvPr/>
        </p:nvSpPr>
        <p:spPr>
          <a:xfrm>
            <a:off x="1082350" y="5691673"/>
            <a:ext cx="9032033" cy="4665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1600" dirty="0"/>
              <a:t>Product Group entries are required in CPM system and will flow in C-SCAN from there </a:t>
            </a:r>
          </a:p>
        </p:txBody>
      </p:sp>
    </p:spTree>
    <p:extLst>
      <p:ext uri="{BB962C8B-B14F-4D97-AF65-F5344CB8AC3E}">
        <p14:creationId xmlns:p14="http://schemas.microsoft.com/office/powerpoint/2010/main" val="353987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86204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b="1" u="sng" dirty="0"/>
              <a:t>Data Category-vise Product Groups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DB7507-CA0C-41A2-B13A-2C9CF7A26E0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2708" y="2186457"/>
          <a:ext cx="11068061" cy="32048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88325">
                  <a:extLst>
                    <a:ext uri="{9D8B030D-6E8A-4147-A177-3AD203B41FA5}">
                      <a16:colId xmlns:a16="http://schemas.microsoft.com/office/drawing/2014/main" val="2678392111"/>
                    </a:ext>
                  </a:extLst>
                </a:gridCol>
                <a:gridCol w="8179736">
                  <a:extLst>
                    <a:ext uri="{9D8B030D-6E8A-4147-A177-3AD203B41FA5}">
                      <a16:colId xmlns:a16="http://schemas.microsoft.com/office/drawing/2014/main" val="1036960744"/>
                    </a:ext>
                  </a:extLst>
                </a:gridCol>
              </a:tblGrid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Data Category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Product/Area Drop down level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8086195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Sales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Only Product level , No Impact with this change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3004640"/>
                  </a:ext>
                </a:extLst>
              </a:tr>
              <a:tr h="3984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Activity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Group/Product level, show only group when there's only 1 product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984463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Market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Only Product Group level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6242815"/>
                  </a:ext>
                </a:extLst>
              </a:tr>
              <a:tr h="41526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Prescription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Group/Product level, show only group when there's only 1 product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9633997"/>
                  </a:ext>
                </a:extLst>
              </a:tr>
              <a:tr h="2698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Acount Trace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impact, no new launch in HEMA BU and only product level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3858073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MR Takeover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2112284"/>
                  </a:ext>
                </a:extLst>
              </a:tr>
              <a:tr h="36420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C-STAR activity/market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Only show at Product Group level, and not at detail product level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9496655"/>
                  </a:ext>
                </a:extLst>
              </a:tr>
              <a:tr h="46481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C-STAR alliance acitivy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impact, PDE report for Celgene Products is not required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5102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67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86204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b="1" u="sng" dirty="0"/>
              <a:t>Data Category-vise Product Groups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DB7507-CA0C-41A2-B13A-2C9CF7A26E0B}"/>
              </a:ext>
            </a:extLst>
          </p:cNvPr>
          <p:cNvGraphicFramePr>
            <a:graphicFrameLocks noGrp="1"/>
          </p:cNvGraphicFramePr>
          <p:nvPr/>
        </p:nvGraphicFramePr>
        <p:xfrm>
          <a:off x="562708" y="2186457"/>
          <a:ext cx="11068061" cy="32048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88325">
                  <a:extLst>
                    <a:ext uri="{9D8B030D-6E8A-4147-A177-3AD203B41FA5}">
                      <a16:colId xmlns:a16="http://schemas.microsoft.com/office/drawing/2014/main" val="2678392111"/>
                    </a:ext>
                  </a:extLst>
                </a:gridCol>
                <a:gridCol w="8179736">
                  <a:extLst>
                    <a:ext uri="{9D8B030D-6E8A-4147-A177-3AD203B41FA5}">
                      <a16:colId xmlns:a16="http://schemas.microsoft.com/office/drawing/2014/main" val="1036960744"/>
                    </a:ext>
                  </a:extLst>
                </a:gridCol>
              </a:tblGrid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Data Category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Product/Area Drop down level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8086195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Sales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Only Product level , No Impact with this change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3004640"/>
                  </a:ext>
                </a:extLst>
              </a:tr>
              <a:tr h="3984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Activity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Group/Product level, show only group when there's only 1 product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984463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Market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Only Product Group level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6242815"/>
                  </a:ext>
                </a:extLst>
              </a:tr>
              <a:tr h="41526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Prescription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Group/Product level, show only group when there's only 1 product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9633997"/>
                  </a:ext>
                </a:extLst>
              </a:tr>
              <a:tr h="2698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Acount Trace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impact, no new launch in HEMA BU and only product level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3858073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MR Takeover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2112284"/>
                  </a:ext>
                </a:extLst>
              </a:tr>
              <a:tr h="36420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C-STAR activity/market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Only show at Product Group level, and not at detail product level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9496655"/>
                  </a:ext>
                </a:extLst>
              </a:tr>
              <a:tr h="46481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C-STAR alliance activity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Impact on PDE report because of Agreed target doctor list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5102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HEMA Product Groups: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73780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dirty="0"/>
              <a:t>Priority Target Institution List</a:t>
            </a:r>
            <a:r>
              <a:rPr lang="en-US" sz="200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2000" b="1" u="sn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91BFE-94E9-45CD-905E-CB9D95F2308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2350" y="2213066"/>
          <a:ext cx="8795300" cy="10668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19891">
                  <a:extLst>
                    <a:ext uri="{9D8B030D-6E8A-4147-A177-3AD203B41FA5}">
                      <a16:colId xmlns:a16="http://schemas.microsoft.com/office/drawing/2014/main" val="3144662200"/>
                    </a:ext>
                  </a:extLst>
                </a:gridCol>
                <a:gridCol w="1185414">
                  <a:extLst>
                    <a:ext uri="{9D8B030D-6E8A-4147-A177-3AD203B41FA5}">
                      <a16:colId xmlns:a16="http://schemas.microsoft.com/office/drawing/2014/main" val="2784578547"/>
                    </a:ext>
                  </a:extLst>
                </a:gridCol>
                <a:gridCol w="811368">
                  <a:extLst>
                    <a:ext uri="{9D8B030D-6E8A-4147-A177-3AD203B41FA5}">
                      <a16:colId xmlns:a16="http://schemas.microsoft.com/office/drawing/2014/main" val="1160702949"/>
                    </a:ext>
                  </a:extLst>
                </a:gridCol>
                <a:gridCol w="1819991">
                  <a:extLst>
                    <a:ext uri="{9D8B030D-6E8A-4147-A177-3AD203B41FA5}">
                      <a16:colId xmlns:a16="http://schemas.microsoft.com/office/drawing/2014/main" val="1791808984"/>
                    </a:ext>
                  </a:extLst>
                </a:gridCol>
                <a:gridCol w="677379">
                  <a:extLst>
                    <a:ext uri="{9D8B030D-6E8A-4147-A177-3AD203B41FA5}">
                      <a16:colId xmlns:a16="http://schemas.microsoft.com/office/drawing/2014/main" val="1802808131"/>
                    </a:ext>
                  </a:extLst>
                </a:gridCol>
                <a:gridCol w="2881257">
                  <a:extLst>
                    <a:ext uri="{9D8B030D-6E8A-4147-A177-3AD203B41FA5}">
                      <a16:colId xmlns:a16="http://schemas.microsoft.com/office/drawing/2014/main" val="2711507274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99476068"/>
                  </a:ext>
                </a:extLst>
              </a:tr>
              <a:tr h="1905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HEMA MM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HEMA LYM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48655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Flag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8689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1100" u="none" strike="noStrike" dirty="0">
                          <a:effectLst/>
                        </a:rPr>
                        <a:t>REV MM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POM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BMS Solo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REV FL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IST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BMS Solo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97997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1162AB-2334-489D-9681-E42FA7F40A3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2350" y="4059742"/>
          <a:ext cx="8795299" cy="110871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86075">
                  <a:extLst>
                    <a:ext uri="{9D8B030D-6E8A-4147-A177-3AD203B41FA5}">
                      <a16:colId xmlns:a16="http://schemas.microsoft.com/office/drawing/2014/main" val="2872815862"/>
                    </a:ext>
                  </a:extLst>
                </a:gridCol>
                <a:gridCol w="1181320">
                  <a:extLst>
                    <a:ext uri="{9D8B030D-6E8A-4147-A177-3AD203B41FA5}">
                      <a16:colId xmlns:a16="http://schemas.microsoft.com/office/drawing/2014/main" val="1510804790"/>
                    </a:ext>
                  </a:extLst>
                </a:gridCol>
                <a:gridCol w="812158">
                  <a:extLst>
                    <a:ext uri="{9D8B030D-6E8A-4147-A177-3AD203B41FA5}">
                      <a16:colId xmlns:a16="http://schemas.microsoft.com/office/drawing/2014/main" val="1080865580"/>
                    </a:ext>
                  </a:extLst>
                </a:gridCol>
                <a:gridCol w="1735064">
                  <a:extLst>
                    <a:ext uri="{9D8B030D-6E8A-4147-A177-3AD203B41FA5}">
                      <a16:colId xmlns:a16="http://schemas.microsoft.com/office/drawing/2014/main" val="1565334676"/>
                    </a:ext>
                  </a:extLst>
                </a:gridCol>
                <a:gridCol w="692180">
                  <a:extLst>
                    <a:ext uri="{9D8B030D-6E8A-4147-A177-3AD203B41FA5}">
                      <a16:colId xmlns:a16="http://schemas.microsoft.com/office/drawing/2014/main" val="2277367701"/>
                    </a:ext>
                  </a:extLst>
                </a:gridCol>
                <a:gridCol w="2988502">
                  <a:extLst>
                    <a:ext uri="{9D8B030D-6E8A-4147-A177-3AD203B41FA5}">
                      <a16:colId xmlns:a16="http://schemas.microsoft.com/office/drawing/2014/main" val="2235747985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IO MELA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IO LC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715209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88437961"/>
                  </a:ext>
                </a:extLst>
              </a:tr>
              <a:tr h="18097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OP MELA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OPYV MELA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BMS Solo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OP LC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BMS Solo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01680911"/>
                  </a:ext>
                </a:extLst>
              </a:tr>
              <a:tr h="373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Co-Pro Solo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Co-Pro Solo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08779285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Co-Visit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Co-Visit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219538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AB469BC-E874-43D3-86E8-8E50510DD38A}"/>
              </a:ext>
            </a:extLst>
          </p:cNvPr>
          <p:cNvSpPr txBox="1"/>
          <p:nvPr/>
        </p:nvSpPr>
        <p:spPr>
          <a:xfrm>
            <a:off x="1082350" y="3536302"/>
            <a:ext cx="3750907" cy="3172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ONC Product Groups</a:t>
            </a:r>
          </a:p>
        </p:txBody>
      </p:sp>
    </p:spTree>
    <p:extLst>
      <p:ext uri="{BB962C8B-B14F-4D97-AF65-F5344CB8AC3E}">
        <p14:creationId xmlns:p14="http://schemas.microsoft.com/office/powerpoint/2010/main" val="2368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HEMA Product Groups: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73780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dirty="0"/>
              <a:t>Priority Tier List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2000" b="1" u="sn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61848F-6ED1-4237-8BB8-1607CDFACE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63690" y="2307664"/>
          <a:ext cx="8795298" cy="130873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80930">
                  <a:extLst>
                    <a:ext uri="{9D8B030D-6E8A-4147-A177-3AD203B41FA5}">
                      <a16:colId xmlns:a16="http://schemas.microsoft.com/office/drawing/2014/main" val="3425682322"/>
                    </a:ext>
                  </a:extLst>
                </a:gridCol>
                <a:gridCol w="1129004">
                  <a:extLst>
                    <a:ext uri="{9D8B030D-6E8A-4147-A177-3AD203B41FA5}">
                      <a16:colId xmlns:a16="http://schemas.microsoft.com/office/drawing/2014/main" val="3082716593"/>
                    </a:ext>
                  </a:extLst>
                </a:gridCol>
                <a:gridCol w="1464907">
                  <a:extLst>
                    <a:ext uri="{9D8B030D-6E8A-4147-A177-3AD203B41FA5}">
                      <a16:colId xmlns:a16="http://schemas.microsoft.com/office/drawing/2014/main" val="1810188222"/>
                    </a:ext>
                  </a:extLst>
                </a:gridCol>
                <a:gridCol w="1623526">
                  <a:extLst>
                    <a:ext uri="{9D8B030D-6E8A-4147-A177-3AD203B41FA5}">
                      <a16:colId xmlns:a16="http://schemas.microsoft.com/office/drawing/2014/main" val="3831836145"/>
                    </a:ext>
                  </a:extLst>
                </a:gridCol>
                <a:gridCol w="1259633">
                  <a:extLst>
                    <a:ext uri="{9D8B030D-6E8A-4147-A177-3AD203B41FA5}">
                      <a16:colId xmlns:a16="http://schemas.microsoft.com/office/drawing/2014/main" val="2823816056"/>
                    </a:ext>
                  </a:extLst>
                </a:gridCol>
                <a:gridCol w="1937298">
                  <a:extLst>
                    <a:ext uri="{9D8B030D-6E8A-4147-A177-3AD203B41FA5}">
                      <a16:colId xmlns:a16="http://schemas.microsoft.com/office/drawing/2014/main" val="337547232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HEMA MM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HEMA LYM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33525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Products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Institution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Institution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40273626"/>
                  </a:ext>
                </a:extLst>
              </a:tr>
              <a:tr h="180975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REV MM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POM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REV FL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823311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304792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1171547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9665808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368879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610DC7-7392-4411-9044-C992657DED7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2350" y="4317682"/>
          <a:ext cx="3898900" cy="149923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30982047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61707986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2633576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IO LC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05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Institution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Priority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206236"/>
                  </a:ext>
                </a:extLst>
              </a:tr>
              <a:tr h="180975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OP LC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558862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9361181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315806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243639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T5a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708760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T5b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33391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654CA6-1140-48E5-B38F-A00769B7D78E}"/>
              </a:ext>
            </a:extLst>
          </p:cNvPr>
          <p:cNvSpPr txBox="1"/>
          <p:nvPr/>
        </p:nvSpPr>
        <p:spPr>
          <a:xfrm>
            <a:off x="1082350" y="3797559"/>
            <a:ext cx="3889570" cy="1608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ONC Product Groups</a:t>
            </a:r>
          </a:p>
        </p:txBody>
      </p:sp>
    </p:spTree>
    <p:extLst>
      <p:ext uri="{BB962C8B-B14F-4D97-AF65-F5344CB8AC3E}">
        <p14:creationId xmlns:p14="http://schemas.microsoft.com/office/powerpoint/2010/main" val="138142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HEMA Product Groups: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73780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dirty="0"/>
              <a:t>Priority Doctor Segment List</a:t>
            </a:r>
            <a:r>
              <a:rPr lang="en-US" sz="200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2000" b="1" u="sn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61848F-6ED1-4237-8BB8-1607CDFACE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63690" y="2307664"/>
          <a:ext cx="8795298" cy="130873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80930">
                  <a:extLst>
                    <a:ext uri="{9D8B030D-6E8A-4147-A177-3AD203B41FA5}">
                      <a16:colId xmlns:a16="http://schemas.microsoft.com/office/drawing/2014/main" val="3425682322"/>
                    </a:ext>
                  </a:extLst>
                </a:gridCol>
                <a:gridCol w="1129004">
                  <a:extLst>
                    <a:ext uri="{9D8B030D-6E8A-4147-A177-3AD203B41FA5}">
                      <a16:colId xmlns:a16="http://schemas.microsoft.com/office/drawing/2014/main" val="3082716593"/>
                    </a:ext>
                  </a:extLst>
                </a:gridCol>
                <a:gridCol w="1464907">
                  <a:extLst>
                    <a:ext uri="{9D8B030D-6E8A-4147-A177-3AD203B41FA5}">
                      <a16:colId xmlns:a16="http://schemas.microsoft.com/office/drawing/2014/main" val="1810188222"/>
                    </a:ext>
                  </a:extLst>
                </a:gridCol>
                <a:gridCol w="1623526">
                  <a:extLst>
                    <a:ext uri="{9D8B030D-6E8A-4147-A177-3AD203B41FA5}">
                      <a16:colId xmlns:a16="http://schemas.microsoft.com/office/drawing/2014/main" val="3831836145"/>
                    </a:ext>
                  </a:extLst>
                </a:gridCol>
                <a:gridCol w="1259633">
                  <a:extLst>
                    <a:ext uri="{9D8B030D-6E8A-4147-A177-3AD203B41FA5}">
                      <a16:colId xmlns:a16="http://schemas.microsoft.com/office/drawing/2014/main" val="2823816056"/>
                    </a:ext>
                  </a:extLst>
                </a:gridCol>
                <a:gridCol w="1937298">
                  <a:extLst>
                    <a:ext uri="{9D8B030D-6E8A-4147-A177-3AD203B41FA5}">
                      <a16:colId xmlns:a16="http://schemas.microsoft.com/office/drawing/2014/main" val="337547232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HEMA MM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HEMA LYM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33525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Products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40273626"/>
                  </a:ext>
                </a:extLst>
              </a:tr>
              <a:tr h="180975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REV MM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POM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REV FL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823311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304792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1171547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9665808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368879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610DC7-7392-4411-9044-C992657DED7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2350" y="4317682"/>
          <a:ext cx="3898900" cy="149923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30982047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61707986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2633576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IO LC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05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Priority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206236"/>
                  </a:ext>
                </a:extLst>
              </a:tr>
              <a:tr h="180975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OP LC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558862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A-L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9361181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A-M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315806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243639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708760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33391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654CA6-1140-48E5-B38F-A00769B7D78E}"/>
              </a:ext>
            </a:extLst>
          </p:cNvPr>
          <p:cNvSpPr txBox="1"/>
          <p:nvPr/>
        </p:nvSpPr>
        <p:spPr>
          <a:xfrm>
            <a:off x="1082350" y="3797559"/>
            <a:ext cx="3889570" cy="1608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ONC Product Groups</a:t>
            </a:r>
          </a:p>
        </p:txBody>
      </p:sp>
    </p:spTree>
    <p:extLst>
      <p:ext uri="{BB962C8B-B14F-4D97-AF65-F5344CB8AC3E}">
        <p14:creationId xmlns:p14="http://schemas.microsoft.com/office/powerpoint/2010/main" val="335180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98C6-6C8D-4D0A-87C3-E3C1D3A1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of metric at product group level: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6D3FD-4B77-4DFF-9AC5-E3902EE5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CE479C-20B9-4BEB-B520-6FD1A058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039379"/>
              </p:ext>
            </p:extLst>
          </p:nvPr>
        </p:nvGraphicFramePr>
        <p:xfrm>
          <a:off x="643812" y="1081087"/>
          <a:ext cx="10862388" cy="4511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8376">
                  <a:extLst>
                    <a:ext uri="{9D8B030D-6E8A-4147-A177-3AD203B41FA5}">
                      <a16:colId xmlns:a16="http://schemas.microsoft.com/office/drawing/2014/main" val="1394717343"/>
                    </a:ext>
                  </a:extLst>
                </a:gridCol>
                <a:gridCol w="3853543">
                  <a:extLst>
                    <a:ext uri="{9D8B030D-6E8A-4147-A177-3AD203B41FA5}">
                      <a16:colId xmlns:a16="http://schemas.microsoft.com/office/drawing/2014/main" val="4072326938"/>
                    </a:ext>
                  </a:extLst>
                </a:gridCol>
                <a:gridCol w="6010469">
                  <a:extLst>
                    <a:ext uri="{9D8B030D-6E8A-4147-A177-3AD203B41FA5}">
                      <a16:colId xmlns:a16="http://schemas.microsoft.com/office/drawing/2014/main" val="1003515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209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 &amp; Explanatory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 distinct # of calls which has detail for any of the underlying detail products and count that as # of details at product group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941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Planned Detail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Nishant to confirm C-SCAN logic for IO CRC/ RCC; Checked and no change required here. MAX Logic present. In sync with BRD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TDFA, Clear Ratio &amp; Detail Attainment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Calculate them at product group level but not at product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342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Calculate # of seminar at product level and aggregate the same at product group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Nishant to confirm C-SCAN logic for IO CRC/ RCC; Logic is in sync with BRD. No change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325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02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98C6-6C8D-4D0A-87C3-E3C1D3A1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of metric at product group level: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6D3FD-4B77-4DFF-9AC5-E3902EE5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CE479C-20B9-4BEB-B520-6FD1A058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199878"/>
              </p:ext>
            </p:extLst>
          </p:nvPr>
        </p:nvGraphicFramePr>
        <p:xfrm>
          <a:off x="643812" y="1081086"/>
          <a:ext cx="10842172" cy="4114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6518">
                  <a:extLst>
                    <a:ext uri="{9D8B030D-6E8A-4147-A177-3AD203B41FA5}">
                      <a16:colId xmlns:a16="http://schemas.microsoft.com/office/drawing/2014/main" val="1394717343"/>
                    </a:ext>
                  </a:extLst>
                </a:gridCol>
                <a:gridCol w="3846371">
                  <a:extLst>
                    <a:ext uri="{9D8B030D-6E8A-4147-A177-3AD203B41FA5}">
                      <a16:colId xmlns:a16="http://schemas.microsoft.com/office/drawing/2014/main" val="4072326938"/>
                    </a:ext>
                  </a:extLst>
                </a:gridCol>
                <a:gridCol w="5999283">
                  <a:extLst>
                    <a:ext uri="{9D8B030D-6E8A-4147-A177-3AD203B41FA5}">
                      <a16:colId xmlns:a16="http://schemas.microsoft.com/office/drawing/2014/main" val="1003515610"/>
                    </a:ext>
                  </a:extLst>
                </a:gridCol>
              </a:tblGrid>
              <a:tr h="395012">
                <a:tc>
                  <a:txBody>
                    <a:bodyPr/>
                    <a:lstStyle/>
                    <a:p>
                      <a:r>
                        <a:rPr lang="en-US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209737"/>
                  </a:ext>
                </a:extLst>
              </a:tr>
              <a:tr h="1002724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 the sum of # of new patients for all treatment lines at product level and aggregate them at product group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941825"/>
                  </a:ext>
                </a:extLst>
              </a:tr>
              <a:tr h="1002724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Accumulated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Take the sum of # of accumulated patients for all treatment lines at product level and aggregate them at product group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0959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 target institution flag on the basis of priority. Refer next section for detailed 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342830"/>
                  </a:ext>
                </a:extLst>
              </a:tr>
              <a:tr h="1002724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 tier on the basis of priority. Refer next section; TBD ;One </a:t>
                      </a:r>
                      <a:r>
                        <a:rPr lang="en-US" dirty="0" err="1"/>
                        <a:t>insn</a:t>
                      </a:r>
                      <a:r>
                        <a:rPr lang="en-US" dirty="0"/>
                        <a:t> has 1 tier for one Product group will that be the same for HEMA prods.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39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98C6-6C8D-4D0A-87C3-E3C1D3A1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of metric at product group level: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6D3FD-4B77-4DFF-9AC5-E3902EE5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CE479C-20B9-4BEB-B520-6FD1A058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56586"/>
              </p:ext>
            </p:extLst>
          </p:nvPr>
        </p:nvGraphicFramePr>
        <p:xfrm>
          <a:off x="643812" y="1081086"/>
          <a:ext cx="10842172" cy="27127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6518">
                  <a:extLst>
                    <a:ext uri="{9D8B030D-6E8A-4147-A177-3AD203B41FA5}">
                      <a16:colId xmlns:a16="http://schemas.microsoft.com/office/drawing/2014/main" val="1394717343"/>
                    </a:ext>
                  </a:extLst>
                </a:gridCol>
                <a:gridCol w="3846371">
                  <a:extLst>
                    <a:ext uri="{9D8B030D-6E8A-4147-A177-3AD203B41FA5}">
                      <a16:colId xmlns:a16="http://schemas.microsoft.com/office/drawing/2014/main" val="4072326938"/>
                    </a:ext>
                  </a:extLst>
                </a:gridCol>
                <a:gridCol w="5999283">
                  <a:extLst>
                    <a:ext uri="{9D8B030D-6E8A-4147-A177-3AD203B41FA5}">
                      <a16:colId xmlns:a16="http://schemas.microsoft.com/office/drawing/2014/main" val="1003515610"/>
                    </a:ext>
                  </a:extLst>
                </a:gridCol>
              </a:tblGrid>
              <a:tr h="395012">
                <a:tc>
                  <a:txBody>
                    <a:bodyPr/>
                    <a:lstStyle/>
                    <a:p>
                      <a:r>
                        <a:rPr lang="en-US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209737"/>
                  </a:ext>
                </a:extLst>
              </a:tr>
              <a:tr h="1306579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Doctor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 Doctor Segment on the basis of priority. Refer next section; TBD; One </a:t>
                      </a:r>
                      <a:r>
                        <a:rPr lang="en-US" dirty="0" err="1"/>
                        <a:t>insn</a:t>
                      </a:r>
                      <a:r>
                        <a:rPr lang="en-US" dirty="0"/>
                        <a:t> has 1 </a:t>
                      </a:r>
                      <a:r>
                        <a:rPr lang="en-US" dirty="0" err="1"/>
                        <a:t>dr</a:t>
                      </a:r>
                      <a:r>
                        <a:rPr lang="en-US" dirty="0"/>
                        <a:t> seg for one Product group will that be the same for HEMA prods.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325804"/>
                  </a:ext>
                </a:extLst>
              </a:tr>
              <a:tr h="1002724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an </a:t>
                      </a:r>
                      <a:r>
                        <a:rPr lang="en-US" dirty="0" err="1"/>
                        <a:t>insn-dr</a:t>
                      </a:r>
                      <a:r>
                        <a:rPr lang="en-US" dirty="0"/>
                        <a:t> is Targeted for a product within product group then it should be targeted at product group level. Refer next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309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45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EE8C-9EFE-46FA-9BD6-471C403A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Patients, New Patients and Potential Patients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9B7BBD-A748-4C0A-B0F3-AF59AA97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036675-8546-4C0B-A6B3-EDDAAEF6B7B2}"/>
              </a:ext>
            </a:extLst>
          </p:cNvPr>
          <p:cNvSpPr/>
          <p:nvPr/>
        </p:nvSpPr>
        <p:spPr>
          <a:xfrm>
            <a:off x="1749992" y="2292424"/>
            <a:ext cx="872264" cy="7639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kern="0" dirty="0">
                <a:solidFill>
                  <a:srgbClr val="000000"/>
                </a:solidFill>
                <a:effectLst/>
              </a:rPr>
              <a:t>CRM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561456-1661-40DB-A89D-DDEEA45DBA54}"/>
              </a:ext>
            </a:extLst>
          </p:cNvPr>
          <p:cNvCxnSpPr>
            <a:cxnSpLocks/>
          </p:cNvCxnSpPr>
          <p:nvPr/>
        </p:nvCxnSpPr>
        <p:spPr>
          <a:xfrm flipV="1">
            <a:off x="2643750" y="2708087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9072B5B-573F-4D95-9D12-5F0EECEC7E56}"/>
              </a:ext>
            </a:extLst>
          </p:cNvPr>
          <p:cNvSpPr/>
          <p:nvPr/>
        </p:nvSpPr>
        <p:spPr>
          <a:xfrm>
            <a:off x="2960964" y="2270021"/>
            <a:ext cx="799411" cy="79385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r>
              <a:rPr lang="en-US" sz="1100" dirty="0">
                <a:solidFill>
                  <a:schemeClr val="bg1"/>
                </a:solidFill>
                <a:cs typeface="Arial" panose="020B0604020202020204" pitchFamily="34" charset="0"/>
              </a:rPr>
              <a:t>Prescription Follow Up Object  </a:t>
            </a:r>
          </a:p>
        </p:txBody>
      </p:sp>
      <p:sp>
        <p:nvSpPr>
          <p:cNvPr id="7" name="Can 10">
            <a:extLst>
              <a:ext uri="{FF2B5EF4-FFF2-40B4-BE49-F238E27FC236}">
                <a16:creationId xmlns:a16="http://schemas.microsoft.com/office/drawing/2014/main" id="{B5418115-51F6-42B0-94C8-A311D8E671C1}"/>
              </a:ext>
            </a:extLst>
          </p:cNvPr>
          <p:cNvSpPr/>
          <p:nvPr/>
        </p:nvSpPr>
        <p:spPr>
          <a:xfrm>
            <a:off x="4153976" y="229242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CAF7A6-04D3-4E6A-BFA7-08ACDE92205A}"/>
              </a:ext>
            </a:extLst>
          </p:cNvPr>
          <p:cNvCxnSpPr>
            <a:cxnSpLocks/>
          </p:cNvCxnSpPr>
          <p:nvPr/>
        </p:nvCxnSpPr>
        <p:spPr>
          <a:xfrm flipV="1">
            <a:off x="3781869" y="2707655"/>
            <a:ext cx="313809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FCF809-FE0F-4FF1-BE0D-749530ACFFC7}"/>
              </a:ext>
            </a:extLst>
          </p:cNvPr>
          <p:cNvCxnSpPr>
            <a:cxnSpLocks/>
          </p:cNvCxnSpPr>
          <p:nvPr/>
        </p:nvCxnSpPr>
        <p:spPr>
          <a:xfrm flipV="1">
            <a:off x="4766245" y="4603522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5BE4A2F-991A-4CAE-B144-3AFFCA22EF9E}"/>
              </a:ext>
            </a:extLst>
          </p:cNvPr>
          <p:cNvSpPr/>
          <p:nvPr/>
        </p:nvSpPr>
        <p:spPr>
          <a:xfrm>
            <a:off x="5012061" y="2436959"/>
            <a:ext cx="663563" cy="511577"/>
          </a:xfrm>
          <a:prstGeom prst="rect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91663-8C17-45BA-A119-DCA281FC9661}"/>
              </a:ext>
            </a:extLst>
          </p:cNvPr>
          <p:cNvSpPr txBox="1"/>
          <p:nvPr/>
        </p:nvSpPr>
        <p:spPr>
          <a:xfrm>
            <a:off x="1278384" y="2348880"/>
            <a:ext cx="489297" cy="28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1000" dirty="0"/>
          </a:p>
        </p:txBody>
      </p:sp>
      <p:sp>
        <p:nvSpPr>
          <p:cNvPr id="12" name="Can 14">
            <a:extLst>
              <a:ext uri="{FF2B5EF4-FFF2-40B4-BE49-F238E27FC236}">
                <a16:creationId xmlns:a16="http://schemas.microsoft.com/office/drawing/2014/main" id="{6A801A76-281C-4A2B-871D-9B3E5EEDF725}"/>
              </a:ext>
            </a:extLst>
          </p:cNvPr>
          <p:cNvSpPr/>
          <p:nvPr/>
        </p:nvSpPr>
        <p:spPr>
          <a:xfrm>
            <a:off x="5921880" y="2309242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F3DEA-123D-4E6B-9F81-1631682C6944}"/>
              </a:ext>
            </a:extLst>
          </p:cNvPr>
          <p:cNvSpPr txBox="1"/>
          <p:nvPr/>
        </p:nvSpPr>
        <p:spPr>
          <a:xfrm>
            <a:off x="1214947" y="3367263"/>
            <a:ext cx="489297" cy="3664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10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E3742C-5ED1-4B39-8147-F5C7B09E66F1}"/>
              </a:ext>
            </a:extLst>
          </p:cNvPr>
          <p:cNvCxnSpPr>
            <a:cxnSpLocks/>
          </p:cNvCxnSpPr>
          <p:nvPr/>
        </p:nvCxnSpPr>
        <p:spPr>
          <a:xfrm>
            <a:off x="4766245" y="2729655"/>
            <a:ext cx="2725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FE0C88-5B77-4D05-8D9E-017A90F4134D}"/>
              </a:ext>
            </a:extLst>
          </p:cNvPr>
          <p:cNvCxnSpPr>
            <a:cxnSpLocks/>
          </p:cNvCxnSpPr>
          <p:nvPr/>
        </p:nvCxnSpPr>
        <p:spPr>
          <a:xfrm>
            <a:off x="6492556" y="2729655"/>
            <a:ext cx="26709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E301AA-01B5-493D-9FE2-1FBBFB684CBA}"/>
              </a:ext>
            </a:extLst>
          </p:cNvPr>
          <p:cNvCxnSpPr>
            <a:cxnSpLocks/>
          </p:cNvCxnSpPr>
          <p:nvPr/>
        </p:nvCxnSpPr>
        <p:spPr>
          <a:xfrm>
            <a:off x="8901404" y="2729655"/>
            <a:ext cx="0" cy="788362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11E116-BCBA-452C-B18C-6959491F3188}"/>
              </a:ext>
            </a:extLst>
          </p:cNvPr>
          <p:cNvCxnSpPr>
            <a:cxnSpLocks/>
          </p:cNvCxnSpPr>
          <p:nvPr/>
        </p:nvCxnSpPr>
        <p:spPr>
          <a:xfrm>
            <a:off x="8950960" y="3529658"/>
            <a:ext cx="21754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n 14">
            <a:extLst>
              <a:ext uri="{FF2B5EF4-FFF2-40B4-BE49-F238E27FC236}">
                <a16:creationId xmlns:a16="http://schemas.microsoft.com/office/drawing/2014/main" id="{33BB88B3-F6A3-4E39-9F04-D7F0A0F67AD3}"/>
              </a:ext>
            </a:extLst>
          </p:cNvPr>
          <p:cNvSpPr/>
          <p:nvPr/>
        </p:nvSpPr>
        <p:spPr>
          <a:xfrm>
            <a:off x="9175985" y="3056368"/>
            <a:ext cx="824456" cy="824427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Summary Table </a:t>
            </a:r>
          </a:p>
        </p:txBody>
      </p:sp>
      <p:sp>
        <p:nvSpPr>
          <p:cNvPr id="19" name="Can 14">
            <a:extLst>
              <a:ext uri="{FF2B5EF4-FFF2-40B4-BE49-F238E27FC236}">
                <a16:creationId xmlns:a16="http://schemas.microsoft.com/office/drawing/2014/main" id="{0FCEE4EE-9948-471D-B178-035B961D3343}"/>
              </a:ext>
            </a:extLst>
          </p:cNvPr>
          <p:cNvSpPr/>
          <p:nvPr/>
        </p:nvSpPr>
        <p:spPr>
          <a:xfrm>
            <a:off x="10378232" y="225751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rgbClr val="000000"/>
                </a:solidFill>
              </a:rPr>
              <a:t>L3 (Drilldown)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Can 14">
            <a:extLst>
              <a:ext uri="{FF2B5EF4-FFF2-40B4-BE49-F238E27FC236}">
                <a16:creationId xmlns:a16="http://schemas.microsoft.com/office/drawing/2014/main" id="{656FA0D8-2C1E-4823-80B4-EB9DC21F4C3E}"/>
              </a:ext>
            </a:extLst>
          </p:cNvPr>
          <p:cNvSpPr/>
          <p:nvPr/>
        </p:nvSpPr>
        <p:spPr>
          <a:xfrm>
            <a:off x="10378231" y="404531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rgbClr val="000000"/>
                </a:solidFill>
              </a:rPr>
              <a:t>(C-SCOR)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23FFB6-87D2-4520-9048-4719595B573E}"/>
              </a:ext>
            </a:extLst>
          </p:cNvPr>
          <p:cNvCxnSpPr>
            <a:cxnSpLocks/>
            <a:stCxn id="18" idx="4"/>
            <a:endCxn id="19" idx="2"/>
          </p:cNvCxnSpPr>
          <p:nvPr/>
        </p:nvCxnSpPr>
        <p:spPr>
          <a:xfrm flipV="1">
            <a:off x="10000441" y="2639486"/>
            <a:ext cx="377791" cy="8290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0450A4-E369-4E5E-BB8D-BE3C63894CA9}"/>
              </a:ext>
            </a:extLst>
          </p:cNvPr>
          <p:cNvCxnSpPr>
            <a:cxnSpLocks/>
            <a:stCxn id="18" idx="4"/>
            <a:endCxn id="20" idx="2"/>
          </p:cNvCxnSpPr>
          <p:nvPr/>
        </p:nvCxnSpPr>
        <p:spPr>
          <a:xfrm>
            <a:off x="10000441" y="3468582"/>
            <a:ext cx="377790" cy="95870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Left Brace 22">
            <a:extLst>
              <a:ext uri="{FF2B5EF4-FFF2-40B4-BE49-F238E27FC236}">
                <a16:creationId xmlns:a16="http://schemas.microsoft.com/office/drawing/2014/main" id="{72CF64F6-E302-4208-AB58-9695175A23CE}"/>
              </a:ext>
            </a:extLst>
          </p:cNvPr>
          <p:cNvSpPr/>
          <p:nvPr/>
        </p:nvSpPr>
        <p:spPr>
          <a:xfrm>
            <a:off x="1375229" y="2486705"/>
            <a:ext cx="329016" cy="461832"/>
          </a:xfrm>
          <a:prstGeom prst="leftBrac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792CFC-99E7-4B8F-AB72-5B2D8DB1959B}"/>
              </a:ext>
            </a:extLst>
          </p:cNvPr>
          <p:cNvSpPr txBox="1"/>
          <p:nvPr/>
        </p:nvSpPr>
        <p:spPr>
          <a:xfrm>
            <a:off x="204825" y="2377442"/>
            <a:ext cx="1171550" cy="6864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200" dirty="0"/>
              <a:t>New Patients and Potential Patients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C14226-DAB7-4A49-B1E2-F090606E55BB}"/>
              </a:ext>
            </a:extLst>
          </p:cNvPr>
          <p:cNvSpPr/>
          <p:nvPr/>
        </p:nvSpPr>
        <p:spPr>
          <a:xfrm>
            <a:off x="1749992" y="4225251"/>
            <a:ext cx="872264" cy="7639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kern="0" dirty="0">
                <a:solidFill>
                  <a:srgbClr val="000000"/>
                </a:solidFill>
                <a:effectLst/>
              </a:rPr>
              <a:t>CRM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FEBACD-8F09-46AE-84F9-2679771A28D5}"/>
              </a:ext>
            </a:extLst>
          </p:cNvPr>
          <p:cNvSpPr/>
          <p:nvPr/>
        </p:nvSpPr>
        <p:spPr>
          <a:xfrm>
            <a:off x="2994759" y="4210295"/>
            <a:ext cx="799411" cy="79385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r>
              <a:rPr lang="en-US" sz="1100" dirty="0">
                <a:solidFill>
                  <a:schemeClr val="bg1"/>
                </a:solidFill>
                <a:cs typeface="Arial" panose="020B0604020202020204" pitchFamily="34" charset="0"/>
              </a:rPr>
              <a:t>Product Metric Object</a:t>
            </a:r>
          </a:p>
        </p:txBody>
      </p:sp>
      <p:sp>
        <p:nvSpPr>
          <p:cNvPr id="27" name="Can 10">
            <a:extLst>
              <a:ext uri="{FF2B5EF4-FFF2-40B4-BE49-F238E27FC236}">
                <a16:creationId xmlns:a16="http://schemas.microsoft.com/office/drawing/2014/main" id="{1F282F27-F62D-4369-A93E-D6F74CE470BF}"/>
              </a:ext>
            </a:extLst>
          </p:cNvPr>
          <p:cNvSpPr/>
          <p:nvPr/>
        </p:nvSpPr>
        <p:spPr>
          <a:xfrm>
            <a:off x="4142052" y="4198483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285DFF-D0FB-462B-89A7-22B8FDCB7000}"/>
              </a:ext>
            </a:extLst>
          </p:cNvPr>
          <p:cNvSpPr/>
          <p:nvPr/>
        </p:nvSpPr>
        <p:spPr>
          <a:xfrm>
            <a:off x="5028021" y="4324666"/>
            <a:ext cx="663563" cy="511577"/>
          </a:xfrm>
          <a:prstGeom prst="rect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</a:t>
            </a:r>
          </a:p>
        </p:txBody>
      </p:sp>
      <p:sp>
        <p:nvSpPr>
          <p:cNvPr id="29" name="Can 14">
            <a:extLst>
              <a:ext uri="{FF2B5EF4-FFF2-40B4-BE49-F238E27FC236}">
                <a16:creationId xmlns:a16="http://schemas.microsoft.com/office/drawing/2014/main" id="{06FF9961-AAB3-4608-8169-99886900CBDB}"/>
              </a:ext>
            </a:extLst>
          </p:cNvPr>
          <p:cNvSpPr/>
          <p:nvPr/>
        </p:nvSpPr>
        <p:spPr>
          <a:xfrm>
            <a:off x="5931677" y="4198483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1FF5E5-A7FF-47B1-A528-D19A4212F101}"/>
              </a:ext>
            </a:extLst>
          </p:cNvPr>
          <p:cNvCxnSpPr>
            <a:cxnSpLocks/>
          </p:cNvCxnSpPr>
          <p:nvPr/>
        </p:nvCxnSpPr>
        <p:spPr>
          <a:xfrm>
            <a:off x="8901404" y="3529658"/>
            <a:ext cx="0" cy="1031313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8E5A02-3220-4635-B400-EC6DCD0EEAEA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8391478" y="4574960"/>
            <a:ext cx="509824" cy="5494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DB2D4E-FA63-4D61-84CC-E0BEFCE179FE}"/>
              </a:ext>
            </a:extLst>
          </p:cNvPr>
          <p:cNvCxnSpPr>
            <a:cxnSpLocks/>
          </p:cNvCxnSpPr>
          <p:nvPr/>
        </p:nvCxnSpPr>
        <p:spPr>
          <a:xfrm flipV="1">
            <a:off x="2682577" y="4618942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92248A-CE68-43BC-9D06-647B85A6BB42}"/>
              </a:ext>
            </a:extLst>
          </p:cNvPr>
          <p:cNvCxnSpPr>
            <a:cxnSpLocks/>
          </p:cNvCxnSpPr>
          <p:nvPr/>
        </p:nvCxnSpPr>
        <p:spPr>
          <a:xfrm flipV="1">
            <a:off x="3860498" y="4607223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2DB0C27D-F4F4-4F20-A201-8376C2C29A76}"/>
              </a:ext>
            </a:extLst>
          </p:cNvPr>
          <p:cNvSpPr/>
          <p:nvPr/>
        </p:nvSpPr>
        <p:spPr>
          <a:xfrm>
            <a:off x="1386724" y="4427285"/>
            <a:ext cx="329016" cy="412573"/>
          </a:xfrm>
          <a:prstGeom prst="leftBrac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88AF13-B62C-47C2-B12E-F3FDB9277135}"/>
              </a:ext>
            </a:extLst>
          </p:cNvPr>
          <p:cNvSpPr txBox="1"/>
          <p:nvPr/>
        </p:nvSpPr>
        <p:spPr>
          <a:xfrm>
            <a:off x="251760" y="4434221"/>
            <a:ext cx="1079512" cy="5351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200" dirty="0"/>
              <a:t>Target Patients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7677A0-0A9B-4C0E-B878-27C4DCAEFC1E}"/>
              </a:ext>
            </a:extLst>
          </p:cNvPr>
          <p:cNvCxnSpPr>
            <a:cxnSpLocks/>
          </p:cNvCxnSpPr>
          <p:nvPr/>
        </p:nvCxnSpPr>
        <p:spPr>
          <a:xfrm>
            <a:off x="5691584" y="4598794"/>
            <a:ext cx="2725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0D2CE8-B734-4B42-9B46-7FA8C3ABE3FE}"/>
              </a:ext>
            </a:extLst>
          </p:cNvPr>
          <p:cNvCxnSpPr>
            <a:cxnSpLocks/>
          </p:cNvCxnSpPr>
          <p:nvPr/>
        </p:nvCxnSpPr>
        <p:spPr>
          <a:xfrm>
            <a:off x="6535008" y="4588294"/>
            <a:ext cx="26709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1C2F450-9D11-4BF1-8E5C-37D4A707082D}"/>
              </a:ext>
            </a:extLst>
          </p:cNvPr>
          <p:cNvSpPr/>
          <p:nvPr/>
        </p:nvSpPr>
        <p:spPr>
          <a:xfrm>
            <a:off x="6759652" y="2332728"/>
            <a:ext cx="1581487" cy="7938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/>
            <a:r>
              <a:rPr lang="en-US" sz="1100" kern="0" dirty="0">
                <a:solidFill>
                  <a:srgbClr val="000000"/>
                </a:solidFill>
              </a:rPr>
              <a:t>count(</a:t>
            </a:r>
            <a:r>
              <a:rPr lang="en-US" sz="1100" kern="0" dirty="0" err="1">
                <a:solidFill>
                  <a:srgbClr val="000000"/>
                </a:solidFill>
              </a:rPr>
              <a:t>bp_prd_rx_id</a:t>
            </a:r>
            <a:r>
              <a:rPr lang="en-US" sz="1100" kern="0" dirty="0">
                <a:solidFill>
                  <a:srgbClr val="000000"/>
                </a:solidFill>
              </a:rPr>
              <a:t>) as Patient Count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54AC75-7F97-40EC-94A8-9A46AAC8E437}"/>
              </a:ext>
            </a:extLst>
          </p:cNvPr>
          <p:cNvSpPr/>
          <p:nvPr/>
        </p:nvSpPr>
        <p:spPr>
          <a:xfrm>
            <a:off x="6809991" y="4183526"/>
            <a:ext cx="1581487" cy="7938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/>
            <a:r>
              <a:rPr lang="en-US" sz="1100" kern="0" dirty="0">
                <a:solidFill>
                  <a:srgbClr val="000000"/>
                </a:solidFill>
              </a:rPr>
              <a:t>Sum(</a:t>
            </a:r>
            <a:r>
              <a:rPr lang="en-US" sz="1100" kern="0" dirty="0" err="1">
                <a:solidFill>
                  <a:srgbClr val="000000"/>
                </a:solidFill>
              </a:rPr>
              <a:t>pat_num</a:t>
            </a:r>
            <a:r>
              <a:rPr lang="en-US" sz="1100" kern="0" dirty="0">
                <a:solidFill>
                  <a:srgbClr val="000000"/>
                </a:solidFill>
              </a:rPr>
              <a:t>) as Patient Count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FFECD3-B2DC-4073-A8B8-7F419A904B71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8341139" y="2729656"/>
            <a:ext cx="560163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0A46AB-4EA0-4704-8855-305A90220726}"/>
              </a:ext>
            </a:extLst>
          </p:cNvPr>
          <p:cNvCxnSpPr>
            <a:cxnSpLocks/>
          </p:cNvCxnSpPr>
          <p:nvPr/>
        </p:nvCxnSpPr>
        <p:spPr>
          <a:xfrm>
            <a:off x="5697029" y="2740494"/>
            <a:ext cx="26709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9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bms-powerpoint-template (003).potx  -  Read-Only" id="{FD796F40-B4E8-4A28-BDC1-591A47BED6E1}" vid="{65C418F9-8773-4E40-B745-46F14E9E8802}"/>
    </a:ext>
  </a:extLst>
</a:theme>
</file>

<file path=ppt/theme/theme2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ppt/theme/theme3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13673</TotalTime>
  <Words>979</Words>
  <Application>Microsoft Office PowerPoint</Application>
  <PresentationFormat>Widescreen</PresentationFormat>
  <Paragraphs>291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Tahoma</vt:lpstr>
      <vt:lpstr>Trebuchet MS</vt:lpstr>
      <vt:lpstr>Bristol Myers Squibb</vt:lpstr>
      <vt:lpstr>PowerPoint Presentation</vt:lpstr>
      <vt:lpstr>C-SCAN: Add new items and logic for counting Myeloma and Lymphoma detail activities</vt:lpstr>
      <vt:lpstr>C-SCAN: Add new items and logic for counting Myeloma and Lymphoma detail activities</vt:lpstr>
      <vt:lpstr>C-SCAN: Add new items and logic for counting Myeloma and Lymphoma detail activities</vt:lpstr>
      <vt:lpstr>C-SCAN: Add new items and logic for counting Myeloma and Lymphoma detail activities</vt:lpstr>
      <vt:lpstr>C-SCAN: Add new items and logic for counting Myeloma and Lymphoma detail activities</vt:lpstr>
      <vt:lpstr>C-SCAN: Add new items and logic for counting Myeloma and Lymphoma detail activities</vt:lpstr>
      <vt:lpstr>Calculation of metric at product group level:</vt:lpstr>
      <vt:lpstr>Calculation of metric at product group level:</vt:lpstr>
      <vt:lpstr>Calculation of metric at product group level:</vt:lpstr>
      <vt:lpstr>Target Patients, New Patients and Potential Patients </vt:lpstr>
    </vt:vector>
  </TitlesOfParts>
  <Manager/>
  <Company>Bristol Myers Squibb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abhay.sharma@zs.com</dc:creator>
  <cp:keywords/>
  <dc:description/>
  <cp:lastModifiedBy>Abhay Sharma</cp:lastModifiedBy>
  <cp:revision>761</cp:revision>
  <cp:lastPrinted>2019-10-06T00:46:52Z</cp:lastPrinted>
  <dcterms:created xsi:type="dcterms:W3CDTF">2020-03-30T05:57:22Z</dcterms:created>
  <dcterms:modified xsi:type="dcterms:W3CDTF">2020-10-15T05:03:54Z</dcterms:modified>
  <cp:category/>
</cp:coreProperties>
</file>