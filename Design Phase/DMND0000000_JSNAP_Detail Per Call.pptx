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82" r:id="rId2"/>
    <p:sldId id="20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C-SCAN Detail/Call calculation and shows up in report for each product and product group for all BU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36B44B74-3A95-4892-87F1-984F7BAAEF70}"/>
              </a:ext>
            </a:extLst>
          </p:cNvPr>
          <p:cNvSpPr/>
          <p:nvPr/>
        </p:nvSpPr>
        <p:spPr>
          <a:xfrm>
            <a:off x="4799856" y="3425157"/>
            <a:ext cx="6706344" cy="209207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9"/>
            <a:ext cx="11068061" cy="523220"/>
          </a:xfrm>
        </p:spPr>
        <p:txBody>
          <a:bodyPr/>
          <a:lstStyle/>
          <a:p>
            <a:r>
              <a:rPr lang="en-US" sz="2800" dirty="0"/>
              <a:t>C-SCAN Approach: Calculation of detail per call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75A6E9-080B-4754-A651-24B68B926C3D}"/>
              </a:ext>
            </a:extLst>
          </p:cNvPr>
          <p:cNvSpPr/>
          <p:nvPr/>
        </p:nvSpPr>
        <p:spPr>
          <a:xfrm>
            <a:off x="1940768" y="1730622"/>
            <a:ext cx="9565432" cy="151216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tIns="90000" bIns="90000" rtlCol="0" anchor="ctr" anchorCtr="0"/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7FAEFAA-4DAB-4442-AC00-B2971EC058CC}"/>
              </a:ext>
            </a:extLst>
          </p:cNvPr>
          <p:cNvSpPr/>
          <p:nvPr/>
        </p:nvSpPr>
        <p:spPr>
          <a:xfrm>
            <a:off x="428789" y="1973167"/>
            <a:ext cx="1172706" cy="102707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CRM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F85409-5F63-4C9E-9C7C-08E38C69F4B9}"/>
              </a:ext>
            </a:extLst>
          </p:cNvPr>
          <p:cNvSpPr/>
          <p:nvPr/>
        </p:nvSpPr>
        <p:spPr>
          <a:xfrm>
            <a:off x="2278746" y="2089779"/>
            <a:ext cx="152032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Call2_vod__c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Call2_dtl_vod__c</a:t>
            </a:r>
          </a:p>
        </p:txBody>
      </p:sp>
      <p:sp>
        <p:nvSpPr>
          <p:cNvPr id="41" name="Can 10">
            <a:extLst>
              <a:ext uri="{FF2B5EF4-FFF2-40B4-BE49-F238E27FC236}">
                <a16:creationId xmlns:a16="http://schemas.microsoft.com/office/drawing/2014/main" id="{C629F661-E28E-4531-B28A-AE30702CD583}"/>
              </a:ext>
            </a:extLst>
          </p:cNvPr>
          <p:cNvSpPr/>
          <p:nvPr/>
        </p:nvSpPr>
        <p:spPr>
          <a:xfrm>
            <a:off x="4105279" y="210473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D59DDA-B95F-441B-A738-1D83A8E3BF16}"/>
              </a:ext>
            </a:extLst>
          </p:cNvPr>
          <p:cNvCxnSpPr>
            <a:cxnSpLocks/>
          </p:cNvCxnSpPr>
          <p:nvPr/>
        </p:nvCxnSpPr>
        <p:spPr>
          <a:xfrm>
            <a:off x="4674020" y="2486706"/>
            <a:ext cx="295355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n 14">
            <a:extLst>
              <a:ext uri="{FF2B5EF4-FFF2-40B4-BE49-F238E27FC236}">
                <a16:creationId xmlns:a16="http://schemas.microsoft.com/office/drawing/2014/main" id="{750B2520-044F-4908-BF06-504523C4AFFD}"/>
              </a:ext>
            </a:extLst>
          </p:cNvPr>
          <p:cNvSpPr/>
          <p:nvPr/>
        </p:nvSpPr>
        <p:spPr>
          <a:xfrm>
            <a:off x="4946561" y="2104734"/>
            <a:ext cx="1221875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 –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f_presn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&amp;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f_presn_dtl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AE4F9B-1979-4B47-978D-97CAAFF3D5D2}"/>
              </a:ext>
            </a:extLst>
          </p:cNvPr>
          <p:cNvCxnSpPr>
            <a:cxnSpLocks/>
          </p:cNvCxnSpPr>
          <p:nvPr/>
        </p:nvCxnSpPr>
        <p:spPr>
          <a:xfrm flipV="1">
            <a:off x="3832738" y="2486706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ED461F-D94F-4627-A709-895EB8204C14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601495" y="2486705"/>
            <a:ext cx="687735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n 14">
            <a:extLst>
              <a:ext uri="{FF2B5EF4-FFF2-40B4-BE49-F238E27FC236}">
                <a16:creationId xmlns:a16="http://schemas.microsoft.com/office/drawing/2014/main" id="{FCCC814E-7EC1-40C0-87CD-19D263E4B111}"/>
              </a:ext>
            </a:extLst>
          </p:cNvPr>
          <p:cNvSpPr/>
          <p:nvPr/>
        </p:nvSpPr>
        <p:spPr>
          <a:xfrm>
            <a:off x="8452921" y="2104734"/>
            <a:ext cx="872515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 Reporting Table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61F9357-A553-4EB4-83DE-49E6B8C0423E}"/>
              </a:ext>
            </a:extLst>
          </p:cNvPr>
          <p:cNvCxnSpPr>
            <a:cxnSpLocks/>
          </p:cNvCxnSpPr>
          <p:nvPr/>
        </p:nvCxnSpPr>
        <p:spPr>
          <a:xfrm>
            <a:off x="8000566" y="247817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1A91DD6-FB20-461C-AED1-3E6F4A1D7B63}"/>
              </a:ext>
            </a:extLst>
          </p:cNvPr>
          <p:cNvSpPr txBox="1"/>
          <p:nvPr/>
        </p:nvSpPr>
        <p:spPr>
          <a:xfrm>
            <a:off x="1430616" y="1337349"/>
            <a:ext cx="3962478" cy="366424"/>
          </a:xfrm>
          <a:prstGeom prst="rect">
            <a:avLst/>
          </a:prstGeom>
          <a:noFill/>
        </p:spPr>
        <p:txBody>
          <a:bodyPr wrap="square" tIns="90000" bIns="90000" rtlCol="0" anchor="t">
            <a:spAutoFit/>
          </a:bodyPr>
          <a:lstStyle/>
          <a:p>
            <a:r>
              <a:rPr lang="en-US" sz="1200" b="1" dirty="0"/>
              <a:t>New Reporting Table added in C-SCAN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1E9987D-A7AC-40B5-9F09-11C3577F0F84}"/>
              </a:ext>
            </a:extLst>
          </p:cNvPr>
          <p:cNvSpPr/>
          <p:nvPr/>
        </p:nvSpPr>
        <p:spPr>
          <a:xfrm>
            <a:off x="5075853" y="3663943"/>
            <a:ext cx="2993543" cy="163584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Filters Applied: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 dirty="0">
                <a:solidFill>
                  <a:srgbClr val="000000"/>
                </a:solidFill>
              </a:rPr>
              <a:t>Only BMS calls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lvl="0" algn="ctr">
              <a:defRPr/>
            </a:pPr>
            <a:r>
              <a:rPr lang="en-US" sz="1100" b="1" kern="0" dirty="0">
                <a:solidFill>
                  <a:srgbClr val="000000"/>
                </a:solidFill>
              </a:rPr>
              <a:t>Status</a:t>
            </a:r>
            <a:r>
              <a:rPr lang="en-US" sz="1100" kern="0" dirty="0">
                <a:solidFill>
                  <a:srgbClr val="000000"/>
                </a:solidFill>
              </a:rPr>
              <a:t> = 'Submitted’</a:t>
            </a:r>
          </a:p>
          <a:p>
            <a:pPr lvl="0" algn="ctr">
              <a:defRPr/>
            </a:pPr>
            <a:r>
              <a:rPr lang="en-US" sz="1100" b="1" kern="0" dirty="0">
                <a:solidFill>
                  <a:srgbClr val="000000"/>
                </a:solidFill>
              </a:rPr>
              <a:t>Record Type</a:t>
            </a:r>
            <a:r>
              <a:rPr lang="en-US" sz="1100" kern="0" dirty="0">
                <a:solidFill>
                  <a:srgbClr val="000000"/>
                </a:solidFill>
              </a:rPr>
              <a:t> 'BMS - JP Sales Interaction’</a:t>
            </a:r>
            <a:endParaRPr lang="en-US" altLang="ja-JP" sz="1100" kern="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ja-JP" sz="1100" kern="0" dirty="0">
                <a:solidFill>
                  <a:srgbClr val="000000"/>
                </a:solidFill>
              </a:rPr>
              <a:t> '</a:t>
            </a:r>
            <a:r>
              <a:rPr lang="en-US" sz="1100" kern="0" dirty="0">
                <a:solidFill>
                  <a:srgbClr val="000000"/>
                </a:solidFill>
              </a:rPr>
              <a:t>BMS - JP Sales Group Interaction’</a:t>
            </a:r>
            <a:endParaRPr lang="en-US" altLang="ja-JP" sz="1100" kern="0" dirty="0">
              <a:solidFill>
                <a:srgbClr val="000000"/>
              </a:solidFill>
            </a:endParaRPr>
          </a:p>
          <a:p>
            <a:pPr lvl="0" algn="ctr">
              <a:defRPr/>
            </a:pPr>
            <a:r>
              <a:rPr lang="en-US" altLang="ja-JP" sz="1100" kern="0" dirty="0">
                <a:solidFill>
                  <a:srgbClr val="000000"/>
                </a:solidFill>
              </a:rPr>
              <a:t> '</a:t>
            </a:r>
            <a:r>
              <a:rPr lang="en-US" sz="1100" kern="0" dirty="0">
                <a:solidFill>
                  <a:srgbClr val="000000"/>
                </a:solidFill>
              </a:rPr>
              <a:t>BMS - CORE - Sales Remote Interaction’</a:t>
            </a:r>
          </a:p>
          <a:p>
            <a:pPr lvl="0" algn="ctr"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Objective exclude</a:t>
            </a:r>
            <a:r>
              <a:rPr lang="ja-JP" altLang="en-US" sz="1100" b="1" kern="0" dirty="0">
                <a:solidFill>
                  <a:srgbClr val="000000"/>
                </a:solidFill>
              </a:rPr>
              <a:t> </a:t>
            </a:r>
            <a:r>
              <a:rPr lang="en-US" altLang="ja-JP" sz="1100" kern="0" dirty="0">
                <a:solidFill>
                  <a:srgbClr val="000000"/>
                </a:solidFill>
              </a:rPr>
              <a:t>"</a:t>
            </a:r>
            <a:r>
              <a:rPr lang="ja-JP" altLang="en-US" sz="1100" kern="0" dirty="0">
                <a:solidFill>
                  <a:srgbClr val="000000"/>
                </a:solidFill>
              </a:rPr>
              <a:t>リモートディテール</a:t>
            </a:r>
            <a:r>
              <a:rPr lang="en-US" altLang="ja-JP" sz="1100" kern="0" dirty="0">
                <a:solidFill>
                  <a:srgbClr val="000000"/>
                </a:solidFill>
              </a:rPr>
              <a:t>_</a:t>
            </a:r>
            <a:r>
              <a:rPr lang="ja-JP" altLang="en-US" sz="1100" kern="0" dirty="0">
                <a:solidFill>
                  <a:srgbClr val="000000"/>
                </a:solidFill>
              </a:rPr>
              <a:t>メール</a:t>
            </a:r>
            <a:r>
              <a:rPr lang="en-US" altLang="ja-JP" sz="1100" kern="0" dirty="0">
                <a:solidFill>
                  <a:srgbClr val="000000"/>
                </a:solidFill>
              </a:rPr>
              <a:t>“,   "</a:t>
            </a:r>
            <a:r>
              <a:rPr lang="ja-JP" altLang="en-US" sz="1100" kern="0" dirty="0">
                <a:solidFill>
                  <a:srgbClr val="000000"/>
                </a:solidFill>
              </a:rPr>
              <a:t>リモートディテール</a:t>
            </a:r>
            <a:r>
              <a:rPr lang="en-US" altLang="ja-JP" sz="1100" kern="0" dirty="0">
                <a:solidFill>
                  <a:srgbClr val="000000"/>
                </a:solidFill>
              </a:rPr>
              <a:t>_</a:t>
            </a:r>
            <a:r>
              <a:rPr lang="ja-JP" altLang="en-US" sz="1100" kern="0" dirty="0">
                <a:solidFill>
                  <a:srgbClr val="000000"/>
                </a:solidFill>
              </a:rPr>
              <a:t>郵送</a:t>
            </a:r>
            <a:r>
              <a:rPr lang="en-US" altLang="ja-JP" sz="1100" kern="0" dirty="0">
                <a:solidFill>
                  <a:srgbClr val="000000"/>
                </a:solidFill>
              </a:rPr>
              <a:t>"</a:t>
            </a:r>
            <a:endParaRPr kumimoji="0" lang="en-US" sz="11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8AB1075-C6EB-4680-8702-2C889C3FA3D4}"/>
              </a:ext>
            </a:extLst>
          </p:cNvPr>
          <p:cNvCxnSpPr>
            <a:cxnSpLocks/>
          </p:cNvCxnSpPr>
          <p:nvPr/>
        </p:nvCxnSpPr>
        <p:spPr>
          <a:xfrm>
            <a:off x="7392144" y="2891116"/>
            <a:ext cx="0" cy="77282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151430C-B001-40FE-B28A-3F9B637876FE}"/>
              </a:ext>
            </a:extLst>
          </p:cNvPr>
          <p:cNvCxnSpPr>
            <a:cxnSpLocks/>
            <a:stCxn id="18" idx="0"/>
            <a:endCxn id="55" idx="3"/>
          </p:cNvCxnSpPr>
          <p:nvPr/>
        </p:nvCxnSpPr>
        <p:spPr>
          <a:xfrm rot="16200000" flipV="1">
            <a:off x="8653270" y="3104588"/>
            <a:ext cx="1333831" cy="86201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C47FBD7-43F9-4CE2-8D3D-B1EEDF4CCAE8}"/>
              </a:ext>
            </a:extLst>
          </p:cNvPr>
          <p:cNvCxnSpPr>
            <a:cxnSpLocks/>
          </p:cNvCxnSpPr>
          <p:nvPr/>
        </p:nvCxnSpPr>
        <p:spPr>
          <a:xfrm>
            <a:off x="9338758" y="2486705"/>
            <a:ext cx="433892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Can 14">
            <a:extLst>
              <a:ext uri="{FF2B5EF4-FFF2-40B4-BE49-F238E27FC236}">
                <a16:creationId xmlns:a16="http://schemas.microsoft.com/office/drawing/2014/main" id="{F2096C5D-8ED8-45A3-AB49-F713140A6093}"/>
              </a:ext>
            </a:extLst>
          </p:cNvPr>
          <p:cNvSpPr/>
          <p:nvPr/>
        </p:nvSpPr>
        <p:spPr>
          <a:xfrm>
            <a:off x="9777791" y="2109262"/>
            <a:ext cx="1453591" cy="763944"/>
          </a:xfrm>
          <a:prstGeom prst="can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C-STAR</a:t>
            </a:r>
          </a:p>
        </p:txBody>
      </p:sp>
      <p:sp>
        <p:nvSpPr>
          <p:cNvPr id="52" name="Can 14">
            <a:extLst>
              <a:ext uri="{FF2B5EF4-FFF2-40B4-BE49-F238E27FC236}">
                <a16:creationId xmlns:a16="http://schemas.microsoft.com/office/drawing/2014/main" id="{94236D19-87D4-4F52-81E1-44BC87566DEB}"/>
              </a:ext>
            </a:extLst>
          </p:cNvPr>
          <p:cNvSpPr/>
          <p:nvPr/>
        </p:nvSpPr>
        <p:spPr>
          <a:xfrm>
            <a:off x="6510051" y="2101291"/>
            <a:ext cx="1472052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 –Summary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s_insn_bp_presn_dtl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AAC001F-FD82-4D3B-8228-CB61A62451DD}"/>
              </a:ext>
            </a:extLst>
          </p:cNvPr>
          <p:cNvCxnSpPr>
            <a:cxnSpLocks/>
          </p:cNvCxnSpPr>
          <p:nvPr/>
        </p:nvCxnSpPr>
        <p:spPr>
          <a:xfrm>
            <a:off x="6167673" y="2522443"/>
            <a:ext cx="34003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366A649-6363-4C59-A558-7DF4EFFDC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687135"/>
              </p:ext>
            </p:extLst>
          </p:nvPr>
        </p:nvGraphicFramePr>
        <p:xfrm>
          <a:off x="8434458" y="4202509"/>
          <a:ext cx="2633467" cy="1097280"/>
        </p:xfrm>
        <a:graphic>
          <a:graphicData uri="http://schemas.openxmlformats.org/drawingml/2006/table">
            <a:tbl>
              <a:tblPr>
                <a:tableStyleId>{7AFD8959-9B3F-4D47-BAAB-44C6AA61CEA2}</a:tableStyleId>
              </a:tblPr>
              <a:tblGrid>
                <a:gridCol w="2633467">
                  <a:extLst>
                    <a:ext uri="{9D8B030D-6E8A-4147-A177-3AD203B41FA5}">
                      <a16:colId xmlns:a16="http://schemas.microsoft.com/office/drawing/2014/main" val="241165696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No of Therapeutic Area Per Call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5643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 of Products Per Call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3318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No of Therapeutic Area Per Call F2F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58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 of Therapeutic Area Per Call Remote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60176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No of Products Per Call F2F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90772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No of Products Per Call Remote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739061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4A3C4BA-5E47-4295-86C0-AA52D6A0809C}"/>
              </a:ext>
            </a:extLst>
          </p:cNvPr>
          <p:cNvSpPr txBox="1"/>
          <p:nvPr/>
        </p:nvSpPr>
        <p:spPr>
          <a:xfrm>
            <a:off x="8452921" y="3802590"/>
            <a:ext cx="1204263" cy="5086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dirty="0"/>
              <a:t>Metrics:</a:t>
            </a:r>
          </a:p>
        </p:txBody>
      </p:sp>
    </p:spTree>
    <p:extLst>
      <p:ext uri="{BB962C8B-B14F-4D97-AF65-F5344CB8AC3E}">
        <p14:creationId xmlns:p14="http://schemas.microsoft.com/office/powerpoint/2010/main" val="60096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11479</TotalTime>
  <Words>189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Tahoma</vt:lpstr>
      <vt:lpstr>Trebuchet MS</vt:lpstr>
      <vt:lpstr>Bristol Myers Squibb</vt:lpstr>
      <vt:lpstr>PowerPoint Presentation</vt:lpstr>
      <vt:lpstr>C-SCAN Approach: Calculation of detail per call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Nishant Sachdeva</cp:lastModifiedBy>
  <cp:revision>765</cp:revision>
  <cp:lastPrinted>2019-10-06T00:46:52Z</cp:lastPrinted>
  <dcterms:created xsi:type="dcterms:W3CDTF">2020-03-30T05:57:22Z</dcterms:created>
  <dcterms:modified xsi:type="dcterms:W3CDTF">2020-10-15T09:34:46Z</dcterms:modified>
  <cp:category/>
</cp:coreProperties>
</file>