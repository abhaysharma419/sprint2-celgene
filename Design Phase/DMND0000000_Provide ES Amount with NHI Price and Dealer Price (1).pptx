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82" r:id="rId2"/>
    <p:sldId id="2098" r:id="rId3"/>
    <p:sldId id="2099" r:id="rId4"/>
    <p:sldId id="21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 N Tripathi" initials="HNT" lastIdx="1" clrIdx="0">
    <p:extLst>
      <p:ext uri="{19B8F6BF-5375-455C-9EA6-DF929625EA0E}">
        <p15:presenceInfo xmlns:p15="http://schemas.microsoft.com/office/powerpoint/2012/main" userId="S::harsh.n.tripathi@zs.com::003d1333-c52e-4198-b04d-74de7066c530" providerId="AD"/>
      </p:ext>
    </p:extLst>
  </p:cmAuthor>
  <p:cmAuthor id="2" name="Prasanth U" initials="PU" lastIdx="4" clrIdx="1">
    <p:extLst>
      <p:ext uri="{19B8F6BF-5375-455C-9EA6-DF929625EA0E}">
        <p15:presenceInfo xmlns:p15="http://schemas.microsoft.com/office/powerpoint/2012/main" userId="S-1-5-21-2460924596-1293597354-2123413825-156092" providerId="AD"/>
      </p:ext>
    </p:extLst>
  </p:cmAuthor>
  <p:cmAuthor id="3" name="Abhay Sharma" initials="AS" lastIdx="2" clrIdx="2">
    <p:extLst>
      <p:ext uri="{19B8F6BF-5375-455C-9EA6-DF929625EA0E}">
        <p15:presenceInfo xmlns:p15="http://schemas.microsoft.com/office/powerpoint/2012/main" userId="S::abhay.sharma@zs.com::3a235f68-679c-4f7c-8d96-4db4025272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CCCC"/>
    <a:srgbClr val="F2F2F2"/>
    <a:srgbClr val="E7EDF4"/>
    <a:srgbClr val="BDFFE3"/>
    <a:srgbClr val="E9EDF4"/>
    <a:srgbClr val="FDA97D"/>
    <a:srgbClr val="D9D9D9"/>
    <a:srgbClr val="9BFFD5"/>
    <a:srgbClr val="BDA2A2"/>
    <a:srgbClr val="BDE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AFD8959-9B3F-4D47-BAAB-44C6AA61CEA2}">
  <a:tblStyle styleId="{7AFD8959-9B3F-4D47-BAAB-44C6AA61CEA2}" styleName="BMS Table Gray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EEE7E7"/>
          </a:solidFill>
        </a:fill>
      </a:tcStyle>
    </a:band2H>
    <a:band1V>
      <a:tcStyle>
        <a:tcBdr/>
        <a:fill>
          <a:solidFill>
            <a:srgbClr val="EEE7E7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chemeClr val="tx1"/>
              </a:solidFill>
            </a:ln>
          </a:top>
          <a:bottom>
            <a:ln w="19050">
              <a:solidFill>
                <a:schemeClr val="tx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1"/>
          </a:solidFill>
        </a:fill>
      </a:tcStyle>
    </a:firstRow>
  </a:tblStyle>
  <a:tblStyle styleId="{AB131486-7932-478D-BA04-5426E13E8524}" styleName="BMS Table Amber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FD186"/>
              </a:solidFill>
            </a:ln>
          </a:top>
          <a:bottom>
            <a:ln w="6350">
              <a:solidFill>
                <a:srgbClr val="FFD186"/>
              </a:solidFill>
            </a:ln>
          </a:bottom>
          <a:insideH>
            <a:ln w="6350">
              <a:solidFill>
                <a:srgbClr val="FFD18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ECCD"/>
          </a:solidFill>
        </a:fill>
      </a:tcStyle>
    </a:band2H>
    <a:band1V>
      <a:tcStyle>
        <a:tcBdr/>
        <a:fill>
          <a:solidFill>
            <a:srgbClr val="FFECCD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FD186"/>
              </a:solidFill>
            </a:ln>
          </a:top>
          <a:bottom>
            <a:ln w="19050">
              <a:solidFill>
                <a:srgbClr val="FFD186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D186"/>
          </a:solidFill>
        </a:fill>
      </a:tcStyle>
    </a:firstRow>
  </a:tblStyle>
  <a:tblStyle styleId="{17987A09-FBC6-4D12-BA78-BE2ACF4811F2}" styleName="BMS Table Peach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DA97D"/>
              </a:solidFill>
            </a:ln>
          </a:top>
          <a:bottom>
            <a:ln w="6350">
              <a:solidFill>
                <a:srgbClr val="FDA97D"/>
              </a:solidFill>
            </a:ln>
          </a:bottom>
          <a:insideH>
            <a:ln w="6350">
              <a:solidFill>
                <a:srgbClr val="FDA97D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EDCCA"/>
          </a:solidFill>
        </a:fill>
      </a:tcStyle>
    </a:band2H>
    <a:band1V>
      <a:tcStyle>
        <a:tcBdr/>
        <a:fill>
          <a:solidFill>
            <a:srgbClr val="FEDCCA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DA97D"/>
              </a:solidFill>
            </a:ln>
          </a:top>
          <a:bottom>
            <a:ln w="19050">
              <a:solidFill>
                <a:srgbClr val="FDA97D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DA97D"/>
          </a:solidFill>
        </a:fill>
      </a:tcStyle>
    </a:firstRow>
  </a:tblStyle>
  <a:tblStyle styleId="{3FB51E2C-7BFB-4B95-B8AA-B85EA3A58659}" styleName="BMS Table Sienn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CB7C78"/>
              </a:solidFill>
            </a:ln>
          </a:top>
          <a:bottom>
            <a:ln w="6350">
              <a:solidFill>
                <a:srgbClr val="CB7C78"/>
              </a:solidFill>
            </a:ln>
          </a:bottom>
          <a:insideH>
            <a:ln w="6350">
              <a:solidFill>
                <a:srgbClr val="CB7C7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AC5C5"/>
          </a:solidFill>
        </a:fill>
      </a:tcStyle>
    </a:band2H>
    <a:band1V>
      <a:tcStyle>
        <a:tcBdr/>
        <a:fill>
          <a:solidFill>
            <a:srgbClr val="DAC5C5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CB7C78"/>
              </a:solidFill>
            </a:ln>
          </a:top>
          <a:bottom>
            <a:ln w="19050">
              <a:solidFill>
                <a:srgbClr val="CB7C78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B7C78"/>
          </a:solidFill>
        </a:fill>
      </a:tcStyle>
    </a:firstRow>
  </a:tblStyle>
  <a:tblStyle styleId="{341639D1-FA1C-4AE1-8705-CAF77B6581E0}" styleName="BMS Table Mint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9FFB9"/>
              </a:solidFill>
            </a:ln>
          </a:top>
          <a:bottom>
            <a:ln w="6350">
              <a:solidFill>
                <a:srgbClr val="59FFB9"/>
              </a:solidFill>
            </a:ln>
          </a:bottom>
          <a:insideH>
            <a:ln w="6350">
              <a:solidFill>
                <a:srgbClr val="59FFB9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5FFE6"/>
          </a:solidFill>
        </a:fill>
      </a:tcStyle>
    </a:band2H>
    <a:band1V>
      <a:tcStyle>
        <a:tcBdr/>
        <a:fill>
          <a:solidFill>
            <a:srgbClr val="C5FFE6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59FFB9"/>
              </a:solidFill>
            </a:ln>
          </a:top>
          <a:bottom>
            <a:ln w="19050">
              <a:solidFill>
                <a:srgbClr val="59FFB9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59FFB9"/>
          </a:solidFill>
        </a:fill>
      </a:tcStyle>
    </a:firstRow>
  </a:tblStyle>
  <a:tblStyle styleId="{634F3CDC-9E1D-4E82-9B7D-985DE547036D}" styleName="BMS Table Aqu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33D6F1"/>
              </a:solidFill>
            </a:ln>
          </a:top>
          <a:bottom>
            <a:ln w="6350">
              <a:solidFill>
                <a:srgbClr val="33D6F1"/>
              </a:solidFill>
            </a:ln>
          </a:bottom>
          <a:insideH>
            <a:ln w="6350">
              <a:solidFill>
                <a:srgbClr val="33D6F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0F2FB"/>
          </a:solidFill>
        </a:fill>
      </a:tcStyle>
    </a:band2H>
    <a:band1V>
      <a:tcStyle>
        <a:tcBdr/>
        <a:fill>
          <a:solidFill>
            <a:srgbClr val="C0F2FB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33D6F1"/>
              </a:solidFill>
            </a:ln>
          </a:top>
          <a:bottom>
            <a:ln w="19050">
              <a:solidFill>
                <a:srgbClr val="33D6F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33D6F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32" autoAdjust="0"/>
  </p:normalViewPr>
  <p:slideViewPr>
    <p:cSldViewPr snapToGrid="0" showGuides="1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66" d="100"/>
          <a:sy n="166" d="100"/>
        </p:scale>
        <p:origin x="546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6B232A-A90B-0843-9FE3-CD41AEF1F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EF4F6-6352-EF49-8B94-F88281AD3C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A1003-23F1-F848-ABD7-AA279ACD1B1C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22398-7E15-714C-85A0-DACC6DC3F1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B2665-97EF-CE47-ABE4-18D4D76C98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60F0-68D7-274B-9B3A-8BD634CF5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6C0D1-008B-C245-AF1E-F6ADA8BEAF3C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B8535-DC0F-AF47-A510-8461A80C06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spcBef>
        <a:spcPts val="600"/>
      </a:spcBef>
      <a:buFont typeface="Trebuchet MS" panose="020B0603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09728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2801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4630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6459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60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62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 dirty="0"/>
              <a:t>[Agenda item]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5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98" userDrawn="1">
          <p15:clr>
            <a:srgbClr val="FBAE40"/>
          </p15:clr>
        </p15:guide>
        <p15:guide id="2" pos="2512" userDrawn="1">
          <p15:clr>
            <a:srgbClr val="FBAE40"/>
          </p15:clr>
        </p15:guide>
        <p15:guide id="3" pos="4982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1" y="1554480"/>
            <a:ext cx="2641598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0" y="1554480"/>
            <a:ext cx="26416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 userDrawn="1">
          <p15:clr>
            <a:srgbClr val="FBAE40"/>
          </p15:clr>
        </p15:guide>
        <p15:guide id="2" pos="1896" userDrawn="1">
          <p15:clr>
            <a:srgbClr val="FBAE40"/>
          </p15:clr>
        </p15:guide>
        <p15:guide id="3" pos="5600" userDrawn="1">
          <p15:clr>
            <a:srgbClr val="FBAE40"/>
          </p15:clr>
        </p15:guide>
        <p15:guide id="4" pos="5784" userDrawn="1">
          <p15:clr>
            <a:srgbClr val="FBAE40"/>
          </p15:clr>
        </p15:guide>
        <p15:guide id="5" pos="3744" userDrawn="1">
          <p15:clr>
            <a:srgbClr val="FBAE40"/>
          </p15:clr>
        </p15:guide>
        <p15:guide id="6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0" userDrawn="1">
          <p15:clr>
            <a:srgbClr val="FBAE40"/>
          </p15:clr>
        </p15:guide>
        <p15:guide id="2" pos="25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4980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46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9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34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89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70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0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1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8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76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020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821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 userDrawn="1">
          <p15:clr>
            <a:srgbClr val="FBAE40"/>
          </p15:clr>
        </p15:guide>
        <p15:guide id="8" orient="horz" pos="21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6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7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6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 userDrawn="1"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6241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BO Templa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251346" y="1575162"/>
            <a:ext cx="7708928" cy="1646605"/>
          </a:xfrm>
        </p:spPr>
        <p:txBody>
          <a:bodyPr/>
          <a:lstStyle>
            <a:lvl1pPr marL="0" indent="0">
              <a:buNone/>
              <a:defRPr sz="5400" b="1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sz="5400" b="1" dirty="0"/>
              <a:t>Remote Group Detail Distinguish Approach</a:t>
            </a:r>
            <a:endParaRPr lang="en-US" altLang="ja-JP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241021" y="3339604"/>
            <a:ext cx="8846595" cy="646331"/>
          </a:xfrm>
        </p:spPr>
        <p:txBody>
          <a:bodyPr/>
          <a:lstStyle>
            <a:lvl1pPr marL="0" indent="0">
              <a:buNone/>
              <a:defRPr sz="3600" b="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Subtitle: 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51346" y="4278323"/>
            <a:ext cx="7708928" cy="52322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F66F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Date: Click to edit Master text styles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298E450-4001-45D4-BAAA-81B2CF2D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84800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B202EDA2-849C-5746-B520-4E5047A7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6" name="Disclaimer">
            <a:extLst>
              <a:ext uri="{FF2B5EF4-FFF2-40B4-BE49-F238E27FC236}">
                <a16:creationId xmlns:a16="http://schemas.microsoft.com/office/drawing/2014/main" id="{A785335B-16F9-6F4B-9AC7-614641E447A6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9" r:id="rId2"/>
    <p:sldLayoutId id="2147483662" r:id="rId3"/>
    <p:sldLayoutId id="2147483650" r:id="rId4"/>
    <p:sldLayoutId id="2147483652" r:id="rId5"/>
    <p:sldLayoutId id="2147483656" r:id="rId6"/>
    <p:sldLayoutId id="2147483657" r:id="rId7"/>
    <p:sldLayoutId id="2147483660" r:id="rId8"/>
    <p:sldLayoutId id="2147483661" r:id="rId9"/>
    <p:sldLayoutId id="2147483694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2" r:id="rId17"/>
    <p:sldLayoutId id="2147483709" r:id="rId18"/>
    <p:sldLayoutId id="2147483710" r:id="rId19"/>
    <p:sldLayoutId id="2147483690" r:id="rId20"/>
    <p:sldLayoutId id="2147483691" r:id="rId21"/>
    <p:sldLayoutId id="2147483692" r:id="rId22"/>
    <p:sldLayoutId id="2147483693" r:id="rId23"/>
    <p:sldLayoutId id="2147483698" r:id="rId24"/>
    <p:sldLayoutId id="2147483695" r:id="rId25"/>
    <p:sldLayoutId id="214748365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700" r:id="rId35"/>
    <p:sldLayoutId id="2147483654" r:id="rId36"/>
    <p:sldLayoutId id="2147483655" r:id="rId37"/>
    <p:sldLayoutId id="2147483696" r:id="rId38"/>
    <p:sldLayoutId id="2147483697" r:id="rId39"/>
    <p:sldLayoutId id="214748371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5" orient="horz" pos="978" userDrawn="1">
          <p15:clr>
            <a:srgbClr val="F26B43"/>
          </p15:clr>
        </p15:guide>
        <p15:guide id="6" orient="horz" pos="38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4139" y="1549727"/>
            <a:ext cx="11123720" cy="769441"/>
          </a:xfrm>
        </p:spPr>
        <p:txBody>
          <a:bodyPr anchor="ctr"/>
          <a:lstStyle/>
          <a:p>
            <a:pPr algn="ctr"/>
            <a:r>
              <a:rPr lang="en-US" sz="4400" dirty="0"/>
              <a:t>Celgene Integration Batch 2 – Japan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2702" y="3321849"/>
            <a:ext cx="8846595" cy="109035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Provide ES Amount with NHI Price</a:t>
            </a:r>
          </a:p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and Dealer Price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F3ABB-87ED-4A68-86B3-296049248E95}"/>
              </a:ext>
            </a:extLst>
          </p:cNvPr>
          <p:cNvSpPr/>
          <p:nvPr/>
        </p:nvSpPr>
        <p:spPr>
          <a:xfrm>
            <a:off x="-2244" y="-5229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EFF-5B88-4C04-AEDA-4135CD6B3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36B44B74-3A95-4892-87F1-984F7BAAEF70}"/>
              </a:ext>
            </a:extLst>
          </p:cNvPr>
          <p:cNvSpPr/>
          <p:nvPr/>
        </p:nvSpPr>
        <p:spPr>
          <a:xfrm>
            <a:off x="4799856" y="3425157"/>
            <a:ext cx="4392489" cy="209207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90000" bIns="90000" rtlCol="0" anchor="ctr" anchorCtr="0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523220"/>
          </a:xfrm>
        </p:spPr>
        <p:txBody>
          <a:bodyPr/>
          <a:lstStyle/>
          <a:p>
            <a:r>
              <a:rPr lang="en-US" sz="2800" dirty="0"/>
              <a:t>Provide ES Amount on the basis of NHI Price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75A6E9-080B-4754-A651-24B68B926C3D}"/>
              </a:ext>
            </a:extLst>
          </p:cNvPr>
          <p:cNvSpPr/>
          <p:nvPr/>
        </p:nvSpPr>
        <p:spPr>
          <a:xfrm>
            <a:off x="2851888" y="1730622"/>
            <a:ext cx="8654311" cy="151216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90000" bIns="90000" rtlCol="0" anchor="ctr" anchorCtr="0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7FAEFAA-4DAB-4442-AC00-B2971EC058CC}"/>
              </a:ext>
            </a:extLst>
          </p:cNvPr>
          <p:cNvSpPr/>
          <p:nvPr/>
        </p:nvSpPr>
        <p:spPr>
          <a:xfrm>
            <a:off x="1513472" y="1933591"/>
            <a:ext cx="1172706" cy="10270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Bridge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F85409-5F63-4C9E-9C7C-08E38C69F4B9}"/>
              </a:ext>
            </a:extLst>
          </p:cNvPr>
          <p:cNvSpPr/>
          <p:nvPr/>
        </p:nvSpPr>
        <p:spPr>
          <a:xfrm>
            <a:off x="2999656" y="2089779"/>
            <a:ext cx="799411" cy="79385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ES Data</a:t>
            </a:r>
            <a:endParaRPr lang="en-US" sz="11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41" name="Can 10">
            <a:extLst>
              <a:ext uri="{FF2B5EF4-FFF2-40B4-BE49-F238E27FC236}">
                <a16:creationId xmlns:a16="http://schemas.microsoft.com/office/drawing/2014/main" id="{C629F661-E28E-4531-B28A-AE30702CD583}"/>
              </a:ext>
            </a:extLst>
          </p:cNvPr>
          <p:cNvSpPr/>
          <p:nvPr/>
        </p:nvSpPr>
        <p:spPr>
          <a:xfrm>
            <a:off x="4105279" y="210473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C14EE0-31CC-426B-B8C3-9A5595FB8288}"/>
              </a:ext>
            </a:extLst>
          </p:cNvPr>
          <p:cNvSpPr/>
          <p:nvPr/>
        </p:nvSpPr>
        <p:spPr>
          <a:xfrm>
            <a:off x="4969375" y="2230918"/>
            <a:ext cx="663563" cy="511577"/>
          </a:xfrm>
          <a:prstGeom prst="rect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D59DDA-B95F-441B-A738-1D83A8E3BF16}"/>
              </a:ext>
            </a:extLst>
          </p:cNvPr>
          <p:cNvCxnSpPr>
            <a:cxnSpLocks/>
          </p:cNvCxnSpPr>
          <p:nvPr/>
        </p:nvCxnSpPr>
        <p:spPr>
          <a:xfrm>
            <a:off x="4674020" y="2486706"/>
            <a:ext cx="295355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n 14">
            <a:extLst>
              <a:ext uri="{FF2B5EF4-FFF2-40B4-BE49-F238E27FC236}">
                <a16:creationId xmlns:a16="http://schemas.microsoft.com/office/drawing/2014/main" id="{750B2520-044F-4908-BF06-504523C4AFFD}"/>
              </a:ext>
            </a:extLst>
          </p:cNvPr>
          <p:cNvSpPr/>
          <p:nvPr/>
        </p:nvSpPr>
        <p:spPr>
          <a:xfrm>
            <a:off x="5905479" y="210473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EDD63D-E40B-43DE-838B-E58A7657979C}"/>
              </a:ext>
            </a:extLst>
          </p:cNvPr>
          <p:cNvCxnSpPr>
            <a:cxnSpLocks/>
          </p:cNvCxnSpPr>
          <p:nvPr/>
        </p:nvCxnSpPr>
        <p:spPr>
          <a:xfrm flipV="1">
            <a:off x="5632938" y="2486706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83C2CC0-9EBD-419D-B45E-E76A4E6AE162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5632938" y="2486707"/>
            <a:ext cx="2725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DAE4F9B-1979-4B47-978D-97CAAFF3D5D2}"/>
              </a:ext>
            </a:extLst>
          </p:cNvPr>
          <p:cNvCxnSpPr>
            <a:cxnSpLocks/>
          </p:cNvCxnSpPr>
          <p:nvPr/>
        </p:nvCxnSpPr>
        <p:spPr>
          <a:xfrm flipV="1">
            <a:off x="3832738" y="2486706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FED461F-D94F-4627-A709-895EB8204C14}"/>
              </a:ext>
            </a:extLst>
          </p:cNvPr>
          <p:cNvCxnSpPr>
            <a:cxnSpLocks/>
          </p:cNvCxnSpPr>
          <p:nvPr/>
        </p:nvCxnSpPr>
        <p:spPr>
          <a:xfrm flipV="1">
            <a:off x="2715619" y="2486706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79931A1-6A7D-4978-8BD1-7E66C1B63BB3}"/>
              </a:ext>
            </a:extLst>
          </p:cNvPr>
          <p:cNvSpPr/>
          <p:nvPr/>
        </p:nvSpPr>
        <p:spPr>
          <a:xfrm>
            <a:off x="6741316" y="2089778"/>
            <a:ext cx="1581487" cy="7938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/>
            <a:r>
              <a:rPr lang="en-US" sz="1100" kern="0" dirty="0">
                <a:solidFill>
                  <a:srgbClr val="000000"/>
                </a:solidFill>
              </a:rPr>
              <a:t>ES Amount on the basis of NHI Price will flow into L3 from L2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7088030-EF57-4833-B403-BB1FDA665A70}"/>
              </a:ext>
            </a:extLst>
          </p:cNvPr>
          <p:cNvCxnSpPr>
            <a:cxnSpLocks/>
            <a:stCxn id="44" idx="4"/>
            <a:endCxn id="49" idx="1"/>
          </p:cNvCxnSpPr>
          <p:nvPr/>
        </p:nvCxnSpPr>
        <p:spPr>
          <a:xfrm>
            <a:off x="6474220" y="2486706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an 14">
            <a:extLst>
              <a:ext uri="{FF2B5EF4-FFF2-40B4-BE49-F238E27FC236}">
                <a16:creationId xmlns:a16="http://schemas.microsoft.com/office/drawing/2014/main" id="{FCCC814E-7EC1-40C0-87CD-19D263E4B111}"/>
              </a:ext>
            </a:extLst>
          </p:cNvPr>
          <p:cNvSpPr/>
          <p:nvPr/>
        </p:nvSpPr>
        <p:spPr>
          <a:xfrm>
            <a:off x="8756695" y="210473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61F9357-A553-4EB4-83DE-49E6B8C0423E}"/>
              </a:ext>
            </a:extLst>
          </p:cNvPr>
          <p:cNvCxnSpPr>
            <a:cxnSpLocks/>
            <a:endCxn id="55" idx="2"/>
          </p:cNvCxnSpPr>
          <p:nvPr/>
        </p:nvCxnSpPr>
        <p:spPr>
          <a:xfrm>
            <a:off x="8322803" y="2486705"/>
            <a:ext cx="433892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1A91DD6-FB20-461C-AED1-3E6F4A1D7B63}"/>
              </a:ext>
            </a:extLst>
          </p:cNvPr>
          <p:cNvSpPr txBox="1"/>
          <p:nvPr/>
        </p:nvSpPr>
        <p:spPr>
          <a:xfrm>
            <a:off x="1430616" y="1337349"/>
            <a:ext cx="1338418" cy="366424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r>
              <a:rPr lang="en-US" sz="1200" b="1" dirty="0"/>
              <a:t>Existing Process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80014D-BAA3-470C-ABD8-1CD5B7121E32}"/>
              </a:ext>
            </a:extLst>
          </p:cNvPr>
          <p:cNvSpPr/>
          <p:nvPr/>
        </p:nvSpPr>
        <p:spPr>
          <a:xfrm>
            <a:off x="5110049" y="3827544"/>
            <a:ext cx="1437404" cy="9553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Currently ES Amount is calculated as (Dealer Price X Quantity)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1E9987D-A7AC-40B5-9F09-11C3577F0F84}"/>
              </a:ext>
            </a:extLst>
          </p:cNvPr>
          <p:cNvSpPr/>
          <p:nvPr/>
        </p:nvSpPr>
        <p:spPr>
          <a:xfrm>
            <a:off x="6994721" y="3849982"/>
            <a:ext cx="1074675" cy="9553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Process: Merge Group Calls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EA92FFB-475F-431D-A556-3AED67926C89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6189850" y="2868678"/>
            <a:ext cx="0" cy="95886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AB1075-C6EB-4680-8702-2C889C3FA3D4}"/>
              </a:ext>
            </a:extLst>
          </p:cNvPr>
          <p:cNvCxnSpPr>
            <a:cxnSpLocks/>
          </p:cNvCxnSpPr>
          <p:nvPr/>
        </p:nvCxnSpPr>
        <p:spPr>
          <a:xfrm>
            <a:off x="7392144" y="2891116"/>
            <a:ext cx="0" cy="95886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9C562D7-052F-4005-9A5C-C17652D1196F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6547453" y="4325393"/>
            <a:ext cx="447268" cy="224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Speech Bubble: Rectangle with Corners Rounded 80">
            <a:extLst>
              <a:ext uri="{FF2B5EF4-FFF2-40B4-BE49-F238E27FC236}">
                <a16:creationId xmlns:a16="http://schemas.microsoft.com/office/drawing/2014/main" id="{FB070003-3CCC-422A-A49C-69B92487123D}"/>
              </a:ext>
            </a:extLst>
          </p:cNvPr>
          <p:cNvSpPr/>
          <p:nvPr/>
        </p:nvSpPr>
        <p:spPr>
          <a:xfrm>
            <a:off x="2851889" y="3389349"/>
            <a:ext cx="1689962" cy="1080120"/>
          </a:xfrm>
          <a:prstGeom prst="wedgeRoundRectCallout">
            <a:avLst>
              <a:gd name="adj1" fmla="val 127004"/>
              <a:gd name="adj2" fmla="val -116152"/>
              <a:gd name="adj3" fmla="val 16667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1000" kern="0" dirty="0">
                <a:solidFill>
                  <a:schemeClr val="bg1"/>
                </a:solidFill>
              </a:rPr>
              <a:t>ES Amount will now be calculated as (NHI Price * Unit Price) by using NHI Price master from Bridge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151430C-B001-40FE-B28A-3F9B637876FE}"/>
              </a:ext>
            </a:extLst>
          </p:cNvPr>
          <p:cNvCxnSpPr>
            <a:cxnSpLocks/>
            <a:stCxn id="61" idx="3"/>
            <a:endCxn id="55" idx="3"/>
          </p:cNvCxnSpPr>
          <p:nvPr/>
        </p:nvCxnSpPr>
        <p:spPr>
          <a:xfrm flipV="1">
            <a:off x="8069396" y="2868678"/>
            <a:ext cx="971670" cy="1458960"/>
          </a:xfrm>
          <a:prstGeom prst="bentConnector2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84AD120-296B-4E82-BE7E-CC2F282702DB}"/>
              </a:ext>
            </a:extLst>
          </p:cNvPr>
          <p:cNvSpPr txBox="1"/>
          <p:nvPr/>
        </p:nvSpPr>
        <p:spPr>
          <a:xfrm>
            <a:off x="4799855" y="5542836"/>
            <a:ext cx="4392490" cy="366424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pPr algn="ctr"/>
            <a:r>
              <a:rPr lang="en-US" sz="1200" b="1" dirty="0"/>
              <a:t>Process of calculation of ES Amount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92C443-CADB-45C9-9A3E-78D96C5F0667}"/>
              </a:ext>
            </a:extLst>
          </p:cNvPr>
          <p:cNvCxnSpPr>
            <a:cxnSpLocks/>
          </p:cNvCxnSpPr>
          <p:nvPr/>
        </p:nvCxnSpPr>
        <p:spPr>
          <a:xfrm>
            <a:off x="5721570" y="2380183"/>
            <a:ext cx="115774" cy="2880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47FBD7-43F9-4CE2-8D3D-B1EEDF4CCAE8}"/>
              </a:ext>
            </a:extLst>
          </p:cNvPr>
          <p:cNvCxnSpPr>
            <a:cxnSpLocks/>
          </p:cNvCxnSpPr>
          <p:nvPr/>
        </p:nvCxnSpPr>
        <p:spPr>
          <a:xfrm>
            <a:off x="9338758" y="2486705"/>
            <a:ext cx="433892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Can 14">
            <a:extLst>
              <a:ext uri="{FF2B5EF4-FFF2-40B4-BE49-F238E27FC236}">
                <a16:creationId xmlns:a16="http://schemas.microsoft.com/office/drawing/2014/main" id="{F2096C5D-8ED8-45A3-AB49-F713140A6093}"/>
              </a:ext>
            </a:extLst>
          </p:cNvPr>
          <p:cNvSpPr/>
          <p:nvPr/>
        </p:nvSpPr>
        <p:spPr>
          <a:xfrm>
            <a:off x="9777791" y="2109262"/>
            <a:ext cx="1453591" cy="763944"/>
          </a:xfrm>
          <a:prstGeom prst="can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CSCOR/CSTAR/DEL</a:t>
            </a:r>
          </a:p>
        </p:txBody>
      </p:sp>
    </p:spTree>
    <p:extLst>
      <p:ext uri="{BB962C8B-B14F-4D97-AF65-F5344CB8AC3E}">
        <p14:creationId xmlns:p14="http://schemas.microsoft.com/office/powerpoint/2010/main" val="60096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523220"/>
          </a:xfrm>
        </p:spPr>
        <p:txBody>
          <a:bodyPr/>
          <a:lstStyle/>
          <a:p>
            <a:r>
              <a:rPr lang="en-US" sz="2800" dirty="0"/>
              <a:t>ES Amount Calculation in C-SCOR Reports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ADE480-C50D-41C5-9447-0A7F546F9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36960"/>
              </p:ext>
            </p:extLst>
          </p:nvPr>
        </p:nvGraphicFramePr>
        <p:xfrm>
          <a:off x="561230" y="1114369"/>
          <a:ext cx="10992596" cy="5059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63095">
                  <a:extLst>
                    <a:ext uri="{9D8B030D-6E8A-4147-A177-3AD203B41FA5}">
                      <a16:colId xmlns:a16="http://schemas.microsoft.com/office/drawing/2014/main" val="2253227332"/>
                    </a:ext>
                  </a:extLst>
                </a:gridCol>
                <a:gridCol w="7429501">
                  <a:extLst>
                    <a:ext uri="{9D8B030D-6E8A-4147-A177-3AD203B41FA5}">
                      <a16:colId xmlns:a16="http://schemas.microsoft.com/office/drawing/2014/main" val="2229600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Report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 of ES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79008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My Geography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800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Latest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105294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Customer 360 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84012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Latest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96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My Customer Institution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09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76327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ES 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03222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Latest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821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JDNet</a:t>
                      </a:r>
                      <a:r>
                        <a:rPr lang="en-US" dirty="0"/>
                        <a:t> Detail &amp;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676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 Ranking;</a:t>
                      </a:r>
                    </a:p>
                    <a:p>
                      <a:r>
                        <a:rPr lang="en-US" i="1" dirty="0"/>
                        <a:t>Have separate slide on this;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 Amount calculated on the basis Point-in-Time NHI Price from 2021 onwards. ES Amount to remain same until 2020.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167644"/>
                  </a:ext>
                </a:extLst>
              </a:tr>
            </a:tbl>
          </a:graphicData>
        </a:graphic>
      </p:graphicFrame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361EC8D8-C39A-4D79-B8FC-D41602DE27CC}"/>
              </a:ext>
            </a:extLst>
          </p:cNvPr>
          <p:cNvSpPr/>
          <p:nvPr/>
        </p:nvSpPr>
        <p:spPr>
          <a:xfrm>
            <a:off x="2323322" y="1856792"/>
            <a:ext cx="1483568" cy="793102"/>
          </a:xfrm>
          <a:prstGeom prst="wedgeRectCallout">
            <a:avLst>
              <a:gd name="adj1" fmla="val 346462"/>
              <a:gd name="adj2" fmla="val 37794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/>
              <a:t>Include column to calc latest NHI price in summary table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AF29C57-B7B5-41F4-818A-2D72724074DC}"/>
              </a:ext>
            </a:extLst>
          </p:cNvPr>
          <p:cNvSpPr/>
          <p:nvPr/>
        </p:nvSpPr>
        <p:spPr>
          <a:xfrm>
            <a:off x="2323322" y="3032449"/>
            <a:ext cx="1483568" cy="793102"/>
          </a:xfrm>
          <a:prstGeom prst="wedgeRectCallout">
            <a:avLst>
              <a:gd name="adj1" fmla="val 346462"/>
              <a:gd name="adj2" fmla="val -109265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/>
              <a:t>Include column to calc latest DIST </a:t>
            </a:r>
            <a:r>
              <a:rPr lang="en-US" sz="1100" dirty="0" err="1"/>
              <a:t>sls</a:t>
            </a:r>
            <a:r>
              <a:rPr lang="en-US" sz="1100" dirty="0"/>
              <a:t> in summary table</a:t>
            </a:r>
          </a:p>
        </p:txBody>
      </p:sp>
    </p:spTree>
    <p:extLst>
      <p:ext uri="{BB962C8B-B14F-4D97-AF65-F5344CB8AC3E}">
        <p14:creationId xmlns:p14="http://schemas.microsoft.com/office/powerpoint/2010/main" val="93728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523220"/>
          </a:xfrm>
        </p:spPr>
        <p:txBody>
          <a:bodyPr/>
          <a:lstStyle/>
          <a:p>
            <a:r>
              <a:rPr lang="en-US" sz="2800" dirty="0"/>
              <a:t>Calculation of EST and PLAN Sales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ADE480-C50D-41C5-9447-0A7F546F9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36096"/>
              </p:ext>
            </p:extLst>
          </p:nvPr>
        </p:nvGraphicFramePr>
        <p:xfrm>
          <a:off x="561230" y="1114369"/>
          <a:ext cx="10992596" cy="3200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63095">
                  <a:extLst>
                    <a:ext uri="{9D8B030D-6E8A-4147-A177-3AD203B41FA5}">
                      <a16:colId xmlns:a16="http://schemas.microsoft.com/office/drawing/2014/main" val="2253227332"/>
                    </a:ext>
                  </a:extLst>
                </a:gridCol>
                <a:gridCol w="7429501">
                  <a:extLst>
                    <a:ext uri="{9D8B030D-6E8A-4147-A177-3AD203B41FA5}">
                      <a16:colId xmlns:a16="http://schemas.microsoft.com/office/drawing/2014/main" val="2229600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 of ES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Historical EST Sales(until 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won’t be updated with NHI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790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EST Sales – 2021 onwards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be received from 2021 onwards and the same will flow in all C-SCAN layers. No logic to be applied in C-SCAN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800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Historical PLAN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Bridge team will update(for 3 years; to be confirmed with business) and send ES Plan sales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105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PLAN Sales – 2021 onwards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be received from 2021 onwards and the same will flow in all C-SCAN layers. No logic to be applied in C-SCAN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84012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CCF1778-6398-4B91-AD5B-A50005C69059}"/>
              </a:ext>
            </a:extLst>
          </p:cNvPr>
          <p:cNvSpPr txBox="1"/>
          <p:nvPr/>
        </p:nvSpPr>
        <p:spPr>
          <a:xfrm>
            <a:off x="561230" y="4038601"/>
            <a:ext cx="10992596" cy="16064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dirty="0"/>
              <a:t>Note: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SzPct val="100000"/>
              <a:buAutoNum type="arabicPeriod"/>
            </a:pPr>
            <a:r>
              <a:rPr lang="en-US" sz="2000" dirty="0"/>
              <a:t>In ES Ranking report, ES won’t be changed until 2020 which means historical ES data to be preserved. However to calculate %G for 2021, team would calculate ES for 2020 on the basis of PIT NHI price by using a temporary solution.</a:t>
            </a:r>
          </a:p>
        </p:txBody>
      </p:sp>
    </p:spTree>
    <p:extLst>
      <p:ext uri="{BB962C8B-B14F-4D97-AF65-F5344CB8AC3E}">
        <p14:creationId xmlns:p14="http://schemas.microsoft.com/office/powerpoint/2010/main" val="171269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-powerpoint-template (003).potx  -  Read-Only" id="{FD796F40-B4E8-4A28-BDC1-591A47BED6E1}" vid="{65C418F9-8773-4E40-B745-46F14E9E8802}"/>
    </a:ext>
  </a:extLst>
</a:theme>
</file>

<file path=ppt/theme/theme2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ppt/theme/theme3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11349</TotalTime>
  <Words>430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Century Gothic</vt:lpstr>
      <vt:lpstr>Tahoma</vt:lpstr>
      <vt:lpstr>Trebuchet MS</vt:lpstr>
      <vt:lpstr>Bristol Myers Squibb</vt:lpstr>
      <vt:lpstr>PowerPoint Presentation</vt:lpstr>
      <vt:lpstr>Provide ES Amount on the basis of NHI Price</vt:lpstr>
      <vt:lpstr>ES Amount Calculation in C-SCOR Reports</vt:lpstr>
      <vt:lpstr>Calculation of EST and PLAN Sales</vt:lpstr>
    </vt:vector>
  </TitlesOfParts>
  <Manager/>
  <Company>Bristol Myers Squibb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abhay.sharma@zs.com</dc:creator>
  <cp:keywords/>
  <dc:description/>
  <cp:lastModifiedBy>Nishant Sachdeva</cp:lastModifiedBy>
  <cp:revision>764</cp:revision>
  <cp:lastPrinted>2019-10-06T00:46:52Z</cp:lastPrinted>
  <dcterms:created xsi:type="dcterms:W3CDTF">2020-03-30T05:57:22Z</dcterms:created>
  <dcterms:modified xsi:type="dcterms:W3CDTF">2020-10-15T09:34:40Z</dcterms:modified>
  <cp:category/>
</cp:coreProperties>
</file>