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comments/comment2.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0"/>
  </p:notesMasterIdLst>
  <p:handoutMasterIdLst>
    <p:handoutMasterId r:id="rId11"/>
  </p:handoutMasterIdLst>
  <p:sldIdLst>
    <p:sldId id="1882" r:id="rId2"/>
    <p:sldId id="2098" r:id="rId3"/>
    <p:sldId id="2099" r:id="rId4"/>
    <p:sldId id="2100" r:id="rId5"/>
    <p:sldId id="2102" r:id="rId6"/>
    <p:sldId id="2103" r:id="rId7"/>
    <p:sldId id="2104" r:id="rId8"/>
    <p:sldId id="210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rsh N Tripathi" initials="HNT" lastIdx="1" clrIdx="0">
    <p:extLst>
      <p:ext uri="{19B8F6BF-5375-455C-9EA6-DF929625EA0E}">
        <p15:presenceInfo xmlns:p15="http://schemas.microsoft.com/office/powerpoint/2012/main" userId="S::harsh.n.tripathi@zs.com::003d1333-c52e-4198-b04d-74de7066c530" providerId="AD"/>
      </p:ext>
    </p:extLst>
  </p:cmAuthor>
  <p:cmAuthor id="2" name="Prasanth U" initials="PU" lastIdx="4" clrIdx="1">
    <p:extLst>
      <p:ext uri="{19B8F6BF-5375-455C-9EA6-DF929625EA0E}">
        <p15:presenceInfo xmlns:p15="http://schemas.microsoft.com/office/powerpoint/2012/main" userId="S-1-5-21-2460924596-1293597354-2123413825-156092" providerId="AD"/>
      </p:ext>
    </p:extLst>
  </p:cmAuthor>
  <p:cmAuthor id="3" name="Abhay Sharma" initials="AS" lastIdx="2" clrIdx="2">
    <p:extLst>
      <p:ext uri="{19B8F6BF-5375-455C-9EA6-DF929625EA0E}">
        <p15:presenceInfo xmlns:p15="http://schemas.microsoft.com/office/powerpoint/2012/main" userId="S::abhay.sharma@zs.com::3a235f68-679c-4f7c-8d96-4db40252729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CCCC"/>
    <a:srgbClr val="F2F2F2"/>
    <a:srgbClr val="E7EDF4"/>
    <a:srgbClr val="BDFFE3"/>
    <a:srgbClr val="E9EDF4"/>
    <a:srgbClr val="FDA97D"/>
    <a:srgbClr val="D9D9D9"/>
    <a:srgbClr val="9BFFD5"/>
    <a:srgbClr val="BDA2A2"/>
    <a:srgbClr val="BDE1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AFD8959-9B3F-4D47-BAAB-44C6AA61CEA2}">
  <a:tblStyle styleId="{7AFD8959-9B3F-4D47-BAAB-44C6AA61CEA2}" styleName="BMS Table Gray">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fill>
          <a:noFill/>
        </a:fill>
      </a:tcStyle>
    </a:band1H>
    <a:band2H>
      <a:tcStyle>
        <a:tcBdr>
          <a:top>
            <a:ln>
              <a:noFill/>
            </a:ln>
          </a:top>
          <a:bottom>
            <a:ln>
              <a:noFill/>
            </a:ln>
          </a:bottom>
        </a:tcBdr>
        <a:fill>
          <a:solidFill>
            <a:srgbClr val="EEE7E7"/>
          </a:solidFill>
        </a:fill>
      </a:tcStyle>
    </a:band2H>
    <a:band1V>
      <a:tcStyle>
        <a:tcBdr/>
        <a:fill>
          <a:solidFill>
            <a:srgbClr val="EEE7E7"/>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chemeClr val="tx1"/>
              </a:solidFill>
            </a:ln>
          </a:top>
          <a:bottom>
            <a:ln w="19050">
              <a:solidFill>
                <a:schemeClr val="tx1"/>
              </a:solidFill>
            </a:ln>
          </a:bottom>
        </a:tcBdr>
        <a:fill>
          <a:noFill/>
        </a:fill>
      </a:tcStyle>
    </a:lastRow>
    <a:firstRow>
      <a:tcTxStyle b="on">
        <a:fontRef idx="minor"/>
        <a:schemeClr val="bg1"/>
      </a:tcTxStyle>
      <a:tcStyle>
        <a:tcBdr>
          <a:top>
            <a:ln>
              <a:noFill/>
            </a:ln>
          </a:top>
          <a:bottom>
            <a:ln>
              <a:noFill/>
            </a:ln>
          </a:bottom>
        </a:tcBdr>
        <a:fill>
          <a:solidFill>
            <a:schemeClr val="tx1"/>
          </a:solidFill>
        </a:fill>
      </a:tcStyle>
    </a:firstRow>
  </a:tblStyle>
  <a:tblStyle styleId="{AB131486-7932-478D-BA04-5426E13E8524}" styleName="BMS Table Amber">
    <a:wholeTbl>
      <a:tcTxStyle>
        <a:fontRef idx="minor"/>
        <a:schemeClr val="tx1"/>
      </a:tcTxStyle>
      <a:tcStyle>
        <a:tcBdr>
          <a:left>
            <a:ln>
              <a:noFill/>
            </a:ln>
          </a:left>
          <a:right>
            <a:ln>
              <a:noFill/>
            </a:ln>
          </a:right>
          <a:top>
            <a:ln w="6350">
              <a:solidFill>
                <a:srgbClr val="FFD186"/>
              </a:solidFill>
            </a:ln>
          </a:top>
          <a:bottom>
            <a:ln w="6350">
              <a:solidFill>
                <a:srgbClr val="FFD186"/>
              </a:solidFill>
            </a:ln>
          </a:bottom>
          <a:insideH>
            <a:ln w="6350">
              <a:solidFill>
                <a:srgbClr val="FFD186"/>
              </a:solidFill>
            </a:ln>
          </a:insideH>
          <a:insideV>
            <a:ln>
              <a:noFill/>
            </a:ln>
          </a:insideV>
        </a:tcBdr>
        <a:fill>
          <a:noFill/>
        </a:fill>
      </a:tcStyle>
    </a:wholeTbl>
    <a:band1H>
      <a:tcStyle>
        <a:tcBdr/>
        <a:fill>
          <a:noFill/>
        </a:fill>
      </a:tcStyle>
    </a:band1H>
    <a:band2H>
      <a:tcStyle>
        <a:tcBdr>
          <a:top>
            <a:ln>
              <a:noFill/>
            </a:ln>
          </a:top>
          <a:bottom>
            <a:ln>
              <a:noFill/>
            </a:ln>
          </a:bottom>
        </a:tcBdr>
        <a:fill>
          <a:solidFill>
            <a:srgbClr val="FFECCD"/>
          </a:solidFill>
        </a:fill>
      </a:tcStyle>
    </a:band2H>
    <a:band1V>
      <a:tcStyle>
        <a:tcBdr/>
        <a:fill>
          <a:solidFill>
            <a:srgbClr val="FFECCD"/>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rgbClr val="FFD186"/>
              </a:solidFill>
            </a:ln>
          </a:top>
          <a:bottom>
            <a:ln w="19050">
              <a:solidFill>
                <a:srgbClr val="FFD186"/>
              </a:solidFill>
            </a:ln>
          </a:bottom>
        </a:tcBdr>
        <a:fill>
          <a:noFill/>
        </a:fill>
      </a:tcStyle>
    </a:lastRow>
    <a:firstRow>
      <a:tcTxStyle b="on">
        <a:fontRef idx="minor"/>
        <a:schemeClr val="tx1"/>
      </a:tcTxStyle>
      <a:tcStyle>
        <a:tcBdr>
          <a:top>
            <a:ln>
              <a:noFill/>
            </a:ln>
          </a:top>
          <a:bottom>
            <a:ln>
              <a:noFill/>
            </a:ln>
          </a:bottom>
        </a:tcBdr>
        <a:fill>
          <a:solidFill>
            <a:srgbClr val="FFD186"/>
          </a:solidFill>
        </a:fill>
      </a:tcStyle>
    </a:firstRow>
  </a:tblStyle>
  <a:tblStyle styleId="{17987A09-FBC6-4D12-BA78-BE2ACF4811F2}" styleName="BMS Table Peach">
    <a:wholeTbl>
      <a:tcTxStyle>
        <a:fontRef idx="minor"/>
        <a:schemeClr val="tx1"/>
      </a:tcTxStyle>
      <a:tcStyle>
        <a:tcBdr>
          <a:left>
            <a:ln>
              <a:noFill/>
            </a:ln>
          </a:left>
          <a:right>
            <a:ln>
              <a:noFill/>
            </a:ln>
          </a:right>
          <a:top>
            <a:ln w="6350">
              <a:solidFill>
                <a:srgbClr val="FDA97D"/>
              </a:solidFill>
            </a:ln>
          </a:top>
          <a:bottom>
            <a:ln w="6350">
              <a:solidFill>
                <a:srgbClr val="FDA97D"/>
              </a:solidFill>
            </a:ln>
          </a:bottom>
          <a:insideH>
            <a:ln w="6350">
              <a:solidFill>
                <a:srgbClr val="FDA97D"/>
              </a:solidFill>
            </a:ln>
          </a:insideH>
          <a:insideV>
            <a:ln>
              <a:noFill/>
            </a:ln>
          </a:insideV>
        </a:tcBdr>
        <a:fill>
          <a:noFill/>
        </a:fill>
      </a:tcStyle>
    </a:wholeTbl>
    <a:band1H>
      <a:tcStyle>
        <a:tcBdr/>
        <a:fill>
          <a:noFill/>
        </a:fill>
      </a:tcStyle>
    </a:band1H>
    <a:band2H>
      <a:tcStyle>
        <a:tcBdr>
          <a:top>
            <a:ln>
              <a:noFill/>
            </a:ln>
          </a:top>
          <a:bottom>
            <a:ln>
              <a:noFill/>
            </a:ln>
          </a:bottom>
        </a:tcBdr>
        <a:fill>
          <a:solidFill>
            <a:srgbClr val="FEDCCA"/>
          </a:solidFill>
        </a:fill>
      </a:tcStyle>
    </a:band2H>
    <a:band1V>
      <a:tcStyle>
        <a:tcBdr/>
        <a:fill>
          <a:solidFill>
            <a:srgbClr val="FEDCCA"/>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rgbClr val="FDA97D"/>
              </a:solidFill>
            </a:ln>
          </a:top>
          <a:bottom>
            <a:ln w="19050">
              <a:solidFill>
                <a:srgbClr val="FDA97D"/>
              </a:solidFill>
            </a:ln>
          </a:bottom>
        </a:tcBdr>
        <a:fill>
          <a:noFill/>
        </a:fill>
      </a:tcStyle>
    </a:lastRow>
    <a:firstRow>
      <a:tcTxStyle b="on">
        <a:fontRef idx="minor"/>
        <a:schemeClr val="tx1"/>
      </a:tcTxStyle>
      <a:tcStyle>
        <a:tcBdr>
          <a:top>
            <a:ln>
              <a:noFill/>
            </a:ln>
          </a:top>
          <a:bottom>
            <a:ln>
              <a:noFill/>
            </a:ln>
          </a:bottom>
        </a:tcBdr>
        <a:fill>
          <a:solidFill>
            <a:srgbClr val="FDA97D"/>
          </a:solidFill>
        </a:fill>
      </a:tcStyle>
    </a:firstRow>
  </a:tblStyle>
  <a:tblStyle styleId="{3FB51E2C-7BFB-4B95-B8AA-B85EA3A58659}" styleName="BMS Table Sienna">
    <a:wholeTbl>
      <a:tcTxStyle>
        <a:fontRef idx="minor"/>
        <a:schemeClr val="tx1"/>
      </a:tcTxStyle>
      <a:tcStyle>
        <a:tcBdr>
          <a:left>
            <a:ln>
              <a:noFill/>
            </a:ln>
          </a:left>
          <a:right>
            <a:ln>
              <a:noFill/>
            </a:ln>
          </a:right>
          <a:top>
            <a:ln w="6350">
              <a:solidFill>
                <a:srgbClr val="CB7C78"/>
              </a:solidFill>
            </a:ln>
          </a:top>
          <a:bottom>
            <a:ln w="6350">
              <a:solidFill>
                <a:srgbClr val="CB7C78"/>
              </a:solidFill>
            </a:ln>
          </a:bottom>
          <a:insideH>
            <a:ln w="6350">
              <a:solidFill>
                <a:srgbClr val="CB7C78"/>
              </a:solidFill>
            </a:ln>
          </a:insideH>
          <a:insideV>
            <a:ln>
              <a:noFill/>
            </a:ln>
          </a:insideV>
        </a:tcBdr>
        <a:fill>
          <a:noFill/>
        </a:fill>
      </a:tcStyle>
    </a:wholeTbl>
    <a:band1H>
      <a:tcStyle>
        <a:tcBdr/>
        <a:fill>
          <a:noFill/>
        </a:fill>
      </a:tcStyle>
    </a:band1H>
    <a:band2H>
      <a:tcStyle>
        <a:tcBdr>
          <a:top>
            <a:ln>
              <a:noFill/>
            </a:ln>
          </a:top>
          <a:bottom>
            <a:ln>
              <a:noFill/>
            </a:ln>
          </a:bottom>
        </a:tcBdr>
        <a:fill>
          <a:solidFill>
            <a:srgbClr val="DAC5C5"/>
          </a:solidFill>
        </a:fill>
      </a:tcStyle>
    </a:band2H>
    <a:band1V>
      <a:tcStyle>
        <a:tcBdr/>
        <a:fill>
          <a:solidFill>
            <a:srgbClr val="DAC5C5"/>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rgbClr val="CB7C78"/>
              </a:solidFill>
            </a:ln>
          </a:top>
          <a:bottom>
            <a:ln w="19050">
              <a:solidFill>
                <a:srgbClr val="CB7C78"/>
              </a:solidFill>
            </a:ln>
          </a:bottom>
        </a:tcBdr>
        <a:fill>
          <a:noFill/>
        </a:fill>
      </a:tcStyle>
    </a:lastRow>
    <a:firstRow>
      <a:tcTxStyle b="on">
        <a:fontRef idx="minor"/>
        <a:schemeClr val="bg1"/>
      </a:tcTxStyle>
      <a:tcStyle>
        <a:tcBdr>
          <a:top>
            <a:ln>
              <a:noFill/>
            </a:ln>
          </a:top>
          <a:bottom>
            <a:ln>
              <a:noFill/>
            </a:ln>
          </a:bottom>
        </a:tcBdr>
        <a:fill>
          <a:solidFill>
            <a:srgbClr val="CB7C78"/>
          </a:solidFill>
        </a:fill>
      </a:tcStyle>
    </a:firstRow>
  </a:tblStyle>
  <a:tblStyle styleId="{341639D1-FA1C-4AE1-8705-CAF77B6581E0}" styleName="BMS Table Mint">
    <a:wholeTbl>
      <a:tcTxStyle>
        <a:fontRef idx="minor"/>
        <a:schemeClr val="tx1"/>
      </a:tcTxStyle>
      <a:tcStyle>
        <a:tcBdr>
          <a:left>
            <a:ln>
              <a:noFill/>
            </a:ln>
          </a:left>
          <a:right>
            <a:ln>
              <a:noFill/>
            </a:ln>
          </a:right>
          <a:top>
            <a:ln w="6350">
              <a:solidFill>
                <a:srgbClr val="59FFB9"/>
              </a:solidFill>
            </a:ln>
          </a:top>
          <a:bottom>
            <a:ln w="6350">
              <a:solidFill>
                <a:srgbClr val="59FFB9"/>
              </a:solidFill>
            </a:ln>
          </a:bottom>
          <a:insideH>
            <a:ln w="6350">
              <a:solidFill>
                <a:srgbClr val="59FFB9"/>
              </a:solidFill>
            </a:ln>
          </a:insideH>
          <a:insideV>
            <a:ln>
              <a:noFill/>
            </a:ln>
          </a:insideV>
        </a:tcBdr>
        <a:fill>
          <a:noFill/>
        </a:fill>
      </a:tcStyle>
    </a:wholeTbl>
    <a:band1H>
      <a:tcStyle>
        <a:tcBdr/>
        <a:fill>
          <a:noFill/>
        </a:fill>
      </a:tcStyle>
    </a:band1H>
    <a:band2H>
      <a:tcStyle>
        <a:tcBdr>
          <a:top>
            <a:ln>
              <a:noFill/>
            </a:ln>
          </a:top>
          <a:bottom>
            <a:ln>
              <a:noFill/>
            </a:ln>
          </a:bottom>
        </a:tcBdr>
        <a:fill>
          <a:solidFill>
            <a:srgbClr val="C5FFE6"/>
          </a:solidFill>
        </a:fill>
      </a:tcStyle>
    </a:band2H>
    <a:band1V>
      <a:tcStyle>
        <a:tcBdr/>
        <a:fill>
          <a:solidFill>
            <a:srgbClr val="C5FFE6"/>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rgbClr val="59FFB9"/>
              </a:solidFill>
            </a:ln>
          </a:top>
          <a:bottom>
            <a:ln w="19050">
              <a:solidFill>
                <a:srgbClr val="59FFB9"/>
              </a:solidFill>
            </a:ln>
          </a:bottom>
        </a:tcBdr>
        <a:fill>
          <a:noFill/>
        </a:fill>
      </a:tcStyle>
    </a:lastRow>
    <a:firstRow>
      <a:tcTxStyle b="on">
        <a:fontRef idx="minor"/>
        <a:schemeClr val="tx1"/>
      </a:tcTxStyle>
      <a:tcStyle>
        <a:tcBdr>
          <a:top>
            <a:ln>
              <a:noFill/>
            </a:ln>
          </a:top>
          <a:bottom>
            <a:ln>
              <a:noFill/>
            </a:ln>
          </a:bottom>
        </a:tcBdr>
        <a:fill>
          <a:solidFill>
            <a:srgbClr val="59FFB9"/>
          </a:solidFill>
        </a:fill>
      </a:tcStyle>
    </a:firstRow>
  </a:tblStyle>
  <a:tblStyle styleId="{634F3CDC-9E1D-4E82-9B7D-985DE547036D}" styleName="BMS Table Aqua">
    <a:wholeTbl>
      <a:tcTxStyle>
        <a:fontRef idx="minor"/>
        <a:schemeClr val="tx1"/>
      </a:tcTxStyle>
      <a:tcStyle>
        <a:tcBdr>
          <a:left>
            <a:ln>
              <a:noFill/>
            </a:ln>
          </a:left>
          <a:right>
            <a:ln>
              <a:noFill/>
            </a:ln>
          </a:right>
          <a:top>
            <a:ln w="6350">
              <a:solidFill>
                <a:srgbClr val="33D6F1"/>
              </a:solidFill>
            </a:ln>
          </a:top>
          <a:bottom>
            <a:ln w="6350">
              <a:solidFill>
                <a:srgbClr val="33D6F1"/>
              </a:solidFill>
            </a:ln>
          </a:bottom>
          <a:insideH>
            <a:ln w="6350">
              <a:solidFill>
                <a:srgbClr val="33D6F1"/>
              </a:solidFill>
            </a:ln>
          </a:insideH>
          <a:insideV>
            <a:ln>
              <a:noFill/>
            </a:ln>
          </a:insideV>
        </a:tcBdr>
        <a:fill>
          <a:noFill/>
        </a:fill>
      </a:tcStyle>
    </a:wholeTbl>
    <a:band1H>
      <a:tcStyle>
        <a:tcBdr/>
        <a:fill>
          <a:noFill/>
        </a:fill>
      </a:tcStyle>
    </a:band1H>
    <a:band2H>
      <a:tcStyle>
        <a:tcBdr>
          <a:top>
            <a:ln>
              <a:noFill/>
            </a:ln>
          </a:top>
          <a:bottom>
            <a:ln>
              <a:noFill/>
            </a:ln>
          </a:bottom>
        </a:tcBdr>
        <a:fill>
          <a:solidFill>
            <a:srgbClr val="C0F2FB"/>
          </a:solidFill>
        </a:fill>
      </a:tcStyle>
    </a:band2H>
    <a:band1V>
      <a:tcStyle>
        <a:tcBdr/>
        <a:fill>
          <a:solidFill>
            <a:srgbClr val="C0F2FB"/>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rgbClr val="33D6F1"/>
              </a:solidFill>
            </a:ln>
          </a:top>
          <a:bottom>
            <a:ln w="19050">
              <a:solidFill>
                <a:srgbClr val="33D6F1"/>
              </a:solidFill>
            </a:ln>
          </a:bottom>
        </a:tcBdr>
        <a:fill>
          <a:noFill/>
        </a:fill>
      </a:tcStyle>
    </a:lastRow>
    <a:firstRow>
      <a:tcTxStyle b="on">
        <a:fontRef idx="minor"/>
        <a:schemeClr val="tx1"/>
      </a:tcTxStyle>
      <a:tcStyle>
        <a:tcBdr>
          <a:top>
            <a:ln>
              <a:noFill/>
            </a:ln>
          </a:top>
          <a:bottom>
            <a:ln>
              <a:noFill/>
            </a:ln>
          </a:bottom>
        </a:tcBdr>
        <a:fill>
          <a:solidFill>
            <a:srgbClr val="33D6F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232" autoAdjust="0"/>
  </p:normalViewPr>
  <p:slideViewPr>
    <p:cSldViewPr snapToGrid="0" showGuides="1">
      <p:cViewPr varScale="1">
        <p:scale>
          <a:sx n="82" d="100"/>
          <a:sy n="82" d="100"/>
        </p:scale>
        <p:origin x="720" y="67"/>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166" d="100"/>
          <a:sy n="166" d="100"/>
        </p:scale>
        <p:origin x="5464"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3" dt="2020-10-07T16:46:36.729" idx="1">
    <p:pos x="7750" y="133"/>
    <p:text>check if the ONC1 survey module objects are there in CRM / BRD</p:text>
    <p:extLst>
      <p:ext uri="{C676402C-5697-4E1C-873F-D02D1690AC5C}">
        <p15:threadingInfo xmlns:p15="http://schemas.microsoft.com/office/powerpoint/2012/main" timeZoneBias="-33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3" dt="2020-10-07T16:46:36.729" idx="1">
    <p:pos x="7750" y="133"/>
    <p:text>check if the ONC1 survey module objects are there in CRM / BRD</p:text>
    <p:extLst>
      <p:ext uri="{C676402C-5697-4E1C-873F-D02D1690AC5C}">
        <p15:threadingInfo xmlns:p15="http://schemas.microsoft.com/office/powerpoint/2012/main" timeZoneBias="-33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6B232A-A90B-0843-9FE3-CD41AEF1F4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D6EF4F6-6352-EF49-8B94-F88281AD3C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FA1003-23F1-F848-ABD7-AA279ACD1B1C}" type="datetimeFigureOut">
              <a:rPr lang="en-US" smtClean="0"/>
              <a:t>10/14/2020</a:t>
            </a:fld>
            <a:endParaRPr lang="en-US" dirty="0"/>
          </a:p>
        </p:txBody>
      </p:sp>
      <p:sp>
        <p:nvSpPr>
          <p:cNvPr id="4" name="Footer Placeholder 3">
            <a:extLst>
              <a:ext uri="{FF2B5EF4-FFF2-40B4-BE49-F238E27FC236}">
                <a16:creationId xmlns:a16="http://schemas.microsoft.com/office/drawing/2014/main" id="{6DF22398-7E15-714C-85A0-DACC6DC3F11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F1B2665-97EF-CE47-ABE4-18D4D76C98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AB60F0-68D7-274B-9B3A-8BD634CF5613}" type="slidenum">
              <a:rPr lang="en-US" smtClean="0"/>
              <a:t>‹#›</a:t>
            </a:fld>
            <a:endParaRPr lang="en-US" dirty="0"/>
          </a:p>
        </p:txBody>
      </p:sp>
    </p:spTree>
    <p:extLst>
      <p:ext uri="{BB962C8B-B14F-4D97-AF65-F5344CB8AC3E}">
        <p14:creationId xmlns:p14="http://schemas.microsoft.com/office/powerpoint/2010/main" val="1276413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F6C0D1-008B-C245-AF1E-F6ADA8BEAF3C}" type="datetimeFigureOut">
              <a:rPr lang="en-US" smtClean="0"/>
              <a:t>10/12/2020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CB8535-DC0F-AF47-A510-8461A80C06B7}" type="slidenum">
              <a:rPr lang="en-US" smtClean="0"/>
              <a:t>‹#›</a:t>
            </a:fld>
            <a:endParaRPr lang="en-US" dirty="0"/>
          </a:p>
        </p:txBody>
      </p:sp>
    </p:spTree>
    <p:extLst>
      <p:ext uri="{BB962C8B-B14F-4D97-AF65-F5344CB8AC3E}">
        <p14:creationId xmlns:p14="http://schemas.microsoft.com/office/powerpoint/2010/main" val="7078110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spcBef>
        <a:spcPts val="600"/>
      </a:spcBef>
      <a:buFont typeface="Trebuchet MS" panose="020B0603020202020204" pitchFamily="34" charset="0"/>
      <a:buChar char="•"/>
      <a:defRPr sz="1200" kern="1200">
        <a:solidFill>
          <a:schemeClr val="tx1"/>
        </a:solidFill>
        <a:latin typeface="+mn-lt"/>
        <a:ea typeface="+mn-ea"/>
        <a:cs typeface="+mn-cs"/>
      </a:defRPr>
    </a:lvl1pPr>
    <a:lvl2pPr marL="36576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2pPr>
    <a:lvl3pPr marL="54864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3pPr>
    <a:lvl4pPr marL="73152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4pPr>
    <a:lvl5pPr marL="91440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5pPr>
    <a:lvl6pPr marL="109728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6pPr>
    <a:lvl7pPr marL="128016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7pPr>
    <a:lvl8pPr marL="146304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8pPr>
    <a:lvl9pPr marL="164592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CB8535-DC0F-AF47-A510-8461A80C06B7}" type="slidenum">
              <a:rPr lang="en-US" smtClean="0"/>
              <a:t>3</a:t>
            </a:fld>
            <a:endParaRPr lang="en-US" dirty="0"/>
          </a:p>
        </p:txBody>
      </p:sp>
    </p:spTree>
    <p:extLst>
      <p:ext uri="{BB962C8B-B14F-4D97-AF65-F5344CB8AC3E}">
        <p14:creationId xmlns:p14="http://schemas.microsoft.com/office/powerpoint/2010/main" val="1850540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CB8535-DC0F-AF47-A510-8461A80C06B7}" type="slidenum">
              <a:rPr lang="en-US" smtClean="0"/>
              <a:t>4</a:t>
            </a:fld>
            <a:endParaRPr lang="en-US" dirty="0"/>
          </a:p>
        </p:txBody>
      </p:sp>
    </p:spTree>
    <p:extLst>
      <p:ext uri="{BB962C8B-B14F-4D97-AF65-F5344CB8AC3E}">
        <p14:creationId xmlns:p14="http://schemas.microsoft.com/office/powerpoint/2010/main" val="2192620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3" name="Text Placeholder 1">
            <a:extLst>
              <a:ext uri="{FF2B5EF4-FFF2-40B4-BE49-F238E27FC236}">
                <a16:creationId xmlns:a16="http://schemas.microsoft.com/office/drawing/2014/main" id="{692E5CDC-3F8F-AF4C-BDBB-F6335CB85FE8}"/>
              </a:ext>
            </a:extLst>
          </p:cNvPr>
          <p:cNvSpPr>
            <a:spLocks noGrp="1"/>
          </p:cNvSpPr>
          <p:nvPr>
            <p:ph type="body" sz="quarter" idx="10" hasCustomPrompt="1"/>
          </p:nvPr>
        </p:nvSpPr>
        <p:spPr>
          <a:xfrm>
            <a:off x="365760" y="365760"/>
            <a:ext cx="7543165" cy="457200"/>
          </a:xfrm>
        </p:spPr>
        <p:txBody>
          <a:bodyPr/>
          <a:lstStyle>
            <a:lvl1pPr marL="0" marR="0" indent="0" algn="l" defTabSz="914400" rtl="0" eaLnBrk="1" fontAlgn="auto" latinLnBrk="0" hangingPunct="1">
              <a:lnSpc>
                <a:spcPct val="100000"/>
              </a:lnSpc>
              <a:spcBef>
                <a:spcPts val="0"/>
              </a:spcBef>
              <a:spcAft>
                <a:spcPts val="0"/>
              </a:spcAft>
              <a:buClrTx/>
              <a:buSzTx/>
              <a:buFont typeface="Trebuchet MS" panose="020B0603020202020204" pitchFamily="34" charset="0"/>
              <a:buNone/>
              <a:tabLst/>
              <a:defRPr b="1"/>
            </a:lvl1pPr>
            <a:lvl2pPr marL="0" indent="0">
              <a:spcBef>
                <a:spcPts val="0"/>
              </a:spcBef>
              <a:buNone/>
              <a:defRPr b="1"/>
            </a:lvl2pPr>
            <a:lvl3pPr marL="0" indent="0">
              <a:spcBef>
                <a:spcPts val="0"/>
              </a:spcBef>
              <a:buNone/>
              <a:defRPr b="1"/>
            </a:lvl3pPr>
            <a:lvl4pPr marL="0" indent="0">
              <a:spcBef>
                <a:spcPts val="0"/>
              </a:spcBef>
              <a:buNone/>
              <a:defRPr b="1"/>
            </a:lvl4pPr>
            <a:lvl5pPr marL="0" indent="0">
              <a:spcBef>
                <a:spcPts val="0"/>
              </a:spcBef>
              <a:buNone/>
              <a:defRPr b="1"/>
            </a:lvl5pPr>
            <a:lvl6pPr marL="0" indent="0">
              <a:spcBef>
                <a:spcPts val="0"/>
              </a:spcBef>
              <a:buNone/>
              <a:defRPr b="1"/>
            </a:lvl6pPr>
            <a:lvl7pPr marL="0" indent="0">
              <a:spcBef>
                <a:spcPts val="0"/>
              </a:spcBef>
              <a:buNone/>
              <a:defRPr b="1"/>
            </a:lvl7pPr>
            <a:lvl8pPr marL="0" indent="0">
              <a:spcBef>
                <a:spcPts val="0"/>
              </a:spcBef>
              <a:buNone/>
              <a:defRPr b="1"/>
            </a:lvl8pPr>
            <a:lvl9pPr marL="0" indent="0">
              <a:spcBef>
                <a:spcPts val="0"/>
              </a:spcBef>
              <a:buNone/>
              <a:defRPr b="1"/>
            </a:lvl9pPr>
          </a:lstStyle>
          <a:p>
            <a:pPr lvl="0"/>
            <a:r>
              <a:rPr lang="en-US" dirty="0"/>
              <a:t>Division/Therapeutic Area [Edit here]</a:t>
            </a:r>
          </a:p>
        </p:txBody>
      </p:sp>
      <p:sp>
        <p:nvSpPr>
          <p:cNvPr id="2" name="Title 2">
            <a:extLst>
              <a:ext uri="{FF2B5EF4-FFF2-40B4-BE49-F238E27FC236}">
                <a16:creationId xmlns:a16="http://schemas.microsoft.com/office/drawing/2014/main" id="{DD93F370-0603-42F8-A7D8-E3390EE70687}"/>
              </a:ext>
            </a:extLst>
          </p:cNvPr>
          <p:cNvSpPr>
            <a:spLocks noGrp="1"/>
          </p:cNvSpPr>
          <p:nvPr userDrawn="1">
            <p:ph type="ctrTitle" hasCustomPrompt="1"/>
          </p:nvPr>
        </p:nvSpPr>
        <p:spPr>
          <a:xfrm>
            <a:off x="365760" y="1554480"/>
            <a:ext cx="7543165" cy="2560320"/>
          </a:xfrm>
        </p:spPr>
        <p:txBody>
          <a:bodyPr anchor="t" anchorCtr="0"/>
          <a:lstStyle>
            <a:lvl1pPr algn="l">
              <a:defRPr sz="6000" b="0" spc="0" baseline="0"/>
            </a:lvl1pPr>
          </a:lstStyle>
          <a:p>
            <a:r>
              <a:rPr lang="en-US" dirty="0"/>
              <a:t>[Presentation title]</a:t>
            </a:r>
          </a:p>
        </p:txBody>
      </p:sp>
      <p:sp>
        <p:nvSpPr>
          <p:cNvPr id="3" name="Subtitle 3">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365758" y="4343400"/>
            <a:ext cx="7543800" cy="457200"/>
          </a:xfrm>
        </p:spPr>
        <p:txBody>
          <a:bodyPr>
            <a:noAutofit/>
          </a:bodyPr>
          <a:lstStyle>
            <a:lvl1pPr marL="0" indent="0" algn="l">
              <a:spcBef>
                <a:spcPts val="0"/>
              </a:spcBef>
              <a:buNone/>
              <a:defRPr sz="2000" b="1"/>
            </a:lvl1pPr>
            <a:lvl2pPr marL="0" indent="0" algn="l">
              <a:spcBef>
                <a:spcPts val="0"/>
              </a:spcBef>
              <a:buNone/>
              <a:defRPr sz="2000"/>
            </a:lvl2pPr>
            <a:lvl3pPr marL="0" indent="0" algn="l">
              <a:spcBef>
                <a:spcPts val="0"/>
              </a:spcBef>
              <a:buNone/>
              <a:defRPr sz="2000"/>
            </a:lvl3pPr>
            <a:lvl4pPr marL="0" indent="0" algn="l">
              <a:spcBef>
                <a:spcPts val="0"/>
              </a:spcBef>
              <a:buNone/>
              <a:defRPr sz="2000"/>
            </a:lvl4pPr>
            <a:lvl5pPr marL="0" indent="0" algn="l">
              <a:spcBef>
                <a:spcPts val="0"/>
              </a:spcBef>
              <a:buNone/>
              <a:defRPr sz="2000"/>
            </a:lvl5pPr>
            <a:lvl6pPr marL="0" indent="0" algn="l">
              <a:spcBef>
                <a:spcPts val="0"/>
              </a:spcBef>
              <a:buNone/>
              <a:defRPr sz="2000"/>
            </a:lvl6pPr>
            <a:lvl7pPr marL="0" indent="0" algn="l">
              <a:spcBef>
                <a:spcPts val="0"/>
              </a:spcBef>
              <a:buNone/>
              <a:defRPr sz="2000"/>
            </a:lvl7pPr>
            <a:lvl8pPr marL="0" indent="0" algn="l">
              <a:spcBef>
                <a:spcPts val="0"/>
              </a:spcBef>
              <a:buNone/>
              <a:defRPr sz="2000"/>
            </a:lvl8pPr>
            <a:lvl9pPr marL="0" indent="0" algn="l">
              <a:spcBef>
                <a:spcPts val="0"/>
              </a:spcBef>
              <a:buNone/>
              <a:defRPr sz="2000"/>
            </a:lvl9pPr>
          </a:lstStyle>
          <a:p>
            <a:r>
              <a:rPr lang="en-US" dirty="0"/>
              <a:t>[Month 00, 0000]</a:t>
            </a:r>
          </a:p>
        </p:txBody>
      </p:sp>
      <p:sp>
        <p:nvSpPr>
          <p:cNvPr id="5" name="Text Placeholder 4">
            <a:extLst>
              <a:ext uri="{FF2B5EF4-FFF2-40B4-BE49-F238E27FC236}">
                <a16:creationId xmlns:a16="http://schemas.microsoft.com/office/drawing/2014/main" id="{C7CE39BE-06F7-7349-BF12-45D065ED872B}"/>
              </a:ext>
            </a:extLst>
          </p:cNvPr>
          <p:cNvSpPr>
            <a:spLocks noGrp="1"/>
          </p:cNvSpPr>
          <p:nvPr>
            <p:ph type="body" sz="quarter" idx="11" hasCustomPrompt="1"/>
          </p:nvPr>
        </p:nvSpPr>
        <p:spPr>
          <a:xfrm>
            <a:off x="365757" y="4937760"/>
            <a:ext cx="7543167" cy="685800"/>
          </a:xfrm>
        </p:spPr>
        <p:txBody>
          <a:bodyPr/>
          <a:lstStyle>
            <a:lvl1pPr marL="0" indent="0">
              <a:spcBef>
                <a:spcPts val="0"/>
              </a:spcBef>
              <a:buNone/>
              <a:defRPr b="0"/>
            </a:lvl1pPr>
            <a:lvl2pPr marL="0" indent="0">
              <a:spcBef>
                <a:spcPts val="0"/>
              </a:spcBef>
              <a:buNone/>
              <a:defRPr b="0"/>
            </a:lvl2pPr>
            <a:lvl3pPr marL="0" indent="0">
              <a:spcBef>
                <a:spcPts val="0"/>
              </a:spcBef>
              <a:buNone/>
              <a:defRPr b="0"/>
            </a:lvl3pPr>
            <a:lvl4pPr marL="0" indent="0">
              <a:spcBef>
                <a:spcPts val="0"/>
              </a:spcBef>
              <a:buNone/>
              <a:defRPr b="0"/>
            </a:lvl4pPr>
            <a:lvl5pPr marL="0" indent="0">
              <a:spcBef>
                <a:spcPts val="0"/>
              </a:spcBef>
              <a:buNone/>
              <a:defRPr b="0"/>
            </a:lvl5pPr>
            <a:lvl6pPr marL="0" indent="0">
              <a:spcBef>
                <a:spcPts val="0"/>
              </a:spcBef>
              <a:buNone/>
              <a:defRPr b="0"/>
            </a:lvl6pPr>
            <a:lvl7pPr marL="0" indent="0">
              <a:spcBef>
                <a:spcPts val="0"/>
              </a:spcBef>
              <a:buNone/>
              <a:defRPr b="0"/>
            </a:lvl7pPr>
            <a:lvl8pPr marL="0" indent="0">
              <a:spcBef>
                <a:spcPts val="0"/>
              </a:spcBef>
              <a:buNone/>
              <a:defRPr b="0"/>
            </a:lvl8pPr>
            <a:lvl9pPr marL="0" indent="0">
              <a:spcBef>
                <a:spcPts val="0"/>
              </a:spcBef>
              <a:buNone/>
              <a:defRPr b="0"/>
            </a:lvl9pPr>
          </a:lstStyle>
          <a:p>
            <a:pPr lvl="0"/>
            <a:r>
              <a:rPr lang="en-US" dirty="0"/>
              <a:t>[Presenter Name]</a:t>
            </a:r>
            <a:br>
              <a:rPr lang="en-US" dirty="0"/>
            </a:br>
            <a:r>
              <a:rPr lang="en-US" dirty="0"/>
              <a:t>[Title]</a:t>
            </a:r>
          </a:p>
        </p:txBody>
      </p:sp>
      <p:pic>
        <p:nvPicPr>
          <p:cNvPr id="7" name="Bristol Myers Squibb" descr="Bristol Myers Squibb">
            <a:extLst>
              <a:ext uri="{FF2B5EF4-FFF2-40B4-BE49-F238E27FC236}">
                <a16:creationId xmlns:a16="http://schemas.microsoft.com/office/drawing/2014/main" id="{91000A19-9025-2C4A-9321-625720905BF5}"/>
              </a:ext>
            </a:extLst>
          </p:cNvPr>
          <p:cNvPicPr>
            <a:picLocks noChangeAspect="1"/>
          </p:cNvPicPr>
          <p:nvPr userDrawn="1"/>
        </p:nvPicPr>
        <p:blipFill>
          <a:blip r:embed="rId2"/>
          <a:stretch>
            <a:fillRect/>
          </a:stretch>
        </p:blipFill>
        <p:spPr bwMode="black">
          <a:xfrm>
            <a:off x="150688" y="5913096"/>
            <a:ext cx="3260486" cy="822960"/>
          </a:xfrm>
          <a:prstGeom prst="rect">
            <a:avLst/>
          </a:prstGeom>
          <a:noFill/>
        </p:spPr>
      </p:pic>
      <p:sp>
        <p:nvSpPr>
          <p:cNvPr id="10" name="Disclaimer">
            <a:extLst>
              <a:ext uri="{FF2B5EF4-FFF2-40B4-BE49-F238E27FC236}">
                <a16:creationId xmlns:a16="http://schemas.microsoft.com/office/drawing/2014/main" id="{0411BC70-4820-DF40-90C3-6ACD451ADD60}"/>
              </a:ext>
            </a:extLst>
          </p:cNvPr>
          <p:cNvSpPr txBox="1"/>
          <p:nvPr userDrawn="1"/>
        </p:nvSpPr>
        <p:spPr>
          <a:xfrm>
            <a:off x="8205215" y="6257290"/>
            <a:ext cx="3621659" cy="228600"/>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800" b="0" dirty="0"/>
              <a:t>Highly Confidential</a:t>
            </a:r>
          </a:p>
        </p:txBody>
      </p:sp>
    </p:spTree>
    <p:extLst>
      <p:ext uri="{BB962C8B-B14F-4D97-AF65-F5344CB8AC3E}">
        <p14:creationId xmlns:p14="http://schemas.microsoft.com/office/powerpoint/2010/main" val="1286001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98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Light Gray">
    <p:bg>
      <p:bgPr>
        <a:solidFill>
          <a:srgbClr val="EEE7E7"/>
        </a:solidFill>
        <a:effectLst/>
      </p:bgPr>
    </p:bg>
    <p:spTree>
      <p:nvGrpSpPr>
        <p:cNvPr id="1" name=""/>
        <p:cNvGrpSpPr/>
        <p:nvPr/>
      </p:nvGrpSpPr>
      <p:grpSpPr>
        <a:xfrm>
          <a:off x="0" y="0"/>
          <a:ext cx="0" cy="0"/>
          <a:chOff x="0" y="0"/>
          <a:chExt cx="0" cy="0"/>
        </a:xfrm>
      </p:grpSpPr>
      <p:sp>
        <p:nvSpPr>
          <p:cNvPr id="13" name="Text Placeholder 1">
            <a:extLst>
              <a:ext uri="{FF2B5EF4-FFF2-40B4-BE49-F238E27FC236}">
                <a16:creationId xmlns:a16="http://schemas.microsoft.com/office/drawing/2014/main" id="{692E5CDC-3F8F-AF4C-BDBB-F6335CB85FE8}"/>
              </a:ext>
            </a:extLst>
          </p:cNvPr>
          <p:cNvSpPr>
            <a:spLocks noGrp="1"/>
          </p:cNvSpPr>
          <p:nvPr>
            <p:ph type="body" sz="quarter" idx="10" hasCustomPrompt="1"/>
          </p:nvPr>
        </p:nvSpPr>
        <p:spPr>
          <a:xfrm>
            <a:off x="365760" y="365760"/>
            <a:ext cx="7543165" cy="457200"/>
          </a:xfrm>
        </p:spPr>
        <p:txBody>
          <a:bodyPr/>
          <a:lstStyle>
            <a:lvl1pPr marL="0" marR="0" indent="0" algn="l" defTabSz="914400" rtl="0" eaLnBrk="1" fontAlgn="auto" latinLnBrk="0" hangingPunct="1">
              <a:lnSpc>
                <a:spcPct val="100000"/>
              </a:lnSpc>
              <a:spcBef>
                <a:spcPts val="0"/>
              </a:spcBef>
              <a:spcAft>
                <a:spcPts val="0"/>
              </a:spcAft>
              <a:buClrTx/>
              <a:buSzTx/>
              <a:buFont typeface="Trebuchet MS" panose="020B0603020202020204" pitchFamily="34" charset="0"/>
              <a:buNone/>
              <a:tabLst/>
              <a:defRPr b="1"/>
            </a:lvl1pPr>
            <a:lvl2pPr marL="0" indent="0">
              <a:spcBef>
                <a:spcPts val="0"/>
              </a:spcBef>
              <a:buNone/>
              <a:defRPr b="1"/>
            </a:lvl2pPr>
            <a:lvl3pPr marL="0" indent="0">
              <a:spcBef>
                <a:spcPts val="0"/>
              </a:spcBef>
              <a:buNone/>
              <a:defRPr b="1"/>
            </a:lvl3pPr>
            <a:lvl4pPr marL="0" indent="0">
              <a:spcBef>
                <a:spcPts val="0"/>
              </a:spcBef>
              <a:buNone/>
              <a:defRPr b="1"/>
            </a:lvl4pPr>
            <a:lvl5pPr marL="0" indent="0">
              <a:spcBef>
                <a:spcPts val="0"/>
              </a:spcBef>
              <a:buNone/>
              <a:defRPr b="1"/>
            </a:lvl5pPr>
            <a:lvl6pPr marL="0" indent="0">
              <a:spcBef>
                <a:spcPts val="0"/>
              </a:spcBef>
              <a:buNone/>
              <a:defRPr b="1"/>
            </a:lvl6pPr>
            <a:lvl7pPr marL="0" indent="0">
              <a:spcBef>
                <a:spcPts val="0"/>
              </a:spcBef>
              <a:buNone/>
              <a:defRPr b="1"/>
            </a:lvl7pPr>
            <a:lvl8pPr marL="0" indent="0">
              <a:spcBef>
                <a:spcPts val="0"/>
              </a:spcBef>
              <a:buNone/>
              <a:defRPr b="1"/>
            </a:lvl8pPr>
            <a:lvl9pPr marL="0" indent="0">
              <a:spcBef>
                <a:spcPts val="0"/>
              </a:spcBef>
              <a:buNone/>
              <a:defRPr b="1"/>
            </a:lvl9pPr>
          </a:lstStyle>
          <a:p>
            <a:pPr lvl="0"/>
            <a:r>
              <a:rPr lang="en-US" dirty="0"/>
              <a:t>Division/Therapeutic Area [Edit here]</a:t>
            </a:r>
          </a:p>
        </p:txBody>
      </p:sp>
      <p:sp>
        <p:nvSpPr>
          <p:cNvPr id="2" name="Title 2">
            <a:extLst>
              <a:ext uri="{FF2B5EF4-FFF2-40B4-BE49-F238E27FC236}">
                <a16:creationId xmlns:a16="http://schemas.microsoft.com/office/drawing/2014/main" id="{DD93F370-0603-42F8-A7D8-E3390EE70687}"/>
              </a:ext>
            </a:extLst>
          </p:cNvPr>
          <p:cNvSpPr>
            <a:spLocks noGrp="1"/>
          </p:cNvSpPr>
          <p:nvPr userDrawn="1">
            <p:ph type="ctrTitle" hasCustomPrompt="1"/>
          </p:nvPr>
        </p:nvSpPr>
        <p:spPr>
          <a:xfrm>
            <a:off x="365760" y="1554480"/>
            <a:ext cx="7543165" cy="2560320"/>
          </a:xfrm>
        </p:spPr>
        <p:txBody>
          <a:bodyPr anchor="t" anchorCtr="0"/>
          <a:lstStyle>
            <a:lvl1pPr algn="l">
              <a:defRPr sz="6000" b="0" spc="0" baseline="0"/>
            </a:lvl1pPr>
          </a:lstStyle>
          <a:p>
            <a:r>
              <a:rPr lang="en-US" dirty="0"/>
              <a:t>[Presentation title]</a:t>
            </a:r>
          </a:p>
        </p:txBody>
      </p:sp>
      <p:sp>
        <p:nvSpPr>
          <p:cNvPr id="3" name="Subtitle 3">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365758" y="4343400"/>
            <a:ext cx="7543800" cy="457200"/>
          </a:xfrm>
        </p:spPr>
        <p:txBody>
          <a:bodyPr>
            <a:noAutofit/>
          </a:bodyPr>
          <a:lstStyle>
            <a:lvl1pPr marL="0" indent="0" algn="l">
              <a:spcBef>
                <a:spcPts val="0"/>
              </a:spcBef>
              <a:buNone/>
              <a:defRPr sz="2000" b="1"/>
            </a:lvl1pPr>
            <a:lvl2pPr marL="0" indent="0" algn="l">
              <a:spcBef>
                <a:spcPts val="0"/>
              </a:spcBef>
              <a:buNone/>
              <a:defRPr sz="2000"/>
            </a:lvl2pPr>
            <a:lvl3pPr marL="0" indent="0" algn="l">
              <a:spcBef>
                <a:spcPts val="0"/>
              </a:spcBef>
              <a:buNone/>
              <a:defRPr sz="2000"/>
            </a:lvl3pPr>
            <a:lvl4pPr marL="0" indent="0" algn="l">
              <a:spcBef>
                <a:spcPts val="0"/>
              </a:spcBef>
              <a:buNone/>
              <a:defRPr sz="2000"/>
            </a:lvl4pPr>
            <a:lvl5pPr marL="0" indent="0" algn="l">
              <a:spcBef>
                <a:spcPts val="0"/>
              </a:spcBef>
              <a:buNone/>
              <a:defRPr sz="2000"/>
            </a:lvl5pPr>
            <a:lvl6pPr marL="0" indent="0" algn="l">
              <a:spcBef>
                <a:spcPts val="0"/>
              </a:spcBef>
              <a:buNone/>
              <a:defRPr sz="2000"/>
            </a:lvl6pPr>
            <a:lvl7pPr marL="0" indent="0" algn="l">
              <a:spcBef>
                <a:spcPts val="0"/>
              </a:spcBef>
              <a:buNone/>
              <a:defRPr sz="2000"/>
            </a:lvl7pPr>
            <a:lvl8pPr marL="0" indent="0" algn="l">
              <a:spcBef>
                <a:spcPts val="0"/>
              </a:spcBef>
              <a:buNone/>
              <a:defRPr sz="2000"/>
            </a:lvl8pPr>
            <a:lvl9pPr marL="0" indent="0" algn="l">
              <a:spcBef>
                <a:spcPts val="0"/>
              </a:spcBef>
              <a:buNone/>
              <a:defRPr sz="2000"/>
            </a:lvl9pPr>
          </a:lstStyle>
          <a:p>
            <a:r>
              <a:rPr lang="en-US" dirty="0"/>
              <a:t>[Month 00, 0000]</a:t>
            </a:r>
          </a:p>
        </p:txBody>
      </p:sp>
      <p:sp>
        <p:nvSpPr>
          <p:cNvPr id="6" name="Text Placeholder 4">
            <a:extLst>
              <a:ext uri="{FF2B5EF4-FFF2-40B4-BE49-F238E27FC236}">
                <a16:creationId xmlns:a16="http://schemas.microsoft.com/office/drawing/2014/main" id="{F1E892DE-B840-A64B-91A1-1B18F6037C3F}"/>
              </a:ext>
            </a:extLst>
          </p:cNvPr>
          <p:cNvSpPr>
            <a:spLocks noGrp="1"/>
          </p:cNvSpPr>
          <p:nvPr>
            <p:ph type="body" sz="quarter" idx="11" hasCustomPrompt="1"/>
          </p:nvPr>
        </p:nvSpPr>
        <p:spPr>
          <a:xfrm>
            <a:off x="365757" y="4937760"/>
            <a:ext cx="7543167" cy="685800"/>
          </a:xfrm>
        </p:spPr>
        <p:txBody>
          <a:bodyPr/>
          <a:lstStyle>
            <a:lvl1pPr marL="0" indent="0">
              <a:spcBef>
                <a:spcPts val="0"/>
              </a:spcBef>
              <a:buNone/>
              <a:defRPr b="0"/>
            </a:lvl1pPr>
            <a:lvl2pPr marL="0" indent="0">
              <a:spcBef>
                <a:spcPts val="0"/>
              </a:spcBef>
              <a:buNone/>
              <a:defRPr b="0"/>
            </a:lvl2pPr>
            <a:lvl3pPr marL="0" indent="0">
              <a:spcBef>
                <a:spcPts val="0"/>
              </a:spcBef>
              <a:buNone/>
              <a:defRPr b="0"/>
            </a:lvl3pPr>
            <a:lvl4pPr marL="0" indent="0">
              <a:spcBef>
                <a:spcPts val="0"/>
              </a:spcBef>
              <a:buNone/>
              <a:defRPr b="0"/>
            </a:lvl4pPr>
            <a:lvl5pPr marL="0" indent="0">
              <a:spcBef>
                <a:spcPts val="0"/>
              </a:spcBef>
              <a:buNone/>
              <a:defRPr b="0"/>
            </a:lvl5pPr>
            <a:lvl6pPr marL="0" indent="0">
              <a:spcBef>
                <a:spcPts val="0"/>
              </a:spcBef>
              <a:buNone/>
              <a:defRPr b="0"/>
            </a:lvl6pPr>
            <a:lvl7pPr marL="0" indent="0">
              <a:spcBef>
                <a:spcPts val="0"/>
              </a:spcBef>
              <a:buNone/>
              <a:defRPr b="0"/>
            </a:lvl7pPr>
            <a:lvl8pPr marL="0" indent="0">
              <a:spcBef>
                <a:spcPts val="0"/>
              </a:spcBef>
              <a:buNone/>
              <a:defRPr b="0"/>
            </a:lvl8pPr>
            <a:lvl9pPr marL="0" indent="0">
              <a:spcBef>
                <a:spcPts val="0"/>
              </a:spcBef>
              <a:buNone/>
              <a:defRPr b="0"/>
            </a:lvl9pPr>
          </a:lstStyle>
          <a:p>
            <a:pPr lvl="0"/>
            <a:r>
              <a:rPr lang="en-US" dirty="0"/>
              <a:t>[Presenter Name]</a:t>
            </a:r>
            <a:br>
              <a:rPr lang="en-US" dirty="0"/>
            </a:br>
            <a:r>
              <a:rPr lang="en-US" dirty="0"/>
              <a:t>[Title]</a:t>
            </a:r>
          </a:p>
        </p:txBody>
      </p:sp>
      <p:pic>
        <p:nvPicPr>
          <p:cNvPr id="7" name="Bristol Myers Squibb" descr="Bristol Myers Squibb">
            <a:extLst>
              <a:ext uri="{FF2B5EF4-FFF2-40B4-BE49-F238E27FC236}">
                <a16:creationId xmlns:a16="http://schemas.microsoft.com/office/drawing/2014/main" id="{91000A19-9025-2C4A-9321-625720905BF5}"/>
              </a:ext>
            </a:extLst>
          </p:cNvPr>
          <p:cNvPicPr>
            <a:picLocks noChangeAspect="1"/>
          </p:cNvPicPr>
          <p:nvPr userDrawn="1"/>
        </p:nvPicPr>
        <p:blipFill>
          <a:blip r:embed="rId2"/>
          <a:stretch>
            <a:fillRect/>
          </a:stretch>
        </p:blipFill>
        <p:spPr bwMode="black">
          <a:xfrm>
            <a:off x="150688" y="5913096"/>
            <a:ext cx="3260486" cy="822960"/>
          </a:xfrm>
          <a:prstGeom prst="rect">
            <a:avLst/>
          </a:prstGeom>
          <a:noFill/>
        </p:spPr>
      </p:pic>
      <p:sp>
        <p:nvSpPr>
          <p:cNvPr id="8" name="Disclaimer">
            <a:extLst>
              <a:ext uri="{FF2B5EF4-FFF2-40B4-BE49-F238E27FC236}">
                <a16:creationId xmlns:a16="http://schemas.microsoft.com/office/drawing/2014/main" id="{F95EDC5C-ABEE-824D-9A00-482457322324}"/>
              </a:ext>
            </a:extLst>
          </p:cNvPr>
          <p:cNvSpPr txBox="1"/>
          <p:nvPr userDrawn="1"/>
        </p:nvSpPr>
        <p:spPr>
          <a:xfrm>
            <a:off x="8205215" y="6257290"/>
            <a:ext cx="3621659" cy="228600"/>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800" b="0" dirty="0"/>
              <a:t>Highly Confidential</a:t>
            </a:r>
          </a:p>
        </p:txBody>
      </p:sp>
    </p:spTree>
    <p:extLst>
      <p:ext uri="{BB962C8B-B14F-4D97-AF65-F5344CB8AC3E}">
        <p14:creationId xmlns:p14="http://schemas.microsoft.com/office/powerpoint/2010/main" val="3896294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98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dirty="0"/>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p:txBody>
          <a:bodyPr rIns="0" numCol="2" spcCol="301752"/>
          <a:lstStyle>
            <a:lvl1pPr marL="411480" indent="-411480">
              <a:buFont typeface="+mj-lt"/>
              <a:buAutoNum type="arabicPeriod"/>
              <a:tabLst/>
              <a:defRPr/>
            </a:lvl1pPr>
            <a:lvl2pPr marL="640080" indent="-228600">
              <a:tabLst/>
              <a:defRPr/>
            </a:lvl2pPr>
            <a:lvl3pPr marL="868680" indent="-228600">
              <a:tabLst/>
              <a:defRPr/>
            </a:lvl3pPr>
            <a:lvl4pPr marL="1097280" indent="-228600">
              <a:tabLst/>
              <a:defRPr/>
            </a:lvl4pPr>
            <a:lvl5pPr marL="1325880" indent="-228600">
              <a:tabLst/>
              <a:defRPr/>
            </a:lvl5pPr>
            <a:lvl6pPr marL="1554480" indent="-228600">
              <a:tabLst/>
              <a:defRPr/>
            </a:lvl6pPr>
            <a:lvl7pPr marL="1783080" indent="-228600">
              <a:tabLst/>
              <a:defRPr/>
            </a:lvl7pPr>
            <a:lvl8pPr marL="2011680" indent="-228600">
              <a:tabLst/>
              <a:defRPr/>
            </a:lvl8pPr>
            <a:lvl9pPr marL="2240280" indent="-228600">
              <a:tabLst/>
              <a:defRPr/>
            </a:lvl9pPr>
          </a:lstStyle>
          <a:p>
            <a:pPr lvl="0"/>
            <a:r>
              <a:rPr lang="en-US" dirty="0"/>
              <a:t>[Agenda item]</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2786750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userDrawn="1">
          <p15:clr>
            <a:srgbClr val="FBAE40"/>
          </p15:clr>
        </p15:guide>
        <p15:guide id="2" pos="393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dirty="0"/>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2196829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58" y="1554480"/>
            <a:ext cx="5577840"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8400" y="1554480"/>
            <a:ext cx="5577840"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4">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863907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userDrawn="1">
          <p15:clr>
            <a:srgbClr val="FBAE40"/>
          </p15:clr>
        </p15:guide>
        <p15:guide id="2" pos="393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554480"/>
            <a:ext cx="3621024"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5488" y="1554480"/>
            <a:ext cx="3621024"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8205216" y="1554480"/>
            <a:ext cx="3621024"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924147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698" userDrawn="1">
          <p15:clr>
            <a:srgbClr val="FBAE40"/>
          </p15:clr>
        </p15:guide>
        <p15:guide id="2" pos="2512" userDrawn="1">
          <p15:clr>
            <a:srgbClr val="FBAE40"/>
          </p15:clr>
        </p15:guide>
        <p15:guide id="3" pos="4982" userDrawn="1">
          <p15:clr>
            <a:srgbClr val="FBAE40"/>
          </p15:clr>
        </p15:guide>
        <p15:guide id="4" pos="516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554480"/>
            <a:ext cx="2642616" cy="457200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3302001" y="1554480"/>
            <a:ext cx="2641598" cy="457200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6248400" y="1554480"/>
            <a:ext cx="2641600" cy="457200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5">
            <a:extLst>
              <a:ext uri="{FF2B5EF4-FFF2-40B4-BE49-F238E27FC236}">
                <a16:creationId xmlns:a16="http://schemas.microsoft.com/office/drawing/2014/main" id="{04198CF4-E51B-2147-88D7-1228A1479BFA}"/>
              </a:ext>
            </a:extLst>
          </p:cNvPr>
          <p:cNvSpPr>
            <a:spLocks noGrp="1"/>
          </p:cNvSpPr>
          <p:nvPr>
            <p:ph sz="quarter" idx="14"/>
          </p:nvPr>
        </p:nvSpPr>
        <p:spPr>
          <a:xfrm>
            <a:off x="9183624" y="1554480"/>
            <a:ext cx="2642616" cy="457200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650990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0" userDrawn="1">
          <p15:clr>
            <a:srgbClr val="FBAE40"/>
          </p15:clr>
        </p15:guide>
        <p15:guide id="2" pos="1896" userDrawn="1">
          <p15:clr>
            <a:srgbClr val="FBAE40"/>
          </p15:clr>
        </p15:guide>
        <p15:guide id="3" pos="5600" userDrawn="1">
          <p15:clr>
            <a:srgbClr val="FBAE40"/>
          </p15:clr>
        </p15:guide>
        <p15:guide id="4" pos="5784" userDrawn="1">
          <p15:clr>
            <a:srgbClr val="FBAE40"/>
          </p15:clr>
        </p15:guide>
        <p15:guide id="5" pos="3744" userDrawn="1">
          <p15:clr>
            <a:srgbClr val="FBAE40"/>
          </p15:clr>
        </p15:guide>
        <p15:guide id="6" pos="393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554480"/>
            <a:ext cx="3618992"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6504" y="1554480"/>
            <a:ext cx="7539736"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4">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2920315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1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F123-E2C1-8448-BA4B-9ECBEA28E81D}"/>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554480"/>
            <a:ext cx="7539736"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8207248" y="1554480"/>
            <a:ext cx="3618992"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Slide Number Placeholder 4">
            <a:extLst>
              <a:ext uri="{FF2B5EF4-FFF2-40B4-BE49-F238E27FC236}">
                <a16:creationId xmlns:a16="http://schemas.microsoft.com/office/drawing/2014/main" id="{67FB1D32-3E1C-554A-A887-047CEBF6A063}"/>
              </a:ext>
            </a:extLst>
          </p:cNvPr>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765738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4980" userDrawn="1">
          <p15:clr>
            <a:srgbClr val="FBAE40"/>
          </p15:clr>
        </p15:guide>
        <p15:guide id="4" pos="516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ig 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1642462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g Statement - Amber">
    <p:bg>
      <p:bgPr>
        <a:gradFill>
          <a:gsLst>
            <a:gs pos="0">
              <a:srgbClr val="FFFBF4"/>
            </a:gs>
            <a:gs pos="100000">
              <a:srgbClr val="FFECCD"/>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21436197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ig Statement - Peach">
    <p:bg>
      <p:bgPr>
        <a:gradFill>
          <a:gsLst>
            <a:gs pos="0">
              <a:srgbClr val="FFF7F3"/>
            </a:gs>
            <a:gs pos="100000">
              <a:srgbClr val="FEDCCA"/>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22706347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g Statement - Olive">
    <p:bg>
      <p:bgPr>
        <a:gradFill>
          <a:gsLst>
            <a:gs pos="0">
              <a:srgbClr val="FAF6F3"/>
            </a:gs>
            <a:gs pos="100000">
              <a:srgbClr val="EAD5C9"/>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592498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ig Statement - Almond">
    <p:bg>
      <p:bgPr>
        <a:gradFill>
          <a:gsLst>
            <a:gs pos="0">
              <a:srgbClr val="F8F3F1"/>
            </a:gs>
            <a:gs pos="100000">
              <a:srgbClr val="DFCBC3"/>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612797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ig Statement - Sienna">
    <p:bg>
      <p:bgPr>
        <a:gradFill>
          <a:gsLst>
            <a:gs pos="0">
              <a:srgbClr val="F5F0F0"/>
            </a:gs>
            <a:gs pos="100000">
              <a:srgbClr val="DAC5C5"/>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33901893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ig Statement - Chocolate">
    <p:bg>
      <p:bgPr>
        <a:gradFill>
          <a:gsLst>
            <a:gs pos="0">
              <a:srgbClr val="F6F4F3"/>
            </a:gs>
            <a:gs pos="100000">
              <a:srgbClr val="D2CAC8"/>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4194702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ig Statement - Mint">
    <p:bg>
      <p:bgPr>
        <a:gradFill>
          <a:gsLst>
            <a:gs pos="0">
              <a:srgbClr val="F2FFF9"/>
            </a:gs>
            <a:gs pos="100000">
              <a:srgbClr val="C5FFE6"/>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25739913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Statement - Aqua">
    <p:bg>
      <p:bgPr>
        <a:gradFill>
          <a:gsLst>
            <a:gs pos="0">
              <a:srgbClr val="EFFCFE"/>
            </a:gs>
            <a:gs pos="100000">
              <a:srgbClr val="C0F2FB"/>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20629085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Statemnent - Light Gray">
    <p:bg>
      <p:bgPr>
        <a:solidFill>
          <a:srgbClr val="EEE7E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9573142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and One Pictur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5428488" cy="914400"/>
          </a:xfrm>
        </p:spPr>
        <p:txBody>
          <a:bodyPr/>
          <a:lstStyle>
            <a:lvl1pPr>
              <a:defRPr/>
            </a:lvl1pPr>
          </a:lstStyle>
          <a:p>
            <a:r>
              <a:rPr lang="en-US" dirty="0"/>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554480"/>
            <a:ext cx="5428488"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3">
            <a:extLst>
              <a:ext uri="{FF2B5EF4-FFF2-40B4-BE49-F238E27FC236}">
                <a16:creationId xmlns:a16="http://schemas.microsoft.com/office/drawing/2014/main" id="{FB768959-B468-B74C-99C1-89889E5B1ED7}"/>
              </a:ext>
            </a:extLst>
          </p:cNvPr>
          <p:cNvSpPr>
            <a:spLocks noGrp="1"/>
          </p:cNvSpPr>
          <p:nvPr>
            <p:ph type="pic" sz="quarter" idx="13"/>
          </p:nvPr>
        </p:nvSpPr>
        <p:spPr>
          <a:xfrm>
            <a:off x="6096000" y="0"/>
            <a:ext cx="6096000" cy="6858000"/>
          </a:xfrm>
          <a:solidFill>
            <a:srgbClr val="F2F2F2"/>
          </a:solidFill>
        </p:spPr>
        <p:txBody>
          <a:bodyPr anchor="ctr" anchorCtr="0">
            <a:normAutofit/>
          </a:bodyPr>
          <a:lstStyle>
            <a:lvl1pPr marL="0" indent="0" algn="ctr">
              <a:spcBef>
                <a:spcPts val="0"/>
              </a:spcBef>
              <a:buFontTx/>
              <a:buNone/>
              <a:defRPr sz="1200"/>
            </a:lvl1pPr>
          </a:lstStyle>
          <a:p>
            <a:r>
              <a:rPr lang="en-US" dirty="0"/>
              <a:t>Click icon to add picture</a:t>
            </a:r>
          </a:p>
        </p:txBody>
      </p:sp>
      <p:sp>
        <p:nvSpPr>
          <p:cNvPr id="6" name="Slide Number Placeholder 4">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3064184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and Two Pictur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5428488" cy="914400"/>
          </a:xfrm>
        </p:spPr>
        <p:txBody>
          <a:bodyPr/>
          <a:lstStyle>
            <a:lvl1pPr>
              <a:defRPr/>
            </a:lvl1pPr>
          </a:lstStyle>
          <a:p>
            <a:r>
              <a:rPr lang="en-US" dirty="0"/>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554480"/>
            <a:ext cx="5428488"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3">
            <a:extLst>
              <a:ext uri="{FF2B5EF4-FFF2-40B4-BE49-F238E27FC236}">
                <a16:creationId xmlns:a16="http://schemas.microsoft.com/office/drawing/2014/main" id="{FB768959-B468-B74C-99C1-89889E5B1ED7}"/>
              </a:ext>
            </a:extLst>
          </p:cNvPr>
          <p:cNvSpPr>
            <a:spLocks noGrp="1"/>
          </p:cNvSpPr>
          <p:nvPr>
            <p:ph type="pic" sz="quarter" idx="13"/>
          </p:nvPr>
        </p:nvSpPr>
        <p:spPr>
          <a:xfrm>
            <a:off x="6096000" y="0"/>
            <a:ext cx="6096000" cy="3429000"/>
          </a:xfrm>
          <a:solidFill>
            <a:srgbClr val="F2F2F2"/>
          </a:solidFill>
        </p:spPr>
        <p:txBody>
          <a:bodyPr anchor="ctr" anchorCtr="0">
            <a:normAutofit/>
          </a:bodyPr>
          <a:lstStyle>
            <a:lvl1pPr marL="0" indent="0" algn="ctr">
              <a:spcBef>
                <a:spcPts val="0"/>
              </a:spcBef>
              <a:buFontTx/>
              <a:buNone/>
              <a:defRPr sz="1200"/>
            </a:lvl1pPr>
          </a:lstStyle>
          <a:p>
            <a:r>
              <a:rPr lang="en-US" dirty="0"/>
              <a:t>Click icon to add picture</a:t>
            </a:r>
          </a:p>
        </p:txBody>
      </p:sp>
      <p:sp>
        <p:nvSpPr>
          <p:cNvPr id="7" name="Picture Placeholder 4">
            <a:extLst>
              <a:ext uri="{FF2B5EF4-FFF2-40B4-BE49-F238E27FC236}">
                <a16:creationId xmlns:a16="http://schemas.microsoft.com/office/drawing/2014/main" id="{A613A27A-887F-7D4B-BD42-C5EF05F12448}"/>
              </a:ext>
            </a:extLst>
          </p:cNvPr>
          <p:cNvSpPr>
            <a:spLocks noGrp="1"/>
          </p:cNvSpPr>
          <p:nvPr>
            <p:ph type="pic" sz="quarter" idx="14"/>
          </p:nvPr>
        </p:nvSpPr>
        <p:spPr>
          <a:xfrm>
            <a:off x="6096000" y="3429000"/>
            <a:ext cx="6096000" cy="3429000"/>
          </a:xfrm>
          <a:solidFill>
            <a:srgbClr val="D9D9D9"/>
          </a:solidFill>
        </p:spPr>
        <p:txBody>
          <a:bodyPr anchor="ctr" anchorCtr="0">
            <a:normAutofit/>
          </a:bodyPr>
          <a:lstStyle>
            <a:lvl1pPr marL="0" indent="0" algn="ctr">
              <a:spcBef>
                <a:spcPts val="0"/>
              </a:spcBef>
              <a:buFontTx/>
              <a:buNone/>
              <a:defRPr sz="1200"/>
            </a:lvl1pPr>
          </a:lstStyle>
          <a:p>
            <a:r>
              <a:rPr lang="en-US" dirty="0"/>
              <a:t>Click icon to add picture</a:t>
            </a:r>
          </a:p>
        </p:txBody>
      </p:sp>
      <p:sp>
        <p:nvSpPr>
          <p:cNvPr id="6" name="Slide Number Placeholder 5">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724134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and Three Pictur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5428488" cy="914400"/>
          </a:xfrm>
        </p:spPr>
        <p:txBody>
          <a:bodyPr/>
          <a:lstStyle>
            <a:lvl1pPr>
              <a:defRPr/>
            </a:lvl1pPr>
          </a:lstStyle>
          <a:p>
            <a:r>
              <a:rPr lang="en-US" dirty="0"/>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554480"/>
            <a:ext cx="5428488"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3">
            <a:extLst>
              <a:ext uri="{FF2B5EF4-FFF2-40B4-BE49-F238E27FC236}">
                <a16:creationId xmlns:a16="http://schemas.microsoft.com/office/drawing/2014/main" id="{FB768959-B468-B74C-99C1-89889E5B1ED7}"/>
              </a:ext>
            </a:extLst>
          </p:cNvPr>
          <p:cNvSpPr>
            <a:spLocks noGrp="1"/>
          </p:cNvSpPr>
          <p:nvPr>
            <p:ph type="pic" sz="quarter" idx="13"/>
          </p:nvPr>
        </p:nvSpPr>
        <p:spPr>
          <a:xfrm>
            <a:off x="6096000" y="0"/>
            <a:ext cx="6096000" cy="3429000"/>
          </a:xfrm>
          <a:solidFill>
            <a:srgbClr val="F2F2F2"/>
          </a:solidFill>
        </p:spPr>
        <p:txBody>
          <a:bodyPr anchor="ctr" anchorCtr="0">
            <a:normAutofit/>
          </a:bodyPr>
          <a:lstStyle>
            <a:lvl1pPr marL="0" indent="0" algn="ctr">
              <a:spcBef>
                <a:spcPts val="0"/>
              </a:spcBef>
              <a:buFontTx/>
              <a:buNone/>
              <a:defRPr sz="1200"/>
            </a:lvl1pPr>
          </a:lstStyle>
          <a:p>
            <a:r>
              <a:rPr lang="en-US" dirty="0"/>
              <a:t>Click icon to add picture</a:t>
            </a:r>
          </a:p>
        </p:txBody>
      </p:sp>
      <p:sp>
        <p:nvSpPr>
          <p:cNvPr id="7" name="Picture Placeholder 4">
            <a:extLst>
              <a:ext uri="{FF2B5EF4-FFF2-40B4-BE49-F238E27FC236}">
                <a16:creationId xmlns:a16="http://schemas.microsoft.com/office/drawing/2014/main" id="{A613A27A-887F-7D4B-BD42-C5EF05F12448}"/>
              </a:ext>
            </a:extLst>
          </p:cNvPr>
          <p:cNvSpPr>
            <a:spLocks noGrp="1"/>
          </p:cNvSpPr>
          <p:nvPr>
            <p:ph type="pic" sz="quarter" idx="14"/>
          </p:nvPr>
        </p:nvSpPr>
        <p:spPr>
          <a:xfrm>
            <a:off x="6096000" y="3429000"/>
            <a:ext cx="3044952" cy="3429000"/>
          </a:xfrm>
          <a:solidFill>
            <a:srgbClr val="D9D9D9"/>
          </a:solidFill>
        </p:spPr>
        <p:txBody>
          <a:bodyPr anchor="ctr" anchorCtr="0">
            <a:normAutofit/>
          </a:bodyPr>
          <a:lstStyle>
            <a:lvl1pPr marL="0" indent="0" algn="ctr">
              <a:spcBef>
                <a:spcPts val="0"/>
              </a:spcBef>
              <a:buFontTx/>
              <a:buNone/>
              <a:defRPr sz="1200"/>
            </a:lvl1pPr>
          </a:lstStyle>
          <a:p>
            <a:r>
              <a:rPr lang="en-US" dirty="0"/>
              <a:t>Click icon to add picture</a:t>
            </a:r>
          </a:p>
        </p:txBody>
      </p:sp>
      <p:sp>
        <p:nvSpPr>
          <p:cNvPr id="8" name="Picture Placeholder 5">
            <a:extLst>
              <a:ext uri="{FF2B5EF4-FFF2-40B4-BE49-F238E27FC236}">
                <a16:creationId xmlns:a16="http://schemas.microsoft.com/office/drawing/2014/main" id="{C2AB3B13-24B5-EA40-92B2-665869E4657A}"/>
              </a:ext>
            </a:extLst>
          </p:cNvPr>
          <p:cNvSpPr>
            <a:spLocks noGrp="1"/>
          </p:cNvSpPr>
          <p:nvPr>
            <p:ph type="pic" sz="quarter" idx="15"/>
          </p:nvPr>
        </p:nvSpPr>
        <p:spPr>
          <a:xfrm>
            <a:off x="9140952" y="3429000"/>
            <a:ext cx="3051048" cy="3429000"/>
          </a:xfrm>
          <a:solidFill>
            <a:srgbClr val="BFBFBF"/>
          </a:solidFill>
        </p:spPr>
        <p:txBody>
          <a:bodyPr anchor="ctr" anchorCtr="0">
            <a:normAutofit/>
          </a:bodyPr>
          <a:lstStyle>
            <a:lvl1pPr marL="0" indent="0" algn="ctr">
              <a:spcBef>
                <a:spcPts val="0"/>
              </a:spcBef>
              <a:buFontTx/>
              <a:buNone/>
              <a:defRPr sz="1200"/>
            </a:lvl1pPr>
          </a:lstStyle>
          <a:p>
            <a:r>
              <a:rPr lang="en-US" dirty="0"/>
              <a:t>Click icon to add picture</a:t>
            </a:r>
          </a:p>
        </p:txBody>
      </p:sp>
      <p:sp>
        <p:nvSpPr>
          <p:cNvPr id="6" name="Slide Number Placeholder 6">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2880044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and Four Pictur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5428488" cy="914400"/>
          </a:xfrm>
        </p:spPr>
        <p:txBody>
          <a:bodyPr/>
          <a:lstStyle>
            <a:lvl1pPr>
              <a:defRPr/>
            </a:lvl1pPr>
          </a:lstStyle>
          <a:p>
            <a:r>
              <a:rPr lang="en-US" dirty="0"/>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554480"/>
            <a:ext cx="5428488"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3">
            <a:extLst>
              <a:ext uri="{FF2B5EF4-FFF2-40B4-BE49-F238E27FC236}">
                <a16:creationId xmlns:a16="http://schemas.microsoft.com/office/drawing/2014/main" id="{FB768959-B468-B74C-99C1-89889E5B1ED7}"/>
              </a:ext>
            </a:extLst>
          </p:cNvPr>
          <p:cNvSpPr>
            <a:spLocks noGrp="1"/>
          </p:cNvSpPr>
          <p:nvPr>
            <p:ph type="pic" sz="quarter" idx="13"/>
          </p:nvPr>
        </p:nvSpPr>
        <p:spPr>
          <a:xfrm>
            <a:off x="6096000" y="0"/>
            <a:ext cx="6096000" cy="3429000"/>
          </a:xfrm>
          <a:solidFill>
            <a:srgbClr val="F2F2F2"/>
          </a:solidFill>
        </p:spPr>
        <p:txBody>
          <a:bodyPr anchor="ctr" anchorCtr="0">
            <a:normAutofit/>
          </a:bodyPr>
          <a:lstStyle>
            <a:lvl1pPr marL="0" indent="0" algn="ctr">
              <a:spcBef>
                <a:spcPts val="0"/>
              </a:spcBef>
              <a:buFontTx/>
              <a:buNone/>
              <a:defRPr sz="1200"/>
            </a:lvl1pPr>
          </a:lstStyle>
          <a:p>
            <a:r>
              <a:rPr lang="en-US" dirty="0"/>
              <a:t>Click icon to add picture</a:t>
            </a:r>
          </a:p>
        </p:txBody>
      </p:sp>
      <p:sp>
        <p:nvSpPr>
          <p:cNvPr id="7" name="Picture Placeholder 4">
            <a:extLst>
              <a:ext uri="{FF2B5EF4-FFF2-40B4-BE49-F238E27FC236}">
                <a16:creationId xmlns:a16="http://schemas.microsoft.com/office/drawing/2014/main" id="{A613A27A-887F-7D4B-BD42-C5EF05F12448}"/>
              </a:ext>
            </a:extLst>
          </p:cNvPr>
          <p:cNvSpPr>
            <a:spLocks noGrp="1"/>
          </p:cNvSpPr>
          <p:nvPr>
            <p:ph type="pic" sz="quarter" idx="14"/>
          </p:nvPr>
        </p:nvSpPr>
        <p:spPr>
          <a:xfrm>
            <a:off x="6096000" y="3429000"/>
            <a:ext cx="3044952" cy="3429000"/>
          </a:xfrm>
          <a:solidFill>
            <a:srgbClr val="D9D9D9"/>
          </a:solidFill>
        </p:spPr>
        <p:txBody>
          <a:bodyPr anchor="ctr" anchorCtr="0">
            <a:normAutofit/>
          </a:bodyPr>
          <a:lstStyle>
            <a:lvl1pPr marL="0" indent="0" algn="ctr">
              <a:spcBef>
                <a:spcPts val="0"/>
              </a:spcBef>
              <a:buFontTx/>
              <a:buNone/>
              <a:defRPr sz="1200"/>
            </a:lvl1pPr>
          </a:lstStyle>
          <a:p>
            <a:r>
              <a:rPr lang="en-US" dirty="0"/>
              <a:t>Click icon to add picture</a:t>
            </a:r>
          </a:p>
        </p:txBody>
      </p:sp>
      <p:sp>
        <p:nvSpPr>
          <p:cNvPr id="8" name="Picture Placeholder 5">
            <a:extLst>
              <a:ext uri="{FF2B5EF4-FFF2-40B4-BE49-F238E27FC236}">
                <a16:creationId xmlns:a16="http://schemas.microsoft.com/office/drawing/2014/main" id="{C2AB3B13-24B5-EA40-92B2-665869E4657A}"/>
              </a:ext>
            </a:extLst>
          </p:cNvPr>
          <p:cNvSpPr>
            <a:spLocks noGrp="1"/>
          </p:cNvSpPr>
          <p:nvPr>
            <p:ph type="pic" sz="quarter" idx="15"/>
          </p:nvPr>
        </p:nvSpPr>
        <p:spPr>
          <a:xfrm>
            <a:off x="9140952" y="3429000"/>
            <a:ext cx="3051048" cy="1719072"/>
          </a:xfrm>
          <a:solidFill>
            <a:srgbClr val="BFBFBF"/>
          </a:solidFill>
        </p:spPr>
        <p:txBody>
          <a:bodyPr anchor="ctr" anchorCtr="0">
            <a:normAutofit/>
          </a:bodyPr>
          <a:lstStyle>
            <a:lvl1pPr marL="0" indent="0" algn="ctr">
              <a:buFontTx/>
              <a:buNone/>
              <a:defRPr sz="1200"/>
            </a:lvl1pPr>
          </a:lstStyle>
          <a:p>
            <a:r>
              <a:rPr lang="en-US" dirty="0"/>
              <a:t>Click icon to add picture</a:t>
            </a:r>
          </a:p>
        </p:txBody>
      </p:sp>
      <p:sp>
        <p:nvSpPr>
          <p:cNvPr id="9" name="Picture Placeholder 6">
            <a:extLst>
              <a:ext uri="{FF2B5EF4-FFF2-40B4-BE49-F238E27FC236}">
                <a16:creationId xmlns:a16="http://schemas.microsoft.com/office/drawing/2014/main" id="{A26BC3F3-33EB-F346-B70E-DE269C6819EE}"/>
              </a:ext>
            </a:extLst>
          </p:cNvPr>
          <p:cNvSpPr>
            <a:spLocks noGrp="1"/>
          </p:cNvSpPr>
          <p:nvPr>
            <p:ph type="pic" sz="quarter" idx="16"/>
          </p:nvPr>
        </p:nvSpPr>
        <p:spPr>
          <a:xfrm>
            <a:off x="9140952" y="5148072"/>
            <a:ext cx="3051048" cy="1709928"/>
          </a:xfrm>
          <a:solidFill>
            <a:srgbClr val="F2F2F2"/>
          </a:solidFill>
        </p:spPr>
        <p:txBody>
          <a:bodyPr anchor="ctr" anchorCtr="0">
            <a:normAutofit/>
          </a:bodyPr>
          <a:lstStyle>
            <a:lvl1pPr marL="0" indent="0" algn="ctr">
              <a:spcBef>
                <a:spcPts val="0"/>
              </a:spcBef>
              <a:buFontTx/>
              <a:buNone/>
              <a:defRPr sz="1200"/>
            </a:lvl1pPr>
          </a:lstStyle>
          <a:p>
            <a:r>
              <a:rPr lang="en-US" dirty="0"/>
              <a:t>Click icon to add picture</a:t>
            </a:r>
          </a:p>
        </p:txBody>
      </p:sp>
      <p:sp>
        <p:nvSpPr>
          <p:cNvPr id="6" name="Slide Number Placeholder 7">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3402688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our Pictures and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9" name="Picture Placeholder 2">
            <a:extLst>
              <a:ext uri="{FF2B5EF4-FFF2-40B4-BE49-F238E27FC236}">
                <a16:creationId xmlns:a16="http://schemas.microsoft.com/office/drawing/2014/main" id="{6B9E9C5D-8364-0D47-AF90-417652D3C169}"/>
              </a:ext>
            </a:extLst>
          </p:cNvPr>
          <p:cNvSpPr>
            <a:spLocks noGrp="1"/>
          </p:cNvSpPr>
          <p:nvPr>
            <p:ph type="pic" sz="quarter" idx="16"/>
          </p:nvPr>
        </p:nvSpPr>
        <p:spPr>
          <a:xfrm>
            <a:off x="365126" y="1552575"/>
            <a:ext cx="2642616" cy="1737358"/>
          </a:xfrm>
          <a:solidFill>
            <a:srgbClr val="F2F2F2"/>
          </a:solidFill>
        </p:spPr>
        <p:txBody>
          <a:bodyPr anchor="ctr" anchorCtr="0">
            <a:normAutofit/>
          </a:bodyPr>
          <a:lstStyle>
            <a:lvl1pPr marL="0" indent="0" algn="ctr">
              <a:spcBef>
                <a:spcPts val="0"/>
              </a:spcBef>
              <a:buNone/>
              <a:defRPr sz="1200"/>
            </a:lvl1pPr>
          </a:lstStyle>
          <a:p>
            <a:r>
              <a:rPr lang="en-US" dirty="0"/>
              <a:t>Click icon to add picture</a:t>
            </a:r>
          </a:p>
        </p:txBody>
      </p:sp>
      <p:sp>
        <p:nvSpPr>
          <p:cNvPr id="17" name="Text Placeholder 3">
            <a:extLst>
              <a:ext uri="{FF2B5EF4-FFF2-40B4-BE49-F238E27FC236}">
                <a16:creationId xmlns:a16="http://schemas.microsoft.com/office/drawing/2014/main" id="{D8A87F8F-2D9A-B243-A5FB-6E555C2704C5}"/>
              </a:ext>
            </a:extLst>
          </p:cNvPr>
          <p:cNvSpPr>
            <a:spLocks noGrp="1"/>
          </p:cNvSpPr>
          <p:nvPr>
            <p:ph type="body" sz="quarter" idx="17"/>
          </p:nvPr>
        </p:nvSpPr>
        <p:spPr>
          <a:xfrm>
            <a:off x="365760" y="3474720"/>
            <a:ext cx="2642616"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Picture Placeholder 4">
            <a:extLst>
              <a:ext uri="{FF2B5EF4-FFF2-40B4-BE49-F238E27FC236}">
                <a16:creationId xmlns:a16="http://schemas.microsoft.com/office/drawing/2014/main" id="{5797D6E4-4FD3-FB41-AC2F-B0BC44660939}"/>
              </a:ext>
            </a:extLst>
          </p:cNvPr>
          <p:cNvSpPr>
            <a:spLocks noGrp="1"/>
          </p:cNvSpPr>
          <p:nvPr>
            <p:ph type="pic" sz="quarter" idx="18"/>
          </p:nvPr>
        </p:nvSpPr>
        <p:spPr>
          <a:xfrm>
            <a:off x="3301999" y="1552575"/>
            <a:ext cx="2642616" cy="1737358"/>
          </a:xfrm>
          <a:solidFill>
            <a:srgbClr val="F2F2F2"/>
          </a:solidFill>
        </p:spPr>
        <p:txBody>
          <a:bodyPr anchor="ctr" anchorCtr="0">
            <a:normAutofit/>
          </a:bodyPr>
          <a:lstStyle>
            <a:lvl1pPr marL="0" indent="0" algn="ctr">
              <a:spcBef>
                <a:spcPts val="0"/>
              </a:spcBef>
              <a:buNone/>
              <a:defRPr sz="1200"/>
            </a:lvl1pPr>
          </a:lstStyle>
          <a:p>
            <a:r>
              <a:rPr lang="en-US" dirty="0"/>
              <a:t>Click icon to add picture</a:t>
            </a:r>
          </a:p>
        </p:txBody>
      </p:sp>
      <p:sp>
        <p:nvSpPr>
          <p:cNvPr id="25" name="Text Placeholder 5">
            <a:extLst>
              <a:ext uri="{FF2B5EF4-FFF2-40B4-BE49-F238E27FC236}">
                <a16:creationId xmlns:a16="http://schemas.microsoft.com/office/drawing/2014/main" id="{A8504504-7E85-584D-A20B-448D0D56BBE5}"/>
              </a:ext>
            </a:extLst>
          </p:cNvPr>
          <p:cNvSpPr>
            <a:spLocks noGrp="1"/>
          </p:cNvSpPr>
          <p:nvPr>
            <p:ph type="body" sz="quarter" idx="21"/>
          </p:nvPr>
        </p:nvSpPr>
        <p:spPr>
          <a:xfrm>
            <a:off x="3302000" y="3474720"/>
            <a:ext cx="2642616"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Picture Placeholder 6">
            <a:extLst>
              <a:ext uri="{FF2B5EF4-FFF2-40B4-BE49-F238E27FC236}">
                <a16:creationId xmlns:a16="http://schemas.microsoft.com/office/drawing/2014/main" id="{8B42205D-9591-3C43-8A71-9811FC49A762}"/>
              </a:ext>
            </a:extLst>
          </p:cNvPr>
          <p:cNvSpPr>
            <a:spLocks noGrp="1"/>
          </p:cNvSpPr>
          <p:nvPr>
            <p:ph type="pic" sz="quarter" idx="19"/>
          </p:nvPr>
        </p:nvSpPr>
        <p:spPr>
          <a:xfrm>
            <a:off x="6248400" y="1552575"/>
            <a:ext cx="2642616" cy="1737358"/>
          </a:xfrm>
          <a:solidFill>
            <a:srgbClr val="F2F2F2"/>
          </a:solidFill>
        </p:spPr>
        <p:txBody>
          <a:bodyPr anchor="ctr" anchorCtr="0">
            <a:normAutofit/>
          </a:bodyPr>
          <a:lstStyle>
            <a:lvl1pPr marL="0" indent="0" algn="ctr">
              <a:spcBef>
                <a:spcPts val="0"/>
              </a:spcBef>
              <a:buNone/>
              <a:defRPr sz="1200"/>
            </a:lvl1pPr>
          </a:lstStyle>
          <a:p>
            <a:r>
              <a:rPr lang="en-US" dirty="0"/>
              <a:t>Click icon to add picture</a:t>
            </a:r>
          </a:p>
        </p:txBody>
      </p:sp>
      <p:sp>
        <p:nvSpPr>
          <p:cNvPr id="27" name="Text Placeholder 7">
            <a:extLst>
              <a:ext uri="{FF2B5EF4-FFF2-40B4-BE49-F238E27FC236}">
                <a16:creationId xmlns:a16="http://schemas.microsoft.com/office/drawing/2014/main" id="{0BC915BB-BDF2-BD44-8C3A-2C34D2A9A632}"/>
              </a:ext>
            </a:extLst>
          </p:cNvPr>
          <p:cNvSpPr>
            <a:spLocks noGrp="1"/>
          </p:cNvSpPr>
          <p:nvPr>
            <p:ph type="body" sz="quarter" idx="22"/>
          </p:nvPr>
        </p:nvSpPr>
        <p:spPr>
          <a:xfrm>
            <a:off x="6248400" y="3474720"/>
            <a:ext cx="2642616"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Picture Placeholder 8">
            <a:extLst>
              <a:ext uri="{FF2B5EF4-FFF2-40B4-BE49-F238E27FC236}">
                <a16:creationId xmlns:a16="http://schemas.microsoft.com/office/drawing/2014/main" id="{DD93C7F7-3C80-DA48-9BC2-95DD73DF8782}"/>
              </a:ext>
            </a:extLst>
          </p:cNvPr>
          <p:cNvSpPr>
            <a:spLocks noGrp="1"/>
          </p:cNvSpPr>
          <p:nvPr>
            <p:ph type="pic" sz="quarter" idx="20"/>
          </p:nvPr>
        </p:nvSpPr>
        <p:spPr>
          <a:xfrm>
            <a:off x="9183624" y="1552575"/>
            <a:ext cx="2642616" cy="1737358"/>
          </a:xfrm>
          <a:solidFill>
            <a:srgbClr val="F2F2F2"/>
          </a:solidFill>
        </p:spPr>
        <p:txBody>
          <a:bodyPr anchor="ctr" anchorCtr="0">
            <a:normAutofit/>
          </a:bodyPr>
          <a:lstStyle>
            <a:lvl1pPr marL="0" indent="0" algn="ctr">
              <a:spcBef>
                <a:spcPts val="0"/>
              </a:spcBef>
              <a:buNone/>
              <a:defRPr sz="1200"/>
            </a:lvl1pPr>
          </a:lstStyle>
          <a:p>
            <a:r>
              <a:rPr lang="en-US" dirty="0"/>
              <a:t>Click icon to add picture</a:t>
            </a:r>
          </a:p>
        </p:txBody>
      </p:sp>
      <p:sp>
        <p:nvSpPr>
          <p:cNvPr id="29" name="Text Placeholder 9">
            <a:extLst>
              <a:ext uri="{FF2B5EF4-FFF2-40B4-BE49-F238E27FC236}">
                <a16:creationId xmlns:a16="http://schemas.microsoft.com/office/drawing/2014/main" id="{0A585D99-3BCE-844A-8969-7E2EFD217B54}"/>
              </a:ext>
            </a:extLst>
          </p:cNvPr>
          <p:cNvSpPr>
            <a:spLocks noGrp="1"/>
          </p:cNvSpPr>
          <p:nvPr>
            <p:ph type="body" sz="quarter" idx="23"/>
          </p:nvPr>
        </p:nvSpPr>
        <p:spPr>
          <a:xfrm>
            <a:off x="9182100" y="3474720"/>
            <a:ext cx="2642616"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10">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345364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0">
          <p15:clr>
            <a:srgbClr val="FBAE40"/>
          </p15:clr>
        </p15:guide>
        <p15:guide id="2" pos="1896">
          <p15:clr>
            <a:srgbClr val="FBAE40"/>
          </p15:clr>
        </p15:guide>
        <p15:guide id="3" pos="5600">
          <p15:clr>
            <a:srgbClr val="FBAE40"/>
          </p15:clr>
        </p15:guide>
        <p15:guide id="4" pos="5784">
          <p15:clr>
            <a:srgbClr val="FBAE40"/>
          </p15:clr>
        </p15:guide>
        <p15:guide id="5" pos="3744">
          <p15:clr>
            <a:srgbClr val="FBAE40"/>
          </p15:clr>
        </p15:guide>
        <p15:guide id="6" pos="3936">
          <p15:clr>
            <a:srgbClr val="FBAE40"/>
          </p15:clr>
        </p15:guide>
        <p15:guide id="7" orient="horz" pos="2074" userDrawn="1">
          <p15:clr>
            <a:srgbClr val="FBAE40"/>
          </p15:clr>
        </p15:guide>
        <p15:guide id="8" orient="horz" pos="218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and One Picture">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3F25E4DD-7BAF-CF43-9AF5-512CC54177DD}"/>
              </a:ext>
            </a:extLst>
          </p:cNvPr>
          <p:cNvSpPr>
            <a:spLocks noGrp="1"/>
          </p:cNvSpPr>
          <p:nvPr>
            <p:ph type="pic" sz="quarter" idx="13"/>
          </p:nvPr>
        </p:nvSpPr>
        <p:spPr>
          <a:xfrm>
            <a:off x="0" y="0"/>
            <a:ext cx="12192000" cy="6858000"/>
          </a:xfrm>
          <a:solidFill>
            <a:srgbClr val="F2F2F2"/>
          </a:solidFill>
        </p:spPr>
        <p:txBody>
          <a:bodyPr anchor="ctr" anchorCtr="0">
            <a:normAutofit/>
          </a:bodyPr>
          <a:lstStyle>
            <a:lvl1pPr marL="0" indent="0" algn="ctr">
              <a:spcBef>
                <a:spcPts val="0"/>
              </a:spcBef>
              <a:buFontTx/>
              <a:buNone/>
              <a:defRPr sz="1200"/>
            </a:lvl1pPr>
          </a:lstStyle>
          <a:p>
            <a:r>
              <a:rPr lang="en-US" dirty="0"/>
              <a:t>Click icon to add picture</a:t>
            </a:r>
          </a:p>
        </p:txBody>
      </p:sp>
      <p:sp>
        <p:nvSpPr>
          <p:cNvPr id="2" name="Title 2">
            <a:extLst>
              <a:ext uri="{FF2B5EF4-FFF2-40B4-BE49-F238E27FC236}">
                <a16:creationId xmlns:a16="http://schemas.microsoft.com/office/drawing/2014/main" id="{ADC9E62E-3AF4-C24D-8B08-8A7FCB7EDCE0}"/>
              </a:ext>
            </a:extLst>
          </p:cNvPr>
          <p:cNvSpPr>
            <a:spLocks noGrp="1"/>
          </p:cNvSpPr>
          <p:nvPr>
            <p:ph type="title" hasCustomPrompt="1"/>
          </p:nvPr>
        </p:nvSpPr>
        <p:spPr/>
        <p:txBody>
          <a:bodyPr/>
          <a:lstStyle/>
          <a:p>
            <a:r>
              <a:rPr lang="en-US" dirty="0"/>
              <a:t>[Slide title]</a:t>
            </a:r>
          </a:p>
        </p:txBody>
      </p:sp>
      <p:sp>
        <p:nvSpPr>
          <p:cNvPr id="3" name="Slide Number Placeholder 3">
            <a:extLst>
              <a:ext uri="{FF2B5EF4-FFF2-40B4-BE49-F238E27FC236}">
                <a16:creationId xmlns:a16="http://schemas.microsoft.com/office/drawing/2014/main" id="{EE3D7CA1-C89E-E24C-B557-52A1F9AEBF30}"/>
              </a:ext>
            </a:extLst>
          </p:cNvPr>
          <p:cNvSpPr>
            <a:spLocks noGrp="1"/>
          </p:cNvSpPr>
          <p:nvPr>
            <p:ph type="sldNum" sz="quarter" idx="10"/>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2953605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858165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Header - Amber">
    <p:bg>
      <p:bgPr>
        <a:gradFill>
          <a:gsLst>
            <a:gs pos="0">
              <a:srgbClr val="FFFBF4"/>
            </a:gs>
            <a:gs pos="100000">
              <a:srgbClr val="FFECCD"/>
            </a:gs>
          </a:gsLst>
          <a:lin ang="5400000" scaled="1"/>
        </a:gra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383177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Header - Peach">
    <p:bg>
      <p:bgPr>
        <a:gradFill>
          <a:gsLst>
            <a:gs pos="0">
              <a:srgbClr val="FFF7F3"/>
            </a:gs>
            <a:gs pos="100000">
              <a:srgbClr val="FEDCCA"/>
            </a:gs>
          </a:gsLst>
          <a:lin ang="5400000" scaled="1"/>
        </a:gra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851908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Header - Olive">
    <p:bg>
      <p:bgPr>
        <a:gradFill>
          <a:gsLst>
            <a:gs pos="0">
              <a:srgbClr val="FAF6F3"/>
            </a:gs>
            <a:gs pos="100000">
              <a:srgbClr val="EAD5C9"/>
            </a:gs>
          </a:gsLst>
          <a:lin ang="5400000" scaled="1"/>
        </a:gra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371277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ection Header - Almond">
    <p:bg>
      <p:bgPr>
        <a:gradFill>
          <a:gsLst>
            <a:gs pos="0">
              <a:srgbClr val="F8F3F1"/>
            </a:gs>
            <a:gs pos="100000">
              <a:srgbClr val="DFCBC3"/>
            </a:gs>
          </a:gsLst>
          <a:lin ang="5400000" scaled="1"/>
        </a:gra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074644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ection Header - Sienna">
    <p:bg>
      <p:bgPr>
        <a:gradFill>
          <a:gsLst>
            <a:gs pos="0">
              <a:srgbClr val="F5F0F0"/>
            </a:gs>
            <a:gs pos="100000">
              <a:srgbClr val="DAC5C5"/>
            </a:gs>
          </a:gsLst>
          <a:lin ang="5400000" scaled="1"/>
        </a:gra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108406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ection Header - Chocolate">
    <p:bg>
      <p:bgPr>
        <a:gradFill>
          <a:gsLst>
            <a:gs pos="0">
              <a:srgbClr val="F6F4F3"/>
            </a:gs>
            <a:gs pos="100000">
              <a:srgbClr val="D2CAC8"/>
            </a:gs>
          </a:gsLst>
          <a:lin ang="5400000" scaled="1"/>
        </a:gra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2067021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Header - Mint">
    <p:bg>
      <p:bgPr>
        <a:gradFill>
          <a:gsLst>
            <a:gs pos="0">
              <a:srgbClr val="F2FFF9"/>
            </a:gs>
            <a:gs pos="100000">
              <a:srgbClr val="C5FFE6"/>
            </a:gs>
          </a:gsLst>
          <a:lin ang="5400000" scaled="1"/>
        </a:gra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2653438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Header - Aqua">
    <p:bg>
      <p:bgPr>
        <a:gradFill>
          <a:gsLst>
            <a:gs pos="0">
              <a:srgbClr val="EFFCFE"/>
            </a:gs>
            <a:gs pos="100000">
              <a:srgbClr val="C0F2FB"/>
            </a:gs>
          </a:gsLst>
          <a:lin ang="5400000" scaled="1"/>
        </a:gra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659477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ection Header - Light Gray">
    <p:bg>
      <p:bgPr>
        <a:solidFill>
          <a:srgbClr val="EEE7E7"/>
        </a:soli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3557130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0D8B1-1581-4488-A1A4-886D01EEFD4F}"/>
              </a:ext>
            </a:extLst>
          </p:cNvPr>
          <p:cNvSpPr>
            <a:spLocks noGrp="1"/>
          </p:cNvSpPr>
          <p:nvPr>
            <p:ph type="title" hasCustomPrompt="1"/>
          </p:nvPr>
        </p:nvSpPr>
        <p:spPr/>
        <p:txBody>
          <a:bodyPr/>
          <a:lstStyle>
            <a:lvl1pPr>
              <a:defRPr/>
            </a:lvl1pPr>
          </a:lstStyle>
          <a:p>
            <a:r>
              <a:rPr lang="en-US" dirty="0"/>
              <a:t>[Slide title]</a:t>
            </a:r>
          </a:p>
        </p:txBody>
      </p:sp>
      <p:sp>
        <p:nvSpPr>
          <p:cNvPr id="5" name="Slide Number Placeholder 2">
            <a:extLst>
              <a:ext uri="{FF2B5EF4-FFF2-40B4-BE49-F238E27FC236}">
                <a16:creationId xmlns:a16="http://schemas.microsoft.com/office/drawing/2014/main" id="{6CF9CDAC-EC28-4BA6-9827-D58133E18874}"/>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450968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45BF3E53-7A3D-40D5-AE68-3CE44909F1CF}"/>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3940990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Logo">
    <p:spTree>
      <p:nvGrpSpPr>
        <p:cNvPr id="1" name=""/>
        <p:cNvGrpSpPr/>
        <p:nvPr/>
      </p:nvGrpSpPr>
      <p:grpSpPr>
        <a:xfrm>
          <a:off x="0" y="0"/>
          <a:ext cx="0" cy="0"/>
          <a:chOff x="0" y="0"/>
          <a:chExt cx="0" cy="0"/>
        </a:xfrm>
      </p:grpSpPr>
      <p:pic>
        <p:nvPicPr>
          <p:cNvPr id="4" name="Bristol Myers Squibb" descr="Bristol Myers Squibb">
            <a:extLst>
              <a:ext uri="{FF2B5EF4-FFF2-40B4-BE49-F238E27FC236}">
                <a16:creationId xmlns:a16="http://schemas.microsoft.com/office/drawing/2014/main" id="{B50985CD-7333-F343-85B8-C4893E81FC91}"/>
              </a:ext>
            </a:extLst>
          </p:cNvPr>
          <p:cNvPicPr>
            <a:picLocks noChangeAspect="1"/>
          </p:cNvPicPr>
          <p:nvPr userDrawn="1"/>
        </p:nvPicPr>
        <p:blipFill>
          <a:blip r:embed="rId2"/>
          <a:stretch>
            <a:fillRect/>
          </a:stretch>
        </p:blipFill>
        <p:spPr bwMode="black">
          <a:xfrm>
            <a:off x="1645920" y="2194560"/>
            <a:ext cx="9056906" cy="2286000"/>
          </a:xfrm>
          <a:prstGeom prst="rect">
            <a:avLst/>
          </a:prstGeom>
          <a:noFill/>
        </p:spPr>
      </p:pic>
    </p:spTree>
    <p:extLst>
      <p:ext uri="{BB962C8B-B14F-4D97-AF65-F5344CB8AC3E}">
        <p14:creationId xmlns:p14="http://schemas.microsoft.com/office/powerpoint/2010/main" val="3444456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pic>
        <p:nvPicPr>
          <p:cNvPr id="7" name="Bristol Myers Squibb" descr="Bristol Myers Squibb">
            <a:extLst>
              <a:ext uri="{FF2B5EF4-FFF2-40B4-BE49-F238E27FC236}">
                <a16:creationId xmlns:a16="http://schemas.microsoft.com/office/drawing/2014/main" id="{91000A19-9025-2C4A-9321-625720905BF5}"/>
              </a:ext>
            </a:extLst>
          </p:cNvPr>
          <p:cNvPicPr>
            <a:picLocks noChangeAspect="1"/>
          </p:cNvPicPr>
          <p:nvPr userDrawn="1"/>
        </p:nvPicPr>
        <p:blipFill>
          <a:blip r:embed="rId2"/>
          <a:stretch>
            <a:fillRect/>
          </a:stretch>
        </p:blipFill>
        <p:spPr bwMode="black">
          <a:xfrm>
            <a:off x="150688" y="5913096"/>
            <a:ext cx="3260484" cy="822960"/>
          </a:xfrm>
          <a:prstGeom prst="rect">
            <a:avLst/>
          </a:prstGeom>
          <a:noFill/>
        </p:spPr>
      </p:pic>
      <p:sp>
        <p:nvSpPr>
          <p:cNvPr id="8" name="Thank You">
            <a:extLst>
              <a:ext uri="{FF2B5EF4-FFF2-40B4-BE49-F238E27FC236}">
                <a16:creationId xmlns:a16="http://schemas.microsoft.com/office/drawing/2014/main" id="{2DF7BC51-D766-5D44-8D23-2A1F0BF208B3}"/>
              </a:ext>
            </a:extLst>
          </p:cNvPr>
          <p:cNvSpPr txBox="1">
            <a:spLocks/>
          </p:cNvSpPr>
          <p:nvPr userDrawn="1"/>
        </p:nvSpPr>
        <p:spPr>
          <a:xfrm>
            <a:off x="365760" y="1554480"/>
            <a:ext cx="7543165" cy="18288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6000" b="0" kern="1200" spc="0" baseline="0">
                <a:solidFill>
                  <a:schemeClr val="tx1"/>
                </a:solidFill>
                <a:latin typeface="+mj-lt"/>
                <a:ea typeface="+mj-ea"/>
                <a:cs typeface="+mj-cs"/>
              </a:defRPr>
            </a:lvl1pPr>
          </a:lstStyle>
          <a:p>
            <a:r>
              <a:rPr lang="en-US" dirty="0"/>
              <a:t>Thank you</a:t>
            </a:r>
          </a:p>
        </p:txBody>
      </p:sp>
      <p:sp>
        <p:nvSpPr>
          <p:cNvPr id="5" name="Text Placeholder 1">
            <a:extLst>
              <a:ext uri="{FF2B5EF4-FFF2-40B4-BE49-F238E27FC236}">
                <a16:creationId xmlns:a16="http://schemas.microsoft.com/office/drawing/2014/main" id="{03D75AF2-C99D-9247-B7AF-B859D95DB41A}"/>
              </a:ext>
            </a:extLst>
          </p:cNvPr>
          <p:cNvSpPr>
            <a:spLocks noGrp="1"/>
          </p:cNvSpPr>
          <p:nvPr>
            <p:ph type="body" sz="quarter" idx="10" hasCustomPrompt="1"/>
          </p:nvPr>
        </p:nvSpPr>
        <p:spPr>
          <a:xfrm>
            <a:off x="365760" y="4434840"/>
            <a:ext cx="7543165" cy="1371600"/>
          </a:xfrm>
        </p:spPr>
        <p:txBody>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[Optional contact information]</a:t>
            </a:r>
          </a:p>
        </p:txBody>
      </p:sp>
    </p:spTree>
    <p:extLst>
      <p:ext uri="{BB962C8B-B14F-4D97-AF65-F5344CB8AC3E}">
        <p14:creationId xmlns:p14="http://schemas.microsoft.com/office/powerpoint/2010/main" val="624175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98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GBO Template Tit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3251346" y="1575162"/>
            <a:ext cx="7708928" cy="1646605"/>
          </a:xfrm>
        </p:spPr>
        <p:txBody>
          <a:bodyPr/>
          <a:lstStyle>
            <a:lvl1pPr marL="0" indent="0">
              <a:buNone/>
              <a:defRPr sz="5400" b="1">
                <a:latin typeface="Century Gothic" panose="020B0502020202020204" pitchFamily="34" charset="0"/>
              </a:defRPr>
            </a:lvl1pPr>
          </a:lstStyle>
          <a:p>
            <a:pPr lvl="0"/>
            <a:r>
              <a:rPr lang="en-US" sz="5400" b="1" dirty="0"/>
              <a:t>Remote Group Detail Distinguish Approach</a:t>
            </a:r>
            <a:endParaRPr lang="en-US" altLang="ja-JP" dirty="0"/>
          </a:p>
        </p:txBody>
      </p:sp>
      <p:sp>
        <p:nvSpPr>
          <p:cNvPr id="9" name="Text Placeholder 7"/>
          <p:cNvSpPr>
            <a:spLocks noGrp="1"/>
          </p:cNvSpPr>
          <p:nvPr>
            <p:ph type="body" sz="quarter" idx="11" hasCustomPrompt="1"/>
          </p:nvPr>
        </p:nvSpPr>
        <p:spPr>
          <a:xfrm>
            <a:off x="3241021" y="3339604"/>
            <a:ext cx="8846595" cy="646331"/>
          </a:xfrm>
        </p:spPr>
        <p:txBody>
          <a:bodyPr/>
          <a:lstStyle>
            <a:lvl1pPr marL="0" indent="0">
              <a:buNone/>
              <a:defRPr sz="3600" b="0" baseline="0">
                <a:latin typeface="Century Gothic" panose="020B0502020202020204" pitchFamily="34" charset="0"/>
              </a:defRPr>
            </a:lvl1pPr>
          </a:lstStyle>
          <a:p>
            <a:pPr lvl="0"/>
            <a:r>
              <a:rPr lang="en-US" dirty="0"/>
              <a:t>Subtitle: Click to edit Master text styles</a:t>
            </a:r>
          </a:p>
        </p:txBody>
      </p:sp>
      <p:sp>
        <p:nvSpPr>
          <p:cNvPr id="10" name="Text Placeholder 7"/>
          <p:cNvSpPr>
            <a:spLocks noGrp="1"/>
          </p:cNvSpPr>
          <p:nvPr>
            <p:ph type="body" sz="quarter" idx="12" hasCustomPrompt="1"/>
          </p:nvPr>
        </p:nvSpPr>
        <p:spPr>
          <a:xfrm>
            <a:off x="3251346" y="4278323"/>
            <a:ext cx="7708928" cy="523220"/>
          </a:xfrm>
        </p:spPr>
        <p:txBody>
          <a:bodyPr/>
          <a:lstStyle>
            <a:lvl1pPr marL="0" indent="0">
              <a:buNone/>
              <a:defRPr sz="2800" b="0">
                <a:solidFill>
                  <a:srgbClr val="F66F00"/>
                </a:solidFill>
                <a:latin typeface="+mj-lt"/>
              </a:defRPr>
            </a:lvl1pPr>
          </a:lstStyle>
          <a:p>
            <a:pPr lvl="0"/>
            <a:r>
              <a:rPr lang="en-US" dirty="0"/>
              <a:t>Date: Click to edit Master text styles</a:t>
            </a:r>
          </a:p>
        </p:txBody>
      </p:sp>
      <p:sp>
        <p:nvSpPr>
          <p:cNvPr id="11" name="Slide Number Placeholder 3">
            <a:extLst>
              <a:ext uri="{FF2B5EF4-FFF2-40B4-BE49-F238E27FC236}">
                <a16:creationId xmlns:a16="http://schemas.microsoft.com/office/drawing/2014/main" id="{C298E450-4001-45D4-BAAA-81B2CF2D15E5}"/>
              </a:ext>
            </a:extLst>
          </p:cNvPr>
          <p:cNvSpPr>
            <a:spLocks noGrp="1"/>
          </p:cNvSpPr>
          <p:nvPr>
            <p:ph type="sldNum" sz="quarter" idx="4"/>
          </p:nvPr>
        </p:nvSpPr>
        <p:spPr>
          <a:xfrm>
            <a:off x="11506200" y="6429375"/>
            <a:ext cx="320040" cy="228600"/>
          </a:xfrm>
          <a:prstGeom prst="rect">
            <a:avLst/>
          </a:prstGeom>
        </p:spPr>
        <p:txBody>
          <a:bodyPr vert="horz" wrap="none" lIns="0" tIns="0" rIns="0" bIns="0" rtlCol="0" anchor="b" anchorCtr="0"/>
          <a:lstStyle>
            <a:lvl1pPr algn="r">
              <a:defRPr sz="1000" b="1">
                <a:solidFill>
                  <a:schemeClr val="tx1"/>
                </a:solidFill>
              </a:defRPr>
            </a:lvl1p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1806084800"/>
      </p:ext>
    </p:extLst>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0C88FF-867A-4400-B205-E69EFB354EF3}"/>
              </a:ext>
            </a:extLst>
          </p:cNvPr>
          <p:cNvSpPr>
            <a:spLocks noGrp="1"/>
          </p:cNvSpPr>
          <p:nvPr>
            <p:ph type="title"/>
          </p:nvPr>
        </p:nvSpPr>
        <p:spPr>
          <a:xfrm>
            <a:off x="365760" y="365760"/>
            <a:ext cx="11460480" cy="914400"/>
          </a:xfrm>
          <a:prstGeom prst="rect">
            <a:avLst/>
          </a:prstGeom>
        </p:spPr>
        <p:txBody>
          <a:bodyPr vert="horz" lIns="0" tIns="0" rIns="0" bIns="0" rtlCol="0" anchor="t" anchorCtr="0">
            <a:noAutofit/>
          </a:bodyPr>
          <a:lstStyle/>
          <a:p>
            <a:r>
              <a:rPr lang="en-US" dirty="0"/>
              <a:t>[Slide title]</a:t>
            </a:r>
          </a:p>
        </p:txBody>
      </p:sp>
      <p:sp>
        <p:nvSpPr>
          <p:cNvPr id="3" name="Text Placeholder 2">
            <a:extLst>
              <a:ext uri="{FF2B5EF4-FFF2-40B4-BE49-F238E27FC236}">
                <a16:creationId xmlns:a16="http://schemas.microsoft.com/office/drawing/2014/main" id="{CFDE4FC5-C208-4061-8E32-8B795BC19E6E}"/>
              </a:ext>
            </a:extLst>
          </p:cNvPr>
          <p:cNvSpPr>
            <a:spLocks noGrp="1"/>
          </p:cNvSpPr>
          <p:nvPr>
            <p:ph type="body" idx="1"/>
          </p:nvPr>
        </p:nvSpPr>
        <p:spPr>
          <a:xfrm>
            <a:off x="365760" y="1554480"/>
            <a:ext cx="11460480" cy="4572000"/>
          </a:xfrm>
          <a:prstGeom prst="rect">
            <a:avLst/>
          </a:prstGeom>
        </p:spPr>
        <p:txBody>
          <a:bodyPr vert="horz" lIns="0" tIns="0" rIns="0" bIns="0" spcCol="301752"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Line">
            <a:extLst>
              <a:ext uri="{FF2B5EF4-FFF2-40B4-BE49-F238E27FC236}">
                <a16:creationId xmlns:a16="http://schemas.microsoft.com/office/drawing/2014/main" id="{B202EDA2-849C-5746-B520-4E5047A70604}"/>
              </a:ext>
              <a:ext uri="{C183D7F6-B498-43B3-948B-1728B52AA6E4}">
                <adec:decorative xmlns:adec="http://schemas.microsoft.com/office/drawing/2017/decorative" val="1"/>
              </a:ext>
            </a:extLst>
          </p:cNvPr>
          <p:cNvCxnSpPr>
            <a:cxnSpLocks/>
          </p:cNvCxnSpPr>
          <p:nvPr userDrawn="1"/>
        </p:nvCxnSpPr>
        <p:spPr bwMode="black">
          <a:xfrm>
            <a:off x="365760" y="6355080"/>
            <a:ext cx="11460480" cy="0"/>
          </a:xfrm>
          <a:prstGeom prst="line">
            <a:avLst/>
          </a:prstGeom>
          <a:ln w="6350" cap="rnd">
            <a:solidFill>
              <a:schemeClr val="tx1"/>
            </a:solidFill>
          </a:ln>
        </p:spPr>
        <p:style>
          <a:lnRef idx="1">
            <a:schemeClr val="accent1"/>
          </a:lnRef>
          <a:fillRef idx="0">
            <a:schemeClr val="accent1"/>
          </a:fillRef>
          <a:effectRef idx="0">
            <a:srgbClr val="000000"/>
          </a:effectRef>
          <a:fontRef idx="minor">
            <a:schemeClr val="lt1"/>
          </a:fontRef>
        </p:style>
      </p:cxnSp>
      <p:pic>
        <p:nvPicPr>
          <p:cNvPr id="5" name="Bristol Myers Squibb" descr="Bristol Myers Squibb">
            <a:extLst>
              <a:ext uri="{FF2B5EF4-FFF2-40B4-BE49-F238E27FC236}">
                <a16:creationId xmlns:a16="http://schemas.microsoft.com/office/drawing/2014/main" id="{B7697988-37C6-7C4A-AA57-C36971D11EEC}"/>
              </a:ext>
            </a:extLst>
          </p:cNvPr>
          <p:cNvPicPr>
            <a:picLocks noChangeAspect="1"/>
          </p:cNvPicPr>
          <p:nvPr userDrawn="1"/>
        </p:nvPicPr>
        <p:blipFill>
          <a:blip r:embed="rId42"/>
          <a:stretch>
            <a:fillRect/>
          </a:stretch>
        </p:blipFill>
        <p:spPr bwMode="black">
          <a:xfrm>
            <a:off x="258318" y="6355080"/>
            <a:ext cx="1627632" cy="410821"/>
          </a:xfrm>
          <a:prstGeom prst="rect">
            <a:avLst/>
          </a:prstGeom>
          <a:noFill/>
        </p:spPr>
      </p:pic>
      <p:sp>
        <p:nvSpPr>
          <p:cNvPr id="16" name="Disclaimer">
            <a:extLst>
              <a:ext uri="{FF2B5EF4-FFF2-40B4-BE49-F238E27FC236}">
                <a16:creationId xmlns:a16="http://schemas.microsoft.com/office/drawing/2014/main" id="{A785335B-16F9-6F4B-9AC7-614641E447A6}"/>
              </a:ext>
            </a:extLst>
          </p:cNvPr>
          <p:cNvSpPr txBox="1"/>
          <p:nvPr userDrawn="1"/>
        </p:nvSpPr>
        <p:spPr>
          <a:xfrm>
            <a:off x="8205216" y="6429375"/>
            <a:ext cx="3209544" cy="228600"/>
          </a:xfrm>
          <a:prstGeom prst="rect">
            <a:avLst/>
          </a:prstGeom>
          <a:noFill/>
        </p:spPr>
        <p:txBody>
          <a:bodyPr wrap="square" lIns="0" tIns="0" rIns="0" bIns="9144" rtlCol="0" anchor="b" anchorCtr="0">
            <a:noAutofit/>
          </a:bodyPr>
          <a:lstStyle/>
          <a:p>
            <a:pPr marL="0" indent="0" algn="r">
              <a:lnSpc>
                <a:spcPct val="100000"/>
              </a:lnSpc>
              <a:spcBef>
                <a:spcPts val="0"/>
              </a:spcBef>
              <a:buSzPct val="100000"/>
              <a:buFontTx/>
              <a:buNone/>
            </a:pPr>
            <a:r>
              <a:rPr lang="en-US" sz="800" b="0" dirty="0"/>
              <a:t>Highly Confidential</a:t>
            </a:r>
          </a:p>
        </p:txBody>
      </p:sp>
      <p:sp>
        <p:nvSpPr>
          <p:cNvPr id="6" name="Slide Number Placeholder 3">
            <a:extLst>
              <a:ext uri="{FF2B5EF4-FFF2-40B4-BE49-F238E27FC236}">
                <a16:creationId xmlns:a16="http://schemas.microsoft.com/office/drawing/2014/main" id="{79012A93-F35D-41B8-A960-2FAFDF3C47A5}"/>
              </a:ext>
            </a:extLst>
          </p:cNvPr>
          <p:cNvSpPr>
            <a:spLocks noGrp="1"/>
          </p:cNvSpPr>
          <p:nvPr userDrawn="1">
            <p:ph type="sldNum" sz="quarter" idx="4"/>
          </p:nvPr>
        </p:nvSpPr>
        <p:spPr>
          <a:xfrm>
            <a:off x="11506200" y="6429375"/>
            <a:ext cx="320040" cy="228600"/>
          </a:xfrm>
          <a:prstGeom prst="rect">
            <a:avLst/>
          </a:prstGeom>
        </p:spPr>
        <p:txBody>
          <a:bodyPr vert="horz" wrap="none" lIns="0" tIns="0" rIns="0" bIns="0" rtlCol="0" anchor="b" anchorCtr="0"/>
          <a:lstStyle>
            <a:lvl1pPr algn="r">
              <a:defRPr sz="1000" b="1">
                <a:solidFill>
                  <a:schemeClr val="tx1"/>
                </a:solidFill>
              </a:defRPr>
            </a:lvl1p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842204006"/>
      </p:ext>
    </p:extLst>
  </p:cSld>
  <p:clrMap bg1="lt1" tx1="dk1" bg2="lt2" tx2="dk2" accent1="accent1" accent2="accent2" accent3="accent3" accent4="accent4" accent5="accent5" accent6="accent6" hlink="hlink" folHlink="folHlink"/>
  <p:sldLayoutIdLst>
    <p:sldLayoutId id="2147483649" r:id="rId1"/>
    <p:sldLayoutId id="2147483699" r:id="rId2"/>
    <p:sldLayoutId id="2147483662" r:id="rId3"/>
    <p:sldLayoutId id="2147483650" r:id="rId4"/>
    <p:sldLayoutId id="2147483652" r:id="rId5"/>
    <p:sldLayoutId id="2147483656" r:id="rId6"/>
    <p:sldLayoutId id="2147483657" r:id="rId7"/>
    <p:sldLayoutId id="2147483660" r:id="rId8"/>
    <p:sldLayoutId id="2147483661" r:id="rId9"/>
    <p:sldLayoutId id="2147483694" r:id="rId10"/>
    <p:sldLayoutId id="2147483703" r:id="rId11"/>
    <p:sldLayoutId id="2147483704" r:id="rId12"/>
    <p:sldLayoutId id="2147483705" r:id="rId13"/>
    <p:sldLayoutId id="2147483706" r:id="rId14"/>
    <p:sldLayoutId id="2147483707" r:id="rId15"/>
    <p:sldLayoutId id="2147483708" r:id="rId16"/>
    <p:sldLayoutId id="2147483702" r:id="rId17"/>
    <p:sldLayoutId id="2147483709" r:id="rId18"/>
    <p:sldLayoutId id="2147483710" r:id="rId19"/>
    <p:sldLayoutId id="2147483690" r:id="rId20"/>
    <p:sldLayoutId id="2147483691" r:id="rId21"/>
    <p:sldLayoutId id="2147483692" r:id="rId22"/>
    <p:sldLayoutId id="2147483693" r:id="rId23"/>
    <p:sldLayoutId id="2147483698" r:id="rId24"/>
    <p:sldLayoutId id="2147483695" r:id="rId25"/>
    <p:sldLayoutId id="2147483651" r:id="rId26"/>
    <p:sldLayoutId id="2147483682" r:id="rId27"/>
    <p:sldLayoutId id="2147483683" r:id="rId28"/>
    <p:sldLayoutId id="2147483684" r:id="rId29"/>
    <p:sldLayoutId id="2147483685" r:id="rId30"/>
    <p:sldLayoutId id="2147483686" r:id="rId31"/>
    <p:sldLayoutId id="2147483687" r:id="rId32"/>
    <p:sldLayoutId id="2147483688" r:id="rId33"/>
    <p:sldLayoutId id="2147483689" r:id="rId34"/>
    <p:sldLayoutId id="2147483700" r:id="rId35"/>
    <p:sldLayoutId id="2147483654" r:id="rId36"/>
    <p:sldLayoutId id="2147483655" r:id="rId37"/>
    <p:sldLayoutId id="2147483696" r:id="rId38"/>
    <p:sldLayoutId id="2147483697" r:id="rId39"/>
    <p:sldLayoutId id="2147483711" r:id="rId4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200"/>
        </a:spcBef>
        <a:buFont typeface="Trebuchet MS" panose="020B0603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2pPr>
      <a:lvl3pPr marL="6858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4pPr>
      <a:lvl5pPr marL="11430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5pPr>
      <a:lvl6pPr marL="13716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6pPr>
      <a:lvl7pPr marL="16002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7pPr>
      <a:lvl8pPr marL="18288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8pPr>
      <a:lvl9pPr marL="20574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2000" kern="1200">
          <a:solidFill>
            <a:schemeClr val="tx1"/>
          </a:solidFill>
          <a:latin typeface="+mn-lt"/>
          <a:ea typeface="+mn-ea"/>
          <a:cs typeface="+mn-cs"/>
        </a:defRPr>
      </a:lvl2pPr>
      <a:lvl3pPr marL="914400" algn="l" defTabSz="914400" rtl="0" eaLnBrk="1" latinLnBrk="0" hangingPunct="1">
        <a:defRPr sz="2000" kern="1200">
          <a:solidFill>
            <a:schemeClr val="tx1"/>
          </a:solidFill>
          <a:latin typeface="+mn-lt"/>
          <a:ea typeface="+mn-ea"/>
          <a:cs typeface="+mn-cs"/>
        </a:defRPr>
      </a:lvl3pPr>
      <a:lvl4pPr marL="1371600" algn="l" defTabSz="914400" rtl="0" eaLnBrk="1" latinLnBrk="0" hangingPunct="1">
        <a:defRPr sz="2000" kern="1200">
          <a:solidFill>
            <a:schemeClr val="tx1"/>
          </a:solidFill>
          <a:latin typeface="+mn-lt"/>
          <a:ea typeface="+mn-ea"/>
          <a:cs typeface="+mn-cs"/>
        </a:defRPr>
      </a:lvl4pPr>
      <a:lvl5pPr marL="1828800" algn="l" defTabSz="914400" rtl="0" eaLnBrk="1" latinLnBrk="0" hangingPunct="1">
        <a:defRPr sz="2000" kern="1200">
          <a:solidFill>
            <a:schemeClr val="tx1"/>
          </a:solidFill>
          <a:latin typeface="+mn-lt"/>
          <a:ea typeface="+mn-ea"/>
          <a:cs typeface="+mn-cs"/>
        </a:defRPr>
      </a:lvl5pPr>
      <a:lvl6pPr marL="2286000" algn="l" defTabSz="914400" rtl="0" eaLnBrk="1" latinLnBrk="0" hangingPunct="1">
        <a:defRPr sz="2000" kern="1200">
          <a:solidFill>
            <a:schemeClr val="tx1"/>
          </a:solidFill>
          <a:latin typeface="+mn-lt"/>
          <a:ea typeface="+mn-ea"/>
          <a:cs typeface="+mn-cs"/>
        </a:defRPr>
      </a:lvl6pPr>
      <a:lvl7pPr marL="2743200" algn="l" defTabSz="914400" rtl="0" eaLnBrk="1" latinLnBrk="0" hangingPunct="1">
        <a:defRPr sz="2000" kern="1200">
          <a:solidFill>
            <a:schemeClr val="tx1"/>
          </a:solidFill>
          <a:latin typeface="+mn-lt"/>
          <a:ea typeface="+mn-ea"/>
          <a:cs typeface="+mn-cs"/>
        </a:defRPr>
      </a:lvl7pPr>
      <a:lvl8pPr marL="3200400" algn="l" defTabSz="914400" rtl="0" eaLnBrk="1" latinLnBrk="0" hangingPunct="1">
        <a:defRPr sz="2000" kern="1200">
          <a:solidFill>
            <a:schemeClr val="tx1"/>
          </a:solidFill>
          <a:latin typeface="+mn-lt"/>
          <a:ea typeface="+mn-ea"/>
          <a:cs typeface="+mn-cs"/>
        </a:defRPr>
      </a:lvl8pPr>
      <a:lvl9pPr marL="3657600" algn="l" defTabSz="914400" rtl="0" eaLnBrk="1" latinLnBrk="0" hangingPunct="1">
        <a:defRPr sz="20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0" userDrawn="1">
          <p15:clr>
            <a:srgbClr val="F26B43"/>
          </p15:clr>
        </p15:guide>
        <p15:guide id="2" pos="230" userDrawn="1">
          <p15:clr>
            <a:srgbClr val="F26B43"/>
          </p15:clr>
        </p15:guide>
        <p15:guide id="3" pos="7450" userDrawn="1">
          <p15:clr>
            <a:srgbClr val="F26B43"/>
          </p15:clr>
        </p15:guide>
        <p15:guide id="5" orient="horz" pos="978" userDrawn="1">
          <p15:clr>
            <a:srgbClr val="F26B43"/>
          </p15:clr>
        </p15:guide>
        <p15:guide id="6" orient="horz" pos="38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6.xml"/><Relationship Id="rId4" Type="http://schemas.openxmlformats.org/officeDocument/2006/relationships/comments" Target="../comments/commen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534139" y="1549727"/>
            <a:ext cx="11123720" cy="769441"/>
          </a:xfrm>
        </p:spPr>
        <p:txBody>
          <a:bodyPr anchor="ctr"/>
          <a:lstStyle/>
          <a:p>
            <a:pPr algn="ctr"/>
            <a:r>
              <a:rPr lang="en-US" sz="4400" dirty="0"/>
              <a:t>Celgene Integration Batch 2 – Japan </a:t>
            </a:r>
          </a:p>
        </p:txBody>
      </p:sp>
      <p:sp>
        <p:nvSpPr>
          <p:cNvPr id="3" name="Text Placeholder 2"/>
          <p:cNvSpPr>
            <a:spLocks noGrp="1"/>
          </p:cNvSpPr>
          <p:nvPr>
            <p:ph type="body" sz="quarter" idx="11"/>
          </p:nvPr>
        </p:nvSpPr>
        <p:spPr>
          <a:xfrm>
            <a:off x="1672702" y="3321849"/>
            <a:ext cx="8846595" cy="1090353"/>
          </a:xfrm>
        </p:spPr>
        <p:txBody>
          <a:bodyPr/>
          <a:lstStyle/>
          <a:p>
            <a:pPr algn="ctr"/>
            <a:r>
              <a:rPr lang="en-US" sz="3200" dirty="0">
                <a:solidFill>
                  <a:schemeClr val="accent2">
                    <a:lumMod val="75000"/>
                  </a:schemeClr>
                </a:solidFill>
              </a:rPr>
              <a:t>Prescription Follow-up and Patient Tracking Report Integration Approach </a:t>
            </a:r>
          </a:p>
        </p:txBody>
      </p:sp>
      <p:sp>
        <p:nvSpPr>
          <p:cNvPr id="5" name="Rectangle 4">
            <a:extLst>
              <a:ext uri="{FF2B5EF4-FFF2-40B4-BE49-F238E27FC236}">
                <a16:creationId xmlns:a16="http://schemas.microsoft.com/office/drawing/2014/main" id="{112F3ABB-87ED-4A68-86B3-296049248E95}"/>
              </a:ext>
            </a:extLst>
          </p:cNvPr>
          <p:cNvSpPr/>
          <p:nvPr/>
        </p:nvSpPr>
        <p:spPr>
          <a:xfrm>
            <a:off x="-2244" y="-5229"/>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dirty="0"/>
          </a:p>
        </p:txBody>
      </p:sp>
      <p:sp>
        <p:nvSpPr>
          <p:cNvPr id="6" name="Slide Number Placeholder 5">
            <a:extLst>
              <a:ext uri="{FF2B5EF4-FFF2-40B4-BE49-F238E27FC236}">
                <a16:creationId xmlns:a16="http://schemas.microsoft.com/office/drawing/2014/main" id="{3FFEEEFF-5B88-4C04-AEDA-4135CD6B335A}"/>
              </a:ext>
            </a:extLst>
          </p:cNvPr>
          <p:cNvSpPr>
            <a:spLocks noGrp="1"/>
          </p:cNvSpPr>
          <p:nvPr>
            <p:ph type="sldNum" sz="quarter" idx="4"/>
          </p:nvPr>
        </p:nvSpPr>
        <p:spPr/>
        <p:txBody>
          <a:bodyPr/>
          <a:lstStyle/>
          <a:p>
            <a:fld id="{B58DE5F1-E0F9-4CCA-92B7-7A6FC4DFEE14}" type="slidenum">
              <a:rPr lang="en-US" smtClean="0"/>
              <a:pPr/>
              <a:t>1</a:t>
            </a:fld>
            <a:endParaRPr lang="en-US" dirty="0"/>
          </a:p>
        </p:txBody>
      </p:sp>
    </p:spTree>
    <p:extLst>
      <p:ext uri="{BB962C8B-B14F-4D97-AF65-F5344CB8AC3E}">
        <p14:creationId xmlns:p14="http://schemas.microsoft.com/office/powerpoint/2010/main" val="826975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Approach to add new Celgene Products in Prescription Follow up as well as moving Survey level data to Prescription follow up Object for ONC1  :</a:t>
            </a:r>
          </a:p>
        </p:txBody>
      </p:sp>
      <p:sp>
        <p:nvSpPr>
          <p:cNvPr id="38" name="Rectangle 37">
            <a:extLst>
              <a:ext uri="{FF2B5EF4-FFF2-40B4-BE49-F238E27FC236}">
                <a16:creationId xmlns:a16="http://schemas.microsoft.com/office/drawing/2014/main" id="{5C75A6E9-080B-4754-A651-24B68B926C3D}"/>
              </a:ext>
            </a:extLst>
          </p:cNvPr>
          <p:cNvSpPr/>
          <p:nvPr/>
        </p:nvSpPr>
        <p:spPr>
          <a:xfrm>
            <a:off x="951178" y="2031866"/>
            <a:ext cx="8784976" cy="2486271"/>
          </a:xfrm>
          <a:prstGeom prst="rect">
            <a:avLst/>
          </a:prstGeom>
          <a:ln/>
        </p:spPr>
        <p:style>
          <a:lnRef idx="2">
            <a:schemeClr val="accent2"/>
          </a:lnRef>
          <a:fillRef idx="1">
            <a:schemeClr val="lt1"/>
          </a:fillRef>
          <a:effectRef idx="0">
            <a:schemeClr val="accent2"/>
          </a:effectRef>
          <a:fontRef idx="minor">
            <a:schemeClr val="dk1"/>
          </a:fontRef>
        </p:style>
        <p:txBody>
          <a:bodyPr tIns="90000" bIns="90000" rtlCol="0" anchor="ctr" anchorCtr="0"/>
          <a:lstStyle/>
          <a:p>
            <a:pPr algn="ctr"/>
            <a:endParaRPr lang="en-US" sz="1400" dirty="0" err="1">
              <a:solidFill>
                <a:schemeClr val="tx1"/>
              </a:solidFill>
            </a:endParaRPr>
          </a:p>
        </p:txBody>
      </p:sp>
      <p:sp>
        <p:nvSpPr>
          <p:cNvPr id="39" name="Rectangle: Rounded Corners 38">
            <a:extLst>
              <a:ext uri="{FF2B5EF4-FFF2-40B4-BE49-F238E27FC236}">
                <a16:creationId xmlns:a16="http://schemas.microsoft.com/office/drawing/2014/main" id="{77FAEFAA-4DAB-4442-AC00-B2971EC058CC}"/>
              </a:ext>
            </a:extLst>
          </p:cNvPr>
          <p:cNvSpPr/>
          <p:nvPr/>
        </p:nvSpPr>
        <p:spPr>
          <a:xfrm>
            <a:off x="1770155" y="2104734"/>
            <a:ext cx="959490" cy="763944"/>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CRM</a:t>
            </a:r>
          </a:p>
        </p:txBody>
      </p:sp>
      <p:sp>
        <p:nvSpPr>
          <p:cNvPr id="40" name="Rectangle 39">
            <a:extLst>
              <a:ext uri="{FF2B5EF4-FFF2-40B4-BE49-F238E27FC236}">
                <a16:creationId xmlns:a16="http://schemas.microsoft.com/office/drawing/2014/main" id="{3BF85409-5F63-4C9E-9C7C-08E38C69F4B9}"/>
              </a:ext>
            </a:extLst>
          </p:cNvPr>
          <p:cNvSpPr/>
          <p:nvPr/>
        </p:nvSpPr>
        <p:spPr>
          <a:xfrm>
            <a:off x="2999140" y="2089777"/>
            <a:ext cx="799411" cy="793855"/>
          </a:xfrm>
          <a:prstGeom prst="rect">
            <a:avLst/>
          </a:prstGeom>
          <a:solidFill>
            <a:schemeClr val="tx2">
              <a:lumMod val="75000"/>
            </a:schemeClr>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1100" dirty="0">
                <a:solidFill>
                  <a:schemeClr val="bg1"/>
                </a:solidFill>
                <a:cs typeface="Arial" panose="020B0604020202020204" pitchFamily="34" charset="0"/>
              </a:rPr>
              <a:t>Survey Module</a:t>
            </a:r>
          </a:p>
        </p:txBody>
      </p:sp>
      <p:sp>
        <p:nvSpPr>
          <p:cNvPr id="41" name="Can 10">
            <a:extLst>
              <a:ext uri="{FF2B5EF4-FFF2-40B4-BE49-F238E27FC236}">
                <a16:creationId xmlns:a16="http://schemas.microsoft.com/office/drawing/2014/main" id="{C629F661-E28E-4531-B28A-AE30702CD583}"/>
              </a:ext>
            </a:extLst>
          </p:cNvPr>
          <p:cNvSpPr/>
          <p:nvPr/>
        </p:nvSpPr>
        <p:spPr>
          <a:xfrm>
            <a:off x="4105279" y="210473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sp>
        <p:nvSpPr>
          <p:cNvPr id="42" name="Rectangle 41">
            <a:extLst>
              <a:ext uri="{FF2B5EF4-FFF2-40B4-BE49-F238E27FC236}">
                <a16:creationId xmlns:a16="http://schemas.microsoft.com/office/drawing/2014/main" id="{F1C14EE0-31CC-426B-B8C3-9A5595FB8288}"/>
              </a:ext>
            </a:extLst>
          </p:cNvPr>
          <p:cNvSpPr/>
          <p:nvPr/>
        </p:nvSpPr>
        <p:spPr>
          <a:xfrm>
            <a:off x="4969375" y="2230918"/>
            <a:ext cx="663563" cy="511577"/>
          </a:xfrm>
          <a:prstGeom prst="rect">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a:t>
            </a:r>
          </a:p>
        </p:txBody>
      </p:sp>
      <p:cxnSp>
        <p:nvCxnSpPr>
          <p:cNvPr id="43" name="Straight Arrow Connector 42">
            <a:extLst>
              <a:ext uri="{FF2B5EF4-FFF2-40B4-BE49-F238E27FC236}">
                <a16:creationId xmlns:a16="http://schemas.microsoft.com/office/drawing/2014/main" id="{30D59DDA-B95F-441B-A738-1D83A8E3BF16}"/>
              </a:ext>
            </a:extLst>
          </p:cNvPr>
          <p:cNvCxnSpPr>
            <a:cxnSpLocks/>
          </p:cNvCxnSpPr>
          <p:nvPr/>
        </p:nvCxnSpPr>
        <p:spPr>
          <a:xfrm>
            <a:off x="4674020" y="2486706"/>
            <a:ext cx="295355"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44" name="Can 14">
            <a:extLst>
              <a:ext uri="{FF2B5EF4-FFF2-40B4-BE49-F238E27FC236}">
                <a16:creationId xmlns:a16="http://schemas.microsoft.com/office/drawing/2014/main" id="{750B2520-044F-4908-BF06-504523C4AFFD}"/>
              </a:ext>
            </a:extLst>
          </p:cNvPr>
          <p:cNvSpPr/>
          <p:nvPr/>
        </p:nvSpPr>
        <p:spPr>
          <a:xfrm>
            <a:off x="5905479" y="210473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a:t>
            </a:r>
          </a:p>
        </p:txBody>
      </p:sp>
      <p:cxnSp>
        <p:nvCxnSpPr>
          <p:cNvPr id="45" name="Straight Arrow Connector 44">
            <a:extLst>
              <a:ext uri="{FF2B5EF4-FFF2-40B4-BE49-F238E27FC236}">
                <a16:creationId xmlns:a16="http://schemas.microsoft.com/office/drawing/2014/main" id="{96EDD63D-E40B-43DE-838B-E58A7657979C}"/>
              </a:ext>
            </a:extLst>
          </p:cNvPr>
          <p:cNvCxnSpPr>
            <a:cxnSpLocks/>
          </p:cNvCxnSpPr>
          <p:nvPr/>
        </p:nvCxnSpPr>
        <p:spPr>
          <a:xfrm flipV="1">
            <a:off x="5632938" y="2486706"/>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C83C2CC0-9EBD-419D-B45E-E76A4E6AE162}"/>
              </a:ext>
            </a:extLst>
          </p:cNvPr>
          <p:cNvCxnSpPr>
            <a:cxnSpLocks/>
            <a:stCxn id="42" idx="3"/>
          </p:cNvCxnSpPr>
          <p:nvPr/>
        </p:nvCxnSpPr>
        <p:spPr>
          <a:xfrm>
            <a:off x="5632938" y="2486707"/>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EDAE4F9B-1979-4B47-978D-97CAAFF3D5D2}"/>
              </a:ext>
            </a:extLst>
          </p:cNvPr>
          <p:cNvCxnSpPr>
            <a:cxnSpLocks/>
          </p:cNvCxnSpPr>
          <p:nvPr/>
        </p:nvCxnSpPr>
        <p:spPr>
          <a:xfrm flipV="1">
            <a:off x="3832738" y="2486706"/>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7FED461F-D94F-4627-A709-895EB8204C14}"/>
              </a:ext>
            </a:extLst>
          </p:cNvPr>
          <p:cNvCxnSpPr>
            <a:cxnSpLocks/>
          </p:cNvCxnSpPr>
          <p:nvPr/>
        </p:nvCxnSpPr>
        <p:spPr>
          <a:xfrm flipV="1">
            <a:off x="2715619" y="2486706"/>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49" name="Rectangle 48">
            <a:extLst>
              <a:ext uri="{FF2B5EF4-FFF2-40B4-BE49-F238E27FC236}">
                <a16:creationId xmlns:a16="http://schemas.microsoft.com/office/drawing/2014/main" id="{B79931A1-6A7D-4978-8BD1-7E66C1B63BB3}"/>
              </a:ext>
            </a:extLst>
          </p:cNvPr>
          <p:cNvSpPr/>
          <p:nvPr/>
        </p:nvSpPr>
        <p:spPr>
          <a:xfrm>
            <a:off x="6741316" y="2089778"/>
            <a:ext cx="1581487" cy="793855"/>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a:r>
              <a:rPr lang="en-US" sz="1100" kern="0" dirty="0">
                <a:solidFill>
                  <a:srgbClr val="000000"/>
                </a:solidFill>
              </a:rPr>
              <a:t>Take survey answers for BMS products </a:t>
            </a:r>
          </a:p>
        </p:txBody>
      </p:sp>
      <p:cxnSp>
        <p:nvCxnSpPr>
          <p:cNvPr id="50" name="Straight Arrow Connector 49">
            <a:extLst>
              <a:ext uri="{FF2B5EF4-FFF2-40B4-BE49-F238E27FC236}">
                <a16:creationId xmlns:a16="http://schemas.microsoft.com/office/drawing/2014/main" id="{C7088030-EF57-4833-B403-BB1FDA665A70}"/>
              </a:ext>
            </a:extLst>
          </p:cNvPr>
          <p:cNvCxnSpPr>
            <a:cxnSpLocks/>
            <a:stCxn id="44" idx="4"/>
            <a:endCxn id="49" idx="1"/>
          </p:cNvCxnSpPr>
          <p:nvPr/>
        </p:nvCxnSpPr>
        <p:spPr>
          <a:xfrm>
            <a:off x="6474220" y="2486706"/>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5" name="Can 14">
            <a:extLst>
              <a:ext uri="{FF2B5EF4-FFF2-40B4-BE49-F238E27FC236}">
                <a16:creationId xmlns:a16="http://schemas.microsoft.com/office/drawing/2014/main" id="{FCCC814E-7EC1-40C0-87CD-19D263E4B111}"/>
              </a:ext>
            </a:extLst>
          </p:cNvPr>
          <p:cNvSpPr/>
          <p:nvPr/>
        </p:nvSpPr>
        <p:spPr>
          <a:xfrm>
            <a:off x="8756695" y="210473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lang="en-US" sz="1100" kern="0" dirty="0">
                <a:solidFill>
                  <a:srgbClr val="000000"/>
                </a:solidFill>
              </a:rPr>
              <a:t>L3</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000000"/>
              </a:solidFill>
              <a:effectLst/>
              <a:uLnTx/>
              <a:uFillTx/>
              <a:ea typeface="+mn-ea"/>
              <a:cs typeface="+mn-cs"/>
            </a:endParaRPr>
          </a:p>
        </p:txBody>
      </p:sp>
      <p:cxnSp>
        <p:nvCxnSpPr>
          <p:cNvPr id="56" name="Straight Arrow Connector 55">
            <a:extLst>
              <a:ext uri="{FF2B5EF4-FFF2-40B4-BE49-F238E27FC236}">
                <a16:creationId xmlns:a16="http://schemas.microsoft.com/office/drawing/2014/main" id="{F61F9357-A553-4EB4-83DE-49E6B8C0423E}"/>
              </a:ext>
            </a:extLst>
          </p:cNvPr>
          <p:cNvCxnSpPr>
            <a:cxnSpLocks/>
            <a:endCxn id="55" idx="2"/>
          </p:cNvCxnSpPr>
          <p:nvPr/>
        </p:nvCxnSpPr>
        <p:spPr>
          <a:xfrm>
            <a:off x="8322803" y="2486705"/>
            <a:ext cx="433892"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8" name="TextBox 57">
            <a:extLst>
              <a:ext uri="{FF2B5EF4-FFF2-40B4-BE49-F238E27FC236}">
                <a16:creationId xmlns:a16="http://schemas.microsoft.com/office/drawing/2014/main" id="{91A91DD6-FB20-461C-AED1-3E6F4A1D7B63}"/>
              </a:ext>
            </a:extLst>
          </p:cNvPr>
          <p:cNvSpPr txBox="1"/>
          <p:nvPr/>
        </p:nvSpPr>
        <p:spPr>
          <a:xfrm>
            <a:off x="4389649" y="1682241"/>
            <a:ext cx="2072742" cy="366424"/>
          </a:xfrm>
          <a:prstGeom prst="rect">
            <a:avLst/>
          </a:prstGeom>
          <a:noFill/>
        </p:spPr>
        <p:txBody>
          <a:bodyPr wrap="square" tIns="90000" bIns="90000" rtlCol="0" anchor="t">
            <a:spAutoFit/>
          </a:bodyPr>
          <a:lstStyle/>
          <a:p>
            <a:pPr algn="ctr"/>
            <a:r>
              <a:rPr lang="en-US" sz="1200" b="1" dirty="0"/>
              <a:t>Existing Process</a:t>
            </a:r>
          </a:p>
        </p:txBody>
      </p:sp>
      <p:cxnSp>
        <p:nvCxnSpPr>
          <p:cNvPr id="63" name="Straight Connector 62">
            <a:extLst>
              <a:ext uri="{FF2B5EF4-FFF2-40B4-BE49-F238E27FC236}">
                <a16:creationId xmlns:a16="http://schemas.microsoft.com/office/drawing/2014/main" id="{0E5C1985-423D-4C91-A557-FC816623087F}"/>
              </a:ext>
            </a:extLst>
          </p:cNvPr>
          <p:cNvCxnSpPr>
            <a:cxnSpLocks/>
          </p:cNvCxnSpPr>
          <p:nvPr/>
        </p:nvCxnSpPr>
        <p:spPr>
          <a:xfrm>
            <a:off x="8472264" y="2348880"/>
            <a:ext cx="115774" cy="288032"/>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sp>
        <p:nvSpPr>
          <p:cNvPr id="81" name="Speech Bubble: Rectangle with Corners Rounded 80">
            <a:extLst>
              <a:ext uri="{FF2B5EF4-FFF2-40B4-BE49-F238E27FC236}">
                <a16:creationId xmlns:a16="http://schemas.microsoft.com/office/drawing/2014/main" id="{FB070003-3CCC-422A-A49C-69B92487123D}"/>
              </a:ext>
            </a:extLst>
          </p:cNvPr>
          <p:cNvSpPr/>
          <p:nvPr/>
        </p:nvSpPr>
        <p:spPr>
          <a:xfrm>
            <a:off x="9759820" y="4060901"/>
            <a:ext cx="1689962" cy="1080120"/>
          </a:xfrm>
          <a:prstGeom prst="wedgeRoundRectCallout">
            <a:avLst>
              <a:gd name="adj1" fmla="val -118689"/>
              <a:gd name="adj2" fmla="val -178350"/>
              <a:gd name="adj3" fmla="val 16667"/>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000" kern="0" dirty="0">
                <a:solidFill>
                  <a:schemeClr val="bg1"/>
                </a:solidFill>
              </a:rPr>
              <a:t>We are using a configuration table to load data from Survey module with the intended CRM questions to get its corresponding answers</a:t>
            </a:r>
          </a:p>
        </p:txBody>
      </p:sp>
      <p:sp>
        <p:nvSpPr>
          <p:cNvPr id="83" name="TextBox 82">
            <a:extLst>
              <a:ext uri="{FF2B5EF4-FFF2-40B4-BE49-F238E27FC236}">
                <a16:creationId xmlns:a16="http://schemas.microsoft.com/office/drawing/2014/main" id="{E84AD120-296B-4E82-BE7E-CC2F282702DB}"/>
              </a:ext>
            </a:extLst>
          </p:cNvPr>
          <p:cNvSpPr txBox="1"/>
          <p:nvPr/>
        </p:nvSpPr>
        <p:spPr>
          <a:xfrm>
            <a:off x="2999140" y="5545850"/>
            <a:ext cx="4932449" cy="551090"/>
          </a:xfrm>
          <a:prstGeom prst="rect">
            <a:avLst/>
          </a:prstGeom>
          <a:noFill/>
        </p:spPr>
        <p:txBody>
          <a:bodyPr wrap="square" tIns="90000" bIns="90000" rtlCol="0" anchor="t">
            <a:spAutoFit/>
          </a:bodyPr>
          <a:lstStyle/>
          <a:p>
            <a:pPr algn="ctr"/>
            <a:r>
              <a:rPr lang="en-US" sz="1200" dirty="0"/>
              <a:t>Process to add new Celgene Products in Prescription Follow up  (move to next slide)</a:t>
            </a:r>
            <a:endParaRPr lang="en-US" sz="1200" b="1" dirty="0"/>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sp>
        <p:nvSpPr>
          <p:cNvPr id="33" name="Slide Number Placeholder 5">
            <a:extLst>
              <a:ext uri="{FF2B5EF4-FFF2-40B4-BE49-F238E27FC236}">
                <a16:creationId xmlns:a16="http://schemas.microsoft.com/office/drawing/2014/main" id="{24AD570F-4F98-4331-97F2-D1D656B864DD}"/>
              </a:ext>
            </a:extLst>
          </p:cNvPr>
          <p:cNvSpPr txBox="1">
            <a:spLocks/>
          </p:cNvSpPr>
          <p:nvPr/>
        </p:nvSpPr>
        <p:spPr>
          <a:xfrm>
            <a:off x="11676179" y="6456008"/>
            <a:ext cx="320040" cy="2286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2</a:t>
            </a:r>
          </a:p>
        </p:txBody>
      </p:sp>
      <p:sp>
        <p:nvSpPr>
          <p:cNvPr id="35" name="Rectangle: Rounded Corners 34">
            <a:extLst>
              <a:ext uri="{FF2B5EF4-FFF2-40B4-BE49-F238E27FC236}">
                <a16:creationId xmlns:a16="http://schemas.microsoft.com/office/drawing/2014/main" id="{7F17C245-E22C-4761-A151-57597D003CB7}"/>
              </a:ext>
            </a:extLst>
          </p:cNvPr>
          <p:cNvSpPr/>
          <p:nvPr/>
        </p:nvSpPr>
        <p:spPr>
          <a:xfrm>
            <a:off x="1843355" y="3204664"/>
            <a:ext cx="872264" cy="763944"/>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CRM</a:t>
            </a:r>
          </a:p>
        </p:txBody>
      </p:sp>
      <p:cxnSp>
        <p:nvCxnSpPr>
          <p:cNvPr id="36" name="Straight Arrow Connector 35">
            <a:extLst>
              <a:ext uri="{FF2B5EF4-FFF2-40B4-BE49-F238E27FC236}">
                <a16:creationId xmlns:a16="http://schemas.microsoft.com/office/drawing/2014/main" id="{14EBA857-ECC1-421A-8EA4-4AF014071B89}"/>
              </a:ext>
            </a:extLst>
          </p:cNvPr>
          <p:cNvCxnSpPr>
            <a:cxnSpLocks/>
          </p:cNvCxnSpPr>
          <p:nvPr/>
        </p:nvCxnSpPr>
        <p:spPr>
          <a:xfrm flipV="1">
            <a:off x="2715619" y="3613513"/>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2" name="Rectangle 51">
            <a:extLst>
              <a:ext uri="{FF2B5EF4-FFF2-40B4-BE49-F238E27FC236}">
                <a16:creationId xmlns:a16="http://schemas.microsoft.com/office/drawing/2014/main" id="{80D2BE66-DDB8-42EB-9897-4D22B7646021}"/>
              </a:ext>
            </a:extLst>
          </p:cNvPr>
          <p:cNvSpPr/>
          <p:nvPr/>
        </p:nvSpPr>
        <p:spPr>
          <a:xfrm>
            <a:off x="3010598" y="3182020"/>
            <a:ext cx="799411" cy="793855"/>
          </a:xfrm>
          <a:prstGeom prst="rect">
            <a:avLst/>
          </a:prstGeom>
          <a:solidFill>
            <a:schemeClr val="tx2">
              <a:lumMod val="75000"/>
            </a:schemeClr>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1100" dirty="0">
                <a:solidFill>
                  <a:schemeClr val="bg1"/>
                </a:solidFill>
                <a:cs typeface="Arial" panose="020B0604020202020204" pitchFamily="34" charset="0"/>
              </a:rPr>
              <a:t>Prescription Follow Up Object  </a:t>
            </a:r>
          </a:p>
        </p:txBody>
      </p:sp>
      <p:sp>
        <p:nvSpPr>
          <p:cNvPr id="53" name="Can 10">
            <a:extLst>
              <a:ext uri="{FF2B5EF4-FFF2-40B4-BE49-F238E27FC236}">
                <a16:creationId xmlns:a16="http://schemas.microsoft.com/office/drawing/2014/main" id="{4023E4AB-1A32-4EAD-A369-39DC9BBDC708}"/>
              </a:ext>
            </a:extLst>
          </p:cNvPr>
          <p:cNvSpPr/>
          <p:nvPr/>
        </p:nvSpPr>
        <p:spPr>
          <a:xfrm>
            <a:off x="4124448" y="3215258"/>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cxnSp>
        <p:nvCxnSpPr>
          <p:cNvPr id="54" name="Straight Arrow Connector 53">
            <a:extLst>
              <a:ext uri="{FF2B5EF4-FFF2-40B4-BE49-F238E27FC236}">
                <a16:creationId xmlns:a16="http://schemas.microsoft.com/office/drawing/2014/main" id="{E6F63D43-B81F-44EB-8B47-CBEB118D15AF}"/>
              </a:ext>
            </a:extLst>
          </p:cNvPr>
          <p:cNvCxnSpPr>
            <a:cxnSpLocks/>
          </p:cNvCxnSpPr>
          <p:nvPr/>
        </p:nvCxnSpPr>
        <p:spPr>
          <a:xfrm flipV="1">
            <a:off x="3875614" y="3625007"/>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5F478BFF-BA3B-48E6-8BD3-F14EC9E96C74}"/>
              </a:ext>
            </a:extLst>
          </p:cNvPr>
          <p:cNvCxnSpPr>
            <a:cxnSpLocks/>
          </p:cNvCxnSpPr>
          <p:nvPr/>
        </p:nvCxnSpPr>
        <p:spPr>
          <a:xfrm flipV="1">
            <a:off x="4728378" y="3625250"/>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9" name="Rectangle 58">
            <a:extLst>
              <a:ext uri="{FF2B5EF4-FFF2-40B4-BE49-F238E27FC236}">
                <a16:creationId xmlns:a16="http://schemas.microsoft.com/office/drawing/2014/main" id="{CF2B1283-90ED-4684-87A6-A15DE60A99BD}"/>
              </a:ext>
            </a:extLst>
          </p:cNvPr>
          <p:cNvSpPr/>
          <p:nvPr/>
        </p:nvSpPr>
        <p:spPr>
          <a:xfrm>
            <a:off x="5012368" y="3369218"/>
            <a:ext cx="663563" cy="511577"/>
          </a:xfrm>
          <a:prstGeom prst="rect">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a:t>
            </a:r>
          </a:p>
        </p:txBody>
      </p:sp>
      <p:sp>
        <p:nvSpPr>
          <p:cNvPr id="4" name="TextBox 3">
            <a:extLst>
              <a:ext uri="{FF2B5EF4-FFF2-40B4-BE49-F238E27FC236}">
                <a16:creationId xmlns:a16="http://schemas.microsoft.com/office/drawing/2014/main" id="{03878B09-5A76-4A59-BD92-146B55C383FA}"/>
              </a:ext>
            </a:extLst>
          </p:cNvPr>
          <p:cNvSpPr txBox="1"/>
          <p:nvPr/>
        </p:nvSpPr>
        <p:spPr>
          <a:xfrm>
            <a:off x="1278384" y="2348880"/>
            <a:ext cx="489297" cy="288032"/>
          </a:xfrm>
          <a:prstGeom prst="rect">
            <a:avLst/>
          </a:prstGeom>
          <a:noFill/>
        </p:spPr>
        <p:txBody>
          <a:bodyPr wrap="square" lIns="0" tIns="0" rIns="0" bIns="0" rtlCol="0">
            <a:noAutofit/>
          </a:bodyPr>
          <a:lstStyle/>
          <a:p>
            <a:pPr>
              <a:lnSpc>
                <a:spcPct val="100000"/>
              </a:lnSpc>
              <a:spcBef>
                <a:spcPts val="1200"/>
              </a:spcBef>
              <a:buSzPct val="100000"/>
            </a:pPr>
            <a:r>
              <a:rPr lang="en-US" sz="1000" dirty="0"/>
              <a:t>ONC1 , EQ</a:t>
            </a:r>
          </a:p>
        </p:txBody>
      </p:sp>
      <p:sp>
        <p:nvSpPr>
          <p:cNvPr id="62" name="Can 14">
            <a:extLst>
              <a:ext uri="{FF2B5EF4-FFF2-40B4-BE49-F238E27FC236}">
                <a16:creationId xmlns:a16="http://schemas.microsoft.com/office/drawing/2014/main" id="{90BF65E8-8FC0-40BE-88A2-774F34FA06C1}"/>
              </a:ext>
            </a:extLst>
          </p:cNvPr>
          <p:cNvSpPr/>
          <p:nvPr/>
        </p:nvSpPr>
        <p:spPr>
          <a:xfrm>
            <a:off x="5905479" y="3250650"/>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a:t>
            </a:r>
          </a:p>
        </p:txBody>
      </p:sp>
      <p:sp>
        <p:nvSpPr>
          <p:cNvPr id="64" name="Can 14">
            <a:extLst>
              <a:ext uri="{FF2B5EF4-FFF2-40B4-BE49-F238E27FC236}">
                <a16:creationId xmlns:a16="http://schemas.microsoft.com/office/drawing/2014/main" id="{713D14EE-55C0-435A-8E8D-5FA76D38107F}"/>
              </a:ext>
            </a:extLst>
          </p:cNvPr>
          <p:cNvSpPr/>
          <p:nvPr/>
        </p:nvSpPr>
        <p:spPr>
          <a:xfrm>
            <a:off x="8838687" y="3242791"/>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lang="en-US" sz="1100" kern="0" dirty="0">
                <a:solidFill>
                  <a:srgbClr val="000000"/>
                </a:solidFill>
              </a:rPr>
              <a:t>L3</a:t>
            </a:r>
            <a:endParaRPr kumimoji="0" lang="en-US" sz="1100" b="0" i="0" u="none" strike="noStrike" kern="0" cap="none" spc="0" normalizeH="0" baseline="0" noProof="0" dirty="0">
              <a:ln>
                <a:noFill/>
              </a:ln>
              <a:solidFill>
                <a:srgbClr val="000000"/>
              </a:solidFill>
              <a:effectLst/>
              <a:uLnTx/>
              <a:uFillTx/>
              <a:ea typeface="+mn-ea"/>
              <a:cs typeface="+mn-cs"/>
            </a:endParaRPr>
          </a:p>
        </p:txBody>
      </p:sp>
      <p:sp>
        <p:nvSpPr>
          <p:cNvPr id="67" name="Rectangle 66">
            <a:extLst>
              <a:ext uri="{FF2B5EF4-FFF2-40B4-BE49-F238E27FC236}">
                <a16:creationId xmlns:a16="http://schemas.microsoft.com/office/drawing/2014/main" id="{3EA688EE-1228-4982-AF23-2492D2C6F9D3}"/>
              </a:ext>
            </a:extLst>
          </p:cNvPr>
          <p:cNvSpPr/>
          <p:nvPr/>
        </p:nvSpPr>
        <p:spPr>
          <a:xfrm>
            <a:off x="6703768" y="3021458"/>
            <a:ext cx="1727510" cy="993126"/>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a:r>
              <a:rPr lang="en-US" sz="1100" kern="0" dirty="0">
                <a:solidFill>
                  <a:srgbClr val="000000"/>
                </a:solidFill>
              </a:rPr>
              <a:t>Custom objects of Prescription follow up will have  data related to individual product metric , which will flow to L3 </a:t>
            </a:r>
          </a:p>
        </p:txBody>
      </p:sp>
      <p:sp>
        <p:nvSpPr>
          <p:cNvPr id="5" name="TextBox 4">
            <a:extLst>
              <a:ext uri="{FF2B5EF4-FFF2-40B4-BE49-F238E27FC236}">
                <a16:creationId xmlns:a16="http://schemas.microsoft.com/office/drawing/2014/main" id="{A5E3CC25-9EFC-46BD-A852-916B51F7DA51}"/>
              </a:ext>
            </a:extLst>
          </p:cNvPr>
          <p:cNvSpPr txBox="1"/>
          <p:nvPr/>
        </p:nvSpPr>
        <p:spPr>
          <a:xfrm>
            <a:off x="1214947" y="3367263"/>
            <a:ext cx="489297" cy="366424"/>
          </a:xfrm>
          <a:prstGeom prst="rect">
            <a:avLst/>
          </a:prstGeom>
          <a:noFill/>
        </p:spPr>
        <p:txBody>
          <a:bodyPr wrap="square" lIns="0" tIns="0" rIns="0" bIns="0" rtlCol="0">
            <a:noAutofit/>
          </a:bodyPr>
          <a:lstStyle/>
          <a:p>
            <a:pPr>
              <a:lnSpc>
                <a:spcPct val="100000"/>
              </a:lnSpc>
              <a:spcBef>
                <a:spcPts val="1200"/>
              </a:spcBef>
              <a:buSzPct val="100000"/>
            </a:pPr>
            <a:r>
              <a:rPr lang="en-US" sz="1000" dirty="0"/>
              <a:t>ONC2 ,OP HL, SP ,EM </a:t>
            </a:r>
          </a:p>
        </p:txBody>
      </p:sp>
      <p:sp>
        <p:nvSpPr>
          <p:cNvPr id="6" name="Arrow: Down 5">
            <a:extLst>
              <a:ext uri="{FF2B5EF4-FFF2-40B4-BE49-F238E27FC236}">
                <a16:creationId xmlns:a16="http://schemas.microsoft.com/office/drawing/2014/main" id="{D8E427A2-1BD6-45B6-9E1E-6BD6121C1377}"/>
              </a:ext>
            </a:extLst>
          </p:cNvPr>
          <p:cNvSpPr/>
          <p:nvPr/>
        </p:nvSpPr>
        <p:spPr>
          <a:xfrm>
            <a:off x="5344149" y="4279037"/>
            <a:ext cx="435214" cy="1266813"/>
          </a:xfrm>
          <a:prstGeom prst="downArrow">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cxnSp>
        <p:nvCxnSpPr>
          <p:cNvPr id="71" name="Straight Arrow Connector 70">
            <a:extLst>
              <a:ext uri="{FF2B5EF4-FFF2-40B4-BE49-F238E27FC236}">
                <a16:creationId xmlns:a16="http://schemas.microsoft.com/office/drawing/2014/main" id="{DBFD570B-A782-41BC-88FD-D2A9D43F3C78}"/>
              </a:ext>
            </a:extLst>
          </p:cNvPr>
          <p:cNvCxnSpPr>
            <a:cxnSpLocks/>
          </p:cNvCxnSpPr>
          <p:nvPr/>
        </p:nvCxnSpPr>
        <p:spPr>
          <a:xfrm>
            <a:off x="5675931" y="3625007"/>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73" name="Straight Arrow Connector 72">
            <a:extLst>
              <a:ext uri="{FF2B5EF4-FFF2-40B4-BE49-F238E27FC236}">
                <a16:creationId xmlns:a16="http://schemas.microsoft.com/office/drawing/2014/main" id="{79E4119B-5770-485F-B899-A01871A6CC06}"/>
              </a:ext>
            </a:extLst>
          </p:cNvPr>
          <p:cNvCxnSpPr>
            <a:cxnSpLocks/>
          </p:cNvCxnSpPr>
          <p:nvPr/>
        </p:nvCxnSpPr>
        <p:spPr>
          <a:xfrm>
            <a:off x="6474220" y="3625007"/>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74" name="Straight Arrow Connector 73">
            <a:extLst>
              <a:ext uri="{FF2B5EF4-FFF2-40B4-BE49-F238E27FC236}">
                <a16:creationId xmlns:a16="http://schemas.microsoft.com/office/drawing/2014/main" id="{C5FC24C3-5EA6-4DAE-8E1A-0DCC26C326A2}"/>
              </a:ext>
            </a:extLst>
          </p:cNvPr>
          <p:cNvCxnSpPr>
            <a:cxnSpLocks/>
          </p:cNvCxnSpPr>
          <p:nvPr/>
        </p:nvCxnSpPr>
        <p:spPr>
          <a:xfrm>
            <a:off x="8404795" y="3610309"/>
            <a:ext cx="433892"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AC5E0E9E-72F5-4957-ACC0-CFEF26CEAEF1}"/>
              </a:ext>
            </a:extLst>
          </p:cNvPr>
          <p:cNvSpPr txBox="1"/>
          <p:nvPr/>
        </p:nvSpPr>
        <p:spPr>
          <a:xfrm>
            <a:off x="9631648" y="2348880"/>
            <a:ext cx="2235951" cy="137825"/>
          </a:xfrm>
          <a:prstGeom prst="rect">
            <a:avLst/>
          </a:prstGeom>
          <a:noFill/>
        </p:spPr>
        <p:txBody>
          <a:bodyPr wrap="square" lIns="0" tIns="0" rIns="0" bIns="0" rtlCol="0">
            <a:noAutofit/>
          </a:bodyPr>
          <a:lstStyle/>
          <a:p>
            <a:pPr>
              <a:lnSpc>
                <a:spcPct val="100000"/>
              </a:lnSpc>
              <a:spcBef>
                <a:spcPts val="1200"/>
              </a:spcBef>
              <a:buSzPct val="100000"/>
            </a:pPr>
            <a:r>
              <a:rPr lang="en-US" sz="900" dirty="0" err="1"/>
              <a:t>v_s_sorg_sls_wrkr_bp_prd_time_bckt_srvy</a:t>
            </a:r>
            <a:endParaRPr lang="en-US" sz="900" dirty="0"/>
          </a:p>
        </p:txBody>
      </p:sp>
      <p:sp>
        <p:nvSpPr>
          <p:cNvPr id="9" name="TextBox 8">
            <a:extLst>
              <a:ext uri="{FF2B5EF4-FFF2-40B4-BE49-F238E27FC236}">
                <a16:creationId xmlns:a16="http://schemas.microsoft.com/office/drawing/2014/main" id="{F9D4D9CC-D718-4673-BF2F-6A6F2E129C28}"/>
              </a:ext>
            </a:extLst>
          </p:cNvPr>
          <p:cNvSpPr txBox="1"/>
          <p:nvPr/>
        </p:nvSpPr>
        <p:spPr>
          <a:xfrm>
            <a:off x="9759820" y="3367264"/>
            <a:ext cx="2432180" cy="81490"/>
          </a:xfrm>
          <a:prstGeom prst="rect">
            <a:avLst/>
          </a:prstGeom>
          <a:noFill/>
        </p:spPr>
        <p:txBody>
          <a:bodyPr wrap="square" lIns="0" tIns="0" rIns="0" bIns="0" rtlCol="0">
            <a:noAutofit/>
          </a:bodyPr>
          <a:lstStyle/>
          <a:p>
            <a:pPr>
              <a:lnSpc>
                <a:spcPct val="100000"/>
              </a:lnSpc>
              <a:spcBef>
                <a:spcPts val="1200"/>
              </a:spcBef>
              <a:buSzPct val="100000"/>
            </a:pPr>
            <a:r>
              <a:rPr lang="en-US" sz="800" dirty="0" err="1"/>
              <a:t>v_s_sorg_sls_wrkr_</a:t>
            </a:r>
            <a:r>
              <a:rPr lang="en-US" sz="900" dirty="0" err="1"/>
              <a:t>bp</a:t>
            </a:r>
            <a:r>
              <a:rPr lang="en-US" sz="800" dirty="0" err="1"/>
              <a:t>_prd_time_bckt_srvy_fol_up</a:t>
            </a:r>
            <a:endParaRPr lang="en-US" sz="800" dirty="0"/>
          </a:p>
        </p:txBody>
      </p:sp>
    </p:spTree>
    <p:extLst>
      <p:ext uri="{BB962C8B-B14F-4D97-AF65-F5344CB8AC3E}">
        <p14:creationId xmlns:p14="http://schemas.microsoft.com/office/powerpoint/2010/main" val="600964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Approach to add new Celgene Products in Prescription Follow up as well as moving Survey level data to Prescription follow up Object for ONC1</a:t>
            </a:r>
          </a:p>
        </p:txBody>
      </p:sp>
      <p:sp>
        <p:nvSpPr>
          <p:cNvPr id="38" name="Rectangle 37">
            <a:extLst>
              <a:ext uri="{FF2B5EF4-FFF2-40B4-BE49-F238E27FC236}">
                <a16:creationId xmlns:a16="http://schemas.microsoft.com/office/drawing/2014/main" id="{5C75A6E9-080B-4754-A651-24B68B926C3D}"/>
              </a:ext>
            </a:extLst>
          </p:cNvPr>
          <p:cNvSpPr/>
          <p:nvPr/>
        </p:nvSpPr>
        <p:spPr>
          <a:xfrm>
            <a:off x="1113984" y="1997355"/>
            <a:ext cx="8784976" cy="3489045"/>
          </a:xfrm>
          <a:prstGeom prst="rect">
            <a:avLst/>
          </a:prstGeom>
          <a:ln/>
        </p:spPr>
        <p:style>
          <a:lnRef idx="2">
            <a:schemeClr val="accent2"/>
          </a:lnRef>
          <a:fillRef idx="1">
            <a:schemeClr val="lt1"/>
          </a:fillRef>
          <a:effectRef idx="0">
            <a:schemeClr val="accent2"/>
          </a:effectRef>
          <a:fontRef idx="minor">
            <a:schemeClr val="dk1"/>
          </a:fontRef>
        </p:style>
        <p:txBody>
          <a:bodyPr tIns="90000" bIns="90000" rtlCol="0" anchor="ctr" anchorCtr="0"/>
          <a:lstStyle/>
          <a:p>
            <a:pPr algn="ctr"/>
            <a:endParaRPr lang="en-US" sz="1400" dirty="0" err="1">
              <a:solidFill>
                <a:schemeClr val="tx1"/>
              </a:solidFill>
            </a:endParaRPr>
          </a:p>
        </p:txBody>
      </p:sp>
      <p:sp>
        <p:nvSpPr>
          <p:cNvPr id="39" name="Rectangle: Rounded Corners 38">
            <a:extLst>
              <a:ext uri="{FF2B5EF4-FFF2-40B4-BE49-F238E27FC236}">
                <a16:creationId xmlns:a16="http://schemas.microsoft.com/office/drawing/2014/main" id="{77FAEFAA-4DAB-4442-AC00-B2971EC058CC}"/>
              </a:ext>
            </a:extLst>
          </p:cNvPr>
          <p:cNvSpPr/>
          <p:nvPr/>
        </p:nvSpPr>
        <p:spPr>
          <a:xfrm>
            <a:off x="1756791" y="4348966"/>
            <a:ext cx="872264" cy="763944"/>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CRM</a:t>
            </a:r>
          </a:p>
        </p:txBody>
      </p:sp>
      <p:sp>
        <p:nvSpPr>
          <p:cNvPr id="40" name="Rectangle 39">
            <a:extLst>
              <a:ext uri="{FF2B5EF4-FFF2-40B4-BE49-F238E27FC236}">
                <a16:creationId xmlns:a16="http://schemas.microsoft.com/office/drawing/2014/main" id="{3BF85409-5F63-4C9E-9C7C-08E38C69F4B9}"/>
              </a:ext>
            </a:extLst>
          </p:cNvPr>
          <p:cNvSpPr/>
          <p:nvPr/>
        </p:nvSpPr>
        <p:spPr>
          <a:xfrm>
            <a:off x="3011211" y="4191823"/>
            <a:ext cx="956678" cy="942570"/>
          </a:xfrm>
          <a:prstGeom prst="rect">
            <a:avLst/>
          </a:prstGeom>
          <a:solidFill>
            <a:schemeClr val="tx2">
              <a:lumMod val="75000"/>
            </a:schemeClr>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1100" dirty="0">
                <a:solidFill>
                  <a:schemeClr val="bg1"/>
                </a:solidFill>
                <a:cs typeface="Arial" panose="020B0604020202020204" pitchFamily="34" charset="0"/>
              </a:rPr>
              <a:t>Patient prescription Follow Up Object </a:t>
            </a:r>
          </a:p>
        </p:txBody>
      </p:sp>
      <p:sp>
        <p:nvSpPr>
          <p:cNvPr id="41" name="Can 10">
            <a:extLst>
              <a:ext uri="{FF2B5EF4-FFF2-40B4-BE49-F238E27FC236}">
                <a16:creationId xmlns:a16="http://schemas.microsoft.com/office/drawing/2014/main" id="{C629F661-E28E-4531-B28A-AE30702CD583}"/>
              </a:ext>
            </a:extLst>
          </p:cNvPr>
          <p:cNvSpPr/>
          <p:nvPr/>
        </p:nvSpPr>
        <p:spPr>
          <a:xfrm>
            <a:off x="4261487" y="4323759"/>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sp>
        <p:nvSpPr>
          <p:cNvPr id="42" name="Rectangle 41">
            <a:extLst>
              <a:ext uri="{FF2B5EF4-FFF2-40B4-BE49-F238E27FC236}">
                <a16:creationId xmlns:a16="http://schemas.microsoft.com/office/drawing/2014/main" id="{F1C14EE0-31CC-426B-B8C3-9A5595FB8288}"/>
              </a:ext>
            </a:extLst>
          </p:cNvPr>
          <p:cNvSpPr/>
          <p:nvPr/>
        </p:nvSpPr>
        <p:spPr>
          <a:xfrm>
            <a:off x="5098125" y="4451504"/>
            <a:ext cx="663563" cy="511577"/>
          </a:xfrm>
          <a:prstGeom prst="rect">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a:t>
            </a:r>
          </a:p>
        </p:txBody>
      </p:sp>
      <p:cxnSp>
        <p:nvCxnSpPr>
          <p:cNvPr id="43" name="Straight Arrow Connector 42">
            <a:extLst>
              <a:ext uri="{FF2B5EF4-FFF2-40B4-BE49-F238E27FC236}">
                <a16:creationId xmlns:a16="http://schemas.microsoft.com/office/drawing/2014/main" id="{30D59DDA-B95F-441B-A738-1D83A8E3BF16}"/>
              </a:ext>
            </a:extLst>
          </p:cNvPr>
          <p:cNvCxnSpPr>
            <a:cxnSpLocks/>
          </p:cNvCxnSpPr>
          <p:nvPr/>
        </p:nvCxnSpPr>
        <p:spPr>
          <a:xfrm>
            <a:off x="4765106" y="4705730"/>
            <a:ext cx="295355"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44" name="Can 14">
            <a:extLst>
              <a:ext uri="{FF2B5EF4-FFF2-40B4-BE49-F238E27FC236}">
                <a16:creationId xmlns:a16="http://schemas.microsoft.com/office/drawing/2014/main" id="{750B2520-044F-4908-BF06-504523C4AFFD}"/>
              </a:ext>
            </a:extLst>
          </p:cNvPr>
          <p:cNvSpPr/>
          <p:nvPr/>
        </p:nvSpPr>
        <p:spPr>
          <a:xfrm>
            <a:off x="6071893" y="4277069"/>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a:t>
            </a:r>
          </a:p>
        </p:txBody>
      </p:sp>
      <p:cxnSp>
        <p:nvCxnSpPr>
          <p:cNvPr id="46" name="Straight Arrow Connector 45">
            <a:extLst>
              <a:ext uri="{FF2B5EF4-FFF2-40B4-BE49-F238E27FC236}">
                <a16:creationId xmlns:a16="http://schemas.microsoft.com/office/drawing/2014/main" id="{C83C2CC0-9EBD-419D-B45E-E76A4E6AE162}"/>
              </a:ext>
            </a:extLst>
          </p:cNvPr>
          <p:cNvCxnSpPr>
            <a:cxnSpLocks/>
            <a:stCxn id="42" idx="3"/>
          </p:cNvCxnSpPr>
          <p:nvPr/>
        </p:nvCxnSpPr>
        <p:spPr>
          <a:xfrm>
            <a:off x="5761688" y="4707293"/>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EDAE4F9B-1979-4B47-978D-97CAAFF3D5D2}"/>
              </a:ext>
            </a:extLst>
          </p:cNvPr>
          <p:cNvCxnSpPr>
            <a:cxnSpLocks/>
          </p:cNvCxnSpPr>
          <p:nvPr/>
        </p:nvCxnSpPr>
        <p:spPr>
          <a:xfrm flipV="1">
            <a:off x="3970114" y="4659041"/>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7FED461F-D94F-4627-A709-895EB8204C14}"/>
              </a:ext>
            </a:extLst>
          </p:cNvPr>
          <p:cNvCxnSpPr>
            <a:cxnSpLocks/>
          </p:cNvCxnSpPr>
          <p:nvPr/>
        </p:nvCxnSpPr>
        <p:spPr>
          <a:xfrm flipV="1">
            <a:off x="2684518" y="4705729"/>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49" name="Rectangle 48">
            <a:extLst>
              <a:ext uri="{FF2B5EF4-FFF2-40B4-BE49-F238E27FC236}">
                <a16:creationId xmlns:a16="http://schemas.microsoft.com/office/drawing/2014/main" id="{B79931A1-6A7D-4978-8BD1-7E66C1B63BB3}"/>
              </a:ext>
            </a:extLst>
          </p:cNvPr>
          <p:cNvSpPr/>
          <p:nvPr/>
        </p:nvSpPr>
        <p:spPr>
          <a:xfrm>
            <a:off x="6950839" y="3895673"/>
            <a:ext cx="1689962" cy="1198486"/>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a:r>
              <a:rPr lang="en-US" sz="1100" kern="0" dirty="0">
                <a:solidFill>
                  <a:srgbClr val="000000"/>
                </a:solidFill>
              </a:rPr>
              <a:t>Custom objects of Prescription follow up will have  data related to individual product metric , which will flow to L3 </a:t>
            </a:r>
          </a:p>
        </p:txBody>
      </p:sp>
      <p:sp>
        <p:nvSpPr>
          <p:cNvPr id="55" name="Can 14">
            <a:extLst>
              <a:ext uri="{FF2B5EF4-FFF2-40B4-BE49-F238E27FC236}">
                <a16:creationId xmlns:a16="http://schemas.microsoft.com/office/drawing/2014/main" id="{FCCC814E-7EC1-40C0-87CD-19D263E4B111}"/>
              </a:ext>
            </a:extLst>
          </p:cNvPr>
          <p:cNvSpPr/>
          <p:nvPr/>
        </p:nvSpPr>
        <p:spPr>
          <a:xfrm>
            <a:off x="9088800" y="4244508"/>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lang="en-US" sz="1100" kern="0" dirty="0">
                <a:solidFill>
                  <a:srgbClr val="000000"/>
                </a:solidFill>
              </a:rPr>
              <a:t>L3</a:t>
            </a:r>
            <a:endParaRPr kumimoji="0" lang="en-US" sz="1100" b="0" i="0" u="none" strike="noStrike" kern="0" cap="none" spc="0" normalizeH="0" baseline="0" noProof="0" dirty="0">
              <a:ln>
                <a:noFill/>
              </a:ln>
              <a:solidFill>
                <a:srgbClr val="000000"/>
              </a:solidFill>
              <a:effectLst/>
              <a:uLnTx/>
              <a:uFillTx/>
              <a:ea typeface="+mn-ea"/>
              <a:cs typeface="+mn-cs"/>
            </a:endParaRPr>
          </a:p>
        </p:txBody>
      </p:sp>
      <p:cxnSp>
        <p:nvCxnSpPr>
          <p:cNvPr id="56" name="Straight Arrow Connector 55">
            <a:extLst>
              <a:ext uri="{FF2B5EF4-FFF2-40B4-BE49-F238E27FC236}">
                <a16:creationId xmlns:a16="http://schemas.microsoft.com/office/drawing/2014/main" id="{F61F9357-A553-4EB4-83DE-49E6B8C0423E}"/>
              </a:ext>
            </a:extLst>
          </p:cNvPr>
          <p:cNvCxnSpPr>
            <a:cxnSpLocks/>
            <a:endCxn id="55" idx="2"/>
          </p:cNvCxnSpPr>
          <p:nvPr/>
        </p:nvCxnSpPr>
        <p:spPr>
          <a:xfrm>
            <a:off x="8654908" y="4626479"/>
            <a:ext cx="433892"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8" name="TextBox 57">
            <a:extLst>
              <a:ext uri="{FF2B5EF4-FFF2-40B4-BE49-F238E27FC236}">
                <a16:creationId xmlns:a16="http://schemas.microsoft.com/office/drawing/2014/main" id="{91A91DD6-FB20-461C-AED1-3E6F4A1D7B63}"/>
              </a:ext>
            </a:extLst>
          </p:cNvPr>
          <p:cNvSpPr txBox="1"/>
          <p:nvPr/>
        </p:nvSpPr>
        <p:spPr>
          <a:xfrm>
            <a:off x="2319276" y="1630931"/>
            <a:ext cx="5659546" cy="366424"/>
          </a:xfrm>
          <a:prstGeom prst="rect">
            <a:avLst/>
          </a:prstGeom>
          <a:noFill/>
        </p:spPr>
        <p:txBody>
          <a:bodyPr wrap="square" tIns="90000" bIns="90000" rtlCol="0" anchor="t">
            <a:spAutoFit/>
          </a:bodyPr>
          <a:lstStyle/>
          <a:p>
            <a:pPr algn="ctr"/>
            <a:r>
              <a:rPr lang="en-US" sz="1200" b="1" dirty="0"/>
              <a:t>Process to add new Celgene Products in Prescription Follow up</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sp>
        <p:nvSpPr>
          <p:cNvPr id="33" name="Slide Number Placeholder 5">
            <a:extLst>
              <a:ext uri="{FF2B5EF4-FFF2-40B4-BE49-F238E27FC236}">
                <a16:creationId xmlns:a16="http://schemas.microsoft.com/office/drawing/2014/main" id="{24AD570F-4F98-4331-97F2-D1D656B864DD}"/>
              </a:ext>
            </a:extLst>
          </p:cNvPr>
          <p:cNvSpPr txBox="1">
            <a:spLocks/>
          </p:cNvSpPr>
          <p:nvPr/>
        </p:nvSpPr>
        <p:spPr>
          <a:xfrm>
            <a:off x="11676179" y="6456008"/>
            <a:ext cx="320040" cy="2286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3</a:t>
            </a:r>
          </a:p>
        </p:txBody>
      </p:sp>
      <p:sp>
        <p:nvSpPr>
          <p:cNvPr id="4" name="TextBox 3">
            <a:extLst>
              <a:ext uri="{FF2B5EF4-FFF2-40B4-BE49-F238E27FC236}">
                <a16:creationId xmlns:a16="http://schemas.microsoft.com/office/drawing/2014/main" id="{03878B09-5A76-4A59-BD92-146B55C383FA}"/>
              </a:ext>
            </a:extLst>
          </p:cNvPr>
          <p:cNvSpPr txBox="1"/>
          <p:nvPr/>
        </p:nvSpPr>
        <p:spPr>
          <a:xfrm>
            <a:off x="1295197" y="4310429"/>
            <a:ext cx="489297" cy="632101"/>
          </a:xfrm>
          <a:prstGeom prst="rect">
            <a:avLst/>
          </a:prstGeom>
          <a:noFill/>
        </p:spPr>
        <p:txBody>
          <a:bodyPr wrap="square" lIns="0" tIns="0" rIns="0" bIns="0" rtlCol="0">
            <a:noAutofit/>
          </a:bodyPr>
          <a:lstStyle/>
          <a:p>
            <a:pPr>
              <a:lnSpc>
                <a:spcPct val="100000"/>
              </a:lnSpc>
              <a:spcBef>
                <a:spcPts val="1200"/>
              </a:spcBef>
              <a:buSzPct val="100000"/>
            </a:pPr>
            <a:r>
              <a:rPr lang="en-US" sz="1000" dirty="0"/>
              <a:t>OR</a:t>
            </a:r>
          </a:p>
          <a:p>
            <a:pPr>
              <a:lnSpc>
                <a:spcPct val="100000"/>
              </a:lnSpc>
              <a:spcBef>
                <a:spcPts val="1200"/>
              </a:spcBef>
              <a:buSzPct val="100000"/>
            </a:pPr>
            <a:r>
              <a:rPr lang="en-US" sz="1000" dirty="0"/>
              <a:t>ONC1</a:t>
            </a:r>
          </a:p>
          <a:p>
            <a:pPr>
              <a:lnSpc>
                <a:spcPct val="100000"/>
              </a:lnSpc>
              <a:spcBef>
                <a:spcPts val="1200"/>
              </a:spcBef>
              <a:buSzPct val="100000"/>
            </a:pPr>
            <a:r>
              <a:rPr lang="en-US" sz="1000" dirty="0"/>
              <a:t>ONC2</a:t>
            </a:r>
          </a:p>
          <a:p>
            <a:pPr>
              <a:lnSpc>
                <a:spcPct val="100000"/>
              </a:lnSpc>
              <a:spcBef>
                <a:spcPts val="1200"/>
              </a:spcBef>
              <a:buSzPct val="100000"/>
            </a:pPr>
            <a:r>
              <a:rPr lang="en-US" sz="1000" dirty="0"/>
              <a:t>HEMA</a:t>
            </a:r>
          </a:p>
        </p:txBody>
      </p:sp>
      <p:sp>
        <p:nvSpPr>
          <p:cNvPr id="5" name="TextBox 4">
            <a:extLst>
              <a:ext uri="{FF2B5EF4-FFF2-40B4-BE49-F238E27FC236}">
                <a16:creationId xmlns:a16="http://schemas.microsoft.com/office/drawing/2014/main" id="{A5E3CC25-9EFC-46BD-A852-916B51F7DA51}"/>
              </a:ext>
            </a:extLst>
          </p:cNvPr>
          <p:cNvSpPr txBox="1"/>
          <p:nvPr/>
        </p:nvSpPr>
        <p:spPr>
          <a:xfrm>
            <a:off x="1214947" y="4727735"/>
            <a:ext cx="489297" cy="366424"/>
          </a:xfrm>
          <a:prstGeom prst="rect">
            <a:avLst/>
          </a:prstGeom>
          <a:noFill/>
        </p:spPr>
        <p:txBody>
          <a:bodyPr wrap="square" lIns="0" tIns="0" rIns="0" bIns="0" rtlCol="0">
            <a:noAutofit/>
          </a:bodyPr>
          <a:lstStyle/>
          <a:p>
            <a:pPr>
              <a:lnSpc>
                <a:spcPct val="100000"/>
              </a:lnSpc>
              <a:spcBef>
                <a:spcPts val="1200"/>
              </a:spcBef>
              <a:buSzPct val="100000"/>
            </a:pPr>
            <a:endParaRPr lang="en-US" sz="1000" dirty="0"/>
          </a:p>
        </p:txBody>
      </p:sp>
      <p:cxnSp>
        <p:nvCxnSpPr>
          <p:cNvPr id="65" name="Straight Arrow Connector 64">
            <a:extLst>
              <a:ext uri="{FF2B5EF4-FFF2-40B4-BE49-F238E27FC236}">
                <a16:creationId xmlns:a16="http://schemas.microsoft.com/office/drawing/2014/main" id="{14A94D65-EC79-4C0C-A5F5-61CFA4099E1C}"/>
              </a:ext>
            </a:extLst>
          </p:cNvPr>
          <p:cNvCxnSpPr>
            <a:cxnSpLocks/>
          </p:cNvCxnSpPr>
          <p:nvPr/>
        </p:nvCxnSpPr>
        <p:spPr>
          <a:xfrm>
            <a:off x="6607671" y="4626480"/>
            <a:ext cx="417704"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C75E23A9-D0B0-4180-8BBD-8189D5C2FF9F}"/>
              </a:ext>
            </a:extLst>
          </p:cNvPr>
          <p:cNvSpPr txBox="1"/>
          <p:nvPr/>
        </p:nvSpPr>
        <p:spPr>
          <a:xfrm>
            <a:off x="1214947" y="3897297"/>
            <a:ext cx="3934102" cy="566741"/>
          </a:xfrm>
          <a:prstGeom prst="rect">
            <a:avLst/>
          </a:prstGeom>
          <a:noFill/>
        </p:spPr>
        <p:txBody>
          <a:bodyPr wrap="square" lIns="0" tIns="0" rIns="0" bIns="0" rtlCol="0">
            <a:noAutofit/>
          </a:bodyPr>
          <a:lstStyle/>
          <a:p>
            <a:pPr marL="228600" indent="-228600">
              <a:lnSpc>
                <a:spcPct val="100000"/>
              </a:lnSpc>
              <a:spcBef>
                <a:spcPts val="1200"/>
              </a:spcBef>
              <a:buSzPct val="100000"/>
              <a:buFont typeface="Trebuchet MS"/>
              <a:buChar char="•"/>
            </a:pPr>
            <a:endParaRPr lang="en-US" sz="2000" dirty="0"/>
          </a:p>
        </p:txBody>
      </p:sp>
      <p:sp>
        <p:nvSpPr>
          <p:cNvPr id="69" name="Speech Bubble: Rectangle with Corners Rounded 68">
            <a:extLst>
              <a:ext uri="{FF2B5EF4-FFF2-40B4-BE49-F238E27FC236}">
                <a16:creationId xmlns:a16="http://schemas.microsoft.com/office/drawing/2014/main" id="{D7ADBEAC-BEAB-47E4-9116-B9FE8F16258C}"/>
              </a:ext>
            </a:extLst>
          </p:cNvPr>
          <p:cNvSpPr/>
          <p:nvPr/>
        </p:nvSpPr>
        <p:spPr>
          <a:xfrm>
            <a:off x="3983035" y="5445288"/>
            <a:ext cx="2091209" cy="1455977"/>
          </a:xfrm>
          <a:prstGeom prst="wedgeRoundRectCallout">
            <a:avLst>
              <a:gd name="adj1" fmla="val -107577"/>
              <a:gd name="adj2" fmla="val -98848"/>
              <a:gd name="adj3" fmla="val 16667"/>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000" kern="0" dirty="0">
                <a:solidFill>
                  <a:schemeClr val="bg1"/>
                </a:solidFill>
              </a:rPr>
              <a:t>In C-SCAN L1 level, we will have to pull new columns from CRM prescription follow up object for HEMA BU products as well as ONC1 products.(This will be handled by Veeva Framework in Production)</a:t>
            </a:r>
          </a:p>
        </p:txBody>
      </p:sp>
      <p:sp>
        <p:nvSpPr>
          <p:cNvPr id="17" name="Rectangle 16">
            <a:extLst>
              <a:ext uri="{FF2B5EF4-FFF2-40B4-BE49-F238E27FC236}">
                <a16:creationId xmlns:a16="http://schemas.microsoft.com/office/drawing/2014/main" id="{9E7B87C3-D9BA-407B-ADA6-854DB8C777CF}"/>
              </a:ext>
            </a:extLst>
          </p:cNvPr>
          <p:cNvSpPr/>
          <p:nvPr/>
        </p:nvSpPr>
        <p:spPr>
          <a:xfrm>
            <a:off x="9777439" y="4474897"/>
            <a:ext cx="2672366" cy="230832"/>
          </a:xfrm>
          <a:prstGeom prst="rect">
            <a:avLst/>
          </a:prstGeom>
        </p:spPr>
        <p:txBody>
          <a:bodyPr wrap="square">
            <a:spAutoFit/>
          </a:bodyPr>
          <a:lstStyle/>
          <a:p>
            <a:pPr>
              <a:lnSpc>
                <a:spcPct val="100000"/>
              </a:lnSpc>
              <a:spcBef>
                <a:spcPts val="1200"/>
              </a:spcBef>
              <a:buSzPct val="100000"/>
            </a:pPr>
            <a:r>
              <a:rPr lang="en-US" sz="800" dirty="0" err="1"/>
              <a:t>v_s_sorg_sls_wrkr_</a:t>
            </a:r>
            <a:r>
              <a:rPr lang="en-US" sz="900" dirty="0" err="1"/>
              <a:t>bp</a:t>
            </a:r>
            <a:r>
              <a:rPr lang="en-US" sz="800" dirty="0" err="1"/>
              <a:t>_prd_time_bckt_srvy_fol_up</a:t>
            </a:r>
            <a:endParaRPr lang="en-US" sz="800" dirty="0"/>
          </a:p>
        </p:txBody>
      </p:sp>
      <p:sp>
        <p:nvSpPr>
          <p:cNvPr id="78" name="Rectangle: Rounded Corners 77">
            <a:extLst>
              <a:ext uri="{FF2B5EF4-FFF2-40B4-BE49-F238E27FC236}">
                <a16:creationId xmlns:a16="http://schemas.microsoft.com/office/drawing/2014/main" id="{F0D179AB-1485-4EB3-9BC7-D3F751F51F0C}"/>
              </a:ext>
            </a:extLst>
          </p:cNvPr>
          <p:cNvSpPr/>
          <p:nvPr/>
        </p:nvSpPr>
        <p:spPr>
          <a:xfrm>
            <a:off x="1784494" y="2839670"/>
            <a:ext cx="959490" cy="763944"/>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CRM</a:t>
            </a:r>
          </a:p>
        </p:txBody>
      </p:sp>
      <p:sp>
        <p:nvSpPr>
          <p:cNvPr id="79" name="Rectangle 78">
            <a:extLst>
              <a:ext uri="{FF2B5EF4-FFF2-40B4-BE49-F238E27FC236}">
                <a16:creationId xmlns:a16="http://schemas.microsoft.com/office/drawing/2014/main" id="{AB673CDD-6B93-4935-BA1B-E1C8CE6B17FE}"/>
              </a:ext>
            </a:extLst>
          </p:cNvPr>
          <p:cNvSpPr/>
          <p:nvPr/>
        </p:nvSpPr>
        <p:spPr>
          <a:xfrm>
            <a:off x="3013479" y="2824713"/>
            <a:ext cx="799411" cy="793855"/>
          </a:xfrm>
          <a:prstGeom prst="rect">
            <a:avLst/>
          </a:prstGeom>
          <a:solidFill>
            <a:schemeClr val="tx2">
              <a:lumMod val="75000"/>
            </a:schemeClr>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1100" dirty="0">
                <a:solidFill>
                  <a:schemeClr val="bg1"/>
                </a:solidFill>
                <a:cs typeface="Arial" panose="020B0604020202020204" pitchFamily="34" charset="0"/>
              </a:rPr>
              <a:t>Survey Module</a:t>
            </a:r>
          </a:p>
        </p:txBody>
      </p:sp>
      <p:sp>
        <p:nvSpPr>
          <p:cNvPr id="80" name="Can 10">
            <a:extLst>
              <a:ext uri="{FF2B5EF4-FFF2-40B4-BE49-F238E27FC236}">
                <a16:creationId xmlns:a16="http://schemas.microsoft.com/office/drawing/2014/main" id="{06123A1D-DA03-4AA5-8447-A3EBBFEF576C}"/>
              </a:ext>
            </a:extLst>
          </p:cNvPr>
          <p:cNvSpPr/>
          <p:nvPr/>
        </p:nvSpPr>
        <p:spPr>
          <a:xfrm>
            <a:off x="4119618" y="2839670"/>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sp>
        <p:nvSpPr>
          <p:cNvPr id="81" name="Rectangle 80">
            <a:extLst>
              <a:ext uri="{FF2B5EF4-FFF2-40B4-BE49-F238E27FC236}">
                <a16:creationId xmlns:a16="http://schemas.microsoft.com/office/drawing/2014/main" id="{97D0FC04-77BA-49BB-B1C3-5E81A1EFC1C4}"/>
              </a:ext>
            </a:extLst>
          </p:cNvPr>
          <p:cNvSpPr/>
          <p:nvPr/>
        </p:nvSpPr>
        <p:spPr>
          <a:xfrm>
            <a:off x="4983714" y="2965854"/>
            <a:ext cx="663563" cy="511577"/>
          </a:xfrm>
          <a:prstGeom prst="rect">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a:t>
            </a:r>
          </a:p>
        </p:txBody>
      </p:sp>
      <p:cxnSp>
        <p:nvCxnSpPr>
          <p:cNvPr id="82" name="Straight Arrow Connector 81">
            <a:extLst>
              <a:ext uri="{FF2B5EF4-FFF2-40B4-BE49-F238E27FC236}">
                <a16:creationId xmlns:a16="http://schemas.microsoft.com/office/drawing/2014/main" id="{AED13E23-42EA-4ED4-B2E7-A3A6539885C9}"/>
              </a:ext>
            </a:extLst>
          </p:cNvPr>
          <p:cNvCxnSpPr>
            <a:cxnSpLocks/>
          </p:cNvCxnSpPr>
          <p:nvPr/>
        </p:nvCxnSpPr>
        <p:spPr>
          <a:xfrm>
            <a:off x="4688359" y="3221642"/>
            <a:ext cx="295355"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83" name="Can 14">
            <a:extLst>
              <a:ext uri="{FF2B5EF4-FFF2-40B4-BE49-F238E27FC236}">
                <a16:creationId xmlns:a16="http://schemas.microsoft.com/office/drawing/2014/main" id="{B8C32E9C-E66A-4325-A5AE-9EEE0A51040D}"/>
              </a:ext>
            </a:extLst>
          </p:cNvPr>
          <p:cNvSpPr/>
          <p:nvPr/>
        </p:nvSpPr>
        <p:spPr>
          <a:xfrm>
            <a:off x="5919818" y="2839670"/>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a:t>
            </a:r>
          </a:p>
        </p:txBody>
      </p:sp>
      <p:cxnSp>
        <p:nvCxnSpPr>
          <p:cNvPr id="84" name="Straight Arrow Connector 83">
            <a:extLst>
              <a:ext uri="{FF2B5EF4-FFF2-40B4-BE49-F238E27FC236}">
                <a16:creationId xmlns:a16="http://schemas.microsoft.com/office/drawing/2014/main" id="{3565EA55-A365-4696-A494-E5EBD9B72E23}"/>
              </a:ext>
            </a:extLst>
          </p:cNvPr>
          <p:cNvCxnSpPr>
            <a:cxnSpLocks/>
          </p:cNvCxnSpPr>
          <p:nvPr/>
        </p:nvCxnSpPr>
        <p:spPr>
          <a:xfrm flipV="1">
            <a:off x="5647277" y="3221642"/>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85" name="Straight Arrow Connector 84">
            <a:extLst>
              <a:ext uri="{FF2B5EF4-FFF2-40B4-BE49-F238E27FC236}">
                <a16:creationId xmlns:a16="http://schemas.microsoft.com/office/drawing/2014/main" id="{5613C966-A319-4F8B-BC7B-BE21D4120459}"/>
              </a:ext>
            </a:extLst>
          </p:cNvPr>
          <p:cNvCxnSpPr>
            <a:cxnSpLocks/>
            <a:stCxn id="81" idx="3"/>
          </p:cNvCxnSpPr>
          <p:nvPr/>
        </p:nvCxnSpPr>
        <p:spPr>
          <a:xfrm>
            <a:off x="5647277" y="3221643"/>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86" name="Straight Arrow Connector 85">
            <a:extLst>
              <a:ext uri="{FF2B5EF4-FFF2-40B4-BE49-F238E27FC236}">
                <a16:creationId xmlns:a16="http://schemas.microsoft.com/office/drawing/2014/main" id="{FE419DEE-900E-4FB6-BC45-F9CBAECF9198}"/>
              </a:ext>
            </a:extLst>
          </p:cNvPr>
          <p:cNvCxnSpPr>
            <a:cxnSpLocks/>
          </p:cNvCxnSpPr>
          <p:nvPr/>
        </p:nvCxnSpPr>
        <p:spPr>
          <a:xfrm flipV="1">
            <a:off x="3847077" y="3221642"/>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87" name="Straight Arrow Connector 86">
            <a:extLst>
              <a:ext uri="{FF2B5EF4-FFF2-40B4-BE49-F238E27FC236}">
                <a16:creationId xmlns:a16="http://schemas.microsoft.com/office/drawing/2014/main" id="{E47254B4-5889-44D9-99FD-A070A66E12A4}"/>
              </a:ext>
            </a:extLst>
          </p:cNvPr>
          <p:cNvCxnSpPr>
            <a:cxnSpLocks/>
          </p:cNvCxnSpPr>
          <p:nvPr/>
        </p:nvCxnSpPr>
        <p:spPr>
          <a:xfrm flipV="1">
            <a:off x="2729958" y="3221642"/>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88" name="Rectangle 87">
            <a:extLst>
              <a:ext uri="{FF2B5EF4-FFF2-40B4-BE49-F238E27FC236}">
                <a16:creationId xmlns:a16="http://schemas.microsoft.com/office/drawing/2014/main" id="{B23DBD45-95A9-451B-8915-E726BA23E98D}"/>
              </a:ext>
            </a:extLst>
          </p:cNvPr>
          <p:cNvSpPr/>
          <p:nvPr/>
        </p:nvSpPr>
        <p:spPr>
          <a:xfrm>
            <a:off x="6755655" y="2824714"/>
            <a:ext cx="1581487" cy="793855"/>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a:r>
              <a:rPr lang="en-US" sz="1100" kern="0" dirty="0">
                <a:solidFill>
                  <a:srgbClr val="000000"/>
                </a:solidFill>
              </a:rPr>
              <a:t>Take survey answers for BMS products </a:t>
            </a:r>
          </a:p>
        </p:txBody>
      </p:sp>
      <p:cxnSp>
        <p:nvCxnSpPr>
          <p:cNvPr id="89" name="Straight Arrow Connector 88">
            <a:extLst>
              <a:ext uri="{FF2B5EF4-FFF2-40B4-BE49-F238E27FC236}">
                <a16:creationId xmlns:a16="http://schemas.microsoft.com/office/drawing/2014/main" id="{5463ECF5-8753-4C10-89B9-C4F3C343CB39}"/>
              </a:ext>
            </a:extLst>
          </p:cNvPr>
          <p:cNvCxnSpPr>
            <a:cxnSpLocks/>
            <a:stCxn id="83" idx="4"/>
            <a:endCxn id="88" idx="1"/>
          </p:cNvCxnSpPr>
          <p:nvPr/>
        </p:nvCxnSpPr>
        <p:spPr>
          <a:xfrm>
            <a:off x="6488559" y="3221642"/>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90" name="Can 14">
            <a:extLst>
              <a:ext uri="{FF2B5EF4-FFF2-40B4-BE49-F238E27FC236}">
                <a16:creationId xmlns:a16="http://schemas.microsoft.com/office/drawing/2014/main" id="{D3C518A0-C365-4141-B0BE-281FFE702D1E}"/>
              </a:ext>
            </a:extLst>
          </p:cNvPr>
          <p:cNvSpPr/>
          <p:nvPr/>
        </p:nvSpPr>
        <p:spPr>
          <a:xfrm>
            <a:off x="8771034" y="2839670"/>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lang="en-US" sz="1100" kern="0" dirty="0">
                <a:solidFill>
                  <a:srgbClr val="000000"/>
                </a:solidFill>
              </a:rPr>
              <a:t>L3</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000000"/>
              </a:solidFill>
              <a:effectLst/>
              <a:uLnTx/>
              <a:uFillTx/>
              <a:ea typeface="+mn-ea"/>
              <a:cs typeface="+mn-cs"/>
            </a:endParaRPr>
          </a:p>
        </p:txBody>
      </p:sp>
      <p:cxnSp>
        <p:nvCxnSpPr>
          <p:cNvPr id="91" name="Straight Arrow Connector 90">
            <a:extLst>
              <a:ext uri="{FF2B5EF4-FFF2-40B4-BE49-F238E27FC236}">
                <a16:creationId xmlns:a16="http://schemas.microsoft.com/office/drawing/2014/main" id="{84DB1C55-A7D2-4D23-972F-3567E5BE9EA9}"/>
              </a:ext>
            </a:extLst>
          </p:cNvPr>
          <p:cNvCxnSpPr>
            <a:cxnSpLocks/>
            <a:endCxn id="90" idx="2"/>
          </p:cNvCxnSpPr>
          <p:nvPr/>
        </p:nvCxnSpPr>
        <p:spPr>
          <a:xfrm>
            <a:off x="8337142" y="3221641"/>
            <a:ext cx="433892"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93" name="TextBox 92">
            <a:extLst>
              <a:ext uri="{FF2B5EF4-FFF2-40B4-BE49-F238E27FC236}">
                <a16:creationId xmlns:a16="http://schemas.microsoft.com/office/drawing/2014/main" id="{A053297A-CA59-47A6-ACE8-DEE02321F7A6}"/>
              </a:ext>
            </a:extLst>
          </p:cNvPr>
          <p:cNvSpPr txBox="1"/>
          <p:nvPr/>
        </p:nvSpPr>
        <p:spPr>
          <a:xfrm>
            <a:off x="1292723" y="3083816"/>
            <a:ext cx="489297" cy="288032"/>
          </a:xfrm>
          <a:prstGeom prst="rect">
            <a:avLst/>
          </a:prstGeom>
          <a:noFill/>
        </p:spPr>
        <p:txBody>
          <a:bodyPr wrap="square" lIns="0" tIns="0" rIns="0" bIns="0" rtlCol="0">
            <a:noAutofit/>
          </a:bodyPr>
          <a:lstStyle/>
          <a:p>
            <a:pPr>
              <a:lnSpc>
                <a:spcPct val="100000"/>
              </a:lnSpc>
              <a:spcBef>
                <a:spcPts val="1200"/>
              </a:spcBef>
              <a:buSzPct val="100000"/>
            </a:pPr>
            <a:r>
              <a:rPr lang="en-US" sz="1000" dirty="0"/>
              <a:t> EQ</a:t>
            </a:r>
          </a:p>
        </p:txBody>
      </p:sp>
      <p:sp>
        <p:nvSpPr>
          <p:cNvPr id="94" name="TextBox 93">
            <a:extLst>
              <a:ext uri="{FF2B5EF4-FFF2-40B4-BE49-F238E27FC236}">
                <a16:creationId xmlns:a16="http://schemas.microsoft.com/office/drawing/2014/main" id="{475DB7C5-5F3B-4F7A-AFDC-2A3E9E507A2D}"/>
              </a:ext>
            </a:extLst>
          </p:cNvPr>
          <p:cNvSpPr txBox="1"/>
          <p:nvPr/>
        </p:nvSpPr>
        <p:spPr>
          <a:xfrm>
            <a:off x="9645987" y="3083816"/>
            <a:ext cx="2235951" cy="137825"/>
          </a:xfrm>
          <a:prstGeom prst="rect">
            <a:avLst/>
          </a:prstGeom>
          <a:noFill/>
        </p:spPr>
        <p:txBody>
          <a:bodyPr wrap="square" lIns="0" tIns="0" rIns="0" bIns="0" rtlCol="0">
            <a:noAutofit/>
          </a:bodyPr>
          <a:lstStyle/>
          <a:p>
            <a:pPr>
              <a:lnSpc>
                <a:spcPct val="100000"/>
              </a:lnSpc>
              <a:spcBef>
                <a:spcPts val="1200"/>
              </a:spcBef>
              <a:buSzPct val="100000"/>
            </a:pPr>
            <a:r>
              <a:rPr lang="en-US" sz="900" dirty="0" err="1"/>
              <a:t>v_s_sorg_sls_wrkr_bp_prd_time_bckt_srvy</a:t>
            </a:r>
            <a:endParaRPr lang="en-US" sz="900" dirty="0"/>
          </a:p>
        </p:txBody>
      </p:sp>
    </p:spTree>
    <p:extLst>
      <p:ext uri="{BB962C8B-B14F-4D97-AF65-F5344CB8AC3E}">
        <p14:creationId xmlns:p14="http://schemas.microsoft.com/office/powerpoint/2010/main" val="876732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Approach to add new Celgene Products in Prescription Follow up:</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sp>
        <p:nvSpPr>
          <p:cNvPr id="33" name="Slide Number Placeholder 5">
            <a:extLst>
              <a:ext uri="{FF2B5EF4-FFF2-40B4-BE49-F238E27FC236}">
                <a16:creationId xmlns:a16="http://schemas.microsoft.com/office/drawing/2014/main" id="{24AD570F-4F98-4331-97F2-D1D656B864DD}"/>
              </a:ext>
            </a:extLst>
          </p:cNvPr>
          <p:cNvSpPr txBox="1">
            <a:spLocks/>
          </p:cNvSpPr>
          <p:nvPr/>
        </p:nvSpPr>
        <p:spPr>
          <a:xfrm>
            <a:off x="11676179" y="6456008"/>
            <a:ext cx="320040" cy="2286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4</a:t>
            </a:r>
          </a:p>
        </p:txBody>
      </p:sp>
      <p:sp>
        <p:nvSpPr>
          <p:cNvPr id="5" name="TextBox 4">
            <a:extLst>
              <a:ext uri="{FF2B5EF4-FFF2-40B4-BE49-F238E27FC236}">
                <a16:creationId xmlns:a16="http://schemas.microsoft.com/office/drawing/2014/main" id="{A5E3CC25-9EFC-46BD-A852-916B51F7DA51}"/>
              </a:ext>
            </a:extLst>
          </p:cNvPr>
          <p:cNvSpPr txBox="1"/>
          <p:nvPr/>
        </p:nvSpPr>
        <p:spPr>
          <a:xfrm>
            <a:off x="1214947" y="3367263"/>
            <a:ext cx="489297" cy="366424"/>
          </a:xfrm>
          <a:prstGeom prst="rect">
            <a:avLst/>
          </a:prstGeom>
          <a:noFill/>
        </p:spPr>
        <p:txBody>
          <a:bodyPr wrap="square" lIns="0" tIns="0" rIns="0" bIns="0" rtlCol="0">
            <a:noAutofit/>
          </a:bodyPr>
          <a:lstStyle/>
          <a:p>
            <a:pPr>
              <a:lnSpc>
                <a:spcPct val="100000"/>
              </a:lnSpc>
              <a:spcBef>
                <a:spcPts val="1200"/>
              </a:spcBef>
              <a:buSzPct val="100000"/>
            </a:pPr>
            <a:endParaRPr lang="en-US" sz="1000" dirty="0"/>
          </a:p>
        </p:txBody>
      </p:sp>
      <p:sp>
        <p:nvSpPr>
          <p:cNvPr id="16" name="TextBox 15">
            <a:extLst>
              <a:ext uri="{FF2B5EF4-FFF2-40B4-BE49-F238E27FC236}">
                <a16:creationId xmlns:a16="http://schemas.microsoft.com/office/drawing/2014/main" id="{C75E23A9-D0B0-4180-8BBD-8189D5C2FF9F}"/>
              </a:ext>
            </a:extLst>
          </p:cNvPr>
          <p:cNvSpPr txBox="1"/>
          <p:nvPr/>
        </p:nvSpPr>
        <p:spPr>
          <a:xfrm>
            <a:off x="1214947" y="3897297"/>
            <a:ext cx="3934102" cy="566741"/>
          </a:xfrm>
          <a:prstGeom prst="rect">
            <a:avLst/>
          </a:prstGeom>
          <a:noFill/>
        </p:spPr>
        <p:txBody>
          <a:bodyPr wrap="square" lIns="0" tIns="0" rIns="0" bIns="0" rtlCol="0">
            <a:noAutofit/>
          </a:bodyPr>
          <a:lstStyle/>
          <a:p>
            <a:pPr marL="228600" indent="-228600">
              <a:lnSpc>
                <a:spcPct val="100000"/>
              </a:lnSpc>
              <a:spcBef>
                <a:spcPts val="1200"/>
              </a:spcBef>
              <a:buSzPct val="100000"/>
              <a:buFont typeface="Trebuchet MS"/>
              <a:buChar char="•"/>
            </a:pPr>
            <a:endParaRPr lang="en-US" sz="2000" dirty="0"/>
          </a:p>
        </p:txBody>
      </p:sp>
      <p:sp>
        <p:nvSpPr>
          <p:cNvPr id="2" name="TextBox 1">
            <a:extLst>
              <a:ext uri="{FF2B5EF4-FFF2-40B4-BE49-F238E27FC236}">
                <a16:creationId xmlns:a16="http://schemas.microsoft.com/office/drawing/2014/main" id="{714E9DE3-449A-4414-82CD-961939354E61}"/>
              </a:ext>
            </a:extLst>
          </p:cNvPr>
          <p:cNvSpPr txBox="1"/>
          <p:nvPr/>
        </p:nvSpPr>
        <p:spPr>
          <a:xfrm>
            <a:off x="1091682" y="1875453"/>
            <a:ext cx="3934102" cy="366424"/>
          </a:xfrm>
          <a:prstGeom prst="rect">
            <a:avLst/>
          </a:prstGeom>
          <a:noFill/>
        </p:spPr>
        <p:txBody>
          <a:bodyPr wrap="square" lIns="0" tIns="0" rIns="0" bIns="0" rtlCol="0">
            <a:noAutofit/>
          </a:bodyPr>
          <a:lstStyle/>
          <a:p>
            <a:pPr>
              <a:lnSpc>
                <a:spcPct val="100000"/>
              </a:lnSpc>
              <a:spcBef>
                <a:spcPts val="1200"/>
              </a:spcBef>
              <a:buSzPct val="100000"/>
            </a:pPr>
            <a:r>
              <a:rPr lang="en-US" sz="2000" b="1" dirty="0"/>
              <a:t>Historical Data Preservation</a:t>
            </a:r>
          </a:p>
        </p:txBody>
      </p:sp>
      <p:sp>
        <p:nvSpPr>
          <p:cNvPr id="3" name="TextBox 2">
            <a:extLst>
              <a:ext uri="{FF2B5EF4-FFF2-40B4-BE49-F238E27FC236}">
                <a16:creationId xmlns:a16="http://schemas.microsoft.com/office/drawing/2014/main" id="{5CF5AF12-E178-4366-8E8D-3F64FB042CCA}"/>
              </a:ext>
            </a:extLst>
          </p:cNvPr>
          <p:cNvSpPr txBox="1"/>
          <p:nvPr/>
        </p:nvSpPr>
        <p:spPr>
          <a:xfrm>
            <a:off x="1091682" y="2323322"/>
            <a:ext cx="9972457" cy="3470988"/>
          </a:xfrm>
          <a:prstGeom prst="rect">
            <a:avLst/>
          </a:prstGeom>
          <a:noFill/>
        </p:spPr>
        <p:txBody>
          <a:bodyPr wrap="square" lIns="0" tIns="0" rIns="0" bIns="0" rtlCol="0">
            <a:noAutofit/>
          </a:bodyPr>
          <a:lstStyle/>
          <a:p>
            <a:pPr marL="228600" indent="-228600">
              <a:lnSpc>
                <a:spcPct val="100000"/>
              </a:lnSpc>
              <a:spcBef>
                <a:spcPts val="1200"/>
              </a:spcBef>
              <a:buSzPct val="100000"/>
              <a:buFont typeface="Trebuchet MS"/>
              <a:buChar char="•"/>
            </a:pPr>
            <a:r>
              <a:rPr lang="en-US" sz="2000" dirty="0"/>
              <a:t>In Prescription Follow up Report ,for ONC1 products (IO LC, IO RCC, IO HN), we are preserving data coming from survey module until October in separate tabs. </a:t>
            </a:r>
          </a:p>
          <a:p>
            <a:pPr marL="228600" indent="-228600">
              <a:lnSpc>
                <a:spcPct val="100000"/>
              </a:lnSpc>
              <a:spcBef>
                <a:spcPts val="1200"/>
              </a:spcBef>
              <a:buSzPct val="100000"/>
              <a:buFont typeface="Trebuchet MS"/>
              <a:buChar char="•"/>
            </a:pPr>
            <a:endParaRPr lang="en-US" sz="2000" dirty="0"/>
          </a:p>
          <a:p>
            <a:pPr marL="228600" indent="-228600">
              <a:lnSpc>
                <a:spcPct val="100000"/>
              </a:lnSpc>
              <a:spcBef>
                <a:spcPts val="1200"/>
              </a:spcBef>
              <a:buSzPct val="100000"/>
              <a:buFont typeface="Trebuchet MS"/>
              <a:buChar char="•"/>
            </a:pPr>
            <a:endParaRPr lang="en-US" sz="2000" dirty="0"/>
          </a:p>
          <a:p>
            <a:pPr marL="228600" indent="-228600">
              <a:lnSpc>
                <a:spcPct val="100000"/>
              </a:lnSpc>
              <a:spcBef>
                <a:spcPts val="1200"/>
              </a:spcBef>
              <a:buSzPct val="100000"/>
              <a:buFont typeface="Trebuchet MS"/>
              <a:buChar char="•"/>
            </a:pPr>
            <a:r>
              <a:rPr lang="en-US" sz="2000" b="1" u="sng" dirty="0"/>
              <a:t>Approach to be followed for that:</a:t>
            </a:r>
          </a:p>
          <a:p>
            <a:pPr marL="685800" lvl="1" indent="-228600">
              <a:spcBef>
                <a:spcPts val="1200"/>
              </a:spcBef>
              <a:buSzPct val="100000"/>
              <a:buFont typeface="Trebuchet MS"/>
              <a:buChar char="•"/>
            </a:pPr>
            <a:r>
              <a:rPr lang="en-US" sz="2000" dirty="0"/>
              <a:t>Take a snapshot of last day data load with Survey data of IO LC, Io RCC, IO HN and IO Mela products and save it in a historical table(new) ,use the historical table to add data in Survey L3 table. In survey L3 table ,as  a part of daily load , will have only EQ data load and historical load of IO LC, Io RCC, IO HN and IO Mela products will be from new table</a:t>
            </a:r>
          </a:p>
        </p:txBody>
      </p:sp>
      <p:pic>
        <p:nvPicPr>
          <p:cNvPr id="6" name="Picture 5">
            <a:extLst>
              <a:ext uri="{FF2B5EF4-FFF2-40B4-BE49-F238E27FC236}">
                <a16:creationId xmlns:a16="http://schemas.microsoft.com/office/drawing/2014/main" id="{2892C88B-0DE5-4614-BECA-42E25E992C5B}"/>
              </a:ext>
            </a:extLst>
          </p:cNvPr>
          <p:cNvPicPr>
            <a:picLocks noChangeAspect="1"/>
          </p:cNvPicPr>
          <p:nvPr/>
        </p:nvPicPr>
        <p:blipFill>
          <a:blip r:embed="rId3"/>
          <a:stretch>
            <a:fillRect/>
          </a:stretch>
        </p:blipFill>
        <p:spPr>
          <a:xfrm>
            <a:off x="1091682" y="2986087"/>
            <a:ext cx="8791575" cy="885825"/>
          </a:xfrm>
          <a:prstGeom prst="rect">
            <a:avLst/>
          </a:prstGeom>
        </p:spPr>
      </p:pic>
    </p:spTree>
    <p:extLst>
      <p:ext uri="{BB962C8B-B14F-4D97-AF65-F5344CB8AC3E}">
        <p14:creationId xmlns:p14="http://schemas.microsoft.com/office/powerpoint/2010/main" val="253539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Approach to add new Celgene Products in Patient Tracking Drilldown and C-SCOR Reports:</a:t>
            </a:r>
          </a:p>
        </p:txBody>
      </p:sp>
      <p:sp>
        <p:nvSpPr>
          <p:cNvPr id="38" name="Rectangle 37">
            <a:extLst>
              <a:ext uri="{FF2B5EF4-FFF2-40B4-BE49-F238E27FC236}">
                <a16:creationId xmlns:a16="http://schemas.microsoft.com/office/drawing/2014/main" id="{5C75A6E9-080B-4754-A651-24B68B926C3D}"/>
              </a:ext>
            </a:extLst>
          </p:cNvPr>
          <p:cNvSpPr/>
          <p:nvPr/>
        </p:nvSpPr>
        <p:spPr>
          <a:xfrm>
            <a:off x="187404" y="1938884"/>
            <a:ext cx="10977053" cy="3556847"/>
          </a:xfrm>
          <a:prstGeom prst="rect">
            <a:avLst/>
          </a:prstGeom>
          <a:ln/>
        </p:spPr>
        <p:style>
          <a:lnRef idx="2">
            <a:schemeClr val="accent2"/>
          </a:lnRef>
          <a:fillRef idx="1">
            <a:schemeClr val="lt1"/>
          </a:fillRef>
          <a:effectRef idx="0">
            <a:schemeClr val="accent2"/>
          </a:effectRef>
          <a:fontRef idx="minor">
            <a:schemeClr val="dk1"/>
          </a:fontRef>
        </p:style>
        <p:txBody>
          <a:bodyPr tIns="90000" bIns="90000" rtlCol="0" anchor="ctr" anchorCtr="0"/>
          <a:lstStyle/>
          <a:p>
            <a:pPr algn="ctr"/>
            <a:endParaRPr lang="en-US" sz="1400" dirty="0" err="1">
              <a:solidFill>
                <a:schemeClr val="tx1"/>
              </a:solidFill>
            </a:endParaRPr>
          </a:p>
        </p:txBody>
      </p:sp>
      <p:sp>
        <p:nvSpPr>
          <p:cNvPr id="39" name="Rectangle: Rounded Corners 38">
            <a:extLst>
              <a:ext uri="{FF2B5EF4-FFF2-40B4-BE49-F238E27FC236}">
                <a16:creationId xmlns:a16="http://schemas.microsoft.com/office/drawing/2014/main" id="{77FAEFAA-4DAB-4442-AC00-B2971EC058CC}"/>
              </a:ext>
            </a:extLst>
          </p:cNvPr>
          <p:cNvSpPr/>
          <p:nvPr/>
        </p:nvSpPr>
        <p:spPr>
          <a:xfrm>
            <a:off x="1813768" y="2104734"/>
            <a:ext cx="872264" cy="763944"/>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CRM</a:t>
            </a:r>
          </a:p>
        </p:txBody>
      </p:sp>
      <p:sp>
        <p:nvSpPr>
          <p:cNvPr id="40" name="Rectangle 39">
            <a:extLst>
              <a:ext uri="{FF2B5EF4-FFF2-40B4-BE49-F238E27FC236}">
                <a16:creationId xmlns:a16="http://schemas.microsoft.com/office/drawing/2014/main" id="{3BF85409-5F63-4C9E-9C7C-08E38C69F4B9}"/>
              </a:ext>
            </a:extLst>
          </p:cNvPr>
          <p:cNvSpPr/>
          <p:nvPr/>
        </p:nvSpPr>
        <p:spPr>
          <a:xfrm>
            <a:off x="2999140" y="2089777"/>
            <a:ext cx="799411" cy="793855"/>
          </a:xfrm>
          <a:prstGeom prst="rect">
            <a:avLst/>
          </a:prstGeom>
          <a:solidFill>
            <a:schemeClr val="tx2">
              <a:lumMod val="75000"/>
            </a:schemeClr>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1100" dirty="0">
                <a:solidFill>
                  <a:schemeClr val="bg1"/>
                </a:solidFill>
                <a:cs typeface="Arial" panose="020B0604020202020204" pitchFamily="34" charset="0"/>
              </a:rPr>
              <a:t>Survey Module</a:t>
            </a:r>
          </a:p>
        </p:txBody>
      </p:sp>
      <p:sp>
        <p:nvSpPr>
          <p:cNvPr id="41" name="Can 10">
            <a:extLst>
              <a:ext uri="{FF2B5EF4-FFF2-40B4-BE49-F238E27FC236}">
                <a16:creationId xmlns:a16="http://schemas.microsoft.com/office/drawing/2014/main" id="{C629F661-E28E-4531-B28A-AE30702CD583}"/>
              </a:ext>
            </a:extLst>
          </p:cNvPr>
          <p:cNvSpPr/>
          <p:nvPr/>
        </p:nvSpPr>
        <p:spPr>
          <a:xfrm>
            <a:off x="4105279" y="210473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sp>
        <p:nvSpPr>
          <p:cNvPr id="42" name="Rectangle 41">
            <a:extLst>
              <a:ext uri="{FF2B5EF4-FFF2-40B4-BE49-F238E27FC236}">
                <a16:creationId xmlns:a16="http://schemas.microsoft.com/office/drawing/2014/main" id="{F1C14EE0-31CC-426B-B8C3-9A5595FB8288}"/>
              </a:ext>
            </a:extLst>
          </p:cNvPr>
          <p:cNvSpPr/>
          <p:nvPr/>
        </p:nvSpPr>
        <p:spPr>
          <a:xfrm>
            <a:off x="4969375" y="2230918"/>
            <a:ext cx="663563" cy="511577"/>
          </a:xfrm>
          <a:prstGeom prst="rect">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a:t>
            </a:r>
          </a:p>
        </p:txBody>
      </p:sp>
      <p:cxnSp>
        <p:nvCxnSpPr>
          <p:cNvPr id="43" name="Straight Arrow Connector 42">
            <a:extLst>
              <a:ext uri="{FF2B5EF4-FFF2-40B4-BE49-F238E27FC236}">
                <a16:creationId xmlns:a16="http://schemas.microsoft.com/office/drawing/2014/main" id="{30D59DDA-B95F-441B-A738-1D83A8E3BF16}"/>
              </a:ext>
            </a:extLst>
          </p:cNvPr>
          <p:cNvCxnSpPr>
            <a:cxnSpLocks/>
          </p:cNvCxnSpPr>
          <p:nvPr/>
        </p:nvCxnSpPr>
        <p:spPr>
          <a:xfrm>
            <a:off x="4674020" y="2486706"/>
            <a:ext cx="295355"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44" name="Can 14">
            <a:extLst>
              <a:ext uri="{FF2B5EF4-FFF2-40B4-BE49-F238E27FC236}">
                <a16:creationId xmlns:a16="http://schemas.microsoft.com/office/drawing/2014/main" id="{750B2520-044F-4908-BF06-504523C4AFFD}"/>
              </a:ext>
            </a:extLst>
          </p:cNvPr>
          <p:cNvSpPr/>
          <p:nvPr/>
        </p:nvSpPr>
        <p:spPr>
          <a:xfrm>
            <a:off x="5905479" y="210473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a:t>
            </a:r>
          </a:p>
        </p:txBody>
      </p:sp>
      <p:cxnSp>
        <p:nvCxnSpPr>
          <p:cNvPr id="45" name="Straight Arrow Connector 44">
            <a:extLst>
              <a:ext uri="{FF2B5EF4-FFF2-40B4-BE49-F238E27FC236}">
                <a16:creationId xmlns:a16="http://schemas.microsoft.com/office/drawing/2014/main" id="{96EDD63D-E40B-43DE-838B-E58A7657979C}"/>
              </a:ext>
            </a:extLst>
          </p:cNvPr>
          <p:cNvCxnSpPr>
            <a:cxnSpLocks/>
          </p:cNvCxnSpPr>
          <p:nvPr/>
        </p:nvCxnSpPr>
        <p:spPr>
          <a:xfrm flipV="1">
            <a:off x="5632938" y="2486706"/>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C83C2CC0-9EBD-419D-B45E-E76A4E6AE162}"/>
              </a:ext>
            </a:extLst>
          </p:cNvPr>
          <p:cNvCxnSpPr>
            <a:cxnSpLocks/>
            <a:stCxn id="42" idx="3"/>
          </p:cNvCxnSpPr>
          <p:nvPr/>
        </p:nvCxnSpPr>
        <p:spPr>
          <a:xfrm>
            <a:off x="5632938" y="2486707"/>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EDAE4F9B-1979-4B47-978D-97CAAFF3D5D2}"/>
              </a:ext>
            </a:extLst>
          </p:cNvPr>
          <p:cNvCxnSpPr>
            <a:cxnSpLocks/>
          </p:cNvCxnSpPr>
          <p:nvPr/>
        </p:nvCxnSpPr>
        <p:spPr>
          <a:xfrm flipV="1">
            <a:off x="3832738" y="2486706"/>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7FED461F-D94F-4627-A709-895EB8204C14}"/>
              </a:ext>
            </a:extLst>
          </p:cNvPr>
          <p:cNvCxnSpPr>
            <a:cxnSpLocks/>
          </p:cNvCxnSpPr>
          <p:nvPr/>
        </p:nvCxnSpPr>
        <p:spPr>
          <a:xfrm flipV="1">
            <a:off x="2715619" y="2486706"/>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49" name="Rectangle 48">
            <a:extLst>
              <a:ext uri="{FF2B5EF4-FFF2-40B4-BE49-F238E27FC236}">
                <a16:creationId xmlns:a16="http://schemas.microsoft.com/office/drawing/2014/main" id="{B79931A1-6A7D-4978-8BD1-7E66C1B63BB3}"/>
              </a:ext>
            </a:extLst>
          </p:cNvPr>
          <p:cNvSpPr/>
          <p:nvPr/>
        </p:nvSpPr>
        <p:spPr>
          <a:xfrm>
            <a:off x="6741316" y="2089778"/>
            <a:ext cx="1581487" cy="793855"/>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a:r>
              <a:rPr lang="en-US" sz="1100" kern="0" dirty="0">
                <a:solidFill>
                  <a:srgbClr val="000000"/>
                </a:solidFill>
              </a:rPr>
              <a:t>AF_NEW_PAT_NUM as  Patient Count</a:t>
            </a:r>
          </a:p>
        </p:txBody>
      </p:sp>
      <p:cxnSp>
        <p:nvCxnSpPr>
          <p:cNvPr id="50" name="Straight Arrow Connector 49">
            <a:extLst>
              <a:ext uri="{FF2B5EF4-FFF2-40B4-BE49-F238E27FC236}">
                <a16:creationId xmlns:a16="http://schemas.microsoft.com/office/drawing/2014/main" id="{C7088030-EF57-4833-B403-BB1FDA665A70}"/>
              </a:ext>
            </a:extLst>
          </p:cNvPr>
          <p:cNvCxnSpPr>
            <a:cxnSpLocks/>
            <a:stCxn id="44" idx="4"/>
            <a:endCxn id="49" idx="1"/>
          </p:cNvCxnSpPr>
          <p:nvPr/>
        </p:nvCxnSpPr>
        <p:spPr>
          <a:xfrm>
            <a:off x="6474220" y="2486706"/>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8" name="TextBox 57">
            <a:extLst>
              <a:ext uri="{FF2B5EF4-FFF2-40B4-BE49-F238E27FC236}">
                <a16:creationId xmlns:a16="http://schemas.microsoft.com/office/drawing/2014/main" id="{91A91DD6-FB20-461C-AED1-3E6F4A1D7B63}"/>
              </a:ext>
            </a:extLst>
          </p:cNvPr>
          <p:cNvSpPr txBox="1"/>
          <p:nvPr/>
        </p:nvSpPr>
        <p:spPr>
          <a:xfrm>
            <a:off x="4389649" y="1682241"/>
            <a:ext cx="2072742" cy="366424"/>
          </a:xfrm>
          <a:prstGeom prst="rect">
            <a:avLst/>
          </a:prstGeom>
          <a:noFill/>
        </p:spPr>
        <p:txBody>
          <a:bodyPr wrap="square" tIns="90000" bIns="90000" rtlCol="0" anchor="t">
            <a:spAutoFit/>
          </a:bodyPr>
          <a:lstStyle/>
          <a:p>
            <a:pPr algn="ctr"/>
            <a:r>
              <a:rPr lang="en-US" sz="1200" b="1" dirty="0"/>
              <a:t>Existing Process</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sp>
        <p:nvSpPr>
          <p:cNvPr id="33" name="Slide Number Placeholder 5">
            <a:extLst>
              <a:ext uri="{FF2B5EF4-FFF2-40B4-BE49-F238E27FC236}">
                <a16:creationId xmlns:a16="http://schemas.microsoft.com/office/drawing/2014/main" id="{24AD570F-4F98-4331-97F2-D1D656B864DD}"/>
              </a:ext>
            </a:extLst>
          </p:cNvPr>
          <p:cNvSpPr txBox="1">
            <a:spLocks/>
          </p:cNvSpPr>
          <p:nvPr/>
        </p:nvSpPr>
        <p:spPr>
          <a:xfrm>
            <a:off x="11676179" y="6456008"/>
            <a:ext cx="320040" cy="2286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5</a:t>
            </a:r>
          </a:p>
        </p:txBody>
      </p:sp>
      <p:sp>
        <p:nvSpPr>
          <p:cNvPr id="35" name="Rectangle: Rounded Corners 34">
            <a:extLst>
              <a:ext uri="{FF2B5EF4-FFF2-40B4-BE49-F238E27FC236}">
                <a16:creationId xmlns:a16="http://schemas.microsoft.com/office/drawing/2014/main" id="{7F17C245-E22C-4761-A151-57597D003CB7}"/>
              </a:ext>
            </a:extLst>
          </p:cNvPr>
          <p:cNvSpPr/>
          <p:nvPr/>
        </p:nvSpPr>
        <p:spPr>
          <a:xfrm>
            <a:off x="1843355" y="3204664"/>
            <a:ext cx="872264" cy="763944"/>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CRM</a:t>
            </a:r>
          </a:p>
        </p:txBody>
      </p:sp>
      <p:cxnSp>
        <p:nvCxnSpPr>
          <p:cNvPr id="36" name="Straight Arrow Connector 35">
            <a:extLst>
              <a:ext uri="{FF2B5EF4-FFF2-40B4-BE49-F238E27FC236}">
                <a16:creationId xmlns:a16="http://schemas.microsoft.com/office/drawing/2014/main" id="{14EBA857-ECC1-421A-8EA4-4AF014071B89}"/>
              </a:ext>
            </a:extLst>
          </p:cNvPr>
          <p:cNvCxnSpPr>
            <a:cxnSpLocks/>
          </p:cNvCxnSpPr>
          <p:nvPr/>
        </p:nvCxnSpPr>
        <p:spPr>
          <a:xfrm flipV="1">
            <a:off x="2715619" y="3613513"/>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2" name="Rectangle 51">
            <a:extLst>
              <a:ext uri="{FF2B5EF4-FFF2-40B4-BE49-F238E27FC236}">
                <a16:creationId xmlns:a16="http://schemas.microsoft.com/office/drawing/2014/main" id="{80D2BE66-DDB8-42EB-9897-4D22B7646021}"/>
              </a:ext>
            </a:extLst>
          </p:cNvPr>
          <p:cNvSpPr/>
          <p:nvPr/>
        </p:nvSpPr>
        <p:spPr>
          <a:xfrm>
            <a:off x="3010598" y="3182020"/>
            <a:ext cx="799411" cy="793855"/>
          </a:xfrm>
          <a:prstGeom prst="rect">
            <a:avLst/>
          </a:prstGeom>
          <a:solidFill>
            <a:schemeClr val="tx2">
              <a:lumMod val="75000"/>
            </a:schemeClr>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1100" dirty="0">
                <a:solidFill>
                  <a:schemeClr val="bg1"/>
                </a:solidFill>
                <a:cs typeface="Arial" panose="020B0604020202020204" pitchFamily="34" charset="0"/>
              </a:rPr>
              <a:t>Prescription Follow Up Object  </a:t>
            </a:r>
          </a:p>
        </p:txBody>
      </p:sp>
      <p:sp>
        <p:nvSpPr>
          <p:cNvPr id="53" name="Can 10">
            <a:extLst>
              <a:ext uri="{FF2B5EF4-FFF2-40B4-BE49-F238E27FC236}">
                <a16:creationId xmlns:a16="http://schemas.microsoft.com/office/drawing/2014/main" id="{4023E4AB-1A32-4EAD-A369-39DC9BBDC708}"/>
              </a:ext>
            </a:extLst>
          </p:cNvPr>
          <p:cNvSpPr/>
          <p:nvPr/>
        </p:nvSpPr>
        <p:spPr>
          <a:xfrm>
            <a:off x="4124448" y="3215258"/>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cxnSp>
        <p:nvCxnSpPr>
          <p:cNvPr id="54" name="Straight Arrow Connector 53">
            <a:extLst>
              <a:ext uri="{FF2B5EF4-FFF2-40B4-BE49-F238E27FC236}">
                <a16:creationId xmlns:a16="http://schemas.microsoft.com/office/drawing/2014/main" id="{E6F63D43-B81F-44EB-8B47-CBEB118D15AF}"/>
              </a:ext>
            </a:extLst>
          </p:cNvPr>
          <p:cNvCxnSpPr>
            <a:cxnSpLocks/>
          </p:cNvCxnSpPr>
          <p:nvPr/>
        </p:nvCxnSpPr>
        <p:spPr>
          <a:xfrm flipV="1">
            <a:off x="3875614" y="3625007"/>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5F478BFF-BA3B-48E6-8BD3-F14EC9E96C74}"/>
              </a:ext>
            </a:extLst>
          </p:cNvPr>
          <p:cNvCxnSpPr>
            <a:cxnSpLocks/>
          </p:cNvCxnSpPr>
          <p:nvPr/>
        </p:nvCxnSpPr>
        <p:spPr>
          <a:xfrm flipV="1">
            <a:off x="4766245" y="4603522"/>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9" name="Rectangle 58">
            <a:extLst>
              <a:ext uri="{FF2B5EF4-FFF2-40B4-BE49-F238E27FC236}">
                <a16:creationId xmlns:a16="http://schemas.microsoft.com/office/drawing/2014/main" id="{CF2B1283-90ED-4684-87A6-A15DE60A99BD}"/>
              </a:ext>
            </a:extLst>
          </p:cNvPr>
          <p:cNvSpPr/>
          <p:nvPr/>
        </p:nvSpPr>
        <p:spPr>
          <a:xfrm>
            <a:off x="5012368" y="3369218"/>
            <a:ext cx="663563" cy="511577"/>
          </a:xfrm>
          <a:prstGeom prst="rect">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a:t>
            </a:r>
          </a:p>
        </p:txBody>
      </p:sp>
      <p:sp>
        <p:nvSpPr>
          <p:cNvPr id="4" name="TextBox 3">
            <a:extLst>
              <a:ext uri="{FF2B5EF4-FFF2-40B4-BE49-F238E27FC236}">
                <a16:creationId xmlns:a16="http://schemas.microsoft.com/office/drawing/2014/main" id="{03878B09-5A76-4A59-BD92-146B55C383FA}"/>
              </a:ext>
            </a:extLst>
          </p:cNvPr>
          <p:cNvSpPr txBox="1"/>
          <p:nvPr/>
        </p:nvSpPr>
        <p:spPr>
          <a:xfrm>
            <a:off x="1278384" y="2348880"/>
            <a:ext cx="489297" cy="288032"/>
          </a:xfrm>
          <a:prstGeom prst="rect">
            <a:avLst/>
          </a:prstGeom>
          <a:noFill/>
        </p:spPr>
        <p:txBody>
          <a:bodyPr wrap="square" lIns="0" tIns="0" rIns="0" bIns="0" rtlCol="0">
            <a:noAutofit/>
          </a:bodyPr>
          <a:lstStyle/>
          <a:p>
            <a:pPr>
              <a:lnSpc>
                <a:spcPct val="100000"/>
              </a:lnSpc>
              <a:spcBef>
                <a:spcPts val="1200"/>
              </a:spcBef>
              <a:buSzPct val="100000"/>
            </a:pPr>
            <a:endParaRPr lang="en-US" sz="1000" dirty="0"/>
          </a:p>
        </p:txBody>
      </p:sp>
      <p:sp>
        <p:nvSpPr>
          <p:cNvPr id="62" name="Can 14">
            <a:extLst>
              <a:ext uri="{FF2B5EF4-FFF2-40B4-BE49-F238E27FC236}">
                <a16:creationId xmlns:a16="http://schemas.microsoft.com/office/drawing/2014/main" id="{90BF65E8-8FC0-40BE-88A2-774F34FA06C1}"/>
              </a:ext>
            </a:extLst>
          </p:cNvPr>
          <p:cNvSpPr/>
          <p:nvPr/>
        </p:nvSpPr>
        <p:spPr>
          <a:xfrm>
            <a:off x="5905479" y="3250650"/>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a:t>
            </a:r>
          </a:p>
        </p:txBody>
      </p:sp>
      <p:sp>
        <p:nvSpPr>
          <p:cNvPr id="5" name="TextBox 4">
            <a:extLst>
              <a:ext uri="{FF2B5EF4-FFF2-40B4-BE49-F238E27FC236}">
                <a16:creationId xmlns:a16="http://schemas.microsoft.com/office/drawing/2014/main" id="{A5E3CC25-9EFC-46BD-A852-916B51F7DA51}"/>
              </a:ext>
            </a:extLst>
          </p:cNvPr>
          <p:cNvSpPr txBox="1"/>
          <p:nvPr/>
        </p:nvSpPr>
        <p:spPr>
          <a:xfrm>
            <a:off x="1214947" y="3367263"/>
            <a:ext cx="489297" cy="366424"/>
          </a:xfrm>
          <a:prstGeom prst="rect">
            <a:avLst/>
          </a:prstGeom>
          <a:noFill/>
        </p:spPr>
        <p:txBody>
          <a:bodyPr wrap="square" lIns="0" tIns="0" rIns="0" bIns="0" rtlCol="0">
            <a:noAutofit/>
          </a:bodyPr>
          <a:lstStyle/>
          <a:p>
            <a:pPr>
              <a:lnSpc>
                <a:spcPct val="100000"/>
              </a:lnSpc>
              <a:spcBef>
                <a:spcPts val="1200"/>
              </a:spcBef>
              <a:buSzPct val="100000"/>
            </a:pPr>
            <a:endParaRPr lang="en-US" sz="1000" dirty="0"/>
          </a:p>
        </p:txBody>
      </p:sp>
      <p:cxnSp>
        <p:nvCxnSpPr>
          <p:cNvPr id="71" name="Straight Arrow Connector 70">
            <a:extLst>
              <a:ext uri="{FF2B5EF4-FFF2-40B4-BE49-F238E27FC236}">
                <a16:creationId xmlns:a16="http://schemas.microsoft.com/office/drawing/2014/main" id="{DBFD570B-A782-41BC-88FD-D2A9D43F3C78}"/>
              </a:ext>
            </a:extLst>
          </p:cNvPr>
          <p:cNvCxnSpPr>
            <a:cxnSpLocks/>
          </p:cNvCxnSpPr>
          <p:nvPr/>
        </p:nvCxnSpPr>
        <p:spPr>
          <a:xfrm>
            <a:off x="5675931" y="3625007"/>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73" name="Straight Arrow Connector 72">
            <a:extLst>
              <a:ext uri="{FF2B5EF4-FFF2-40B4-BE49-F238E27FC236}">
                <a16:creationId xmlns:a16="http://schemas.microsoft.com/office/drawing/2014/main" id="{79E4119B-5770-485F-B899-A01871A6CC06}"/>
              </a:ext>
            </a:extLst>
          </p:cNvPr>
          <p:cNvCxnSpPr>
            <a:cxnSpLocks/>
          </p:cNvCxnSpPr>
          <p:nvPr/>
        </p:nvCxnSpPr>
        <p:spPr>
          <a:xfrm>
            <a:off x="6474220" y="3625007"/>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80D75379-57D4-4302-B137-1C1510CBBC53}"/>
              </a:ext>
            </a:extLst>
          </p:cNvPr>
          <p:cNvCxnSpPr>
            <a:stCxn id="49" idx="3"/>
          </p:cNvCxnSpPr>
          <p:nvPr/>
        </p:nvCxnSpPr>
        <p:spPr>
          <a:xfrm flipV="1">
            <a:off x="8322803" y="2486704"/>
            <a:ext cx="578601" cy="2"/>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14" name="Straight Connector 13">
            <a:extLst>
              <a:ext uri="{FF2B5EF4-FFF2-40B4-BE49-F238E27FC236}">
                <a16:creationId xmlns:a16="http://schemas.microsoft.com/office/drawing/2014/main" id="{F9B821D5-E1E2-4C30-A51B-2CA09085A04C}"/>
              </a:ext>
            </a:extLst>
          </p:cNvPr>
          <p:cNvCxnSpPr>
            <a:cxnSpLocks/>
          </p:cNvCxnSpPr>
          <p:nvPr/>
        </p:nvCxnSpPr>
        <p:spPr>
          <a:xfrm flipV="1">
            <a:off x="8322803" y="3549143"/>
            <a:ext cx="630170" cy="5252"/>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16" name="Straight Connector 15">
            <a:extLst>
              <a:ext uri="{FF2B5EF4-FFF2-40B4-BE49-F238E27FC236}">
                <a16:creationId xmlns:a16="http://schemas.microsoft.com/office/drawing/2014/main" id="{5EC2B07D-913F-4A02-9243-B25B434EB4D1}"/>
              </a:ext>
            </a:extLst>
          </p:cNvPr>
          <p:cNvCxnSpPr>
            <a:cxnSpLocks/>
          </p:cNvCxnSpPr>
          <p:nvPr/>
        </p:nvCxnSpPr>
        <p:spPr>
          <a:xfrm>
            <a:off x="8901404" y="2486704"/>
            <a:ext cx="0" cy="1031313"/>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60" name="Straight Arrow Connector 59">
            <a:extLst>
              <a:ext uri="{FF2B5EF4-FFF2-40B4-BE49-F238E27FC236}">
                <a16:creationId xmlns:a16="http://schemas.microsoft.com/office/drawing/2014/main" id="{48390EA0-4FB2-4B83-A615-0965EA0010A7}"/>
              </a:ext>
            </a:extLst>
          </p:cNvPr>
          <p:cNvCxnSpPr>
            <a:cxnSpLocks/>
          </p:cNvCxnSpPr>
          <p:nvPr/>
        </p:nvCxnSpPr>
        <p:spPr>
          <a:xfrm>
            <a:off x="8901404" y="3529658"/>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61" name="Can 14">
            <a:extLst>
              <a:ext uri="{FF2B5EF4-FFF2-40B4-BE49-F238E27FC236}">
                <a16:creationId xmlns:a16="http://schemas.microsoft.com/office/drawing/2014/main" id="{FB0B70BA-D138-46A1-94AE-9240484778EF}"/>
              </a:ext>
            </a:extLst>
          </p:cNvPr>
          <p:cNvSpPr/>
          <p:nvPr/>
        </p:nvSpPr>
        <p:spPr>
          <a:xfrm>
            <a:off x="9175985" y="3056368"/>
            <a:ext cx="824456" cy="824427"/>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Summary Table </a:t>
            </a:r>
          </a:p>
        </p:txBody>
      </p:sp>
      <p:sp>
        <p:nvSpPr>
          <p:cNvPr id="65" name="Can 14">
            <a:extLst>
              <a:ext uri="{FF2B5EF4-FFF2-40B4-BE49-F238E27FC236}">
                <a16:creationId xmlns:a16="http://schemas.microsoft.com/office/drawing/2014/main" id="{A65D9E53-8DE6-4429-943D-256959EA7B6D}"/>
              </a:ext>
            </a:extLst>
          </p:cNvPr>
          <p:cNvSpPr/>
          <p:nvPr/>
        </p:nvSpPr>
        <p:spPr>
          <a:xfrm>
            <a:off x="10378232" y="225751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lang="en-US" sz="1100" kern="0" dirty="0">
                <a:solidFill>
                  <a:srgbClr val="000000"/>
                </a:solidFill>
              </a:rPr>
              <a:t>L3 (Drilldown)</a:t>
            </a:r>
            <a:endParaRPr kumimoji="0" lang="en-US" sz="1100" b="0" i="0" u="none" strike="noStrike" kern="0" cap="none" spc="0" normalizeH="0" baseline="0" noProof="0" dirty="0">
              <a:ln>
                <a:noFill/>
              </a:ln>
              <a:solidFill>
                <a:srgbClr val="000000"/>
              </a:solidFill>
              <a:effectLst/>
              <a:uLnTx/>
              <a:uFillTx/>
              <a:ea typeface="+mn-ea"/>
              <a:cs typeface="+mn-cs"/>
            </a:endParaRPr>
          </a:p>
        </p:txBody>
      </p:sp>
      <p:sp>
        <p:nvSpPr>
          <p:cNvPr id="66" name="Can 14">
            <a:extLst>
              <a:ext uri="{FF2B5EF4-FFF2-40B4-BE49-F238E27FC236}">
                <a16:creationId xmlns:a16="http://schemas.microsoft.com/office/drawing/2014/main" id="{79EDD87F-DA12-4F56-A72D-7C9013CA8C0A}"/>
              </a:ext>
            </a:extLst>
          </p:cNvPr>
          <p:cNvSpPr/>
          <p:nvPr/>
        </p:nvSpPr>
        <p:spPr>
          <a:xfrm>
            <a:off x="10378231" y="404531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L3</a:t>
            </a:r>
          </a:p>
          <a:p>
            <a:pPr marL="0" marR="0" lvl="0" indent="0" defTabSz="914400" eaLnBrk="1" fontAlgn="auto" latinLnBrk="0" hangingPunct="1">
              <a:lnSpc>
                <a:spcPct val="100000"/>
              </a:lnSpc>
              <a:spcBef>
                <a:spcPts val="0"/>
              </a:spcBef>
              <a:spcAft>
                <a:spcPts val="0"/>
              </a:spcAft>
              <a:buClrTx/>
              <a:buSzTx/>
              <a:buFontTx/>
              <a:buNone/>
              <a:tabLst/>
              <a:defRPr/>
            </a:pPr>
            <a:r>
              <a:rPr lang="en-US" sz="1100" kern="0" dirty="0">
                <a:solidFill>
                  <a:srgbClr val="000000"/>
                </a:solidFill>
              </a:rPr>
              <a:t>(C-SCOR)</a:t>
            </a:r>
            <a:endParaRPr kumimoji="0" lang="en-US" sz="1100" b="0" i="0" u="none" strike="noStrike" kern="0" cap="none" spc="0" normalizeH="0" baseline="0" noProof="0" dirty="0">
              <a:ln>
                <a:noFill/>
              </a:ln>
              <a:solidFill>
                <a:srgbClr val="000000"/>
              </a:solidFill>
              <a:effectLst/>
              <a:uLnTx/>
              <a:uFillTx/>
              <a:ea typeface="+mn-ea"/>
              <a:cs typeface="+mn-cs"/>
            </a:endParaRPr>
          </a:p>
        </p:txBody>
      </p:sp>
      <p:cxnSp>
        <p:nvCxnSpPr>
          <p:cNvPr id="68" name="Straight Arrow Connector 67">
            <a:extLst>
              <a:ext uri="{FF2B5EF4-FFF2-40B4-BE49-F238E27FC236}">
                <a16:creationId xmlns:a16="http://schemas.microsoft.com/office/drawing/2014/main" id="{57D799FE-85A0-476D-925B-6277070FD130}"/>
              </a:ext>
            </a:extLst>
          </p:cNvPr>
          <p:cNvCxnSpPr>
            <a:cxnSpLocks/>
            <a:endCxn id="65" idx="2"/>
          </p:cNvCxnSpPr>
          <p:nvPr/>
        </p:nvCxnSpPr>
        <p:spPr>
          <a:xfrm flipV="1">
            <a:off x="10021935" y="2639486"/>
            <a:ext cx="356297" cy="816672"/>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69" name="Straight Arrow Connector 68">
            <a:extLst>
              <a:ext uri="{FF2B5EF4-FFF2-40B4-BE49-F238E27FC236}">
                <a16:creationId xmlns:a16="http://schemas.microsoft.com/office/drawing/2014/main" id="{78CF4AF3-5F0E-4F6E-810B-9B705F9B1DEF}"/>
              </a:ext>
            </a:extLst>
          </p:cNvPr>
          <p:cNvCxnSpPr>
            <a:cxnSpLocks/>
            <a:stCxn id="61" idx="4"/>
            <a:endCxn id="66" idx="2"/>
          </p:cNvCxnSpPr>
          <p:nvPr/>
        </p:nvCxnSpPr>
        <p:spPr>
          <a:xfrm>
            <a:off x="10000441" y="3468582"/>
            <a:ext cx="377790" cy="958704"/>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22" name="Left Brace 21">
            <a:extLst>
              <a:ext uri="{FF2B5EF4-FFF2-40B4-BE49-F238E27FC236}">
                <a16:creationId xmlns:a16="http://schemas.microsoft.com/office/drawing/2014/main" id="{95EB68D0-D991-479B-B561-003D691655E0}"/>
              </a:ext>
            </a:extLst>
          </p:cNvPr>
          <p:cNvSpPr/>
          <p:nvPr/>
        </p:nvSpPr>
        <p:spPr>
          <a:xfrm>
            <a:off x="1375229" y="2486704"/>
            <a:ext cx="329016" cy="1246983"/>
          </a:xfrm>
          <a:prstGeom prst="leftBrace">
            <a:avLst/>
          </a:prstGeom>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B411D966-6678-4D43-BD99-84257F648BD4}"/>
              </a:ext>
            </a:extLst>
          </p:cNvPr>
          <p:cNvSpPr txBox="1"/>
          <p:nvPr/>
        </p:nvSpPr>
        <p:spPr>
          <a:xfrm>
            <a:off x="242239" y="3013196"/>
            <a:ext cx="1171550" cy="686434"/>
          </a:xfrm>
          <a:prstGeom prst="rect">
            <a:avLst/>
          </a:prstGeom>
          <a:noFill/>
        </p:spPr>
        <p:txBody>
          <a:bodyPr wrap="square" lIns="0" tIns="0" rIns="0" bIns="0" rtlCol="0">
            <a:noAutofit/>
          </a:bodyPr>
          <a:lstStyle/>
          <a:p>
            <a:pPr>
              <a:lnSpc>
                <a:spcPct val="100000"/>
              </a:lnSpc>
              <a:spcBef>
                <a:spcPts val="1200"/>
              </a:spcBef>
              <a:buSzPct val="100000"/>
            </a:pPr>
            <a:r>
              <a:rPr lang="en-US" sz="1200" dirty="0"/>
              <a:t>New Patients and Potential Patients</a:t>
            </a:r>
          </a:p>
        </p:txBody>
      </p:sp>
      <p:sp>
        <p:nvSpPr>
          <p:cNvPr id="70" name="Rectangle: Rounded Corners 69">
            <a:extLst>
              <a:ext uri="{FF2B5EF4-FFF2-40B4-BE49-F238E27FC236}">
                <a16:creationId xmlns:a16="http://schemas.microsoft.com/office/drawing/2014/main" id="{014E54AA-15B5-48F2-8FA8-3E29233439ED}"/>
              </a:ext>
            </a:extLst>
          </p:cNvPr>
          <p:cNvSpPr/>
          <p:nvPr/>
        </p:nvSpPr>
        <p:spPr>
          <a:xfrm>
            <a:off x="1843355" y="4225251"/>
            <a:ext cx="872264" cy="763944"/>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CRM</a:t>
            </a:r>
          </a:p>
        </p:txBody>
      </p:sp>
      <p:sp>
        <p:nvSpPr>
          <p:cNvPr id="75" name="Rectangle 74">
            <a:extLst>
              <a:ext uri="{FF2B5EF4-FFF2-40B4-BE49-F238E27FC236}">
                <a16:creationId xmlns:a16="http://schemas.microsoft.com/office/drawing/2014/main" id="{7074D6B0-D74B-43F9-92AE-FB2392C805EF}"/>
              </a:ext>
            </a:extLst>
          </p:cNvPr>
          <p:cNvSpPr/>
          <p:nvPr/>
        </p:nvSpPr>
        <p:spPr>
          <a:xfrm>
            <a:off x="3007742" y="4201867"/>
            <a:ext cx="799411" cy="793855"/>
          </a:xfrm>
          <a:prstGeom prst="rect">
            <a:avLst/>
          </a:prstGeom>
          <a:solidFill>
            <a:schemeClr val="tx2">
              <a:lumMod val="75000"/>
            </a:schemeClr>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1100" dirty="0">
                <a:solidFill>
                  <a:schemeClr val="bg1"/>
                </a:solidFill>
                <a:cs typeface="Arial" panose="020B0604020202020204" pitchFamily="34" charset="0"/>
              </a:rPr>
              <a:t>Product Metric Object</a:t>
            </a:r>
          </a:p>
        </p:txBody>
      </p:sp>
      <p:sp>
        <p:nvSpPr>
          <p:cNvPr id="76" name="Can 10">
            <a:extLst>
              <a:ext uri="{FF2B5EF4-FFF2-40B4-BE49-F238E27FC236}">
                <a16:creationId xmlns:a16="http://schemas.microsoft.com/office/drawing/2014/main" id="{EDB2393A-7568-4C98-B2A7-86CD5AE7880F}"/>
              </a:ext>
            </a:extLst>
          </p:cNvPr>
          <p:cNvSpPr/>
          <p:nvPr/>
        </p:nvSpPr>
        <p:spPr>
          <a:xfrm>
            <a:off x="4142052" y="4198483"/>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sp>
        <p:nvSpPr>
          <p:cNvPr id="78" name="Rectangle 77">
            <a:extLst>
              <a:ext uri="{FF2B5EF4-FFF2-40B4-BE49-F238E27FC236}">
                <a16:creationId xmlns:a16="http://schemas.microsoft.com/office/drawing/2014/main" id="{3A14D7EA-C613-48C5-AE02-B5C3088F54A8}"/>
              </a:ext>
            </a:extLst>
          </p:cNvPr>
          <p:cNvSpPr/>
          <p:nvPr/>
        </p:nvSpPr>
        <p:spPr>
          <a:xfrm>
            <a:off x="5028021" y="4324666"/>
            <a:ext cx="663563" cy="511577"/>
          </a:xfrm>
          <a:prstGeom prst="rect">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a:t>
            </a:r>
          </a:p>
        </p:txBody>
      </p:sp>
      <p:sp>
        <p:nvSpPr>
          <p:cNvPr id="79" name="Can 14">
            <a:extLst>
              <a:ext uri="{FF2B5EF4-FFF2-40B4-BE49-F238E27FC236}">
                <a16:creationId xmlns:a16="http://schemas.microsoft.com/office/drawing/2014/main" id="{8CD63F3D-6F48-4FD7-BA9A-B054C3C84A86}"/>
              </a:ext>
            </a:extLst>
          </p:cNvPr>
          <p:cNvSpPr/>
          <p:nvPr/>
        </p:nvSpPr>
        <p:spPr>
          <a:xfrm>
            <a:off x="5931677" y="4198483"/>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a:t>
            </a:r>
          </a:p>
        </p:txBody>
      </p:sp>
      <p:cxnSp>
        <p:nvCxnSpPr>
          <p:cNvPr id="82" name="Straight Connector 81">
            <a:extLst>
              <a:ext uri="{FF2B5EF4-FFF2-40B4-BE49-F238E27FC236}">
                <a16:creationId xmlns:a16="http://schemas.microsoft.com/office/drawing/2014/main" id="{F43B9FB7-323E-4FFE-B15D-D403781F113D}"/>
              </a:ext>
            </a:extLst>
          </p:cNvPr>
          <p:cNvCxnSpPr>
            <a:cxnSpLocks/>
          </p:cNvCxnSpPr>
          <p:nvPr/>
        </p:nvCxnSpPr>
        <p:spPr>
          <a:xfrm>
            <a:off x="8901404" y="3529658"/>
            <a:ext cx="0" cy="1031313"/>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84" name="Straight Connector 83">
            <a:extLst>
              <a:ext uri="{FF2B5EF4-FFF2-40B4-BE49-F238E27FC236}">
                <a16:creationId xmlns:a16="http://schemas.microsoft.com/office/drawing/2014/main" id="{DF135D66-6A62-42EF-9DB0-3687AE44FCD7}"/>
              </a:ext>
            </a:extLst>
          </p:cNvPr>
          <p:cNvCxnSpPr>
            <a:cxnSpLocks/>
            <a:stCxn id="91" idx="3"/>
          </p:cNvCxnSpPr>
          <p:nvPr/>
        </p:nvCxnSpPr>
        <p:spPr>
          <a:xfrm>
            <a:off x="8391478" y="4580454"/>
            <a:ext cx="509926" cy="7840"/>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85" name="Straight Arrow Connector 84">
            <a:extLst>
              <a:ext uri="{FF2B5EF4-FFF2-40B4-BE49-F238E27FC236}">
                <a16:creationId xmlns:a16="http://schemas.microsoft.com/office/drawing/2014/main" id="{F6F9C56B-E069-4892-BBA5-ACFC17581D89}"/>
              </a:ext>
            </a:extLst>
          </p:cNvPr>
          <p:cNvCxnSpPr>
            <a:cxnSpLocks/>
          </p:cNvCxnSpPr>
          <p:nvPr/>
        </p:nvCxnSpPr>
        <p:spPr>
          <a:xfrm flipV="1">
            <a:off x="2728695" y="4620286"/>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86" name="Straight Arrow Connector 85">
            <a:extLst>
              <a:ext uri="{FF2B5EF4-FFF2-40B4-BE49-F238E27FC236}">
                <a16:creationId xmlns:a16="http://schemas.microsoft.com/office/drawing/2014/main" id="{072524D9-6949-48C2-9D13-09159A2DF80C}"/>
              </a:ext>
            </a:extLst>
          </p:cNvPr>
          <p:cNvCxnSpPr>
            <a:cxnSpLocks/>
          </p:cNvCxnSpPr>
          <p:nvPr/>
        </p:nvCxnSpPr>
        <p:spPr>
          <a:xfrm flipV="1">
            <a:off x="3860498" y="4607223"/>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87" name="Left Brace 86">
            <a:extLst>
              <a:ext uri="{FF2B5EF4-FFF2-40B4-BE49-F238E27FC236}">
                <a16:creationId xmlns:a16="http://schemas.microsoft.com/office/drawing/2014/main" id="{9FE6BA63-F292-40D1-B860-2BBC89C3F6A4}"/>
              </a:ext>
            </a:extLst>
          </p:cNvPr>
          <p:cNvSpPr/>
          <p:nvPr/>
        </p:nvSpPr>
        <p:spPr>
          <a:xfrm>
            <a:off x="1386724" y="4427285"/>
            <a:ext cx="329016" cy="412573"/>
          </a:xfrm>
          <a:prstGeom prst="leftBrace">
            <a:avLst/>
          </a:prstGeom>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30" name="TextBox 29">
            <a:extLst>
              <a:ext uri="{FF2B5EF4-FFF2-40B4-BE49-F238E27FC236}">
                <a16:creationId xmlns:a16="http://schemas.microsoft.com/office/drawing/2014/main" id="{4394AC7C-D949-4DF7-8F4F-3FCF51D3271B}"/>
              </a:ext>
            </a:extLst>
          </p:cNvPr>
          <p:cNvSpPr txBox="1"/>
          <p:nvPr/>
        </p:nvSpPr>
        <p:spPr>
          <a:xfrm>
            <a:off x="251760" y="4434221"/>
            <a:ext cx="1079512" cy="535142"/>
          </a:xfrm>
          <a:prstGeom prst="rect">
            <a:avLst/>
          </a:prstGeom>
          <a:noFill/>
        </p:spPr>
        <p:txBody>
          <a:bodyPr wrap="square" lIns="0" tIns="0" rIns="0" bIns="0" rtlCol="0">
            <a:noAutofit/>
          </a:bodyPr>
          <a:lstStyle/>
          <a:p>
            <a:pPr>
              <a:lnSpc>
                <a:spcPct val="100000"/>
              </a:lnSpc>
              <a:spcBef>
                <a:spcPts val="1200"/>
              </a:spcBef>
              <a:buSzPct val="100000"/>
            </a:pPr>
            <a:r>
              <a:rPr lang="en-US" sz="1200" dirty="0"/>
              <a:t>Target Patients</a:t>
            </a:r>
          </a:p>
        </p:txBody>
      </p:sp>
      <p:cxnSp>
        <p:nvCxnSpPr>
          <p:cNvPr id="88" name="Straight Arrow Connector 87">
            <a:extLst>
              <a:ext uri="{FF2B5EF4-FFF2-40B4-BE49-F238E27FC236}">
                <a16:creationId xmlns:a16="http://schemas.microsoft.com/office/drawing/2014/main" id="{B13019B1-A529-4E15-B1B3-C4BF52E63D88}"/>
              </a:ext>
            </a:extLst>
          </p:cNvPr>
          <p:cNvCxnSpPr>
            <a:cxnSpLocks/>
          </p:cNvCxnSpPr>
          <p:nvPr/>
        </p:nvCxnSpPr>
        <p:spPr>
          <a:xfrm>
            <a:off x="5691584" y="4598794"/>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89" name="Straight Arrow Connector 88">
            <a:extLst>
              <a:ext uri="{FF2B5EF4-FFF2-40B4-BE49-F238E27FC236}">
                <a16:creationId xmlns:a16="http://schemas.microsoft.com/office/drawing/2014/main" id="{A8CECF29-490F-4C82-86E9-81BB08D8B8E4}"/>
              </a:ext>
            </a:extLst>
          </p:cNvPr>
          <p:cNvCxnSpPr>
            <a:cxnSpLocks/>
          </p:cNvCxnSpPr>
          <p:nvPr/>
        </p:nvCxnSpPr>
        <p:spPr>
          <a:xfrm>
            <a:off x="6535008" y="4588294"/>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90" name="Rectangle 89">
            <a:extLst>
              <a:ext uri="{FF2B5EF4-FFF2-40B4-BE49-F238E27FC236}">
                <a16:creationId xmlns:a16="http://schemas.microsoft.com/office/drawing/2014/main" id="{F6B15CBB-8207-4343-858C-5B6F0FBF77CD}"/>
              </a:ext>
            </a:extLst>
          </p:cNvPr>
          <p:cNvSpPr/>
          <p:nvPr/>
        </p:nvSpPr>
        <p:spPr>
          <a:xfrm>
            <a:off x="6730569" y="3182020"/>
            <a:ext cx="1581487" cy="793855"/>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a:r>
              <a:rPr lang="en-US" sz="1100" kern="0" dirty="0">
                <a:solidFill>
                  <a:srgbClr val="000000"/>
                </a:solidFill>
              </a:rPr>
              <a:t>count(</a:t>
            </a:r>
            <a:r>
              <a:rPr lang="en-US" sz="1100" kern="0" dirty="0" err="1">
                <a:solidFill>
                  <a:srgbClr val="000000"/>
                </a:solidFill>
              </a:rPr>
              <a:t>bp_prd_rx_id</a:t>
            </a:r>
            <a:r>
              <a:rPr lang="en-US" sz="1100" kern="0" dirty="0">
                <a:solidFill>
                  <a:srgbClr val="000000"/>
                </a:solidFill>
              </a:rPr>
              <a:t>) as Patient Count </a:t>
            </a:r>
          </a:p>
        </p:txBody>
      </p:sp>
      <p:sp>
        <p:nvSpPr>
          <p:cNvPr id="91" name="Rectangle 90">
            <a:extLst>
              <a:ext uri="{FF2B5EF4-FFF2-40B4-BE49-F238E27FC236}">
                <a16:creationId xmlns:a16="http://schemas.microsoft.com/office/drawing/2014/main" id="{7E13127B-ADE3-460C-884C-AA0F9DB94B68}"/>
              </a:ext>
            </a:extLst>
          </p:cNvPr>
          <p:cNvSpPr/>
          <p:nvPr/>
        </p:nvSpPr>
        <p:spPr>
          <a:xfrm>
            <a:off x="6809991" y="4183526"/>
            <a:ext cx="1581487" cy="793855"/>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a:r>
              <a:rPr lang="en-US" sz="1100" kern="0" dirty="0">
                <a:solidFill>
                  <a:srgbClr val="000000"/>
                </a:solidFill>
              </a:rPr>
              <a:t>Sum(</a:t>
            </a:r>
            <a:r>
              <a:rPr lang="en-US" sz="1100" kern="0" dirty="0" err="1">
                <a:solidFill>
                  <a:srgbClr val="000000"/>
                </a:solidFill>
              </a:rPr>
              <a:t>pat_num</a:t>
            </a:r>
            <a:r>
              <a:rPr lang="en-US" sz="1100" kern="0" dirty="0">
                <a:solidFill>
                  <a:srgbClr val="000000"/>
                </a:solidFill>
              </a:rPr>
              <a:t>) as Patient Count </a:t>
            </a:r>
          </a:p>
        </p:txBody>
      </p:sp>
      <p:cxnSp>
        <p:nvCxnSpPr>
          <p:cNvPr id="94" name="Straight Arrow Connector 93">
            <a:extLst>
              <a:ext uri="{FF2B5EF4-FFF2-40B4-BE49-F238E27FC236}">
                <a16:creationId xmlns:a16="http://schemas.microsoft.com/office/drawing/2014/main" id="{1961512F-6C12-4C24-B43C-5504FD07A35D}"/>
              </a:ext>
            </a:extLst>
          </p:cNvPr>
          <p:cNvCxnSpPr>
            <a:cxnSpLocks/>
          </p:cNvCxnSpPr>
          <p:nvPr/>
        </p:nvCxnSpPr>
        <p:spPr>
          <a:xfrm>
            <a:off x="4739827" y="3651797"/>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95" name="Speech Bubble: Rectangle with Corners Rounded 94">
            <a:extLst>
              <a:ext uri="{FF2B5EF4-FFF2-40B4-BE49-F238E27FC236}">
                <a16:creationId xmlns:a16="http://schemas.microsoft.com/office/drawing/2014/main" id="{27CD8593-F396-459F-99DF-9F61F80484E0}"/>
              </a:ext>
            </a:extLst>
          </p:cNvPr>
          <p:cNvSpPr/>
          <p:nvPr/>
        </p:nvSpPr>
        <p:spPr>
          <a:xfrm>
            <a:off x="8312056" y="5047368"/>
            <a:ext cx="1812974" cy="1143676"/>
          </a:xfrm>
          <a:prstGeom prst="wedgeRoundRectCallout">
            <a:avLst>
              <a:gd name="adj1" fmla="val 48985"/>
              <a:gd name="adj2" fmla="val -162635"/>
              <a:gd name="adj3" fmla="val 16667"/>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000" kern="0" dirty="0">
                <a:solidFill>
                  <a:schemeClr val="bg1"/>
                </a:solidFill>
              </a:rPr>
              <a:t>Consecutive Patients are calculated here , which are </a:t>
            </a:r>
            <a:r>
              <a:rPr lang="en-US" sz="1000" dirty="0"/>
              <a:t>Total number of new patients over </a:t>
            </a:r>
            <a:r>
              <a:rPr lang="en-US" sz="1000" kern="0" dirty="0">
                <a:solidFill>
                  <a:schemeClr val="bg1"/>
                </a:solidFill>
              </a:rPr>
              <a:t> </a:t>
            </a:r>
            <a:r>
              <a:rPr lang="en-US" sz="1000" dirty="0"/>
              <a:t>the past 7 months, including the selected month </a:t>
            </a:r>
            <a:endParaRPr lang="en-US" sz="1000" kern="0" dirty="0">
              <a:solidFill>
                <a:schemeClr val="bg1"/>
              </a:solidFill>
            </a:endParaRPr>
          </a:p>
        </p:txBody>
      </p:sp>
    </p:spTree>
    <p:extLst>
      <p:ext uri="{BB962C8B-B14F-4D97-AF65-F5344CB8AC3E}">
        <p14:creationId xmlns:p14="http://schemas.microsoft.com/office/powerpoint/2010/main" val="2573192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Approach to add new Celgene Products in Patient Tracking Drilldown and C-SCOR Reports:</a:t>
            </a:r>
          </a:p>
        </p:txBody>
      </p:sp>
      <p:sp>
        <p:nvSpPr>
          <p:cNvPr id="58" name="TextBox 57">
            <a:extLst>
              <a:ext uri="{FF2B5EF4-FFF2-40B4-BE49-F238E27FC236}">
                <a16:creationId xmlns:a16="http://schemas.microsoft.com/office/drawing/2014/main" id="{91A91DD6-FB20-461C-AED1-3E6F4A1D7B63}"/>
              </a:ext>
            </a:extLst>
          </p:cNvPr>
          <p:cNvSpPr txBox="1"/>
          <p:nvPr/>
        </p:nvSpPr>
        <p:spPr>
          <a:xfrm>
            <a:off x="4389648" y="1682241"/>
            <a:ext cx="2766931" cy="366424"/>
          </a:xfrm>
          <a:prstGeom prst="rect">
            <a:avLst/>
          </a:prstGeom>
          <a:noFill/>
        </p:spPr>
        <p:txBody>
          <a:bodyPr wrap="square" tIns="90000" bIns="90000" rtlCol="0" anchor="t">
            <a:spAutoFit/>
          </a:bodyPr>
          <a:lstStyle/>
          <a:p>
            <a:pPr algn="ctr"/>
            <a:r>
              <a:rPr lang="en-US" sz="1200" b="1" dirty="0"/>
              <a:t>Process after Batch-2 Changes </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sp>
        <p:nvSpPr>
          <p:cNvPr id="33" name="Slide Number Placeholder 5">
            <a:extLst>
              <a:ext uri="{FF2B5EF4-FFF2-40B4-BE49-F238E27FC236}">
                <a16:creationId xmlns:a16="http://schemas.microsoft.com/office/drawing/2014/main" id="{24AD570F-4F98-4331-97F2-D1D656B864DD}"/>
              </a:ext>
            </a:extLst>
          </p:cNvPr>
          <p:cNvSpPr txBox="1">
            <a:spLocks/>
          </p:cNvSpPr>
          <p:nvPr/>
        </p:nvSpPr>
        <p:spPr>
          <a:xfrm>
            <a:off x="11676179" y="6456008"/>
            <a:ext cx="320040" cy="2286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6</a:t>
            </a:r>
          </a:p>
        </p:txBody>
      </p:sp>
      <p:sp>
        <p:nvSpPr>
          <p:cNvPr id="35" name="Rectangle: Rounded Corners 34">
            <a:extLst>
              <a:ext uri="{FF2B5EF4-FFF2-40B4-BE49-F238E27FC236}">
                <a16:creationId xmlns:a16="http://schemas.microsoft.com/office/drawing/2014/main" id="{7F17C245-E22C-4761-A151-57597D003CB7}"/>
              </a:ext>
            </a:extLst>
          </p:cNvPr>
          <p:cNvSpPr/>
          <p:nvPr/>
        </p:nvSpPr>
        <p:spPr>
          <a:xfrm>
            <a:off x="1749992" y="2292424"/>
            <a:ext cx="872264" cy="763944"/>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CRM</a:t>
            </a:r>
          </a:p>
        </p:txBody>
      </p:sp>
      <p:cxnSp>
        <p:nvCxnSpPr>
          <p:cNvPr id="36" name="Straight Arrow Connector 35">
            <a:extLst>
              <a:ext uri="{FF2B5EF4-FFF2-40B4-BE49-F238E27FC236}">
                <a16:creationId xmlns:a16="http://schemas.microsoft.com/office/drawing/2014/main" id="{14EBA857-ECC1-421A-8EA4-4AF014071B89}"/>
              </a:ext>
            </a:extLst>
          </p:cNvPr>
          <p:cNvCxnSpPr>
            <a:cxnSpLocks/>
          </p:cNvCxnSpPr>
          <p:nvPr/>
        </p:nvCxnSpPr>
        <p:spPr>
          <a:xfrm flipV="1">
            <a:off x="2643750" y="2708087"/>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2" name="Rectangle 51">
            <a:extLst>
              <a:ext uri="{FF2B5EF4-FFF2-40B4-BE49-F238E27FC236}">
                <a16:creationId xmlns:a16="http://schemas.microsoft.com/office/drawing/2014/main" id="{80D2BE66-DDB8-42EB-9897-4D22B7646021}"/>
              </a:ext>
            </a:extLst>
          </p:cNvPr>
          <p:cNvSpPr/>
          <p:nvPr/>
        </p:nvSpPr>
        <p:spPr>
          <a:xfrm>
            <a:off x="2960964" y="2270021"/>
            <a:ext cx="799411" cy="793855"/>
          </a:xfrm>
          <a:prstGeom prst="rect">
            <a:avLst/>
          </a:prstGeom>
          <a:solidFill>
            <a:schemeClr val="tx2">
              <a:lumMod val="75000"/>
            </a:schemeClr>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1100" dirty="0">
                <a:solidFill>
                  <a:schemeClr val="bg1"/>
                </a:solidFill>
                <a:cs typeface="Arial" panose="020B0604020202020204" pitchFamily="34" charset="0"/>
              </a:rPr>
              <a:t>Prescription Follow Up Object  </a:t>
            </a:r>
          </a:p>
        </p:txBody>
      </p:sp>
      <p:sp>
        <p:nvSpPr>
          <p:cNvPr id="53" name="Can 10">
            <a:extLst>
              <a:ext uri="{FF2B5EF4-FFF2-40B4-BE49-F238E27FC236}">
                <a16:creationId xmlns:a16="http://schemas.microsoft.com/office/drawing/2014/main" id="{4023E4AB-1A32-4EAD-A369-39DC9BBDC708}"/>
              </a:ext>
            </a:extLst>
          </p:cNvPr>
          <p:cNvSpPr/>
          <p:nvPr/>
        </p:nvSpPr>
        <p:spPr>
          <a:xfrm>
            <a:off x="4153976" y="229242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cxnSp>
        <p:nvCxnSpPr>
          <p:cNvPr id="54" name="Straight Arrow Connector 53">
            <a:extLst>
              <a:ext uri="{FF2B5EF4-FFF2-40B4-BE49-F238E27FC236}">
                <a16:creationId xmlns:a16="http://schemas.microsoft.com/office/drawing/2014/main" id="{E6F63D43-B81F-44EB-8B47-CBEB118D15AF}"/>
              </a:ext>
            </a:extLst>
          </p:cNvPr>
          <p:cNvCxnSpPr>
            <a:cxnSpLocks/>
          </p:cNvCxnSpPr>
          <p:nvPr/>
        </p:nvCxnSpPr>
        <p:spPr>
          <a:xfrm flipV="1">
            <a:off x="3781869" y="2707655"/>
            <a:ext cx="313809"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5F478BFF-BA3B-48E6-8BD3-F14EC9E96C74}"/>
              </a:ext>
            </a:extLst>
          </p:cNvPr>
          <p:cNvCxnSpPr>
            <a:cxnSpLocks/>
          </p:cNvCxnSpPr>
          <p:nvPr/>
        </p:nvCxnSpPr>
        <p:spPr>
          <a:xfrm flipV="1">
            <a:off x="4766245" y="4603522"/>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9" name="Rectangle 58">
            <a:extLst>
              <a:ext uri="{FF2B5EF4-FFF2-40B4-BE49-F238E27FC236}">
                <a16:creationId xmlns:a16="http://schemas.microsoft.com/office/drawing/2014/main" id="{CF2B1283-90ED-4684-87A6-A15DE60A99BD}"/>
              </a:ext>
            </a:extLst>
          </p:cNvPr>
          <p:cNvSpPr/>
          <p:nvPr/>
        </p:nvSpPr>
        <p:spPr>
          <a:xfrm>
            <a:off x="5012061" y="2436959"/>
            <a:ext cx="663563" cy="511577"/>
          </a:xfrm>
          <a:prstGeom prst="rect">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a:t>
            </a:r>
          </a:p>
        </p:txBody>
      </p:sp>
      <p:sp>
        <p:nvSpPr>
          <p:cNvPr id="4" name="TextBox 3">
            <a:extLst>
              <a:ext uri="{FF2B5EF4-FFF2-40B4-BE49-F238E27FC236}">
                <a16:creationId xmlns:a16="http://schemas.microsoft.com/office/drawing/2014/main" id="{03878B09-5A76-4A59-BD92-146B55C383FA}"/>
              </a:ext>
            </a:extLst>
          </p:cNvPr>
          <p:cNvSpPr txBox="1"/>
          <p:nvPr/>
        </p:nvSpPr>
        <p:spPr>
          <a:xfrm>
            <a:off x="1278384" y="2348880"/>
            <a:ext cx="489297" cy="288032"/>
          </a:xfrm>
          <a:prstGeom prst="rect">
            <a:avLst/>
          </a:prstGeom>
          <a:noFill/>
        </p:spPr>
        <p:txBody>
          <a:bodyPr wrap="square" lIns="0" tIns="0" rIns="0" bIns="0" rtlCol="0">
            <a:noAutofit/>
          </a:bodyPr>
          <a:lstStyle/>
          <a:p>
            <a:pPr>
              <a:lnSpc>
                <a:spcPct val="100000"/>
              </a:lnSpc>
              <a:spcBef>
                <a:spcPts val="1200"/>
              </a:spcBef>
              <a:buSzPct val="100000"/>
            </a:pPr>
            <a:endParaRPr lang="en-US" sz="1000" dirty="0"/>
          </a:p>
        </p:txBody>
      </p:sp>
      <p:sp>
        <p:nvSpPr>
          <p:cNvPr id="62" name="Can 14">
            <a:extLst>
              <a:ext uri="{FF2B5EF4-FFF2-40B4-BE49-F238E27FC236}">
                <a16:creationId xmlns:a16="http://schemas.microsoft.com/office/drawing/2014/main" id="{90BF65E8-8FC0-40BE-88A2-774F34FA06C1}"/>
              </a:ext>
            </a:extLst>
          </p:cNvPr>
          <p:cNvSpPr/>
          <p:nvPr/>
        </p:nvSpPr>
        <p:spPr>
          <a:xfrm>
            <a:off x="5921880" y="2309242"/>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a:t>
            </a:r>
          </a:p>
        </p:txBody>
      </p:sp>
      <p:sp>
        <p:nvSpPr>
          <p:cNvPr id="5" name="TextBox 4">
            <a:extLst>
              <a:ext uri="{FF2B5EF4-FFF2-40B4-BE49-F238E27FC236}">
                <a16:creationId xmlns:a16="http://schemas.microsoft.com/office/drawing/2014/main" id="{A5E3CC25-9EFC-46BD-A852-916B51F7DA51}"/>
              </a:ext>
            </a:extLst>
          </p:cNvPr>
          <p:cNvSpPr txBox="1"/>
          <p:nvPr/>
        </p:nvSpPr>
        <p:spPr>
          <a:xfrm>
            <a:off x="1214947" y="3367263"/>
            <a:ext cx="489297" cy="366424"/>
          </a:xfrm>
          <a:prstGeom prst="rect">
            <a:avLst/>
          </a:prstGeom>
          <a:noFill/>
        </p:spPr>
        <p:txBody>
          <a:bodyPr wrap="square" lIns="0" tIns="0" rIns="0" bIns="0" rtlCol="0">
            <a:noAutofit/>
          </a:bodyPr>
          <a:lstStyle/>
          <a:p>
            <a:pPr>
              <a:lnSpc>
                <a:spcPct val="100000"/>
              </a:lnSpc>
              <a:spcBef>
                <a:spcPts val="1200"/>
              </a:spcBef>
              <a:buSzPct val="100000"/>
            </a:pPr>
            <a:endParaRPr lang="en-US" sz="1000" dirty="0"/>
          </a:p>
        </p:txBody>
      </p:sp>
      <p:cxnSp>
        <p:nvCxnSpPr>
          <p:cNvPr id="71" name="Straight Arrow Connector 70">
            <a:extLst>
              <a:ext uri="{FF2B5EF4-FFF2-40B4-BE49-F238E27FC236}">
                <a16:creationId xmlns:a16="http://schemas.microsoft.com/office/drawing/2014/main" id="{DBFD570B-A782-41BC-88FD-D2A9D43F3C78}"/>
              </a:ext>
            </a:extLst>
          </p:cNvPr>
          <p:cNvCxnSpPr>
            <a:cxnSpLocks/>
          </p:cNvCxnSpPr>
          <p:nvPr/>
        </p:nvCxnSpPr>
        <p:spPr>
          <a:xfrm>
            <a:off x="4766245" y="2729655"/>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73" name="Straight Arrow Connector 72">
            <a:extLst>
              <a:ext uri="{FF2B5EF4-FFF2-40B4-BE49-F238E27FC236}">
                <a16:creationId xmlns:a16="http://schemas.microsoft.com/office/drawing/2014/main" id="{79E4119B-5770-485F-B899-A01871A6CC06}"/>
              </a:ext>
            </a:extLst>
          </p:cNvPr>
          <p:cNvCxnSpPr>
            <a:cxnSpLocks/>
          </p:cNvCxnSpPr>
          <p:nvPr/>
        </p:nvCxnSpPr>
        <p:spPr>
          <a:xfrm>
            <a:off x="6492556" y="2729655"/>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5EC2B07D-913F-4A02-9243-B25B434EB4D1}"/>
              </a:ext>
            </a:extLst>
          </p:cNvPr>
          <p:cNvCxnSpPr>
            <a:cxnSpLocks/>
          </p:cNvCxnSpPr>
          <p:nvPr/>
        </p:nvCxnSpPr>
        <p:spPr>
          <a:xfrm>
            <a:off x="8901404" y="2729655"/>
            <a:ext cx="0" cy="788362"/>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60" name="Straight Arrow Connector 59">
            <a:extLst>
              <a:ext uri="{FF2B5EF4-FFF2-40B4-BE49-F238E27FC236}">
                <a16:creationId xmlns:a16="http://schemas.microsoft.com/office/drawing/2014/main" id="{48390EA0-4FB2-4B83-A615-0965EA0010A7}"/>
              </a:ext>
            </a:extLst>
          </p:cNvPr>
          <p:cNvCxnSpPr>
            <a:cxnSpLocks/>
          </p:cNvCxnSpPr>
          <p:nvPr/>
        </p:nvCxnSpPr>
        <p:spPr>
          <a:xfrm>
            <a:off x="8950960" y="3529658"/>
            <a:ext cx="217540"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61" name="Can 14">
            <a:extLst>
              <a:ext uri="{FF2B5EF4-FFF2-40B4-BE49-F238E27FC236}">
                <a16:creationId xmlns:a16="http://schemas.microsoft.com/office/drawing/2014/main" id="{FB0B70BA-D138-46A1-94AE-9240484778EF}"/>
              </a:ext>
            </a:extLst>
          </p:cNvPr>
          <p:cNvSpPr/>
          <p:nvPr/>
        </p:nvSpPr>
        <p:spPr>
          <a:xfrm>
            <a:off x="9175985" y="3056368"/>
            <a:ext cx="824456" cy="824427"/>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Summary Table </a:t>
            </a:r>
          </a:p>
        </p:txBody>
      </p:sp>
      <p:sp>
        <p:nvSpPr>
          <p:cNvPr id="65" name="Can 14">
            <a:extLst>
              <a:ext uri="{FF2B5EF4-FFF2-40B4-BE49-F238E27FC236}">
                <a16:creationId xmlns:a16="http://schemas.microsoft.com/office/drawing/2014/main" id="{A65D9E53-8DE6-4429-943D-256959EA7B6D}"/>
              </a:ext>
            </a:extLst>
          </p:cNvPr>
          <p:cNvSpPr/>
          <p:nvPr/>
        </p:nvSpPr>
        <p:spPr>
          <a:xfrm>
            <a:off x="10378232" y="225751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lang="en-US" sz="1100" kern="0" dirty="0">
                <a:solidFill>
                  <a:srgbClr val="000000"/>
                </a:solidFill>
              </a:rPr>
              <a:t>L3 (Drilldown)</a:t>
            </a:r>
            <a:endParaRPr kumimoji="0" lang="en-US" sz="1100" b="0" i="0" u="none" strike="noStrike" kern="0" cap="none" spc="0" normalizeH="0" baseline="0" noProof="0" dirty="0">
              <a:ln>
                <a:noFill/>
              </a:ln>
              <a:solidFill>
                <a:srgbClr val="000000"/>
              </a:solidFill>
              <a:effectLst/>
              <a:uLnTx/>
              <a:uFillTx/>
              <a:ea typeface="+mn-ea"/>
              <a:cs typeface="+mn-cs"/>
            </a:endParaRPr>
          </a:p>
        </p:txBody>
      </p:sp>
      <p:sp>
        <p:nvSpPr>
          <p:cNvPr id="66" name="Can 14">
            <a:extLst>
              <a:ext uri="{FF2B5EF4-FFF2-40B4-BE49-F238E27FC236}">
                <a16:creationId xmlns:a16="http://schemas.microsoft.com/office/drawing/2014/main" id="{79EDD87F-DA12-4F56-A72D-7C9013CA8C0A}"/>
              </a:ext>
            </a:extLst>
          </p:cNvPr>
          <p:cNvSpPr/>
          <p:nvPr/>
        </p:nvSpPr>
        <p:spPr>
          <a:xfrm>
            <a:off x="10378231" y="404531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L3</a:t>
            </a:r>
          </a:p>
          <a:p>
            <a:pPr marL="0" marR="0" lvl="0" indent="0" defTabSz="914400" eaLnBrk="1" fontAlgn="auto" latinLnBrk="0" hangingPunct="1">
              <a:lnSpc>
                <a:spcPct val="100000"/>
              </a:lnSpc>
              <a:spcBef>
                <a:spcPts val="0"/>
              </a:spcBef>
              <a:spcAft>
                <a:spcPts val="0"/>
              </a:spcAft>
              <a:buClrTx/>
              <a:buSzTx/>
              <a:buFontTx/>
              <a:buNone/>
              <a:tabLst/>
              <a:defRPr/>
            </a:pPr>
            <a:r>
              <a:rPr lang="en-US" sz="1100" kern="0" dirty="0">
                <a:solidFill>
                  <a:srgbClr val="000000"/>
                </a:solidFill>
              </a:rPr>
              <a:t>(C-SCOR)</a:t>
            </a:r>
            <a:endParaRPr kumimoji="0" lang="en-US" sz="1100" b="0" i="0" u="none" strike="noStrike" kern="0" cap="none" spc="0" normalizeH="0" baseline="0" noProof="0" dirty="0">
              <a:ln>
                <a:noFill/>
              </a:ln>
              <a:solidFill>
                <a:srgbClr val="000000"/>
              </a:solidFill>
              <a:effectLst/>
              <a:uLnTx/>
              <a:uFillTx/>
              <a:ea typeface="+mn-ea"/>
              <a:cs typeface="+mn-cs"/>
            </a:endParaRPr>
          </a:p>
        </p:txBody>
      </p:sp>
      <p:cxnSp>
        <p:nvCxnSpPr>
          <p:cNvPr id="68" name="Straight Arrow Connector 67">
            <a:extLst>
              <a:ext uri="{FF2B5EF4-FFF2-40B4-BE49-F238E27FC236}">
                <a16:creationId xmlns:a16="http://schemas.microsoft.com/office/drawing/2014/main" id="{57D799FE-85A0-476D-925B-6277070FD130}"/>
              </a:ext>
            </a:extLst>
          </p:cNvPr>
          <p:cNvCxnSpPr>
            <a:cxnSpLocks/>
            <a:stCxn id="61" idx="4"/>
            <a:endCxn id="65" idx="2"/>
          </p:cNvCxnSpPr>
          <p:nvPr/>
        </p:nvCxnSpPr>
        <p:spPr>
          <a:xfrm flipV="1">
            <a:off x="10000441" y="2639486"/>
            <a:ext cx="377791" cy="829096"/>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69" name="Straight Arrow Connector 68">
            <a:extLst>
              <a:ext uri="{FF2B5EF4-FFF2-40B4-BE49-F238E27FC236}">
                <a16:creationId xmlns:a16="http://schemas.microsoft.com/office/drawing/2014/main" id="{78CF4AF3-5F0E-4F6E-810B-9B705F9B1DEF}"/>
              </a:ext>
            </a:extLst>
          </p:cNvPr>
          <p:cNvCxnSpPr>
            <a:cxnSpLocks/>
            <a:stCxn id="61" idx="4"/>
            <a:endCxn id="66" idx="2"/>
          </p:cNvCxnSpPr>
          <p:nvPr/>
        </p:nvCxnSpPr>
        <p:spPr>
          <a:xfrm>
            <a:off x="10000441" y="3468582"/>
            <a:ext cx="377790" cy="958704"/>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22" name="Left Brace 21">
            <a:extLst>
              <a:ext uri="{FF2B5EF4-FFF2-40B4-BE49-F238E27FC236}">
                <a16:creationId xmlns:a16="http://schemas.microsoft.com/office/drawing/2014/main" id="{95EB68D0-D991-479B-B561-003D691655E0}"/>
              </a:ext>
            </a:extLst>
          </p:cNvPr>
          <p:cNvSpPr/>
          <p:nvPr/>
        </p:nvSpPr>
        <p:spPr>
          <a:xfrm>
            <a:off x="1375229" y="2486705"/>
            <a:ext cx="329016" cy="461832"/>
          </a:xfrm>
          <a:prstGeom prst="leftBrace">
            <a:avLst/>
          </a:prstGeom>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B411D966-6678-4D43-BD99-84257F648BD4}"/>
              </a:ext>
            </a:extLst>
          </p:cNvPr>
          <p:cNvSpPr txBox="1"/>
          <p:nvPr/>
        </p:nvSpPr>
        <p:spPr>
          <a:xfrm>
            <a:off x="204825" y="2377442"/>
            <a:ext cx="1171550" cy="686434"/>
          </a:xfrm>
          <a:prstGeom prst="rect">
            <a:avLst/>
          </a:prstGeom>
          <a:noFill/>
        </p:spPr>
        <p:txBody>
          <a:bodyPr wrap="square" lIns="0" tIns="0" rIns="0" bIns="0" rtlCol="0">
            <a:noAutofit/>
          </a:bodyPr>
          <a:lstStyle/>
          <a:p>
            <a:pPr>
              <a:lnSpc>
                <a:spcPct val="100000"/>
              </a:lnSpc>
              <a:spcBef>
                <a:spcPts val="1200"/>
              </a:spcBef>
              <a:buSzPct val="100000"/>
            </a:pPr>
            <a:r>
              <a:rPr lang="en-US" sz="1200" dirty="0"/>
              <a:t>New Patients and Potential Patients</a:t>
            </a:r>
          </a:p>
        </p:txBody>
      </p:sp>
      <p:sp>
        <p:nvSpPr>
          <p:cNvPr id="70" name="Rectangle: Rounded Corners 69">
            <a:extLst>
              <a:ext uri="{FF2B5EF4-FFF2-40B4-BE49-F238E27FC236}">
                <a16:creationId xmlns:a16="http://schemas.microsoft.com/office/drawing/2014/main" id="{014E54AA-15B5-48F2-8FA8-3E29233439ED}"/>
              </a:ext>
            </a:extLst>
          </p:cNvPr>
          <p:cNvSpPr/>
          <p:nvPr/>
        </p:nvSpPr>
        <p:spPr>
          <a:xfrm>
            <a:off x="1749992" y="4225251"/>
            <a:ext cx="872264" cy="763944"/>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CRM</a:t>
            </a:r>
          </a:p>
        </p:txBody>
      </p:sp>
      <p:sp>
        <p:nvSpPr>
          <p:cNvPr id="75" name="Rectangle 74">
            <a:extLst>
              <a:ext uri="{FF2B5EF4-FFF2-40B4-BE49-F238E27FC236}">
                <a16:creationId xmlns:a16="http://schemas.microsoft.com/office/drawing/2014/main" id="{7074D6B0-D74B-43F9-92AE-FB2392C805EF}"/>
              </a:ext>
            </a:extLst>
          </p:cNvPr>
          <p:cNvSpPr/>
          <p:nvPr/>
        </p:nvSpPr>
        <p:spPr>
          <a:xfrm>
            <a:off x="2994759" y="4210295"/>
            <a:ext cx="799411" cy="793855"/>
          </a:xfrm>
          <a:prstGeom prst="rect">
            <a:avLst/>
          </a:prstGeom>
          <a:solidFill>
            <a:schemeClr val="tx2">
              <a:lumMod val="75000"/>
            </a:schemeClr>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1100" dirty="0">
                <a:solidFill>
                  <a:schemeClr val="bg1"/>
                </a:solidFill>
                <a:cs typeface="Arial" panose="020B0604020202020204" pitchFamily="34" charset="0"/>
              </a:rPr>
              <a:t>Product Metric Object</a:t>
            </a:r>
          </a:p>
        </p:txBody>
      </p:sp>
      <p:sp>
        <p:nvSpPr>
          <p:cNvPr id="76" name="Can 10">
            <a:extLst>
              <a:ext uri="{FF2B5EF4-FFF2-40B4-BE49-F238E27FC236}">
                <a16:creationId xmlns:a16="http://schemas.microsoft.com/office/drawing/2014/main" id="{EDB2393A-7568-4C98-B2A7-86CD5AE7880F}"/>
              </a:ext>
            </a:extLst>
          </p:cNvPr>
          <p:cNvSpPr/>
          <p:nvPr/>
        </p:nvSpPr>
        <p:spPr>
          <a:xfrm>
            <a:off x="4142052" y="4198483"/>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sp>
        <p:nvSpPr>
          <p:cNvPr id="78" name="Rectangle 77">
            <a:extLst>
              <a:ext uri="{FF2B5EF4-FFF2-40B4-BE49-F238E27FC236}">
                <a16:creationId xmlns:a16="http://schemas.microsoft.com/office/drawing/2014/main" id="{3A14D7EA-C613-48C5-AE02-B5C3088F54A8}"/>
              </a:ext>
            </a:extLst>
          </p:cNvPr>
          <p:cNvSpPr/>
          <p:nvPr/>
        </p:nvSpPr>
        <p:spPr>
          <a:xfrm>
            <a:off x="5028021" y="4324666"/>
            <a:ext cx="663563" cy="511577"/>
          </a:xfrm>
          <a:prstGeom prst="rect">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a:t>
            </a:r>
          </a:p>
        </p:txBody>
      </p:sp>
      <p:sp>
        <p:nvSpPr>
          <p:cNvPr id="79" name="Can 14">
            <a:extLst>
              <a:ext uri="{FF2B5EF4-FFF2-40B4-BE49-F238E27FC236}">
                <a16:creationId xmlns:a16="http://schemas.microsoft.com/office/drawing/2014/main" id="{8CD63F3D-6F48-4FD7-BA9A-B054C3C84A86}"/>
              </a:ext>
            </a:extLst>
          </p:cNvPr>
          <p:cNvSpPr/>
          <p:nvPr/>
        </p:nvSpPr>
        <p:spPr>
          <a:xfrm>
            <a:off x="5931677" y="4198483"/>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a:t>
            </a:r>
          </a:p>
        </p:txBody>
      </p:sp>
      <p:cxnSp>
        <p:nvCxnSpPr>
          <p:cNvPr id="82" name="Straight Connector 81">
            <a:extLst>
              <a:ext uri="{FF2B5EF4-FFF2-40B4-BE49-F238E27FC236}">
                <a16:creationId xmlns:a16="http://schemas.microsoft.com/office/drawing/2014/main" id="{F43B9FB7-323E-4FFE-B15D-D403781F113D}"/>
              </a:ext>
            </a:extLst>
          </p:cNvPr>
          <p:cNvCxnSpPr>
            <a:cxnSpLocks/>
          </p:cNvCxnSpPr>
          <p:nvPr/>
        </p:nvCxnSpPr>
        <p:spPr>
          <a:xfrm>
            <a:off x="8901404" y="3529658"/>
            <a:ext cx="0" cy="1031313"/>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84" name="Straight Connector 83">
            <a:extLst>
              <a:ext uri="{FF2B5EF4-FFF2-40B4-BE49-F238E27FC236}">
                <a16:creationId xmlns:a16="http://schemas.microsoft.com/office/drawing/2014/main" id="{DF135D66-6A62-42EF-9DB0-3687AE44FCD7}"/>
              </a:ext>
            </a:extLst>
          </p:cNvPr>
          <p:cNvCxnSpPr>
            <a:cxnSpLocks/>
            <a:stCxn id="91" idx="3"/>
          </p:cNvCxnSpPr>
          <p:nvPr/>
        </p:nvCxnSpPr>
        <p:spPr>
          <a:xfrm flipV="1">
            <a:off x="8391478" y="4574960"/>
            <a:ext cx="509824" cy="5494"/>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85" name="Straight Arrow Connector 84">
            <a:extLst>
              <a:ext uri="{FF2B5EF4-FFF2-40B4-BE49-F238E27FC236}">
                <a16:creationId xmlns:a16="http://schemas.microsoft.com/office/drawing/2014/main" id="{F6F9C56B-E069-4892-BBA5-ACFC17581D89}"/>
              </a:ext>
            </a:extLst>
          </p:cNvPr>
          <p:cNvCxnSpPr>
            <a:cxnSpLocks/>
          </p:cNvCxnSpPr>
          <p:nvPr/>
        </p:nvCxnSpPr>
        <p:spPr>
          <a:xfrm flipV="1">
            <a:off x="2682577" y="4618942"/>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86" name="Straight Arrow Connector 85">
            <a:extLst>
              <a:ext uri="{FF2B5EF4-FFF2-40B4-BE49-F238E27FC236}">
                <a16:creationId xmlns:a16="http://schemas.microsoft.com/office/drawing/2014/main" id="{072524D9-6949-48C2-9D13-09159A2DF80C}"/>
              </a:ext>
            </a:extLst>
          </p:cNvPr>
          <p:cNvCxnSpPr>
            <a:cxnSpLocks/>
          </p:cNvCxnSpPr>
          <p:nvPr/>
        </p:nvCxnSpPr>
        <p:spPr>
          <a:xfrm flipV="1">
            <a:off x="3860498" y="4607223"/>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87" name="Left Brace 86">
            <a:extLst>
              <a:ext uri="{FF2B5EF4-FFF2-40B4-BE49-F238E27FC236}">
                <a16:creationId xmlns:a16="http://schemas.microsoft.com/office/drawing/2014/main" id="{9FE6BA63-F292-40D1-B860-2BBC89C3F6A4}"/>
              </a:ext>
            </a:extLst>
          </p:cNvPr>
          <p:cNvSpPr/>
          <p:nvPr/>
        </p:nvSpPr>
        <p:spPr>
          <a:xfrm>
            <a:off x="1386724" y="4427285"/>
            <a:ext cx="329016" cy="412573"/>
          </a:xfrm>
          <a:prstGeom prst="leftBrace">
            <a:avLst/>
          </a:prstGeom>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30" name="TextBox 29">
            <a:extLst>
              <a:ext uri="{FF2B5EF4-FFF2-40B4-BE49-F238E27FC236}">
                <a16:creationId xmlns:a16="http://schemas.microsoft.com/office/drawing/2014/main" id="{4394AC7C-D949-4DF7-8F4F-3FCF51D3271B}"/>
              </a:ext>
            </a:extLst>
          </p:cNvPr>
          <p:cNvSpPr txBox="1"/>
          <p:nvPr/>
        </p:nvSpPr>
        <p:spPr>
          <a:xfrm>
            <a:off x="251760" y="4434221"/>
            <a:ext cx="1079512" cy="535142"/>
          </a:xfrm>
          <a:prstGeom prst="rect">
            <a:avLst/>
          </a:prstGeom>
          <a:noFill/>
        </p:spPr>
        <p:txBody>
          <a:bodyPr wrap="square" lIns="0" tIns="0" rIns="0" bIns="0" rtlCol="0">
            <a:noAutofit/>
          </a:bodyPr>
          <a:lstStyle/>
          <a:p>
            <a:pPr>
              <a:lnSpc>
                <a:spcPct val="100000"/>
              </a:lnSpc>
              <a:spcBef>
                <a:spcPts val="1200"/>
              </a:spcBef>
              <a:buSzPct val="100000"/>
            </a:pPr>
            <a:r>
              <a:rPr lang="en-US" sz="1200" dirty="0"/>
              <a:t>Target Patients</a:t>
            </a:r>
          </a:p>
        </p:txBody>
      </p:sp>
      <p:cxnSp>
        <p:nvCxnSpPr>
          <p:cNvPr id="88" name="Straight Arrow Connector 87">
            <a:extLst>
              <a:ext uri="{FF2B5EF4-FFF2-40B4-BE49-F238E27FC236}">
                <a16:creationId xmlns:a16="http://schemas.microsoft.com/office/drawing/2014/main" id="{B13019B1-A529-4E15-B1B3-C4BF52E63D88}"/>
              </a:ext>
            </a:extLst>
          </p:cNvPr>
          <p:cNvCxnSpPr>
            <a:cxnSpLocks/>
          </p:cNvCxnSpPr>
          <p:nvPr/>
        </p:nvCxnSpPr>
        <p:spPr>
          <a:xfrm>
            <a:off x="5691584" y="4598794"/>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89" name="Straight Arrow Connector 88">
            <a:extLst>
              <a:ext uri="{FF2B5EF4-FFF2-40B4-BE49-F238E27FC236}">
                <a16:creationId xmlns:a16="http://schemas.microsoft.com/office/drawing/2014/main" id="{A8CECF29-490F-4C82-86E9-81BB08D8B8E4}"/>
              </a:ext>
            </a:extLst>
          </p:cNvPr>
          <p:cNvCxnSpPr>
            <a:cxnSpLocks/>
          </p:cNvCxnSpPr>
          <p:nvPr/>
        </p:nvCxnSpPr>
        <p:spPr>
          <a:xfrm>
            <a:off x="6535008" y="4588294"/>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90" name="Rectangle 89">
            <a:extLst>
              <a:ext uri="{FF2B5EF4-FFF2-40B4-BE49-F238E27FC236}">
                <a16:creationId xmlns:a16="http://schemas.microsoft.com/office/drawing/2014/main" id="{F6B15CBB-8207-4343-858C-5B6F0FBF77CD}"/>
              </a:ext>
            </a:extLst>
          </p:cNvPr>
          <p:cNvSpPr/>
          <p:nvPr/>
        </p:nvSpPr>
        <p:spPr>
          <a:xfrm>
            <a:off x="6759652" y="2332728"/>
            <a:ext cx="1581487" cy="793855"/>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a:r>
              <a:rPr lang="en-US" sz="1100" kern="0" dirty="0">
                <a:solidFill>
                  <a:srgbClr val="000000"/>
                </a:solidFill>
              </a:rPr>
              <a:t>count(</a:t>
            </a:r>
            <a:r>
              <a:rPr lang="en-US" sz="1100" kern="0" dirty="0" err="1">
                <a:solidFill>
                  <a:srgbClr val="000000"/>
                </a:solidFill>
              </a:rPr>
              <a:t>bp_prd_rx_id</a:t>
            </a:r>
            <a:r>
              <a:rPr lang="en-US" sz="1100" kern="0" dirty="0">
                <a:solidFill>
                  <a:srgbClr val="000000"/>
                </a:solidFill>
              </a:rPr>
              <a:t>) as Patient Count </a:t>
            </a:r>
          </a:p>
        </p:txBody>
      </p:sp>
      <p:sp>
        <p:nvSpPr>
          <p:cNvPr id="91" name="Rectangle 90">
            <a:extLst>
              <a:ext uri="{FF2B5EF4-FFF2-40B4-BE49-F238E27FC236}">
                <a16:creationId xmlns:a16="http://schemas.microsoft.com/office/drawing/2014/main" id="{7E13127B-ADE3-460C-884C-AA0F9DB94B68}"/>
              </a:ext>
            </a:extLst>
          </p:cNvPr>
          <p:cNvSpPr/>
          <p:nvPr/>
        </p:nvSpPr>
        <p:spPr>
          <a:xfrm>
            <a:off x="6809991" y="4183526"/>
            <a:ext cx="1581487" cy="793855"/>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a:r>
              <a:rPr lang="en-US" sz="1100" kern="0" dirty="0">
                <a:solidFill>
                  <a:srgbClr val="000000"/>
                </a:solidFill>
              </a:rPr>
              <a:t>Sum(</a:t>
            </a:r>
            <a:r>
              <a:rPr lang="en-US" sz="1100" kern="0" dirty="0" err="1">
                <a:solidFill>
                  <a:srgbClr val="000000"/>
                </a:solidFill>
              </a:rPr>
              <a:t>pat_num</a:t>
            </a:r>
            <a:r>
              <a:rPr lang="en-US" sz="1100" kern="0" dirty="0">
                <a:solidFill>
                  <a:srgbClr val="000000"/>
                </a:solidFill>
              </a:rPr>
              <a:t>) as Patient Count </a:t>
            </a:r>
          </a:p>
        </p:txBody>
      </p:sp>
      <p:cxnSp>
        <p:nvCxnSpPr>
          <p:cNvPr id="63" name="Straight Connector 62">
            <a:extLst>
              <a:ext uri="{FF2B5EF4-FFF2-40B4-BE49-F238E27FC236}">
                <a16:creationId xmlns:a16="http://schemas.microsoft.com/office/drawing/2014/main" id="{34313C11-F72F-4FD1-86E3-E88A60E8F314}"/>
              </a:ext>
            </a:extLst>
          </p:cNvPr>
          <p:cNvCxnSpPr>
            <a:cxnSpLocks/>
            <a:stCxn id="90" idx="3"/>
          </p:cNvCxnSpPr>
          <p:nvPr/>
        </p:nvCxnSpPr>
        <p:spPr>
          <a:xfrm>
            <a:off x="8341139" y="2729656"/>
            <a:ext cx="560163" cy="0"/>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64" name="Straight Arrow Connector 63">
            <a:extLst>
              <a:ext uri="{FF2B5EF4-FFF2-40B4-BE49-F238E27FC236}">
                <a16:creationId xmlns:a16="http://schemas.microsoft.com/office/drawing/2014/main" id="{E19C0991-33CA-4284-822A-5FEBCEF23C08}"/>
              </a:ext>
            </a:extLst>
          </p:cNvPr>
          <p:cNvCxnSpPr>
            <a:cxnSpLocks/>
          </p:cNvCxnSpPr>
          <p:nvPr/>
        </p:nvCxnSpPr>
        <p:spPr>
          <a:xfrm>
            <a:off x="5697029" y="2740494"/>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72" name="Speech Bubble: Rectangle with Corners Rounded 71">
            <a:extLst>
              <a:ext uri="{FF2B5EF4-FFF2-40B4-BE49-F238E27FC236}">
                <a16:creationId xmlns:a16="http://schemas.microsoft.com/office/drawing/2014/main" id="{502DD3EF-1A2B-436C-9718-03ECD8CF3428}"/>
              </a:ext>
            </a:extLst>
          </p:cNvPr>
          <p:cNvSpPr/>
          <p:nvPr/>
        </p:nvSpPr>
        <p:spPr>
          <a:xfrm>
            <a:off x="8312056" y="5047368"/>
            <a:ext cx="1812974" cy="1143676"/>
          </a:xfrm>
          <a:prstGeom prst="wedgeRoundRectCallout">
            <a:avLst>
              <a:gd name="adj1" fmla="val 48985"/>
              <a:gd name="adj2" fmla="val -162635"/>
              <a:gd name="adj3" fmla="val 16667"/>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000" kern="0" dirty="0">
                <a:solidFill>
                  <a:schemeClr val="bg1"/>
                </a:solidFill>
              </a:rPr>
              <a:t>Consecutive Patients are calculated here , which are </a:t>
            </a:r>
            <a:r>
              <a:rPr lang="en-US" sz="1000" dirty="0"/>
              <a:t>Total number of new patients over </a:t>
            </a:r>
            <a:r>
              <a:rPr lang="en-US" sz="1000" kern="0" dirty="0">
                <a:solidFill>
                  <a:schemeClr val="bg1"/>
                </a:solidFill>
              </a:rPr>
              <a:t> </a:t>
            </a:r>
            <a:r>
              <a:rPr lang="en-US" sz="1000" dirty="0"/>
              <a:t>the past 7 months, including the selected month </a:t>
            </a:r>
            <a:endParaRPr lang="en-US" sz="1000" kern="0" dirty="0">
              <a:solidFill>
                <a:schemeClr val="bg1"/>
              </a:solidFill>
            </a:endParaRPr>
          </a:p>
        </p:txBody>
      </p:sp>
    </p:spTree>
    <p:extLst>
      <p:ext uri="{BB962C8B-B14F-4D97-AF65-F5344CB8AC3E}">
        <p14:creationId xmlns:p14="http://schemas.microsoft.com/office/powerpoint/2010/main" val="3053806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Approach to add new Celgene Products in Patient Tracking Drilldown and C-SCOR Reports:</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sp>
        <p:nvSpPr>
          <p:cNvPr id="33" name="Slide Number Placeholder 5">
            <a:extLst>
              <a:ext uri="{FF2B5EF4-FFF2-40B4-BE49-F238E27FC236}">
                <a16:creationId xmlns:a16="http://schemas.microsoft.com/office/drawing/2014/main" id="{24AD570F-4F98-4331-97F2-D1D656B864DD}"/>
              </a:ext>
            </a:extLst>
          </p:cNvPr>
          <p:cNvSpPr txBox="1">
            <a:spLocks/>
          </p:cNvSpPr>
          <p:nvPr/>
        </p:nvSpPr>
        <p:spPr>
          <a:xfrm>
            <a:off x="11676179" y="6456008"/>
            <a:ext cx="320040" cy="2286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6</a:t>
            </a:r>
          </a:p>
        </p:txBody>
      </p:sp>
      <p:sp>
        <p:nvSpPr>
          <p:cNvPr id="2" name="TextBox 1">
            <a:extLst>
              <a:ext uri="{FF2B5EF4-FFF2-40B4-BE49-F238E27FC236}">
                <a16:creationId xmlns:a16="http://schemas.microsoft.com/office/drawing/2014/main" id="{27E36F4B-402F-4A06-93F9-9C0901CC7DE3}"/>
              </a:ext>
            </a:extLst>
          </p:cNvPr>
          <p:cNvSpPr txBox="1"/>
          <p:nvPr/>
        </p:nvSpPr>
        <p:spPr>
          <a:xfrm>
            <a:off x="670560" y="1821180"/>
            <a:ext cx="10256520" cy="3246120"/>
          </a:xfrm>
          <a:prstGeom prst="rect">
            <a:avLst/>
          </a:prstGeom>
          <a:noFill/>
        </p:spPr>
        <p:txBody>
          <a:bodyPr wrap="square" lIns="0" tIns="0" rIns="0" bIns="0" rtlCol="0">
            <a:noAutofit/>
          </a:bodyPr>
          <a:lstStyle/>
          <a:p>
            <a:pPr marL="228600" indent="-228600">
              <a:lnSpc>
                <a:spcPct val="100000"/>
              </a:lnSpc>
              <a:spcBef>
                <a:spcPts val="1200"/>
              </a:spcBef>
              <a:buSzPct val="100000"/>
              <a:buFont typeface="Trebuchet MS"/>
              <a:buChar char="•"/>
            </a:pPr>
            <a:r>
              <a:rPr lang="en-US" sz="2000" dirty="0"/>
              <a:t>Metrics Used in Patient Tracking Drilldown and C-SCOR report:</a:t>
            </a:r>
          </a:p>
        </p:txBody>
      </p:sp>
      <p:graphicFrame>
        <p:nvGraphicFramePr>
          <p:cNvPr id="6" name="Table 5">
            <a:extLst>
              <a:ext uri="{FF2B5EF4-FFF2-40B4-BE49-F238E27FC236}">
                <a16:creationId xmlns:a16="http://schemas.microsoft.com/office/drawing/2014/main" id="{E600D32A-112E-409D-9264-5A4886D1A9C6}"/>
              </a:ext>
            </a:extLst>
          </p:cNvPr>
          <p:cNvGraphicFramePr>
            <a:graphicFrameLocks noGrp="1"/>
          </p:cNvGraphicFramePr>
          <p:nvPr>
            <p:extLst>
              <p:ext uri="{D42A27DB-BD31-4B8C-83A1-F6EECF244321}">
                <p14:modId xmlns:p14="http://schemas.microsoft.com/office/powerpoint/2010/main" val="3246492375"/>
              </p:ext>
            </p:extLst>
          </p:nvPr>
        </p:nvGraphicFramePr>
        <p:xfrm>
          <a:off x="773040" y="2540249"/>
          <a:ext cx="9985157" cy="3123434"/>
        </p:xfrm>
        <a:graphic>
          <a:graphicData uri="http://schemas.openxmlformats.org/drawingml/2006/table">
            <a:tbl>
              <a:tblPr firstRow="1" firstCol="1" bandRow="1">
                <a:tableStyleId>{0660B408-B3CF-4A94-85FC-2B1E0A45F4A2}</a:tableStyleId>
              </a:tblPr>
              <a:tblGrid>
                <a:gridCol w="2316773">
                  <a:extLst>
                    <a:ext uri="{9D8B030D-6E8A-4147-A177-3AD203B41FA5}">
                      <a16:colId xmlns:a16="http://schemas.microsoft.com/office/drawing/2014/main" val="2770815369"/>
                    </a:ext>
                  </a:extLst>
                </a:gridCol>
                <a:gridCol w="2974947">
                  <a:extLst>
                    <a:ext uri="{9D8B030D-6E8A-4147-A177-3AD203B41FA5}">
                      <a16:colId xmlns:a16="http://schemas.microsoft.com/office/drawing/2014/main" val="2166181175"/>
                    </a:ext>
                  </a:extLst>
                </a:gridCol>
                <a:gridCol w="4693437">
                  <a:extLst>
                    <a:ext uri="{9D8B030D-6E8A-4147-A177-3AD203B41FA5}">
                      <a16:colId xmlns:a16="http://schemas.microsoft.com/office/drawing/2014/main" val="2019771834"/>
                    </a:ext>
                  </a:extLst>
                </a:gridCol>
              </a:tblGrid>
              <a:tr h="278216">
                <a:tc>
                  <a:txBody>
                    <a:bodyPr/>
                    <a:lstStyle/>
                    <a:p>
                      <a:pPr marL="0" marR="0" algn="l">
                        <a:spcBef>
                          <a:spcPts val="0"/>
                        </a:spcBef>
                        <a:spcAft>
                          <a:spcPts val="0"/>
                        </a:spcAft>
                      </a:pPr>
                      <a:r>
                        <a:rPr lang="en-US" sz="1000" dirty="0">
                          <a:effectLst/>
                        </a:rPr>
                        <a:t>Report</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000">
                          <a:effectLst/>
                        </a:rPr>
                        <a:t>Metric</a:t>
                      </a:r>
                      <a:endParaRPr lang="en-US" sz="100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000">
                          <a:effectLst/>
                        </a:rPr>
                        <a:t>Formula</a:t>
                      </a:r>
                      <a:endParaRPr lang="en-US" sz="100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8140624"/>
                  </a:ext>
                </a:extLst>
              </a:tr>
              <a:tr h="412412">
                <a:tc rowSpan="4">
                  <a:txBody>
                    <a:bodyPr/>
                    <a:lstStyle/>
                    <a:p>
                      <a:pPr marL="0" marR="0" algn="l">
                        <a:spcBef>
                          <a:spcPts val="0"/>
                        </a:spcBef>
                        <a:spcAft>
                          <a:spcPts val="0"/>
                        </a:spcAft>
                      </a:pPr>
                      <a:r>
                        <a:rPr lang="en-US" sz="1000" dirty="0">
                          <a:effectLst/>
                        </a:rPr>
                        <a:t>Patient Tracking (Dashboard)</a:t>
                      </a:r>
                    </a:p>
                    <a:p>
                      <a:pPr marL="0" marR="0" algn="l">
                        <a:spcBef>
                          <a:spcPts val="0"/>
                        </a:spcBef>
                        <a:spcAft>
                          <a:spcPts val="0"/>
                        </a:spcAft>
                      </a:pPr>
                      <a:r>
                        <a:rPr lang="ja-JP" sz="1000" dirty="0">
                          <a:effectLst/>
                        </a:rPr>
                        <a:t>　</a:t>
                      </a:r>
                      <a:endParaRPr lang="en-US" sz="1000" dirty="0">
                        <a:effectLst/>
                      </a:endParaRPr>
                    </a:p>
                    <a:p>
                      <a:pPr marL="0" marR="0" algn="l">
                        <a:spcBef>
                          <a:spcPts val="0"/>
                        </a:spcBef>
                        <a:spcAft>
                          <a:spcPts val="0"/>
                        </a:spcAft>
                      </a:pPr>
                      <a:r>
                        <a:rPr lang="ja-JP" sz="1000" dirty="0">
                          <a:effectLst/>
                        </a:rPr>
                        <a:t>　</a:t>
                      </a:r>
                      <a:endParaRPr lang="en-US" sz="1000" dirty="0">
                        <a:effectLst/>
                      </a:endParaRPr>
                    </a:p>
                    <a:p>
                      <a:pPr marL="0" marR="0" algn="l">
                        <a:spcBef>
                          <a:spcPts val="0"/>
                        </a:spcBef>
                        <a:spcAft>
                          <a:spcPts val="0"/>
                        </a:spcAft>
                      </a:pPr>
                      <a:r>
                        <a:rPr lang="ja-JP" sz="1000" dirty="0">
                          <a:effectLst/>
                        </a:rPr>
                        <a:t>　</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000">
                          <a:effectLst/>
                        </a:rPr>
                        <a:t>potential patients (</a:t>
                      </a:r>
                      <a:r>
                        <a:rPr lang="ja-JP" sz="1000">
                          <a:effectLst/>
                        </a:rPr>
                        <a:t>候補症例</a:t>
                      </a:r>
                      <a:r>
                        <a:rPr lang="en-US" sz="1000">
                          <a:effectLst/>
                        </a:rPr>
                        <a:t>) </a:t>
                      </a:r>
                      <a:endParaRPr lang="en-US" sz="100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000" dirty="0">
                          <a:effectLst/>
                        </a:rPr>
                        <a:t>Patients for whom there is a Plan Delivery Date (</a:t>
                      </a:r>
                      <a:r>
                        <a:rPr lang="ja-JP" sz="1000" dirty="0">
                          <a:effectLst/>
                        </a:rPr>
                        <a:t>処方開始予定日</a:t>
                      </a:r>
                      <a:r>
                        <a:rPr lang="en-US" sz="1000" dirty="0">
                          <a:effectLst/>
                        </a:rPr>
                        <a:t>) entered but no Treatment Start Date (</a:t>
                      </a:r>
                      <a:r>
                        <a:rPr lang="ja-JP" sz="1000" dirty="0">
                          <a:effectLst/>
                        </a:rPr>
                        <a:t>処方開始日</a:t>
                      </a:r>
                      <a:r>
                        <a:rPr lang="en-US" sz="1000" dirty="0">
                          <a:effectLst/>
                        </a:rPr>
                        <a:t>)</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6323239"/>
                  </a:ext>
                </a:extLst>
              </a:tr>
              <a:tr h="412412">
                <a:tc vMerge="1">
                  <a:txBody>
                    <a:bodyPr/>
                    <a:lstStyle/>
                    <a:p>
                      <a:pPr marL="0" marR="0" algn="l">
                        <a:spcBef>
                          <a:spcPts val="0"/>
                        </a:spcBef>
                        <a:spcAft>
                          <a:spcPts val="0"/>
                        </a:spcAft>
                      </a:pPr>
                      <a:endParaRPr lang="en-US" sz="90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tc>
                <a:tc>
                  <a:txBody>
                    <a:bodyPr/>
                    <a:lstStyle/>
                    <a:p>
                      <a:pPr marL="0" marR="0" algn="l">
                        <a:spcBef>
                          <a:spcPts val="0"/>
                        </a:spcBef>
                        <a:spcAft>
                          <a:spcPts val="0"/>
                        </a:spcAft>
                      </a:pPr>
                      <a:r>
                        <a:rPr lang="en-US" sz="1000">
                          <a:effectLst/>
                        </a:rPr>
                        <a:t>new patients (</a:t>
                      </a:r>
                      <a:r>
                        <a:rPr lang="ja-JP" sz="1000">
                          <a:effectLst/>
                        </a:rPr>
                        <a:t>新規患者数</a:t>
                      </a:r>
                      <a:r>
                        <a:rPr lang="en-US" sz="1000">
                          <a:effectLst/>
                        </a:rPr>
                        <a:t>)</a:t>
                      </a:r>
                      <a:endParaRPr lang="en-US" sz="100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000" dirty="0">
                          <a:effectLst/>
                        </a:rPr>
                        <a:t>Total number of patients who started a new treatment line in the selected month (Treatment Start Date  is current month)</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2867769"/>
                  </a:ext>
                </a:extLst>
              </a:tr>
              <a:tr h="412412">
                <a:tc vMerge="1">
                  <a:txBody>
                    <a:bodyPr/>
                    <a:lstStyle/>
                    <a:p>
                      <a:pPr marL="0" marR="0" algn="l">
                        <a:spcBef>
                          <a:spcPts val="0"/>
                        </a:spcBef>
                        <a:spcAft>
                          <a:spcPts val="0"/>
                        </a:spcAft>
                      </a:pPr>
                      <a:endParaRPr lang="en-US" sz="90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tc>
                <a:tc>
                  <a:txBody>
                    <a:bodyPr/>
                    <a:lstStyle/>
                    <a:p>
                      <a:pPr marL="0" marR="0" algn="l">
                        <a:spcBef>
                          <a:spcPts val="0"/>
                        </a:spcBef>
                        <a:spcAft>
                          <a:spcPts val="0"/>
                        </a:spcAft>
                      </a:pPr>
                      <a:r>
                        <a:rPr lang="en-US" sz="1000" dirty="0">
                          <a:effectLst/>
                        </a:rPr>
                        <a:t>consecutive patients (</a:t>
                      </a:r>
                      <a:r>
                        <a:rPr lang="ja-JP" sz="1000" dirty="0">
                          <a:effectLst/>
                        </a:rPr>
                        <a:t>累積患者数</a:t>
                      </a:r>
                      <a:r>
                        <a:rPr lang="en-US" sz="1000" dirty="0">
                          <a:effectLst/>
                        </a:rPr>
                        <a:t>)</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000" dirty="0">
                          <a:effectLst/>
                        </a:rPr>
                        <a:t>Total number of new patients over the past 7 months, including the selected month </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5649662"/>
                  </a:ext>
                </a:extLst>
              </a:tr>
              <a:tr h="412412">
                <a:tc vMerge="1">
                  <a:txBody>
                    <a:bodyPr/>
                    <a:lstStyle/>
                    <a:p>
                      <a:pPr marL="0" marR="0" algn="l">
                        <a:spcBef>
                          <a:spcPts val="0"/>
                        </a:spcBef>
                        <a:spcAft>
                          <a:spcPts val="0"/>
                        </a:spcAft>
                      </a:pPr>
                      <a:endParaRPr lang="en-US" sz="9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tc>
                <a:tc>
                  <a:txBody>
                    <a:bodyPr/>
                    <a:lstStyle/>
                    <a:p>
                      <a:pPr marL="0" marR="0" algn="l">
                        <a:spcBef>
                          <a:spcPts val="0"/>
                        </a:spcBef>
                        <a:spcAft>
                          <a:spcPts val="0"/>
                        </a:spcAft>
                      </a:pPr>
                      <a:r>
                        <a:rPr lang="en-US" sz="1000" dirty="0">
                          <a:effectLst/>
                        </a:rPr>
                        <a:t>target patients(</a:t>
                      </a:r>
                      <a:r>
                        <a:rPr lang="ja-JP" sz="1000" dirty="0">
                          <a:effectLst/>
                        </a:rPr>
                        <a:t>対象患者数</a:t>
                      </a:r>
                      <a:r>
                        <a:rPr lang="en-US" sz="1000" dirty="0">
                          <a:effectLst/>
                        </a:rPr>
                        <a:t>)</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000">
                          <a:effectLst/>
                        </a:rPr>
                        <a:t>Total number of Doctor's patients which is entered in Veeva Account information </a:t>
                      </a:r>
                      <a:endParaRPr lang="en-US" sz="100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4453121"/>
                  </a:ext>
                </a:extLst>
              </a:tr>
              <a:tr h="412412">
                <a:tc rowSpan="3">
                  <a:txBody>
                    <a:bodyPr/>
                    <a:lstStyle/>
                    <a:p>
                      <a:pPr marL="0" marR="0" algn="l">
                        <a:spcBef>
                          <a:spcPts val="0"/>
                        </a:spcBef>
                        <a:spcAft>
                          <a:spcPts val="0"/>
                        </a:spcAft>
                      </a:pPr>
                      <a:r>
                        <a:rPr lang="en-US" sz="1000" dirty="0">
                          <a:effectLst/>
                        </a:rPr>
                        <a:t>Patient Tracking (Drilldown)</a:t>
                      </a:r>
                    </a:p>
                    <a:p>
                      <a:pPr marL="0" marR="0" algn="l">
                        <a:spcBef>
                          <a:spcPts val="0"/>
                        </a:spcBef>
                        <a:spcAft>
                          <a:spcPts val="0"/>
                        </a:spcAft>
                      </a:pPr>
                      <a:r>
                        <a:rPr lang="ja-JP" sz="1000" dirty="0">
                          <a:effectLst/>
                        </a:rPr>
                        <a:t>　</a:t>
                      </a:r>
                      <a:endParaRPr lang="en-US" sz="1000" dirty="0">
                        <a:effectLst/>
                      </a:endParaRPr>
                    </a:p>
                    <a:p>
                      <a:pPr marL="0" marR="0" algn="l">
                        <a:spcBef>
                          <a:spcPts val="0"/>
                        </a:spcBef>
                        <a:spcAft>
                          <a:spcPts val="0"/>
                        </a:spcAft>
                      </a:pPr>
                      <a:r>
                        <a:rPr lang="ja-JP" sz="1000" dirty="0">
                          <a:effectLst/>
                        </a:rPr>
                        <a:t>　</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000" dirty="0">
                          <a:effectLst/>
                        </a:rPr>
                        <a:t>target patients(</a:t>
                      </a:r>
                      <a:r>
                        <a:rPr lang="ja-JP" sz="1000" dirty="0">
                          <a:effectLst/>
                        </a:rPr>
                        <a:t>対象患者数</a:t>
                      </a:r>
                      <a:r>
                        <a:rPr lang="en-US" sz="1000" dirty="0">
                          <a:effectLst/>
                        </a:rPr>
                        <a:t>)</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000">
                          <a:effectLst/>
                        </a:rPr>
                        <a:t>Total number of Doctor's patients which is entered in Veeva Account information </a:t>
                      </a:r>
                      <a:endParaRPr lang="en-US" sz="100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7200566"/>
                  </a:ext>
                </a:extLst>
              </a:tr>
              <a:tr h="391579">
                <a:tc vMerge="1">
                  <a:txBody>
                    <a:bodyPr/>
                    <a:lstStyle/>
                    <a:p>
                      <a:pPr marL="0" marR="0" algn="l">
                        <a:spcBef>
                          <a:spcPts val="0"/>
                        </a:spcBef>
                        <a:spcAft>
                          <a:spcPts val="0"/>
                        </a:spcAft>
                      </a:pPr>
                      <a:endParaRPr lang="en-US" sz="90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tc>
                <a:tc>
                  <a:txBody>
                    <a:bodyPr/>
                    <a:lstStyle/>
                    <a:p>
                      <a:pPr marL="0" marR="0" algn="l">
                        <a:spcBef>
                          <a:spcPts val="0"/>
                        </a:spcBef>
                        <a:spcAft>
                          <a:spcPts val="0"/>
                        </a:spcAft>
                      </a:pPr>
                      <a:r>
                        <a:rPr lang="en-US" sz="1000">
                          <a:effectLst/>
                        </a:rPr>
                        <a:t>potential patients (</a:t>
                      </a:r>
                      <a:r>
                        <a:rPr lang="ja-JP" sz="1000">
                          <a:effectLst/>
                        </a:rPr>
                        <a:t>候補症例数</a:t>
                      </a:r>
                      <a:r>
                        <a:rPr lang="en-US" sz="1000">
                          <a:effectLst/>
                        </a:rPr>
                        <a:t>) </a:t>
                      </a:r>
                      <a:endParaRPr lang="en-US" sz="100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000" dirty="0">
                          <a:effectLst/>
                        </a:rPr>
                        <a:t>Patients for whom there is a Plan Delivery Date (</a:t>
                      </a:r>
                      <a:r>
                        <a:rPr lang="ja-JP" altLang="en-US" sz="1000" dirty="0">
                          <a:effectLst/>
                        </a:rPr>
                        <a:t>処方開始予定日</a:t>
                      </a:r>
                      <a:r>
                        <a:rPr lang="en-US" sz="1000" dirty="0">
                          <a:effectLst/>
                        </a:rPr>
                        <a:t>) entered but no Treatment Start Date (</a:t>
                      </a:r>
                      <a:r>
                        <a:rPr lang="ja-JP" altLang="en-US" sz="1000" dirty="0">
                          <a:effectLst/>
                        </a:rPr>
                        <a:t>処方開始日</a:t>
                      </a:r>
                      <a:r>
                        <a:rPr lang="en-US" sz="1000" dirty="0">
                          <a:effectLst/>
                        </a:rPr>
                        <a:t>)</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1836453"/>
                  </a:ext>
                </a:extLst>
              </a:tr>
              <a:tr h="391579">
                <a:tc vMerge="1">
                  <a:txBody>
                    <a:bodyPr/>
                    <a:lstStyle/>
                    <a:p>
                      <a:pPr marL="0" marR="0" algn="l">
                        <a:spcBef>
                          <a:spcPts val="0"/>
                        </a:spcBef>
                        <a:spcAft>
                          <a:spcPts val="0"/>
                        </a:spcAft>
                      </a:pPr>
                      <a:endParaRPr lang="en-US" sz="9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tc>
                <a:tc>
                  <a:txBody>
                    <a:bodyPr/>
                    <a:lstStyle/>
                    <a:p>
                      <a:pPr marL="0" marR="0" algn="l">
                        <a:spcBef>
                          <a:spcPts val="0"/>
                        </a:spcBef>
                        <a:spcAft>
                          <a:spcPts val="0"/>
                        </a:spcAft>
                      </a:pPr>
                      <a:r>
                        <a:rPr lang="en-US" sz="1000" dirty="0">
                          <a:effectLst/>
                        </a:rPr>
                        <a:t>new patients (</a:t>
                      </a:r>
                      <a:r>
                        <a:rPr lang="ja-JP" sz="1000" dirty="0">
                          <a:effectLst/>
                        </a:rPr>
                        <a:t>新規患者数</a:t>
                      </a:r>
                      <a:r>
                        <a:rPr lang="en-US" sz="1000" dirty="0">
                          <a:effectLst/>
                        </a:rPr>
                        <a:t>)</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000" dirty="0">
                          <a:effectLst/>
                        </a:rPr>
                        <a:t>Total number of patients who started a new treatment line in the selected month (Treatment Start Date  is current month)</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6405374"/>
                  </a:ext>
                </a:extLst>
              </a:tr>
            </a:tbl>
          </a:graphicData>
        </a:graphic>
      </p:graphicFrame>
    </p:spTree>
    <p:extLst>
      <p:ext uri="{BB962C8B-B14F-4D97-AF65-F5344CB8AC3E}">
        <p14:creationId xmlns:p14="http://schemas.microsoft.com/office/powerpoint/2010/main" val="387559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Approach to add new Celgene Products in Patient Tracking Drilldown and C-SCOR Reports:</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sp>
        <p:nvSpPr>
          <p:cNvPr id="33" name="Slide Number Placeholder 5">
            <a:extLst>
              <a:ext uri="{FF2B5EF4-FFF2-40B4-BE49-F238E27FC236}">
                <a16:creationId xmlns:a16="http://schemas.microsoft.com/office/drawing/2014/main" id="{24AD570F-4F98-4331-97F2-D1D656B864DD}"/>
              </a:ext>
            </a:extLst>
          </p:cNvPr>
          <p:cNvSpPr txBox="1">
            <a:spLocks/>
          </p:cNvSpPr>
          <p:nvPr/>
        </p:nvSpPr>
        <p:spPr>
          <a:xfrm>
            <a:off x="11676179" y="6456008"/>
            <a:ext cx="320040" cy="2286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6</a:t>
            </a:r>
          </a:p>
        </p:txBody>
      </p:sp>
      <p:sp>
        <p:nvSpPr>
          <p:cNvPr id="2" name="TextBox 1">
            <a:extLst>
              <a:ext uri="{FF2B5EF4-FFF2-40B4-BE49-F238E27FC236}">
                <a16:creationId xmlns:a16="http://schemas.microsoft.com/office/drawing/2014/main" id="{27E36F4B-402F-4A06-93F9-9C0901CC7DE3}"/>
              </a:ext>
            </a:extLst>
          </p:cNvPr>
          <p:cNvSpPr txBox="1"/>
          <p:nvPr/>
        </p:nvSpPr>
        <p:spPr>
          <a:xfrm>
            <a:off x="670560" y="1821180"/>
            <a:ext cx="10256520" cy="3246120"/>
          </a:xfrm>
          <a:prstGeom prst="rect">
            <a:avLst/>
          </a:prstGeom>
          <a:noFill/>
        </p:spPr>
        <p:txBody>
          <a:bodyPr wrap="square" lIns="0" tIns="0" rIns="0" bIns="0" rtlCol="0">
            <a:noAutofit/>
          </a:bodyPr>
          <a:lstStyle/>
          <a:p>
            <a:pPr marL="228600" indent="-228600">
              <a:lnSpc>
                <a:spcPct val="100000"/>
              </a:lnSpc>
              <a:spcBef>
                <a:spcPts val="1200"/>
              </a:spcBef>
              <a:buSzPct val="100000"/>
              <a:buFont typeface="Trebuchet MS"/>
              <a:buChar char="•"/>
            </a:pPr>
            <a:r>
              <a:rPr lang="en-US" sz="2000" dirty="0"/>
              <a:t>Assumptions:</a:t>
            </a:r>
          </a:p>
          <a:p>
            <a:pPr marL="685800" lvl="1" indent="-228600">
              <a:spcBef>
                <a:spcPts val="1200"/>
              </a:spcBef>
              <a:buSzPct val="100000"/>
              <a:buFont typeface="Trebuchet MS"/>
              <a:buChar char="•"/>
            </a:pPr>
            <a:r>
              <a:rPr lang="en-US" altLang="ja-JP" sz="2000" dirty="0"/>
              <a:t>Survey historical data will not be migrated by CRM to prescription follow up object.</a:t>
            </a:r>
          </a:p>
          <a:p>
            <a:pPr marL="685800" lvl="1" indent="-228600">
              <a:spcBef>
                <a:spcPts val="1200"/>
              </a:spcBef>
              <a:buSzPct val="100000"/>
              <a:buFont typeface="Trebuchet MS"/>
              <a:buChar char="•"/>
            </a:pPr>
            <a:endParaRPr lang="en-US" altLang="ja-JP" sz="2000" dirty="0"/>
          </a:p>
          <a:p>
            <a:pPr marL="685800" lvl="1" indent="-228600">
              <a:spcBef>
                <a:spcPts val="1200"/>
              </a:spcBef>
              <a:buSzPct val="100000"/>
              <a:buFont typeface="Trebuchet MS"/>
              <a:buChar char="•"/>
            </a:pPr>
            <a:endParaRPr lang="en-US" sz="2000" dirty="0"/>
          </a:p>
        </p:txBody>
      </p:sp>
    </p:spTree>
    <p:extLst>
      <p:ext uri="{BB962C8B-B14F-4D97-AF65-F5344CB8AC3E}">
        <p14:creationId xmlns:p14="http://schemas.microsoft.com/office/powerpoint/2010/main" val="495580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Bristol Myers Squibb">
  <a:themeElements>
    <a:clrScheme name="Bristol Myers Squibb Colors">
      <a:dk1>
        <a:srgbClr val="595454"/>
      </a:dk1>
      <a:lt1>
        <a:srgbClr val="FFFFFF"/>
      </a:lt1>
      <a:dk2>
        <a:srgbClr val="595454"/>
      </a:dk2>
      <a:lt2>
        <a:srgbClr val="EEE7E7"/>
      </a:lt2>
      <a:accent1>
        <a:srgbClr val="595454"/>
      </a:accent1>
      <a:accent2>
        <a:srgbClr val="FFD186"/>
      </a:accent2>
      <a:accent3>
        <a:srgbClr val="59FFB9"/>
      </a:accent3>
      <a:accent4>
        <a:srgbClr val="A69F9F"/>
      </a:accent4>
      <a:accent5>
        <a:srgbClr val="33D6F1"/>
      </a:accent5>
      <a:accent6>
        <a:srgbClr val="FDA97D"/>
      </a:accent6>
      <a:hlink>
        <a:srgbClr val="595454"/>
      </a:hlink>
      <a:folHlink>
        <a:srgbClr val="595454"/>
      </a:folHlink>
    </a:clrScheme>
    <a:fontScheme name="Bristol Myers Squibb Fonts">
      <a:majorFont>
        <a:latin typeface="Trebuchet MS"/>
        <a:ea typeface=""/>
        <a:cs typeface=""/>
      </a:majorFont>
      <a:minorFont>
        <a:latin typeface="Trebuchet MS"/>
        <a:ea typeface=""/>
        <a:cs typeface=""/>
      </a:minorFont>
    </a:fontScheme>
    <a:fmtScheme name="Bristol Myers Squibb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2000"/>
        </a:defPPr>
      </a:lstStyle>
      <a:style>
        <a:lnRef idx="0">
          <a:schemeClr val="accent1"/>
        </a:lnRef>
        <a:fillRef idx="1">
          <a:schemeClr val="accent1"/>
        </a:fillRef>
        <a:effectRef idx="0">
          <a:srgbClr val="000000"/>
        </a:effectRef>
        <a:fontRef idx="minor">
          <a:schemeClr val="lt1"/>
        </a:fontRef>
      </a:style>
    </a:spDef>
    <a:lnDef>
      <a:spPr>
        <a:ln w="12700" cap="sq"/>
      </a:spPr>
      <a:bodyPr/>
      <a:lstStyle/>
      <a:style>
        <a:lnRef idx="1">
          <a:schemeClr val="accent1"/>
        </a:lnRef>
        <a:fillRef idx="0">
          <a:schemeClr val="accent1"/>
        </a:fillRef>
        <a:effectRef idx="0">
          <a:srgbClr val="000000"/>
        </a:effectRef>
        <a:fontRef idx="minor">
          <a:schemeClr val="lt1"/>
        </a:fontRef>
      </a:style>
    </a:lnDef>
    <a:txDef>
      <a:spPr>
        <a:noFill/>
      </a:spPr>
      <a:bodyPr wrap="square" lIns="0" tIns="0" rIns="0" bIns="0" rtlCol="0">
        <a:noAutofit/>
      </a:bodyPr>
      <a:lstStyle>
        <a:defPPr marL="228600" indent="-228600">
          <a:lnSpc>
            <a:spcPct val="100000"/>
          </a:lnSpc>
          <a:spcBef>
            <a:spcPts val="1200"/>
          </a:spcBef>
          <a:buSzPct val="100000"/>
          <a:buFont typeface="Trebuchet MS"/>
          <a:buChar char="•"/>
          <a:defRPr sz="2000"/>
        </a:defPPr>
      </a:lstStyle>
    </a:txDef>
  </a:objectDefaults>
  <a:extraClrSchemeLst/>
  <a:custClrLst>
    <a:custClr name="Purple">
      <a:srgbClr val="BE2BBB"/>
    </a:custClr>
    <a:custClr name="Dark Gray">
      <a:srgbClr val="595454"/>
    </a:custClr>
    <a:custClr name="Gray">
      <a:srgbClr val="A69F9F"/>
    </a:custClr>
    <a:custClr name="Light Gray">
      <a:srgbClr val="EEE7E7"/>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Amber 2">
      <a:srgbClr val="FFD186"/>
    </a:custClr>
    <a:custClr name="Amber 1">
      <a:srgbClr val="FFECCD"/>
    </a:custClr>
    <a:custClr name="Peach 2">
      <a:srgbClr val="FDA97D"/>
    </a:custClr>
    <a:custClr name="Peach 1">
      <a:srgbClr val="FEDCCA"/>
    </a:custClr>
    <a:custClr name="Sienna 2">
      <a:srgbClr val="CB7C78"/>
    </a:custClr>
    <a:custClr name="Sienna 1">
      <a:srgbClr val="DAC5C5"/>
    </a:custClr>
    <a:custClr name="Mint 2">
      <a:srgbClr val="59FFB9"/>
    </a:custClr>
    <a:custClr name="Mint 1">
      <a:srgbClr val="C5FFE6"/>
    </a:custClr>
    <a:custClr name="Aqua 2">
      <a:srgbClr val="33D6F1"/>
    </a:custClr>
    <a:custClr name="Aqua 1">
      <a:srgbClr val="C0F2FB"/>
    </a:custClr>
  </a:custClrLst>
  <a:extLst>
    <a:ext uri="{05A4C25C-085E-4340-85A3-A5531E510DB2}">
      <thm15:themeFamily xmlns:thm15="http://schemas.microsoft.com/office/thememl/2012/main" name="bms-powerpoint-template (003).potx  -  Read-Only" id="{FD796F40-B4E8-4A28-BDC1-591A47BED6E1}" vid="{65C418F9-8773-4E40-B745-46F14E9E8802}"/>
    </a:ext>
  </a:extLst>
</a:theme>
</file>

<file path=ppt/theme/theme2.xml><?xml version="1.0" encoding="utf-8"?>
<a:theme xmlns:a="http://schemas.openxmlformats.org/drawingml/2006/main" name="Bristol Myers Squibb">
  <a:themeElements>
    <a:clrScheme name="Bristol Myers Squibb Colors">
      <a:dk1>
        <a:srgbClr val="595454"/>
      </a:dk1>
      <a:lt1>
        <a:srgbClr val="FFFFFF"/>
      </a:lt1>
      <a:dk2>
        <a:srgbClr val="595454"/>
      </a:dk2>
      <a:lt2>
        <a:srgbClr val="EEE7E7"/>
      </a:lt2>
      <a:accent1>
        <a:srgbClr val="595454"/>
      </a:accent1>
      <a:accent2>
        <a:srgbClr val="FFD186"/>
      </a:accent2>
      <a:accent3>
        <a:srgbClr val="59FFB9"/>
      </a:accent3>
      <a:accent4>
        <a:srgbClr val="A69F9F"/>
      </a:accent4>
      <a:accent5>
        <a:srgbClr val="33D6F1"/>
      </a:accent5>
      <a:accent6>
        <a:srgbClr val="FDA97D"/>
      </a:accent6>
      <a:hlink>
        <a:srgbClr val="595454"/>
      </a:hlink>
      <a:folHlink>
        <a:srgbClr val="595454"/>
      </a:folHlink>
    </a:clrScheme>
    <a:fontScheme name="Bristol Myers Squibb Fonts">
      <a:majorFont>
        <a:latin typeface="Trebuchet MS"/>
        <a:ea typeface=""/>
        <a:cs typeface=""/>
      </a:majorFont>
      <a:minorFont>
        <a:latin typeface="Trebuchet MS"/>
        <a:ea typeface=""/>
        <a:cs typeface=""/>
      </a:minorFont>
    </a:fontScheme>
    <a:fmtScheme name="Bristol Myers Squibb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2000"/>
        </a:defPPr>
      </a:lstStyle>
      <a:style>
        <a:lnRef idx="0">
          <a:schemeClr val="accent1"/>
        </a:lnRef>
        <a:fillRef idx="1">
          <a:schemeClr val="accent1"/>
        </a:fillRef>
        <a:effectRef idx="0">
          <a:srgbClr val="000000"/>
        </a:effectRef>
        <a:fontRef idx="minor">
          <a:schemeClr val="lt1"/>
        </a:fontRef>
      </a:style>
    </a:spDef>
    <a:lnDef>
      <a:spPr>
        <a:ln w="12700" cap="sq"/>
      </a:spPr>
      <a:bodyPr/>
      <a:lstStyle/>
      <a:style>
        <a:lnRef idx="1">
          <a:schemeClr val="accent1"/>
        </a:lnRef>
        <a:fillRef idx="0">
          <a:schemeClr val="accent1"/>
        </a:fillRef>
        <a:effectRef idx="0">
          <a:srgbClr val="000000"/>
        </a:effectRef>
        <a:fontRef idx="minor">
          <a:schemeClr val="lt1"/>
        </a:fontRef>
      </a:style>
    </a:lnDef>
    <a:txDef>
      <a:spPr>
        <a:noFill/>
      </a:spPr>
      <a:bodyPr wrap="square" lIns="0" tIns="0" rIns="0" bIns="0" rtlCol="0">
        <a:noAutofit/>
      </a:bodyPr>
      <a:lstStyle>
        <a:defPPr marL="228600" indent="-228600">
          <a:lnSpc>
            <a:spcPct val="100000"/>
          </a:lnSpc>
          <a:spcBef>
            <a:spcPts val="1200"/>
          </a:spcBef>
          <a:buSzPct val="100000"/>
          <a:buFont typeface="Trebuchet MS"/>
          <a:buChar char="•"/>
          <a:defRPr sz="2000"/>
        </a:defPPr>
      </a:lstStyle>
    </a:txDef>
  </a:objectDefaults>
  <a:extraClrSchemeLst/>
  <a:custClrLst>
    <a:custClr name="Purple">
      <a:srgbClr val="BE2BBB"/>
    </a:custClr>
    <a:custClr name="Dark Gray">
      <a:srgbClr val="595454"/>
    </a:custClr>
    <a:custClr name="Gray">
      <a:srgbClr val="A69F9F"/>
    </a:custClr>
    <a:custClr name="Light Gray">
      <a:srgbClr val="EEE7E7"/>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Amber 2">
      <a:srgbClr val="FFD186"/>
    </a:custClr>
    <a:custClr name="Amber 1">
      <a:srgbClr val="FFECCD"/>
    </a:custClr>
    <a:custClr name="Peach 2">
      <a:srgbClr val="FDA97D"/>
    </a:custClr>
    <a:custClr name="Peach 1">
      <a:srgbClr val="FEDCCA"/>
    </a:custClr>
    <a:custClr name="Sienna 2">
      <a:srgbClr val="CB7C78"/>
    </a:custClr>
    <a:custClr name="Sienna 1">
      <a:srgbClr val="DAC5C5"/>
    </a:custClr>
    <a:custClr name="Mint 2">
      <a:srgbClr val="59FFB9"/>
    </a:custClr>
    <a:custClr name="Mint 1">
      <a:srgbClr val="C5FFE6"/>
    </a:custClr>
    <a:custClr name="Aqua 2">
      <a:srgbClr val="33D6F1"/>
    </a:custClr>
    <a:custClr name="Aqua 1">
      <a:srgbClr val="C0F2FB"/>
    </a:custClr>
  </a:custClrLst>
</a:theme>
</file>

<file path=ppt/theme/theme3.xml><?xml version="1.0" encoding="utf-8"?>
<a:theme xmlns:a="http://schemas.openxmlformats.org/drawingml/2006/main" name="Bristol Myers Squibb">
  <a:themeElements>
    <a:clrScheme name="Bristol Myers Squibb Colors">
      <a:dk1>
        <a:srgbClr val="595454"/>
      </a:dk1>
      <a:lt1>
        <a:srgbClr val="FFFFFF"/>
      </a:lt1>
      <a:dk2>
        <a:srgbClr val="595454"/>
      </a:dk2>
      <a:lt2>
        <a:srgbClr val="EEE7E7"/>
      </a:lt2>
      <a:accent1>
        <a:srgbClr val="595454"/>
      </a:accent1>
      <a:accent2>
        <a:srgbClr val="FFD186"/>
      </a:accent2>
      <a:accent3>
        <a:srgbClr val="59FFB9"/>
      </a:accent3>
      <a:accent4>
        <a:srgbClr val="A69F9F"/>
      </a:accent4>
      <a:accent5>
        <a:srgbClr val="33D6F1"/>
      </a:accent5>
      <a:accent6>
        <a:srgbClr val="FDA97D"/>
      </a:accent6>
      <a:hlink>
        <a:srgbClr val="595454"/>
      </a:hlink>
      <a:folHlink>
        <a:srgbClr val="595454"/>
      </a:folHlink>
    </a:clrScheme>
    <a:fontScheme name="Bristol Myers Squibb Fonts">
      <a:majorFont>
        <a:latin typeface="Trebuchet MS"/>
        <a:ea typeface=""/>
        <a:cs typeface=""/>
      </a:majorFont>
      <a:minorFont>
        <a:latin typeface="Trebuchet MS"/>
        <a:ea typeface=""/>
        <a:cs typeface=""/>
      </a:minorFont>
    </a:fontScheme>
    <a:fmtScheme name="Bristol Myers Squibb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2000"/>
        </a:defPPr>
      </a:lstStyle>
      <a:style>
        <a:lnRef idx="0">
          <a:schemeClr val="accent1"/>
        </a:lnRef>
        <a:fillRef idx="1">
          <a:schemeClr val="accent1"/>
        </a:fillRef>
        <a:effectRef idx="0">
          <a:srgbClr val="000000"/>
        </a:effectRef>
        <a:fontRef idx="minor">
          <a:schemeClr val="lt1"/>
        </a:fontRef>
      </a:style>
    </a:spDef>
    <a:lnDef>
      <a:spPr>
        <a:ln w="12700" cap="sq"/>
      </a:spPr>
      <a:bodyPr/>
      <a:lstStyle/>
      <a:style>
        <a:lnRef idx="1">
          <a:schemeClr val="accent1"/>
        </a:lnRef>
        <a:fillRef idx="0">
          <a:schemeClr val="accent1"/>
        </a:fillRef>
        <a:effectRef idx="0">
          <a:srgbClr val="000000"/>
        </a:effectRef>
        <a:fontRef idx="minor">
          <a:schemeClr val="lt1"/>
        </a:fontRef>
      </a:style>
    </a:lnDef>
    <a:txDef>
      <a:spPr>
        <a:noFill/>
      </a:spPr>
      <a:bodyPr wrap="square" lIns="0" tIns="0" rIns="0" bIns="0" rtlCol="0">
        <a:noAutofit/>
      </a:bodyPr>
      <a:lstStyle>
        <a:defPPr marL="228600" indent="-228600">
          <a:lnSpc>
            <a:spcPct val="100000"/>
          </a:lnSpc>
          <a:spcBef>
            <a:spcPts val="1200"/>
          </a:spcBef>
          <a:buSzPct val="100000"/>
          <a:buFont typeface="Trebuchet MS"/>
          <a:buChar char="•"/>
          <a:defRPr sz="2000"/>
        </a:defPPr>
      </a:lstStyle>
    </a:txDef>
  </a:objectDefaults>
  <a:extraClrSchemeLst/>
  <a:custClrLst>
    <a:custClr name="Purple">
      <a:srgbClr val="BE2BBB"/>
    </a:custClr>
    <a:custClr name="Dark Gray">
      <a:srgbClr val="595454"/>
    </a:custClr>
    <a:custClr name="Gray">
      <a:srgbClr val="A69F9F"/>
    </a:custClr>
    <a:custClr name="Light Gray">
      <a:srgbClr val="EEE7E7"/>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Amber 2">
      <a:srgbClr val="FFD186"/>
    </a:custClr>
    <a:custClr name="Amber 1">
      <a:srgbClr val="FFECCD"/>
    </a:custClr>
    <a:custClr name="Peach 2">
      <a:srgbClr val="FDA97D"/>
    </a:custClr>
    <a:custClr name="Peach 1">
      <a:srgbClr val="FEDCCA"/>
    </a:custClr>
    <a:custClr name="Sienna 2">
      <a:srgbClr val="CB7C78"/>
    </a:custClr>
    <a:custClr name="Sienna 1">
      <a:srgbClr val="DAC5C5"/>
    </a:custClr>
    <a:custClr name="Mint 2">
      <a:srgbClr val="59FFB9"/>
    </a:custClr>
    <a:custClr name="Mint 1">
      <a:srgbClr val="C5FFE6"/>
    </a:custClr>
    <a:custClr name="Aqua 2">
      <a:srgbClr val="33D6F1"/>
    </a:custClr>
    <a:custClr name="Aqua 1">
      <a:srgbClr val="C0F2FB"/>
    </a:custClr>
  </a:custClrLst>
</a:theme>
</file>

<file path=docProps/app.xml><?xml version="1.0" encoding="utf-8"?>
<Properties xmlns="http://schemas.openxmlformats.org/officeDocument/2006/extended-properties" xmlns:vt="http://schemas.openxmlformats.org/officeDocument/2006/docPropsVTypes">
  <Template/>
  <TotalTime>16402</TotalTime>
  <Words>995</Words>
  <Application>Microsoft Office PowerPoint</Application>
  <PresentationFormat>Widescreen</PresentationFormat>
  <Paragraphs>149</Paragraphs>
  <Slides>8</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Yu Gothic</vt:lpstr>
      <vt:lpstr>Century Gothic</vt:lpstr>
      <vt:lpstr>Tahoma</vt:lpstr>
      <vt:lpstr>Trebuchet MS</vt:lpstr>
      <vt:lpstr>Bristol Myers Squibb</vt:lpstr>
      <vt:lpstr>PowerPoint Presentation</vt:lpstr>
      <vt:lpstr>C-SCAN: Approach to add new Celgene Products in Prescription Follow up as well as moving Survey level data to Prescription follow up Object for ONC1  :</vt:lpstr>
      <vt:lpstr>C-SCAN: Approach to add new Celgene Products in Prescription Follow up as well as moving Survey level data to Prescription follow up Object for ONC1</vt:lpstr>
      <vt:lpstr>C-SCAN: Approach to add new Celgene Products in Prescription Follow up:</vt:lpstr>
      <vt:lpstr>C-SCAN: Approach to add new Celgene Products in Patient Tracking Drilldown and C-SCOR Reports:</vt:lpstr>
      <vt:lpstr>C-SCAN: Approach to add new Celgene Products in Patient Tracking Drilldown and C-SCOR Reports:</vt:lpstr>
      <vt:lpstr>C-SCAN: Approach to add new Celgene Products in Patient Tracking Drilldown and C-SCOR Reports:</vt:lpstr>
      <vt:lpstr>C-SCAN: Approach to add new Celgene Products in Patient Tracking Drilldown and C-SCOR Reports:</vt:lpstr>
    </vt:vector>
  </TitlesOfParts>
  <Manager/>
  <Company>Bristol Myers Squibb</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abhay.sharma@zs.com</dc:creator>
  <cp:keywords/>
  <dc:description/>
  <cp:lastModifiedBy>Abhay Sharma</cp:lastModifiedBy>
  <cp:revision>747</cp:revision>
  <cp:lastPrinted>2019-10-06T00:46:52Z</cp:lastPrinted>
  <dcterms:created xsi:type="dcterms:W3CDTF">2020-03-30T05:57:22Z</dcterms:created>
  <dcterms:modified xsi:type="dcterms:W3CDTF">2020-10-16T08:08:22Z</dcterms:modified>
  <cp:category/>
</cp:coreProperties>
</file>