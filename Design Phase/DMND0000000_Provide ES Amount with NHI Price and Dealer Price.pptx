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82" r:id="rId2"/>
    <p:sldId id="2098" r:id="rId3"/>
    <p:sldId id="2101" r:id="rId4"/>
    <p:sldId id="2099" r:id="rId5"/>
    <p:sldId id="21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10/22/2020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10/22/2020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Provide ES Amount with NHI Price</a:t>
            </a:r>
          </a:p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and Dealer Price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36B44B74-3A95-4892-87F1-984F7BAAEF70}"/>
              </a:ext>
            </a:extLst>
          </p:cNvPr>
          <p:cNvSpPr/>
          <p:nvPr/>
        </p:nvSpPr>
        <p:spPr>
          <a:xfrm>
            <a:off x="4799856" y="3425157"/>
            <a:ext cx="4392489" cy="209207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Provide ES Amount on the basis of NHI Price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75A6E9-080B-4754-A651-24B68B926C3D}"/>
              </a:ext>
            </a:extLst>
          </p:cNvPr>
          <p:cNvSpPr/>
          <p:nvPr/>
        </p:nvSpPr>
        <p:spPr>
          <a:xfrm>
            <a:off x="2851888" y="1730622"/>
            <a:ext cx="8654311" cy="151216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FAEFAA-4DAB-4442-AC00-B2971EC058CC}"/>
              </a:ext>
            </a:extLst>
          </p:cNvPr>
          <p:cNvSpPr/>
          <p:nvPr/>
        </p:nvSpPr>
        <p:spPr>
          <a:xfrm>
            <a:off x="1513472" y="1933591"/>
            <a:ext cx="1172706" cy="10270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Bridge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F85409-5F63-4C9E-9C7C-08E38C69F4B9}"/>
              </a:ext>
            </a:extLst>
          </p:cNvPr>
          <p:cNvSpPr/>
          <p:nvPr/>
        </p:nvSpPr>
        <p:spPr>
          <a:xfrm>
            <a:off x="2999656" y="2089779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ES Data</a:t>
            </a:r>
            <a:endParaRPr lang="en-US" sz="11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1" name="Can 10">
            <a:extLst>
              <a:ext uri="{FF2B5EF4-FFF2-40B4-BE49-F238E27FC236}">
                <a16:creationId xmlns:a16="http://schemas.microsoft.com/office/drawing/2014/main" id="{C629F661-E28E-4531-B28A-AE30702CD583}"/>
              </a:ext>
            </a:extLst>
          </p:cNvPr>
          <p:cNvSpPr/>
          <p:nvPr/>
        </p:nvSpPr>
        <p:spPr>
          <a:xfrm>
            <a:off x="4105279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C14EE0-31CC-426B-B8C3-9A5595FB8288}"/>
              </a:ext>
            </a:extLst>
          </p:cNvPr>
          <p:cNvSpPr/>
          <p:nvPr/>
        </p:nvSpPr>
        <p:spPr>
          <a:xfrm>
            <a:off x="4969375" y="2230918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D59DDA-B95F-441B-A738-1D83A8E3BF16}"/>
              </a:ext>
            </a:extLst>
          </p:cNvPr>
          <p:cNvCxnSpPr>
            <a:cxnSpLocks/>
          </p:cNvCxnSpPr>
          <p:nvPr/>
        </p:nvCxnSpPr>
        <p:spPr>
          <a:xfrm>
            <a:off x="4674020" y="2486706"/>
            <a:ext cx="295355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n 14">
            <a:extLst>
              <a:ext uri="{FF2B5EF4-FFF2-40B4-BE49-F238E27FC236}">
                <a16:creationId xmlns:a16="http://schemas.microsoft.com/office/drawing/2014/main" id="{750B2520-044F-4908-BF06-504523C4AFFD}"/>
              </a:ext>
            </a:extLst>
          </p:cNvPr>
          <p:cNvSpPr/>
          <p:nvPr/>
        </p:nvSpPr>
        <p:spPr>
          <a:xfrm>
            <a:off x="5905479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EDD63D-E40B-43DE-838B-E58A7657979C}"/>
              </a:ext>
            </a:extLst>
          </p:cNvPr>
          <p:cNvCxnSpPr>
            <a:cxnSpLocks/>
          </p:cNvCxnSpPr>
          <p:nvPr/>
        </p:nvCxnSpPr>
        <p:spPr>
          <a:xfrm flipV="1">
            <a:off x="5632938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3C2CC0-9EBD-419D-B45E-E76A4E6AE162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5632938" y="2486707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AE4F9B-1979-4B47-978D-97CAAFF3D5D2}"/>
              </a:ext>
            </a:extLst>
          </p:cNvPr>
          <p:cNvCxnSpPr>
            <a:cxnSpLocks/>
          </p:cNvCxnSpPr>
          <p:nvPr/>
        </p:nvCxnSpPr>
        <p:spPr>
          <a:xfrm flipV="1">
            <a:off x="3832738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ED461F-D94F-4627-A709-895EB8204C14}"/>
              </a:ext>
            </a:extLst>
          </p:cNvPr>
          <p:cNvCxnSpPr>
            <a:cxnSpLocks/>
          </p:cNvCxnSpPr>
          <p:nvPr/>
        </p:nvCxnSpPr>
        <p:spPr>
          <a:xfrm flipV="1">
            <a:off x="2715619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931A1-6A7D-4978-8BD1-7E66C1B63BB3}"/>
              </a:ext>
            </a:extLst>
          </p:cNvPr>
          <p:cNvSpPr/>
          <p:nvPr/>
        </p:nvSpPr>
        <p:spPr>
          <a:xfrm>
            <a:off x="6741316" y="2089778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ES Amount on the basis of NHI Price will flow into L3 from L2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088030-EF57-4833-B403-BB1FDA665A70}"/>
              </a:ext>
            </a:extLst>
          </p:cNvPr>
          <p:cNvCxnSpPr>
            <a:cxnSpLocks/>
            <a:stCxn id="44" idx="4"/>
            <a:endCxn id="49" idx="1"/>
          </p:cNvCxnSpPr>
          <p:nvPr/>
        </p:nvCxnSpPr>
        <p:spPr>
          <a:xfrm>
            <a:off x="6474220" y="2486706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n 14">
            <a:extLst>
              <a:ext uri="{FF2B5EF4-FFF2-40B4-BE49-F238E27FC236}">
                <a16:creationId xmlns:a16="http://schemas.microsoft.com/office/drawing/2014/main" id="{FCCC814E-7EC1-40C0-87CD-19D263E4B111}"/>
              </a:ext>
            </a:extLst>
          </p:cNvPr>
          <p:cNvSpPr/>
          <p:nvPr/>
        </p:nvSpPr>
        <p:spPr>
          <a:xfrm>
            <a:off x="8756695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61F9357-A553-4EB4-83DE-49E6B8C0423E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8322803" y="248670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1A91DD6-FB20-461C-AED1-3E6F4A1D7B63}"/>
              </a:ext>
            </a:extLst>
          </p:cNvPr>
          <p:cNvSpPr txBox="1"/>
          <p:nvPr/>
        </p:nvSpPr>
        <p:spPr>
          <a:xfrm>
            <a:off x="1430616" y="1337349"/>
            <a:ext cx="1338418" cy="366424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r>
              <a:rPr lang="en-US" sz="1200" b="1" dirty="0"/>
              <a:t>Existing Process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80014D-BAA3-470C-ABD8-1CD5B7121E32}"/>
              </a:ext>
            </a:extLst>
          </p:cNvPr>
          <p:cNvSpPr/>
          <p:nvPr/>
        </p:nvSpPr>
        <p:spPr>
          <a:xfrm>
            <a:off x="5110049" y="3827544"/>
            <a:ext cx="1437404" cy="955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Currently ES Amount is calculated as (Dealer Price X Quantity)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1E9987D-A7AC-40B5-9F09-11C3577F0F84}"/>
              </a:ext>
            </a:extLst>
          </p:cNvPr>
          <p:cNvSpPr/>
          <p:nvPr/>
        </p:nvSpPr>
        <p:spPr>
          <a:xfrm>
            <a:off x="6994721" y="3849982"/>
            <a:ext cx="1074675" cy="955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Process: Merge Group Calls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EA92FFB-475F-431D-A556-3AED67926C89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189850" y="2868678"/>
            <a:ext cx="0" cy="95886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AB1075-C6EB-4680-8702-2C889C3FA3D4}"/>
              </a:ext>
            </a:extLst>
          </p:cNvPr>
          <p:cNvCxnSpPr>
            <a:cxnSpLocks/>
          </p:cNvCxnSpPr>
          <p:nvPr/>
        </p:nvCxnSpPr>
        <p:spPr>
          <a:xfrm>
            <a:off x="7392144" y="2891116"/>
            <a:ext cx="0" cy="95886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9C562D7-052F-4005-9A5C-C17652D1196F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6547453" y="4325393"/>
            <a:ext cx="447268" cy="224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FB070003-3CCC-422A-A49C-69B92487123D}"/>
              </a:ext>
            </a:extLst>
          </p:cNvPr>
          <p:cNvSpPr/>
          <p:nvPr/>
        </p:nvSpPr>
        <p:spPr>
          <a:xfrm>
            <a:off x="2851889" y="3389349"/>
            <a:ext cx="1689962" cy="1080120"/>
          </a:xfrm>
          <a:prstGeom prst="wedgeRoundRectCallout">
            <a:avLst>
              <a:gd name="adj1" fmla="val 127004"/>
              <a:gd name="adj2" fmla="val -116152"/>
              <a:gd name="adj3" fmla="val 16667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000" kern="0" dirty="0">
                <a:solidFill>
                  <a:schemeClr val="bg1"/>
                </a:solidFill>
              </a:rPr>
              <a:t>ES Amount will now be calculated as (NHI Price * Unit Price) by using NHI Price master from Bridge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151430C-B001-40FE-B28A-3F9B637876FE}"/>
              </a:ext>
            </a:extLst>
          </p:cNvPr>
          <p:cNvCxnSpPr>
            <a:cxnSpLocks/>
            <a:stCxn id="61" idx="3"/>
            <a:endCxn id="55" idx="3"/>
          </p:cNvCxnSpPr>
          <p:nvPr/>
        </p:nvCxnSpPr>
        <p:spPr>
          <a:xfrm flipV="1">
            <a:off x="8069396" y="2868678"/>
            <a:ext cx="971670" cy="1458960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84AD120-296B-4E82-BE7E-CC2F282702DB}"/>
              </a:ext>
            </a:extLst>
          </p:cNvPr>
          <p:cNvSpPr txBox="1"/>
          <p:nvPr/>
        </p:nvSpPr>
        <p:spPr>
          <a:xfrm>
            <a:off x="4799855" y="5542836"/>
            <a:ext cx="4392490" cy="366424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algn="ctr"/>
            <a:r>
              <a:rPr lang="en-US" sz="1200" b="1" dirty="0"/>
              <a:t>Process of calculation of ES Amount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Provide ES Amount with NHI Price and Dealer Price</a:t>
            </a:r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92C443-CADB-45C9-9A3E-78D96C5F0667}"/>
              </a:ext>
            </a:extLst>
          </p:cNvPr>
          <p:cNvCxnSpPr>
            <a:cxnSpLocks/>
          </p:cNvCxnSpPr>
          <p:nvPr/>
        </p:nvCxnSpPr>
        <p:spPr>
          <a:xfrm>
            <a:off x="5721570" y="2380183"/>
            <a:ext cx="115774" cy="2880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47FBD7-43F9-4CE2-8D3D-B1EEDF4CCAE8}"/>
              </a:ext>
            </a:extLst>
          </p:cNvPr>
          <p:cNvCxnSpPr>
            <a:cxnSpLocks/>
          </p:cNvCxnSpPr>
          <p:nvPr/>
        </p:nvCxnSpPr>
        <p:spPr>
          <a:xfrm>
            <a:off x="9338758" y="248670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an 14">
            <a:extLst>
              <a:ext uri="{FF2B5EF4-FFF2-40B4-BE49-F238E27FC236}">
                <a16:creationId xmlns:a16="http://schemas.microsoft.com/office/drawing/2014/main" id="{F2096C5D-8ED8-45A3-AB49-F713140A6093}"/>
              </a:ext>
            </a:extLst>
          </p:cNvPr>
          <p:cNvSpPr/>
          <p:nvPr/>
        </p:nvSpPr>
        <p:spPr>
          <a:xfrm>
            <a:off x="9777791" y="2109262"/>
            <a:ext cx="1453591" cy="763944"/>
          </a:xfrm>
          <a:prstGeom prst="can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CSCOR/CSTAR/DEL</a:t>
            </a:r>
          </a:p>
        </p:txBody>
      </p:sp>
    </p:spTree>
    <p:extLst>
      <p:ext uri="{BB962C8B-B14F-4D97-AF65-F5344CB8AC3E}">
        <p14:creationId xmlns:p14="http://schemas.microsoft.com/office/powerpoint/2010/main" val="60096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892418"/>
          </a:xfrm>
        </p:spPr>
        <p:txBody>
          <a:bodyPr/>
          <a:lstStyle/>
          <a:p>
            <a:r>
              <a:rPr lang="en-US" sz="2800" dirty="0"/>
              <a:t>Summary of NHI price-based ES display change in CIRRUS related system and its impact to end-users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4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923747FC-2548-47AF-90EB-1294793B5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57" b="8107"/>
          <a:stretch/>
        </p:blipFill>
        <p:spPr bwMode="auto">
          <a:xfrm>
            <a:off x="727787" y="1950098"/>
            <a:ext cx="9058275" cy="358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588BB3-D4B1-4B30-A40D-DF58F1DFAC8A}"/>
              </a:ext>
            </a:extLst>
          </p:cNvPr>
          <p:cNvSpPr/>
          <p:nvPr/>
        </p:nvSpPr>
        <p:spPr>
          <a:xfrm>
            <a:off x="0" y="69007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Provide ES Amount with NHI Price and Dealer Price</a:t>
            </a:r>
          </a:p>
        </p:txBody>
      </p:sp>
    </p:spTree>
    <p:extLst>
      <p:ext uri="{BB962C8B-B14F-4D97-AF65-F5344CB8AC3E}">
        <p14:creationId xmlns:p14="http://schemas.microsoft.com/office/powerpoint/2010/main" val="339500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ES Amount Calculation in C-SCOR Reports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DE480-C50D-41C5-9447-0A7F546F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36960"/>
              </p:ext>
            </p:extLst>
          </p:nvPr>
        </p:nvGraphicFramePr>
        <p:xfrm>
          <a:off x="561230" y="1114369"/>
          <a:ext cx="10992596" cy="5059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63095">
                  <a:extLst>
                    <a:ext uri="{9D8B030D-6E8A-4147-A177-3AD203B41FA5}">
                      <a16:colId xmlns:a16="http://schemas.microsoft.com/office/drawing/2014/main" val="2253227332"/>
                    </a:ext>
                  </a:extLst>
                </a:gridCol>
                <a:gridCol w="7429501">
                  <a:extLst>
                    <a:ext uri="{9D8B030D-6E8A-4147-A177-3AD203B41FA5}">
                      <a16:colId xmlns:a16="http://schemas.microsoft.com/office/drawing/2014/main" val="222960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 of ES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900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My Geography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00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0529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Customer 360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8401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9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My Customer Institution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09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6327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ES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0322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21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JDNet</a:t>
                      </a:r>
                      <a:r>
                        <a:rPr lang="en-US" dirty="0"/>
                        <a:t> Detail &amp;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7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 Ranking;</a:t>
                      </a:r>
                    </a:p>
                    <a:p>
                      <a:r>
                        <a:rPr lang="en-US" i="1" dirty="0"/>
                        <a:t>Have separate slide on this;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 from 2021 onwards. ES Amount to remain same until 2020.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16764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DF60B22-7B69-4C5D-8044-25CA963EDAEF}"/>
              </a:ext>
            </a:extLst>
          </p:cNvPr>
          <p:cNvSpPr/>
          <p:nvPr/>
        </p:nvSpPr>
        <p:spPr>
          <a:xfrm>
            <a:off x="0" y="36016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Provide ES Amount with NHI Price and Dealer Price</a:t>
            </a:r>
          </a:p>
        </p:txBody>
      </p:sp>
    </p:spTree>
    <p:extLst>
      <p:ext uri="{BB962C8B-B14F-4D97-AF65-F5344CB8AC3E}">
        <p14:creationId xmlns:p14="http://schemas.microsoft.com/office/powerpoint/2010/main" val="93728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Calculation of EST and PLAN Sales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DE480-C50D-41C5-9447-0A7F546F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36096"/>
              </p:ext>
            </p:extLst>
          </p:nvPr>
        </p:nvGraphicFramePr>
        <p:xfrm>
          <a:off x="561230" y="1114369"/>
          <a:ext cx="10992596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63095">
                  <a:extLst>
                    <a:ext uri="{9D8B030D-6E8A-4147-A177-3AD203B41FA5}">
                      <a16:colId xmlns:a16="http://schemas.microsoft.com/office/drawing/2014/main" val="2253227332"/>
                    </a:ext>
                  </a:extLst>
                </a:gridCol>
                <a:gridCol w="7429501">
                  <a:extLst>
                    <a:ext uri="{9D8B030D-6E8A-4147-A177-3AD203B41FA5}">
                      <a16:colId xmlns:a16="http://schemas.microsoft.com/office/drawing/2014/main" val="222960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 of ES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Historical EST Sales(until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won’t be updated with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9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EST Sales – 2021 onwards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be received from 2021 onwards and the same will flow in all C-SCAN layers. No logic to be applied in C-SCAN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00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Historical PLAN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 team will update(for 3 years; to be confirmed with business) and send ES Plan sales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05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PLAN Sales – 2021 onwards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be received from 2021 onwards and the same will flow in all C-SCAN layers. No logic to be applied in C-SCAN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8401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CF1778-6398-4B91-AD5B-A50005C69059}"/>
              </a:ext>
            </a:extLst>
          </p:cNvPr>
          <p:cNvSpPr txBox="1"/>
          <p:nvPr/>
        </p:nvSpPr>
        <p:spPr>
          <a:xfrm>
            <a:off x="561230" y="4038601"/>
            <a:ext cx="10992596" cy="16064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dirty="0"/>
              <a:t>Note: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sz="2000" dirty="0"/>
              <a:t>In ES Ranking report, ES won’t be changed until 2020 which means historical ES data to be preserved. However to calculate %G for 2021, team would calculate ES for 2020 on the basis of PIT NHI price by using a temporary solution.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91E97-82A1-4EFC-9EF0-30D38FE3A500}"/>
              </a:ext>
            </a:extLst>
          </p:cNvPr>
          <p:cNvSpPr/>
          <p:nvPr/>
        </p:nvSpPr>
        <p:spPr>
          <a:xfrm>
            <a:off x="0" y="267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Provide ES Amount with NHI Price and Dealer Price</a:t>
            </a:r>
          </a:p>
        </p:txBody>
      </p:sp>
    </p:spTree>
    <p:extLst>
      <p:ext uri="{BB962C8B-B14F-4D97-AF65-F5344CB8AC3E}">
        <p14:creationId xmlns:p14="http://schemas.microsoft.com/office/powerpoint/2010/main" val="171269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11438</TotalTime>
  <Words>463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Century Gothic</vt:lpstr>
      <vt:lpstr>Tahoma</vt:lpstr>
      <vt:lpstr>Trebuchet MS</vt:lpstr>
      <vt:lpstr>Bristol Myers Squibb</vt:lpstr>
      <vt:lpstr>PowerPoint Presentation</vt:lpstr>
      <vt:lpstr>Provide ES Amount on the basis of NHI Price</vt:lpstr>
      <vt:lpstr>Summary of NHI price-based ES display change in CIRRUS related system and its impact to end-users</vt:lpstr>
      <vt:lpstr>ES Amount Calculation in C-SCOR Reports</vt:lpstr>
      <vt:lpstr>Calculation of EST and PLAN Sales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Abhay Sharma</cp:lastModifiedBy>
  <cp:revision>767</cp:revision>
  <cp:lastPrinted>2019-10-06T00:46:52Z</cp:lastPrinted>
  <dcterms:created xsi:type="dcterms:W3CDTF">2020-03-30T05:57:22Z</dcterms:created>
  <dcterms:modified xsi:type="dcterms:W3CDTF">2020-10-22T16:12:39Z</dcterms:modified>
  <cp:category/>
</cp:coreProperties>
</file>