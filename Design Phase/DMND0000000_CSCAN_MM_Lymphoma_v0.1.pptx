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1882" r:id="rId2"/>
    <p:sldId id="2109" r:id="rId3"/>
    <p:sldId id="2110" r:id="rId4"/>
    <p:sldId id="2111" r:id="rId5"/>
    <p:sldId id="2112" r:id="rId6"/>
    <p:sldId id="2113" r:id="rId7"/>
    <p:sldId id="2114" r:id="rId8"/>
    <p:sldId id="2106" r:id="rId9"/>
    <p:sldId id="2107" r:id="rId10"/>
    <p:sldId id="2116" r:id="rId11"/>
    <p:sldId id="2115" r:id="rId12"/>
    <p:sldId id="2117" r:id="rId13"/>
    <p:sldId id="21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sh N Tripathi" initials="HNT" lastIdx="1" clrIdx="0">
    <p:extLst>
      <p:ext uri="{19B8F6BF-5375-455C-9EA6-DF929625EA0E}">
        <p15:presenceInfo xmlns:p15="http://schemas.microsoft.com/office/powerpoint/2012/main" userId="S::harsh.n.tripathi@zs.com::003d1333-c52e-4198-b04d-74de7066c530" providerId="AD"/>
      </p:ext>
    </p:extLst>
  </p:cmAuthor>
  <p:cmAuthor id="2" name="Prasanth U" initials="PU" lastIdx="4" clrIdx="1">
    <p:extLst>
      <p:ext uri="{19B8F6BF-5375-455C-9EA6-DF929625EA0E}">
        <p15:presenceInfo xmlns:p15="http://schemas.microsoft.com/office/powerpoint/2012/main" userId="S-1-5-21-2460924596-1293597354-2123413825-156092" providerId="AD"/>
      </p:ext>
    </p:extLst>
  </p:cmAuthor>
  <p:cmAuthor id="3" name="Abhay Sharma" initials="AS" lastIdx="2" clrIdx="2">
    <p:extLst>
      <p:ext uri="{19B8F6BF-5375-455C-9EA6-DF929625EA0E}">
        <p15:presenceInfo xmlns:p15="http://schemas.microsoft.com/office/powerpoint/2012/main" userId="S::abhay.sharma@zs.com::3a235f68-679c-4f7c-8d96-4db40252729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CCCC"/>
    <a:srgbClr val="F2F2F2"/>
    <a:srgbClr val="E7EDF4"/>
    <a:srgbClr val="BDFFE3"/>
    <a:srgbClr val="E9EDF4"/>
    <a:srgbClr val="FDA97D"/>
    <a:srgbClr val="D9D9D9"/>
    <a:srgbClr val="9BFFD5"/>
    <a:srgbClr val="BDA2A2"/>
    <a:srgbClr val="BDE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AFD8959-9B3F-4D47-BAAB-44C6AA61CEA2}">
  <a:tblStyle styleId="{7AFD8959-9B3F-4D47-BAAB-44C6AA61CEA2}" styleName="BMS Table Gray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tx1"/>
              </a:solidFill>
            </a:ln>
          </a:top>
          <a:bottom>
            <a:ln w="6350">
              <a:solidFill>
                <a:schemeClr val="tx1"/>
              </a:solidFill>
            </a:ln>
          </a:bottom>
          <a:insideH>
            <a:ln w="6350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EEE7E7"/>
          </a:solidFill>
        </a:fill>
      </a:tcStyle>
    </a:band2H>
    <a:band1V>
      <a:tcStyle>
        <a:tcBdr/>
        <a:fill>
          <a:solidFill>
            <a:srgbClr val="EEE7E7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chemeClr val="tx1"/>
              </a:solidFill>
            </a:ln>
          </a:top>
          <a:bottom>
            <a:ln w="19050">
              <a:solidFill>
                <a:schemeClr val="tx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tx1"/>
          </a:solidFill>
        </a:fill>
      </a:tcStyle>
    </a:firstRow>
  </a:tblStyle>
  <a:tblStyle styleId="{AB131486-7932-478D-BA04-5426E13E8524}" styleName="BMS Table Amber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FD186"/>
              </a:solidFill>
            </a:ln>
          </a:top>
          <a:bottom>
            <a:ln w="6350">
              <a:solidFill>
                <a:srgbClr val="FFD186"/>
              </a:solidFill>
            </a:ln>
          </a:bottom>
          <a:insideH>
            <a:ln w="6350">
              <a:solidFill>
                <a:srgbClr val="FFD18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ECCD"/>
          </a:solidFill>
        </a:fill>
      </a:tcStyle>
    </a:band2H>
    <a:band1V>
      <a:tcStyle>
        <a:tcBdr/>
        <a:fill>
          <a:solidFill>
            <a:srgbClr val="FFECCD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FD186"/>
              </a:solidFill>
            </a:ln>
          </a:top>
          <a:bottom>
            <a:ln w="19050">
              <a:solidFill>
                <a:srgbClr val="FFD186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FD186"/>
          </a:solidFill>
        </a:fill>
      </a:tcStyle>
    </a:firstRow>
  </a:tblStyle>
  <a:tblStyle styleId="{17987A09-FBC6-4D12-BA78-BE2ACF4811F2}" styleName="BMS Table Peach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FDA97D"/>
              </a:solidFill>
            </a:ln>
          </a:top>
          <a:bottom>
            <a:ln w="6350">
              <a:solidFill>
                <a:srgbClr val="FDA97D"/>
              </a:solidFill>
            </a:ln>
          </a:bottom>
          <a:insideH>
            <a:ln w="6350">
              <a:solidFill>
                <a:srgbClr val="FDA97D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EDCCA"/>
          </a:solidFill>
        </a:fill>
      </a:tcStyle>
    </a:band2H>
    <a:band1V>
      <a:tcStyle>
        <a:tcBdr/>
        <a:fill>
          <a:solidFill>
            <a:srgbClr val="FEDCCA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FDA97D"/>
              </a:solidFill>
            </a:ln>
          </a:top>
          <a:bottom>
            <a:ln w="19050">
              <a:solidFill>
                <a:srgbClr val="FDA97D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FDA97D"/>
          </a:solidFill>
        </a:fill>
      </a:tcStyle>
    </a:firstRow>
  </a:tblStyle>
  <a:tblStyle styleId="{3FB51E2C-7BFB-4B95-B8AA-B85EA3A58659}" styleName="BMS Table Sienn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CB7C78"/>
              </a:solidFill>
            </a:ln>
          </a:top>
          <a:bottom>
            <a:ln w="6350">
              <a:solidFill>
                <a:srgbClr val="CB7C78"/>
              </a:solidFill>
            </a:ln>
          </a:bottom>
          <a:insideH>
            <a:ln w="6350">
              <a:solidFill>
                <a:srgbClr val="CB7C7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AC5C5"/>
          </a:solidFill>
        </a:fill>
      </a:tcStyle>
    </a:band2H>
    <a:band1V>
      <a:tcStyle>
        <a:tcBdr/>
        <a:fill>
          <a:solidFill>
            <a:srgbClr val="DAC5C5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CB7C78"/>
              </a:solidFill>
            </a:ln>
          </a:top>
          <a:bottom>
            <a:ln w="19050">
              <a:solidFill>
                <a:srgbClr val="CB7C78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bg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B7C78"/>
          </a:solidFill>
        </a:fill>
      </a:tcStyle>
    </a:firstRow>
  </a:tblStyle>
  <a:tblStyle styleId="{341639D1-FA1C-4AE1-8705-CAF77B6581E0}" styleName="BMS Table Mint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59FFB9"/>
              </a:solidFill>
            </a:ln>
          </a:top>
          <a:bottom>
            <a:ln w="6350">
              <a:solidFill>
                <a:srgbClr val="59FFB9"/>
              </a:solidFill>
            </a:ln>
          </a:bottom>
          <a:insideH>
            <a:ln w="6350">
              <a:solidFill>
                <a:srgbClr val="59FFB9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5FFE6"/>
          </a:solidFill>
        </a:fill>
      </a:tcStyle>
    </a:band2H>
    <a:band1V>
      <a:tcStyle>
        <a:tcBdr/>
        <a:fill>
          <a:solidFill>
            <a:srgbClr val="C5FFE6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59FFB9"/>
              </a:solidFill>
            </a:ln>
          </a:top>
          <a:bottom>
            <a:ln w="19050">
              <a:solidFill>
                <a:srgbClr val="59FFB9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59FFB9"/>
          </a:solidFill>
        </a:fill>
      </a:tcStyle>
    </a:firstRow>
  </a:tblStyle>
  <a:tblStyle styleId="{634F3CDC-9E1D-4E82-9B7D-985DE547036D}" styleName="BMS Table Aqua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rgbClr val="33D6F1"/>
              </a:solidFill>
            </a:ln>
          </a:top>
          <a:bottom>
            <a:ln w="6350">
              <a:solidFill>
                <a:srgbClr val="33D6F1"/>
              </a:solidFill>
            </a:ln>
          </a:bottom>
          <a:insideH>
            <a:ln w="6350">
              <a:solidFill>
                <a:srgbClr val="33D6F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C0F2FB"/>
          </a:solidFill>
        </a:fill>
      </a:tcStyle>
    </a:band2H>
    <a:band1V>
      <a:tcStyle>
        <a:tcBdr/>
        <a:fill>
          <a:solidFill>
            <a:srgbClr val="C0F2FB"/>
          </a:solidFill>
        </a:fill>
      </a:tcStyle>
    </a:band1V>
    <a:band2V>
      <a:tcStyle>
        <a:tcBdr/>
        <a:fill>
          <a:noFill/>
        </a:fill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9050">
              <a:solidFill>
                <a:srgbClr val="33D6F1"/>
              </a:solidFill>
            </a:ln>
          </a:top>
          <a:bottom>
            <a:ln w="19050">
              <a:solidFill>
                <a:srgbClr val="33D6F1"/>
              </a:solidFill>
            </a:ln>
          </a:bottom>
        </a:tcBdr>
        <a:fill>
          <a:noFill/>
        </a:fill>
      </a:tcStyle>
    </a:lastRow>
    <a:firstRow>
      <a:tcTxStyle b="on">
        <a:fontRef idx="minor"/>
        <a:schemeClr val="tx1"/>
      </a:tcTxStyle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33D6F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32" autoAdjust="0"/>
  </p:normalViewPr>
  <p:slideViewPr>
    <p:cSldViewPr snapToGrid="0" showGuides="1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6" d="100"/>
          <a:sy n="166" d="100"/>
        </p:scale>
        <p:origin x="546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6B232A-A90B-0843-9FE3-CD41AEF1F4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6EF4F6-6352-EF49-8B94-F88281AD3C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FA1003-23F1-F848-ABD7-AA279ACD1B1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22398-7E15-714C-85A0-DACC6DC3F1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B2665-97EF-CE47-ABE4-18D4D76C98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AB60F0-68D7-274B-9B3A-8BD634CF561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41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6C0D1-008B-C245-AF1E-F6ADA8BEAF3C}" type="datetimeFigureOut">
              <a:rPr lang="en-US" smtClean="0"/>
              <a:t>10/15/2020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B8535-DC0F-AF47-A510-8461A80C06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81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2880" indent="-182880" algn="l" defTabSz="914400" rtl="0" eaLnBrk="1" latinLnBrk="0" hangingPunct="1">
      <a:spcBef>
        <a:spcPts val="600"/>
      </a:spcBef>
      <a:buFont typeface="Trebuchet MS" panose="020B0603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3657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5486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315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1440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109728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128016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46304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645920" indent="-182880" algn="l" defTabSz="914400" rtl="0" eaLnBrk="1" latinLnBrk="0" hangingPunct="1">
      <a:buFont typeface="Trebuchet MS" panose="020B0603020202020204" pitchFamily="34" charset="0"/>
      <a:buChar char="—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CE39BE-06F7-7349-BF12-45D065ED872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10" name="Disclaimer">
            <a:extLst>
              <a:ext uri="{FF2B5EF4-FFF2-40B4-BE49-F238E27FC236}">
                <a16:creationId xmlns:a16="http://schemas.microsoft.com/office/drawing/2014/main" id="{0411BC70-4820-DF40-90C3-6ACD451ADD60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600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692E5CDC-3F8F-AF4C-BDBB-F6335CB85F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65760"/>
            <a:ext cx="7543165" cy="45720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Trebuchet MS" panose="020B0603020202020204" pitchFamily="34" charset="0"/>
              <a:buNone/>
              <a:tabLst/>
              <a:defRPr b="1"/>
            </a:lvl1pPr>
            <a:lvl2pPr marL="0" indent="0">
              <a:spcBef>
                <a:spcPts val="0"/>
              </a:spcBef>
              <a:buNone/>
              <a:defRPr b="1"/>
            </a:lvl2pPr>
            <a:lvl3pPr marL="0" indent="0">
              <a:spcBef>
                <a:spcPts val="0"/>
              </a:spcBef>
              <a:buNone/>
              <a:defRPr b="1"/>
            </a:lvl3pPr>
            <a:lvl4pPr marL="0" indent="0">
              <a:spcBef>
                <a:spcPts val="0"/>
              </a:spcBef>
              <a:buNone/>
              <a:defRPr b="1"/>
            </a:lvl4pPr>
            <a:lvl5pPr marL="0" indent="0">
              <a:spcBef>
                <a:spcPts val="0"/>
              </a:spcBef>
              <a:buNone/>
              <a:defRPr b="1"/>
            </a:lvl5pPr>
            <a:lvl6pPr marL="0" indent="0">
              <a:spcBef>
                <a:spcPts val="0"/>
              </a:spcBef>
              <a:buNone/>
              <a:defRPr b="1"/>
            </a:lvl6pPr>
            <a:lvl7pPr marL="0" indent="0">
              <a:spcBef>
                <a:spcPts val="0"/>
              </a:spcBef>
              <a:buNone/>
              <a:defRPr b="1"/>
            </a:lvl7pPr>
            <a:lvl8pPr marL="0" indent="0">
              <a:spcBef>
                <a:spcPts val="0"/>
              </a:spcBef>
              <a:buNone/>
              <a:defRPr b="1"/>
            </a:lvl8pPr>
            <a:lvl9pPr marL="0" indent="0">
              <a:spcBef>
                <a:spcPts val="0"/>
              </a:spcBef>
              <a:buNone/>
              <a:defRPr b="1"/>
            </a:lvl9pPr>
          </a:lstStyle>
          <a:p>
            <a:pPr lvl="0"/>
            <a:r>
              <a:rPr lang="en-US" dirty="0"/>
              <a:t>Division/Therapeutic Area [Edit here]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DD93F370-0603-42F8-A7D8-E3390EE70687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365760" y="1554480"/>
            <a:ext cx="7543165" cy="2560320"/>
          </a:xfrm>
        </p:spPr>
        <p:txBody>
          <a:bodyPr anchor="t" anchorCtr="0"/>
          <a:lstStyle>
            <a:lvl1pPr algn="l">
              <a:defRPr sz="6000" b="0" spc="0" baseline="0"/>
            </a:lvl1pPr>
          </a:lstStyle>
          <a:p>
            <a:r>
              <a:rPr lang="en-US" dirty="0"/>
              <a:t>[Presentation title]</a:t>
            </a:r>
          </a:p>
        </p:txBody>
      </p:sp>
      <p:sp>
        <p:nvSpPr>
          <p:cNvPr id="3" name="Subtitle 3">
            <a:extLst>
              <a:ext uri="{FF2B5EF4-FFF2-40B4-BE49-F238E27FC236}">
                <a16:creationId xmlns:a16="http://schemas.microsoft.com/office/drawing/2014/main" id="{4077195B-8D8D-4BD5-8ADD-A390F24676CD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365758" y="4343400"/>
            <a:ext cx="7543800" cy="457200"/>
          </a:xfrm>
        </p:spPr>
        <p:txBody>
          <a:bodyPr>
            <a:noAutofit/>
          </a:bodyPr>
          <a:lstStyle>
            <a:lvl1pPr marL="0" indent="0" algn="l">
              <a:spcBef>
                <a:spcPts val="0"/>
              </a:spcBef>
              <a:buNone/>
              <a:defRPr sz="2000" b="1"/>
            </a:lvl1pPr>
            <a:lvl2pPr marL="0" indent="0" algn="l">
              <a:spcBef>
                <a:spcPts val="0"/>
              </a:spcBef>
              <a:buNone/>
              <a:defRPr sz="2000"/>
            </a:lvl2pPr>
            <a:lvl3pPr marL="0" indent="0" algn="l">
              <a:spcBef>
                <a:spcPts val="0"/>
              </a:spcBef>
              <a:buNone/>
              <a:defRPr sz="2000"/>
            </a:lvl3pPr>
            <a:lvl4pPr marL="0" indent="0" algn="l">
              <a:spcBef>
                <a:spcPts val="0"/>
              </a:spcBef>
              <a:buNone/>
              <a:defRPr sz="2000"/>
            </a:lvl4pPr>
            <a:lvl5pPr marL="0" indent="0" algn="l">
              <a:spcBef>
                <a:spcPts val="0"/>
              </a:spcBef>
              <a:buNone/>
              <a:defRPr sz="2000"/>
            </a:lvl5pPr>
            <a:lvl6pPr marL="0" indent="0" algn="l">
              <a:spcBef>
                <a:spcPts val="0"/>
              </a:spcBef>
              <a:buNone/>
              <a:defRPr sz="2000"/>
            </a:lvl6pPr>
            <a:lvl7pPr marL="0" indent="0" algn="l">
              <a:spcBef>
                <a:spcPts val="0"/>
              </a:spcBef>
              <a:buNone/>
              <a:defRPr sz="2000"/>
            </a:lvl7pPr>
            <a:lvl8pPr marL="0" indent="0" algn="l">
              <a:spcBef>
                <a:spcPts val="0"/>
              </a:spcBef>
              <a:buNone/>
              <a:defRPr sz="2000"/>
            </a:lvl8pPr>
            <a:lvl9pPr marL="0" indent="0" algn="l">
              <a:spcBef>
                <a:spcPts val="0"/>
              </a:spcBef>
              <a:buNone/>
              <a:defRPr sz="2000"/>
            </a:lvl9pPr>
          </a:lstStyle>
          <a:p>
            <a:r>
              <a:rPr lang="en-US" dirty="0"/>
              <a:t>[Month 00, 0000]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1E892DE-B840-A64B-91A1-1B18F6037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757" y="4937760"/>
            <a:ext cx="7543167" cy="685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b="0"/>
            </a:lvl1pPr>
            <a:lvl2pPr marL="0" indent="0">
              <a:spcBef>
                <a:spcPts val="0"/>
              </a:spcBef>
              <a:buNone/>
              <a:defRPr b="0"/>
            </a:lvl2pPr>
            <a:lvl3pPr marL="0" indent="0">
              <a:spcBef>
                <a:spcPts val="0"/>
              </a:spcBef>
              <a:buNone/>
              <a:defRPr b="0"/>
            </a:lvl3pPr>
            <a:lvl4pPr marL="0" indent="0">
              <a:spcBef>
                <a:spcPts val="0"/>
              </a:spcBef>
              <a:buNone/>
              <a:defRPr b="0"/>
            </a:lvl4pPr>
            <a:lvl5pPr marL="0" indent="0">
              <a:spcBef>
                <a:spcPts val="0"/>
              </a:spcBef>
              <a:buNone/>
              <a:defRPr b="0"/>
            </a:lvl5pPr>
            <a:lvl6pPr marL="0" indent="0">
              <a:spcBef>
                <a:spcPts val="0"/>
              </a:spcBef>
              <a:buNone/>
              <a:defRPr b="0"/>
            </a:lvl6pPr>
            <a:lvl7pPr marL="0" indent="0">
              <a:spcBef>
                <a:spcPts val="0"/>
              </a:spcBef>
              <a:buNone/>
              <a:defRPr b="0"/>
            </a:lvl7pPr>
            <a:lvl8pPr marL="0" indent="0">
              <a:spcBef>
                <a:spcPts val="0"/>
              </a:spcBef>
              <a:buNone/>
              <a:defRPr b="0"/>
            </a:lvl8pPr>
            <a:lvl9pPr marL="0" indent="0">
              <a:spcBef>
                <a:spcPts val="0"/>
              </a:spcBef>
              <a:buNone/>
              <a:defRPr b="0"/>
            </a:lvl9pPr>
          </a:lstStyle>
          <a:p>
            <a:pPr lvl="0"/>
            <a:r>
              <a:rPr lang="en-US" dirty="0"/>
              <a:t>[Presenter Name]</a:t>
            </a:r>
            <a:br>
              <a:rPr lang="en-US" dirty="0"/>
            </a:br>
            <a:r>
              <a:rPr lang="en-US" dirty="0"/>
              <a:t>[Title]</a:t>
            </a:r>
          </a:p>
        </p:txBody>
      </p:sp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6" cy="822960"/>
          </a:xfrm>
          <a:prstGeom prst="rect">
            <a:avLst/>
          </a:prstGeom>
          <a:noFill/>
        </p:spPr>
      </p:pic>
      <p:sp>
        <p:nvSpPr>
          <p:cNvPr id="8" name="Disclaimer">
            <a:extLst>
              <a:ext uri="{FF2B5EF4-FFF2-40B4-BE49-F238E27FC236}">
                <a16:creationId xmlns:a16="http://schemas.microsoft.com/office/drawing/2014/main" id="{F95EDC5C-ABEE-824D-9A00-482457322324}"/>
              </a:ext>
            </a:extLst>
          </p:cNvPr>
          <p:cNvSpPr txBox="1"/>
          <p:nvPr userDrawn="1"/>
        </p:nvSpPr>
        <p:spPr>
          <a:xfrm>
            <a:off x="8205215" y="6257290"/>
            <a:ext cx="3621659" cy="22860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962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Ins="0" numCol="2" spcCol="301752"/>
          <a:lstStyle>
            <a:lvl1pPr marL="411480" indent="-411480">
              <a:buFont typeface="+mj-lt"/>
              <a:buAutoNum type="arabicPeriod"/>
              <a:tabLst/>
              <a:defRPr/>
            </a:lvl1pPr>
            <a:lvl2pPr marL="640080" indent="-228600">
              <a:tabLst/>
              <a:defRPr/>
            </a:lvl2pPr>
            <a:lvl3pPr marL="868680" indent="-228600">
              <a:tabLst/>
              <a:defRPr/>
            </a:lvl3pPr>
            <a:lvl4pPr marL="1097280" indent="-228600">
              <a:tabLst/>
              <a:defRPr/>
            </a:lvl4pPr>
            <a:lvl5pPr marL="1325880" indent="-228600">
              <a:tabLst/>
              <a:defRPr/>
            </a:lvl5pPr>
            <a:lvl6pPr marL="1554480" indent="-228600">
              <a:tabLst/>
              <a:defRPr/>
            </a:lvl6pPr>
            <a:lvl7pPr marL="1783080" indent="-228600">
              <a:tabLst/>
              <a:defRPr/>
            </a:lvl7pPr>
            <a:lvl8pPr marL="2011680" indent="-228600">
              <a:tabLst/>
              <a:defRPr/>
            </a:lvl8pPr>
            <a:lvl9pPr marL="2240280" indent="-228600">
              <a:tabLst/>
              <a:defRPr/>
            </a:lvl9pPr>
          </a:lstStyle>
          <a:p>
            <a:pPr lvl="0"/>
            <a:r>
              <a:rPr lang="en-US" dirty="0"/>
              <a:t>[Agenda item]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75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829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6F4C8E8-7E9A-224F-8714-AB4216A9C1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58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554480"/>
            <a:ext cx="5577840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907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744" userDrawn="1">
          <p15:clr>
            <a:srgbClr val="FBAE40"/>
          </p15:clr>
        </p15:guide>
        <p15:guide id="2" pos="393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0A65C3A-C556-7B4E-9098-E1FD19D432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5488" y="1554480"/>
            <a:ext cx="3621024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05216" y="1554480"/>
            <a:ext cx="3621024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14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698" userDrawn="1">
          <p15:clr>
            <a:srgbClr val="FBAE40"/>
          </p15:clr>
        </p15:guide>
        <p15:guide id="2" pos="2512" userDrawn="1">
          <p15:clr>
            <a:srgbClr val="FBAE40"/>
          </p15:clr>
        </p15:guide>
        <p15:guide id="3" pos="4982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02001" y="1554480"/>
            <a:ext cx="2641598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48592F68-1A92-1442-9565-3EF907A57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48400" y="1554480"/>
            <a:ext cx="2641600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4198CF4-E51B-2147-88D7-1228A1479BF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83624" y="1554480"/>
            <a:ext cx="2642616" cy="4572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99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 userDrawn="1">
          <p15:clr>
            <a:srgbClr val="FBAE40"/>
          </p15:clr>
        </p15:guide>
        <p15:guide id="2" pos="1896" userDrawn="1">
          <p15:clr>
            <a:srgbClr val="FBAE40"/>
          </p15:clr>
        </p15:guide>
        <p15:guide id="3" pos="5600" userDrawn="1">
          <p15:clr>
            <a:srgbClr val="FBAE40"/>
          </p15:clr>
        </p15:guide>
        <p15:guide id="4" pos="5784" userDrawn="1">
          <p15:clr>
            <a:srgbClr val="FBAE40"/>
          </p15:clr>
        </p15:guide>
        <p15:guide id="5" pos="3744" userDrawn="1">
          <p15:clr>
            <a:srgbClr val="FBAE40"/>
          </p15:clr>
        </p15:guide>
        <p15:guide id="6" pos="393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D903699-153C-AD47-95F6-16E2B3016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86504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15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700" userDrawn="1">
          <p15:clr>
            <a:srgbClr val="FBAE40"/>
          </p15:clr>
        </p15:guide>
        <p15:guide id="2" pos="251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ba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EF123-E2C1-8448-BA4B-9ECBEA28E8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83941-3469-4946-BCE6-FA84F7323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5760" y="1554480"/>
            <a:ext cx="7539736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8A127C-C71C-410F-8BEA-B1AA4E4DB5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7248" y="1554480"/>
            <a:ext cx="3618992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7FB1D32-3E1C-554A-A887-047CEBF6A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7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4980" userDrawn="1">
          <p15:clr>
            <a:srgbClr val="FBAE40"/>
          </p15:clr>
        </p15:guide>
        <p15:guide id="4" pos="51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246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619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634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498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79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89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470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9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08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nent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44BE-F5F5-DB40-B805-09B59F695D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[Optional 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5760" y="1554479"/>
            <a:ext cx="8524240" cy="4572000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6000" b="0" spc="0" baseline="0">
                <a:solidFill>
                  <a:schemeClr val="tx1"/>
                </a:solidFill>
                <a:latin typeface="+mn-lt"/>
              </a:defRPr>
            </a:lvl1pPr>
            <a:lvl2pPr marL="228600">
              <a:spcBef>
                <a:spcPts val="1200"/>
              </a:spcBef>
              <a:defRPr/>
            </a:lvl2pPr>
            <a:lvl3pPr marL="457200">
              <a:defRPr/>
            </a:lvl3pPr>
            <a:lvl4pPr marL="685800">
              <a:defRPr/>
            </a:lvl4pPr>
            <a:lvl5pPr marL="914400">
              <a:defRPr/>
            </a:lvl5pPr>
            <a:lvl6pPr marL="1143000">
              <a:defRPr/>
            </a:lvl6pPr>
            <a:lvl7pPr marL="1371600">
              <a:defRPr/>
            </a:lvl7pPr>
            <a:lvl8pPr marL="1600200">
              <a:defRPr/>
            </a:lvl8pPr>
            <a:lvl9pPr marL="1828800">
              <a:defRPr/>
            </a:lvl9pPr>
          </a:lstStyle>
          <a:p>
            <a:pPr lvl="0"/>
            <a:r>
              <a:rPr lang="en-US" dirty="0"/>
              <a:t>[Big statement]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31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560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One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18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wo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6096000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134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hree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3429000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44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Four Pic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D43C-8061-4F4B-A58C-537B44EA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5428488" cy="9144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CB52D-820B-4886-993D-F1BD3CE0A1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554480"/>
            <a:ext cx="5428488" cy="457200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FB768959-B468-B74C-99C1-89889E5B1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A613A27A-887F-7D4B-BD42-C5EF05F124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3429000"/>
            <a:ext cx="3044952" cy="3429000"/>
          </a:xfrm>
          <a:solidFill>
            <a:srgbClr val="D9D9D9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C2AB3B13-24B5-EA40-92B2-665869E4657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40952" y="3429000"/>
            <a:ext cx="3051048" cy="1719072"/>
          </a:xfrm>
          <a:solidFill>
            <a:srgbClr val="BFBFBF"/>
          </a:solidFill>
        </p:spPr>
        <p:txBody>
          <a:bodyPr anchor="ctr" anchorCtr="0">
            <a:norm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A26BC3F3-33EB-F346-B70E-DE269C6819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0952" y="5148072"/>
            <a:ext cx="3051048" cy="170992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A7A49372-BC99-44B1-93F3-52B055BA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88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2861D7D-0CE3-D447-AB46-E7F0601A9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760" y="365760"/>
            <a:ext cx="11460480" cy="914400"/>
          </a:xfrm>
        </p:spPr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6B9E9C5D-8364-0D47-AF90-417652D3C16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5126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8A87F8F-2D9A-B243-A5FB-6E555C2704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576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5797D6E4-4FD3-FB41-AC2F-B0BC4466093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01999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A8504504-7E85-584D-A20B-448D0D56BBE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020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8B42205D-9591-3C43-8A71-9811FC49A76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248400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0BC915BB-BDF2-BD44-8C3A-2C34D2A9A63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84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DD93C7F7-3C80-DA48-9BC2-95DD73DF878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183624" y="1552575"/>
            <a:ext cx="2642616" cy="1737358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A585D99-3BCE-844A-8969-7E2EFD217B5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182100" y="3474720"/>
            <a:ext cx="2642616" cy="2651760"/>
          </a:xfrm>
        </p:spPr>
        <p:txBody>
          <a:bodyPr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0">
            <a:extLst>
              <a:ext uri="{FF2B5EF4-FFF2-40B4-BE49-F238E27FC236}">
                <a16:creationId xmlns:a16="http://schemas.microsoft.com/office/drawing/2014/main" id="{941E30D8-4EF8-495A-8824-D819A46BF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2080">
          <p15:clr>
            <a:srgbClr val="FBAE40"/>
          </p15:clr>
        </p15:guide>
        <p15:guide id="2" pos="1896">
          <p15:clr>
            <a:srgbClr val="FBAE40"/>
          </p15:clr>
        </p15:guide>
        <p15:guide id="3" pos="5600">
          <p15:clr>
            <a:srgbClr val="FBAE40"/>
          </p15:clr>
        </p15:guide>
        <p15:guide id="4" pos="5784">
          <p15:clr>
            <a:srgbClr val="FBAE40"/>
          </p15:clr>
        </p15:guide>
        <p15:guide id="5" pos="3744">
          <p15:clr>
            <a:srgbClr val="FBAE40"/>
          </p15:clr>
        </p15:guide>
        <p15:guide id="6" pos="3936">
          <p15:clr>
            <a:srgbClr val="FBAE40"/>
          </p15:clr>
        </p15:guide>
        <p15:guide id="7" orient="horz" pos="2074" userDrawn="1">
          <p15:clr>
            <a:srgbClr val="FBAE40"/>
          </p15:clr>
        </p15:guide>
        <p15:guide id="8" orient="horz" pos="2188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>
            <a:extLst>
              <a:ext uri="{FF2B5EF4-FFF2-40B4-BE49-F238E27FC236}">
                <a16:creationId xmlns:a16="http://schemas.microsoft.com/office/drawing/2014/main" id="{3F25E4DD-7BAF-CF43-9AF5-512CC54177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solidFill>
            <a:srgbClr val="F2F2F2"/>
          </a:solidFill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buFontTx/>
              <a:buNone/>
              <a:defRPr sz="12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ADC9E62E-3AF4-C24D-8B08-8A7FCB7ED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[Slide title]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E3D7CA1-C89E-E24C-B557-52A1F9AEBF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05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16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mber">
    <p:bg>
      <p:bgPr>
        <a:gradFill>
          <a:gsLst>
            <a:gs pos="0">
              <a:srgbClr val="FFFBF4"/>
            </a:gs>
            <a:gs pos="100000">
              <a:srgbClr val="FFECCD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each">
    <p:bg>
      <p:bgPr>
        <a:gradFill>
          <a:gsLst>
            <a:gs pos="0">
              <a:srgbClr val="FFF7F3"/>
            </a:gs>
            <a:gs pos="100000">
              <a:srgbClr val="FEDCCA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908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Olive">
    <p:bg>
      <p:bgPr>
        <a:gradFill>
          <a:gsLst>
            <a:gs pos="0">
              <a:srgbClr val="FAF6F3"/>
            </a:gs>
            <a:gs pos="100000">
              <a:srgbClr val="EAD5C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27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lmond">
    <p:bg>
      <p:bgPr>
        <a:gradFill>
          <a:gsLst>
            <a:gs pos="0">
              <a:srgbClr val="F8F3F1"/>
            </a:gs>
            <a:gs pos="100000">
              <a:srgbClr val="DFCBC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4644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ienna">
    <p:bg>
      <p:bgPr>
        <a:gradFill>
          <a:gsLst>
            <a:gs pos="0">
              <a:srgbClr val="F5F0F0"/>
            </a:gs>
            <a:gs pos="100000">
              <a:srgbClr val="DAC5C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406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hocolate">
    <p:bg>
      <p:bgPr>
        <a:gradFill>
          <a:gsLst>
            <a:gs pos="0">
              <a:srgbClr val="F6F4F3"/>
            </a:gs>
            <a:gs pos="100000">
              <a:srgbClr val="D2CAC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int">
    <p:bg>
      <p:bgPr>
        <a:gradFill>
          <a:gsLst>
            <a:gs pos="0">
              <a:srgbClr val="F2FFF9"/>
            </a:gs>
            <a:gs pos="100000">
              <a:srgbClr val="C5FFE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43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Aqua">
    <p:bg>
      <p:bgPr>
        <a:gradFill>
          <a:gsLst>
            <a:gs pos="0">
              <a:srgbClr val="EFFCFE"/>
            </a:gs>
            <a:gs pos="100000">
              <a:srgbClr val="C0F2FB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9477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Light Gray">
    <p:bg>
      <p:bgPr>
        <a:solidFill>
          <a:srgbClr val="EE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1">
            <a:extLst>
              <a:ext uri="{FF2B5EF4-FFF2-40B4-BE49-F238E27FC236}">
                <a16:creationId xmlns:a16="http://schemas.microsoft.com/office/drawing/2014/main" id="{3036AABB-FB6C-2340-8AFB-DFFA0E13AE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65758" y="365125"/>
            <a:ext cx="7539992" cy="9144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buNone/>
              <a:defRPr sz="3200" b="1">
                <a:latin typeface="+mj-lt"/>
              </a:defRPr>
            </a:lvl9pPr>
          </a:lstStyle>
          <a:p>
            <a:r>
              <a:rPr lang="en-US" dirty="0"/>
              <a:t>[Optional section subtitle/lead-in]</a:t>
            </a:r>
          </a:p>
        </p:txBody>
      </p:sp>
      <p:sp>
        <p:nvSpPr>
          <p:cNvPr id="2" name="Title 2">
            <a:extLst>
              <a:ext uri="{FF2B5EF4-FFF2-40B4-BE49-F238E27FC236}">
                <a16:creationId xmlns:a16="http://schemas.microsoft.com/office/drawing/2014/main" id="{42A20B57-9C1D-4E8F-B2A3-A6062F929C2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5125" y="1554480"/>
            <a:ext cx="7540371" cy="2743200"/>
          </a:xfrm>
        </p:spPr>
        <p:txBody>
          <a:bodyPr anchor="t" anchorCtr="0"/>
          <a:lstStyle>
            <a:lvl1pPr>
              <a:defRPr sz="6000" b="0" spc="0" baseline="0"/>
            </a:lvl1pPr>
          </a:lstStyle>
          <a:p>
            <a:r>
              <a:rPr lang="en-US" dirty="0"/>
              <a:t>[Section title]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DB1BE67-4AA2-4F98-8F15-39B4F53A1316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130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498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0D8B1-1581-4488-A1A4-886D01EEFD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[Slide title]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6CF9CDAC-EC28-4BA6-9827-D58133E1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96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45BF3E53-7A3D-40D5-AE68-3CE44909F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90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ristol Myers Squibb" descr="Bristol Myers Squibb">
            <a:extLst>
              <a:ext uri="{FF2B5EF4-FFF2-40B4-BE49-F238E27FC236}">
                <a16:creationId xmlns:a16="http://schemas.microsoft.com/office/drawing/2014/main" id="{B50985CD-7333-F343-85B8-C4893E81FC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645920" y="2194560"/>
            <a:ext cx="9056906" cy="228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44456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ristol Myers Squibb" descr="Bristol Myers Squibb">
            <a:extLst>
              <a:ext uri="{FF2B5EF4-FFF2-40B4-BE49-F238E27FC236}">
                <a16:creationId xmlns:a16="http://schemas.microsoft.com/office/drawing/2014/main" id="{91000A19-9025-2C4A-9321-625720905B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50688" y="5913096"/>
            <a:ext cx="3260484" cy="822960"/>
          </a:xfrm>
          <a:prstGeom prst="rect">
            <a:avLst/>
          </a:prstGeom>
          <a:noFill/>
        </p:spPr>
      </p:pic>
      <p:sp>
        <p:nvSpPr>
          <p:cNvPr id="8" name="Thank You">
            <a:extLst>
              <a:ext uri="{FF2B5EF4-FFF2-40B4-BE49-F238E27FC236}">
                <a16:creationId xmlns:a16="http://schemas.microsoft.com/office/drawing/2014/main" id="{2DF7BC51-D766-5D44-8D23-2A1F0BF208B3}"/>
              </a:ext>
            </a:extLst>
          </p:cNvPr>
          <p:cNvSpPr txBox="1">
            <a:spLocks/>
          </p:cNvSpPr>
          <p:nvPr userDrawn="1"/>
        </p:nvSpPr>
        <p:spPr>
          <a:xfrm>
            <a:off x="365760" y="1554480"/>
            <a:ext cx="7543165" cy="182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03D75AF2-C99D-9247-B7AF-B859D95DB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4434840"/>
            <a:ext cx="7543165" cy="13716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0" indent="0">
              <a:spcBef>
                <a:spcPts val="0"/>
              </a:spcBef>
              <a:buNone/>
              <a:defRPr/>
            </a:lvl2pPr>
            <a:lvl3pPr marL="0" indent="0">
              <a:spcBef>
                <a:spcPts val="0"/>
              </a:spcBef>
              <a:buNone/>
              <a:defRPr/>
            </a:lvl3pPr>
            <a:lvl4pPr marL="0" indent="0">
              <a:spcBef>
                <a:spcPts val="0"/>
              </a:spcBef>
              <a:buNone/>
              <a:defRPr/>
            </a:lvl4pPr>
            <a:lvl5pPr marL="0" indent="0">
              <a:spcBef>
                <a:spcPts val="0"/>
              </a:spcBef>
              <a:buNone/>
              <a:defRPr/>
            </a:lvl5pPr>
            <a:lvl6pPr marL="0" indent="0">
              <a:spcBef>
                <a:spcPts val="0"/>
              </a:spcBef>
              <a:buNone/>
              <a:defRPr/>
            </a:lvl6pPr>
            <a:lvl7pPr marL="0" indent="0">
              <a:spcBef>
                <a:spcPts val="0"/>
              </a:spcBef>
              <a:buNone/>
              <a:defRPr/>
            </a:lvl7pPr>
            <a:lvl8pPr marL="0" indent="0">
              <a:spcBef>
                <a:spcPts val="0"/>
              </a:spcBef>
              <a:buNone/>
              <a:defRPr/>
            </a:lvl8pPr>
            <a:lvl9pPr marL="0" indent="0">
              <a:spcBef>
                <a:spcPts val="0"/>
              </a:spcBef>
              <a:buNone/>
              <a:defRPr/>
            </a:lvl9pPr>
          </a:lstStyle>
          <a:p>
            <a:pPr lvl="0"/>
            <a:r>
              <a:rPr lang="en-US" dirty="0"/>
              <a:t>[Optional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62417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4982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BO Templat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3251346" y="1575162"/>
            <a:ext cx="7708928" cy="1646605"/>
          </a:xfrm>
        </p:spPr>
        <p:txBody>
          <a:bodyPr/>
          <a:lstStyle>
            <a:lvl1pPr marL="0" indent="0">
              <a:buNone/>
              <a:defRPr sz="5400" b="1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sz="5400" b="1" dirty="0"/>
              <a:t>Remote Group Detail Distinguish Approach</a:t>
            </a:r>
            <a:endParaRPr lang="en-US" altLang="ja-JP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3241021" y="3339604"/>
            <a:ext cx="8846595" cy="646331"/>
          </a:xfrm>
        </p:spPr>
        <p:txBody>
          <a:bodyPr/>
          <a:lstStyle>
            <a:lvl1pPr marL="0" indent="0">
              <a:buNone/>
              <a:defRPr sz="3600" b="0" baseline="0"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Subtitle: Click to edit Master text styles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3251346" y="4278323"/>
            <a:ext cx="7708928" cy="523220"/>
          </a:xfrm>
        </p:spPr>
        <p:txBody>
          <a:bodyPr/>
          <a:lstStyle>
            <a:lvl1pPr marL="0" indent="0">
              <a:buNone/>
              <a:defRPr sz="2800" b="0">
                <a:solidFill>
                  <a:srgbClr val="F66F00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Date: Click to edit Master text styles</a:t>
            </a: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298E450-4001-45D4-BAAA-81B2CF2D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084800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0C88FF-867A-4400-B205-E69EFB35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760"/>
            <a:ext cx="11460480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[Slide title]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E4FC5-C208-4061-8E32-8B795BC19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760" y="1554480"/>
            <a:ext cx="11460480" cy="4572000"/>
          </a:xfrm>
          <a:prstGeom prst="rect">
            <a:avLst/>
          </a:prstGeom>
        </p:spPr>
        <p:txBody>
          <a:bodyPr vert="horz" lIns="0" tIns="0" rIns="0" bIns="0" spcCol="301752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Line">
            <a:extLst>
              <a:ext uri="{FF2B5EF4-FFF2-40B4-BE49-F238E27FC236}">
                <a16:creationId xmlns:a16="http://schemas.microsoft.com/office/drawing/2014/main" id="{B202EDA2-849C-5746-B520-4E5047A7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black">
          <a:xfrm>
            <a:off x="365760" y="6355080"/>
            <a:ext cx="11460480" cy="0"/>
          </a:xfrm>
          <a:prstGeom prst="line">
            <a:avLst/>
          </a:prstGeom>
          <a:ln w="635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pic>
        <p:nvPicPr>
          <p:cNvPr id="5" name="Bristol Myers Squibb" descr="Bristol Myers Squibb">
            <a:extLst>
              <a:ext uri="{FF2B5EF4-FFF2-40B4-BE49-F238E27FC236}">
                <a16:creationId xmlns:a16="http://schemas.microsoft.com/office/drawing/2014/main" id="{B7697988-37C6-7C4A-AA57-C36971D11EEC}"/>
              </a:ext>
            </a:extLst>
          </p:cNvPr>
          <p:cNvPicPr>
            <a:picLocks noChangeAspect="1"/>
          </p:cNvPicPr>
          <p:nvPr userDrawn="1"/>
        </p:nvPicPr>
        <p:blipFill>
          <a:blip r:embed="rId42"/>
          <a:stretch>
            <a:fillRect/>
          </a:stretch>
        </p:blipFill>
        <p:spPr bwMode="black">
          <a:xfrm>
            <a:off x="258318" y="6355080"/>
            <a:ext cx="1627632" cy="410821"/>
          </a:xfrm>
          <a:prstGeom prst="rect">
            <a:avLst/>
          </a:prstGeom>
          <a:noFill/>
        </p:spPr>
      </p:pic>
      <p:sp>
        <p:nvSpPr>
          <p:cNvPr id="16" name="Disclaimer">
            <a:extLst>
              <a:ext uri="{FF2B5EF4-FFF2-40B4-BE49-F238E27FC236}">
                <a16:creationId xmlns:a16="http://schemas.microsoft.com/office/drawing/2014/main" id="{A785335B-16F9-6F4B-9AC7-614641E447A6}"/>
              </a:ext>
            </a:extLst>
          </p:cNvPr>
          <p:cNvSpPr txBox="1"/>
          <p:nvPr userDrawn="1"/>
        </p:nvSpPr>
        <p:spPr>
          <a:xfrm>
            <a:off x="8205216" y="6429375"/>
            <a:ext cx="3209544" cy="228600"/>
          </a:xfrm>
          <a:prstGeom prst="rect">
            <a:avLst/>
          </a:prstGeom>
          <a:noFill/>
        </p:spPr>
        <p:txBody>
          <a:bodyPr wrap="square" lIns="0" tIns="0" rIns="0" bIns="9144" rtlCol="0" anchor="b" anchorCtr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800" b="0" dirty="0"/>
              <a:t>Highly Confidential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9012A93-F35D-41B8-A960-2FAFDF3C47A5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506200" y="6429375"/>
            <a:ext cx="320040" cy="228600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B58DE5F1-E0F9-4CCA-92B7-7A6FC4DFEE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04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9" r:id="rId2"/>
    <p:sldLayoutId id="2147483662" r:id="rId3"/>
    <p:sldLayoutId id="2147483650" r:id="rId4"/>
    <p:sldLayoutId id="2147483652" r:id="rId5"/>
    <p:sldLayoutId id="2147483656" r:id="rId6"/>
    <p:sldLayoutId id="2147483657" r:id="rId7"/>
    <p:sldLayoutId id="2147483660" r:id="rId8"/>
    <p:sldLayoutId id="2147483661" r:id="rId9"/>
    <p:sldLayoutId id="2147483694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2" r:id="rId17"/>
    <p:sldLayoutId id="2147483709" r:id="rId18"/>
    <p:sldLayoutId id="2147483710" r:id="rId19"/>
    <p:sldLayoutId id="2147483690" r:id="rId20"/>
    <p:sldLayoutId id="2147483691" r:id="rId21"/>
    <p:sldLayoutId id="2147483692" r:id="rId22"/>
    <p:sldLayoutId id="2147483693" r:id="rId23"/>
    <p:sldLayoutId id="2147483698" r:id="rId24"/>
    <p:sldLayoutId id="2147483695" r:id="rId25"/>
    <p:sldLayoutId id="214748365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700" r:id="rId35"/>
    <p:sldLayoutId id="2147483654" r:id="rId36"/>
    <p:sldLayoutId id="2147483655" r:id="rId37"/>
    <p:sldLayoutId id="2147483696" r:id="rId38"/>
    <p:sldLayoutId id="2147483697" r:id="rId39"/>
    <p:sldLayoutId id="2147483711" r:id="rId4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200"/>
        </a:spcBef>
        <a:buFont typeface="Trebuchet MS" panose="020B0603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lnSpc>
          <a:spcPct val="100000"/>
        </a:lnSpc>
        <a:spcBef>
          <a:spcPts val="400"/>
        </a:spcBef>
        <a:buFont typeface="Trebuchet MS" panose="020B0603020202020204" pitchFamily="34" charset="0"/>
        <a:buChar char="—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0" userDrawn="1">
          <p15:clr>
            <a:srgbClr val="F26B43"/>
          </p15:clr>
        </p15:guide>
        <p15:guide id="2" pos="230" userDrawn="1">
          <p15:clr>
            <a:srgbClr val="F26B43"/>
          </p15:clr>
        </p15:guide>
        <p15:guide id="3" pos="7450" userDrawn="1">
          <p15:clr>
            <a:srgbClr val="F26B43"/>
          </p15:clr>
        </p15:guide>
        <p15:guide id="5" orient="horz" pos="978" userDrawn="1">
          <p15:clr>
            <a:srgbClr val="F26B43"/>
          </p15:clr>
        </p15:guide>
        <p15:guide id="6" orient="horz" pos="38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534139" y="1549727"/>
            <a:ext cx="11123720" cy="769441"/>
          </a:xfrm>
        </p:spPr>
        <p:txBody>
          <a:bodyPr anchor="ctr"/>
          <a:lstStyle/>
          <a:p>
            <a:pPr algn="ctr"/>
            <a:r>
              <a:rPr lang="en-US" sz="4400" dirty="0"/>
              <a:t>Celgene Integration Batch 2 – Japan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1672702" y="3321849"/>
            <a:ext cx="8846595" cy="1090353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chemeClr val="accent2">
                    <a:lumMod val="75000"/>
                  </a:schemeClr>
                </a:solidFill>
              </a:rPr>
              <a:t>Add new items and logic for counting Myeloma and Lymphoma detail activities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2F3ABB-87ED-4A68-86B3-296049248E95}"/>
              </a:ext>
            </a:extLst>
          </p:cNvPr>
          <p:cNvSpPr/>
          <p:nvPr/>
        </p:nvSpPr>
        <p:spPr>
          <a:xfrm>
            <a:off x="-2244" y="-5229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EEEFF-5B88-4C04-AEDA-4135CD6B3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97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F439363-5FE5-4E4D-9417-BB298D1E9F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933061" y="2285482"/>
          <a:ext cx="10743117" cy="312420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4374233">
                  <a:extLst>
                    <a:ext uri="{9D8B030D-6E8A-4147-A177-3AD203B41FA5}">
                      <a16:colId xmlns:a16="http://schemas.microsoft.com/office/drawing/2014/main" val="641963053"/>
                    </a:ext>
                  </a:extLst>
                </a:gridCol>
                <a:gridCol w="3989301">
                  <a:extLst>
                    <a:ext uri="{9D8B030D-6E8A-4147-A177-3AD203B41FA5}">
                      <a16:colId xmlns:a16="http://schemas.microsoft.com/office/drawing/2014/main" val="2897162434"/>
                    </a:ext>
                  </a:extLst>
                </a:gridCol>
                <a:gridCol w="2379583">
                  <a:extLst>
                    <a:ext uri="{9D8B030D-6E8A-4147-A177-3AD203B41FA5}">
                      <a16:colId xmlns:a16="http://schemas.microsoft.com/office/drawing/2014/main" val="34919002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ja-JP" altLang="en-US" sz="2000" b="1" kern="1200" dirty="0"/>
                        <a:t>集計品目</a:t>
                      </a:r>
                      <a:r>
                        <a:rPr lang="en-US" altLang="ja-JP" sz="2000" b="1" kern="1200" dirty="0"/>
                        <a:t>(</a:t>
                      </a:r>
                      <a:r>
                        <a:rPr lang="en-US" sz="2000" b="1" kern="1200" dirty="0"/>
                        <a:t>Group)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2000" b="1" kern="1200"/>
                        <a:t>製品</a:t>
                      </a:r>
                      <a:r>
                        <a:rPr lang="en-US" altLang="ja-JP" sz="2000" b="1" kern="1200"/>
                        <a:t>(</a:t>
                      </a:r>
                      <a:r>
                        <a:rPr lang="en-US" sz="2000" b="1" kern="1200"/>
                        <a:t>Product)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kern="1200" dirty="0"/>
                        <a:t>Abbreviation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54163173"/>
                  </a:ext>
                </a:extLst>
              </a:tr>
              <a:tr h="26965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MM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 dirty="0"/>
                        <a:t>REVLIMID MM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 MM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47980004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POMALYST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POM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4253816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EMPLICITI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EM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05780821"/>
                  </a:ext>
                </a:extLst>
              </a:tr>
              <a:tr h="26965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LYM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REVLIMID LYMPHOMA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REV FL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576492"/>
                  </a:ext>
                </a:extLst>
              </a:tr>
              <a:tr h="2696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ISTODAX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IST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07328642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HEMA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REVLIMID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kern="1200"/>
                        <a:t>REV MDS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27011293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HEMA ATL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REVLIMID ATLL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REV ATL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2006295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HEMA CML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SPRYCEL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SP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96980797"/>
                  </a:ext>
                </a:extLst>
              </a:tr>
              <a:tr h="26965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/>
                        <a:t>HEMA HL</a:t>
                      </a:r>
                      <a:endParaRPr lang="en-US" sz="2000" b="1" kern="120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OPDIVO HL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kern="1200" dirty="0"/>
                        <a:t>OP HL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39738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1" y="1586204"/>
            <a:ext cx="3480318" cy="23497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Product Master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97AC18-8C54-4E6E-B296-7F5A89441DFF}"/>
              </a:ext>
            </a:extLst>
          </p:cNvPr>
          <p:cNvSpPr txBox="1"/>
          <p:nvPr/>
        </p:nvSpPr>
        <p:spPr>
          <a:xfrm>
            <a:off x="1082350" y="5691673"/>
            <a:ext cx="9032033" cy="4665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1600" dirty="0"/>
              <a:t>Product Group entries are required in CPM system and will flow in C-SCAN from there </a:t>
            </a:r>
          </a:p>
        </p:txBody>
      </p:sp>
    </p:spTree>
    <p:extLst>
      <p:ext uri="{BB962C8B-B14F-4D97-AF65-F5344CB8AC3E}">
        <p14:creationId xmlns:p14="http://schemas.microsoft.com/office/powerpoint/2010/main" val="353987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86204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Data Category-vise Product Groups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B7507-CA0C-41A2-B13A-2C9CF7A26E0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2708" y="2186457"/>
          <a:ext cx="11068061" cy="32048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8325">
                  <a:extLst>
                    <a:ext uri="{9D8B030D-6E8A-4147-A177-3AD203B41FA5}">
                      <a16:colId xmlns:a16="http://schemas.microsoft.com/office/drawing/2014/main" val="2678392111"/>
                    </a:ext>
                  </a:extLst>
                </a:gridCol>
                <a:gridCol w="8179736">
                  <a:extLst>
                    <a:ext uri="{9D8B030D-6E8A-4147-A177-3AD203B41FA5}">
                      <a16:colId xmlns:a16="http://schemas.microsoft.com/office/drawing/2014/main" val="1036960744"/>
                    </a:ext>
                  </a:extLst>
                </a:gridCol>
              </a:tblGrid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Data Category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Product/Area Drop down level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086195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Sales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Product level , No Impact with this change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3004640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98446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Market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Only Product Group level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6242815"/>
                  </a:ext>
                </a:extLst>
              </a:tr>
              <a:tr h="4152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Prescription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9633997"/>
                  </a:ext>
                </a:extLst>
              </a:tr>
              <a:tr h="2698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Acount Trace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no new launch in HEMA BU and only product level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385807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MR Takeover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2112284"/>
                  </a:ext>
                </a:extLst>
              </a:tr>
              <a:tr h="36420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activity/market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show at Product Group level, and not at detail product level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9496655"/>
                  </a:ext>
                </a:extLst>
              </a:tr>
              <a:tr h="46481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C-STAR alliance acitivy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PDE report for Celgene Products is not required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510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67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86204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2000" b="1" u="sng" dirty="0"/>
              <a:t>Data Category-vise Product Groups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DB7507-CA0C-41A2-B13A-2C9CF7A26E0B}"/>
              </a:ext>
            </a:extLst>
          </p:cNvPr>
          <p:cNvGraphicFramePr>
            <a:graphicFrameLocks noGrp="1"/>
          </p:cNvGraphicFramePr>
          <p:nvPr/>
        </p:nvGraphicFramePr>
        <p:xfrm>
          <a:off x="562708" y="2186457"/>
          <a:ext cx="11068061" cy="32048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888325">
                  <a:extLst>
                    <a:ext uri="{9D8B030D-6E8A-4147-A177-3AD203B41FA5}">
                      <a16:colId xmlns:a16="http://schemas.microsoft.com/office/drawing/2014/main" val="2678392111"/>
                    </a:ext>
                  </a:extLst>
                </a:gridCol>
                <a:gridCol w="8179736">
                  <a:extLst>
                    <a:ext uri="{9D8B030D-6E8A-4147-A177-3AD203B41FA5}">
                      <a16:colId xmlns:a16="http://schemas.microsoft.com/office/drawing/2014/main" val="1036960744"/>
                    </a:ext>
                  </a:extLst>
                </a:gridCol>
              </a:tblGrid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Data Category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 dirty="0">
                          <a:effectLst/>
                        </a:rPr>
                        <a:t>Product/Area Drop down level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18086195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Sales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Product level , No Impact with this change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23004640"/>
                  </a:ext>
                </a:extLst>
              </a:tr>
              <a:tr h="398434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398446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Market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Only Product Group level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6242815"/>
                  </a:ext>
                </a:extLst>
              </a:tr>
              <a:tr h="415268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Prescription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Group/Product level, show only group when there's only 1 product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529633997"/>
                  </a:ext>
                </a:extLst>
              </a:tr>
              <a:tr h="2698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Acount Trace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impact, no new launch in HEMA BU and only product level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93858073"/>
                  </a:ext>
                </a:extLst>
              </a:tr>
              <a:tr h="282016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>
                          <a:effectLst/>
                        </a:rPr>
                        <a:t>MR Takeover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No impact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52112284"/>
                  </a:ext>
                </a:extLst>
              </a:tr>
              <a:tr h="364205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activity/market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Only show at Product Group level, and not at detail product level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49496655"/>
                  </a:ext>
                </a:extLst>
              </a:tr>
              <a:tr h="464813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C-STAR alliance 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u="none" strike="noStrike" dirty="0">
                          <a:effectLst/>
                        </a:rPr>
                        <a:t>Impact on PDE report because of Agreed target doctor list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5102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70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Target Institution List</a:t>
            </a:r>
            <a:r>
              <a:rPr lang="en-US" sz="200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191BFE-94E9-45CD-905E-CB9D95F2308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2213066"/>
          <a:ext cx="8795300" cy="106680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419891">
                  <a:extLst>
                    <a:ext uri="{9D8B030D-6E8A-4147-A177-3AD203B41FA5}">
                      <a16:colId xmlns:a16="http://schemas.microsoft.com/office/drawing/2014/main" val="3144662200"/>
                    </a:ext>
                  </a:extLst>
                </a:gridCol>
                <a:gridCol w="1185414">
                  <a:extLst>
                    <a:ext uri="{9D8B030D-6E8A-4147-A177-3AD203B41FA5}">
                      <a16:colId xmlns:a16="http://schemas.microsoft.com/office/drawing/2014/main" val="2784578547"/>
                    </a:ext>
                  </a:extLst>
                </a:gridCol>
                <a:gridCol w="811368">
                  <a:extLst>
                    <a:ext uri="{9D8B030D-6E8A-4147-A177-3AD203B41FA5}">
                      <a16:colId xmlns:a16="http://schemas.microsoft.com/office/drawing/2014/main" val="1160702949"/>
                    </a:ext>
                  </a:extLst>
                </a:gridCol>
                <a:gridCol w="1819991">
                  <a:extLst>
                    <a:ext uri="{9D8B030D-6E8A-4147-A177-3AD203B41FA5}">
                      <a16:colId xmlns:a16="http://schemas.microsoft.com/office/drawing/2014/main" val="1791808984"/>
                    </a:ext>
                  </a:extLst>
                </a:gridCol>
                <a:gridCol w="677379">
                  <a:extLst>
                    <a:ext uri="{9D8B030D-6E8A-4147-A177-3AD203B41FA5}">
                      <a16:colId xmlns:a16="http://schemas.microsoft.com/office/drawing/2014/main" val="1802808131"/>
                    </a:ext>
                  </a:extLst>
                </a:gridCol>
                <a:gridCol w="2881257">
                  <a:extLst>
                    <a:ext uri="{9D8B030D-6E8A-4147-A177-3AD203B41FA5}">
                      <a16:colId xmlns:a16="http://schemas.microsoft.com/office/drawing/2014/main" val="2711507274"/>
                    </a:ext>
                  </a:extLst>
                </a:gridCol>
              </a:tblGrid>
              <a:tr h="182880">
                <a:tc gridSpan="3"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99476068"/>
                  </a:ext>
                </a:extLst>
              </a:tr>
              <a:tr h="1905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LYM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148655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Flag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86898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auto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BMS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FL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IST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BMS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0979978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1162AB-2334-489D-9681-E42FA7F40A3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4059742"/>
          <a:ext cx="8795299" cy="110871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6075">
                  <a:extLst>
                    <a:ext uri="{9D8B030D-6E8A-4147-A177-3AD203B41FA5}">
                      <a16:colId xmlns:a16="http://schemas.microsoft.com/office/drawing/2014/main" val="2872815862"/>
                    </a:ext>
                  </a:extLst>
                </a:gridCol>
                <a:gridCol w="1181320">
                  <a:extLst>
                    <a:ext uri="{9D8B030D-6E8A-4147-A177-3AD203B41FA5}">
                      <a16:colId xmlns:a16="http://schemas.microsoft.com/office/drawing/2014/main" val="1510804790"/>
                    </a:ext>
                  </a:extLst>
                </a:gridCol>
                <a:gridCol w="812158">
                  <a:extLst>
                    <a:ext uri="{9D8B030D-6E8A-4147-A177-3AD203B41FA5}">
                      <a16:colId xmlns:a16="http://schemas.microsoft.com/office/drawing/2014/main" val="1080865580"/>
                    </a:ext>
                  </a:extLst>
                </a:gridCol>
                <a:gridCol w="1735064">
                  <a:extLst>
                    <a:ext uri="{9D8B030D-6E8A-4147-A177-3AD203B41FA5}">
                      <a16:colId xmlns:a16="http://schemas.microsoft.com/office/drawing/2014/main" val="1565334676"/>
                    </a:ext>
                  </a:extLst>
                </a:gridCol>
                <a:gridCol w="692180">
                  <a:extLst>
                    <a:ext uri="{9D8B030D-6E8A-4147-A177-3AD203B41FA5}">
                      <a16:colId xmlns:a16="http://schemas.microsoft.com/office/drawing/2014/main" val="2277367701"/>
                    </a:ext>
                  </a:extLst>
                </a:gridCol>
                <a:gridCol w="2988502">
                  <a:extLst>
                    <a:ext uri="{9D8B030D-6E8A-4147-A177-3AD203B41FA5}">
                      <a16:colId xmlns:a16="http://schemas.microsoft.com/office/drawing/2014/main" val="2235747985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IO MELA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IO LC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715209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Flag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888437961"/>
                  </a:ext>
                </a:extLst>
              </a:tr>
              <a:tr h="18097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MELA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OPYV MELA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BMS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OP LC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BMS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001680911"/>
                  </a:ext>
                </a:extLst>
              </a:tr>
              <a:tr h="3733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Co-Pro Solo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 dirty="0">
                          <a:effectLst/>
                        </a:rPr>
                        <a:t>Co-Pro Solo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20877928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Co-Visit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Co-Visit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19538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AB469BC-E874-43D3-86E8-8E50510DD38A}"/>
              </a:ext>
            </a:extLst>
          </p:cNvPr>
          <p:cNvSpPr txBox="1"/>
          <p:nvPr/>
        </p:nvSpPr>
        <p:spPr>
          <a:xfrm>
            <a:off x="1082350" y="3536302"/>
            <a:ext cx="3750907" cy="31724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236894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Tier List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61848F-6ED1-4237-8BB8-1607CDFAC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63690" y="2307664"/>
          <a:ext cx="8795298" cy="13087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0930">
                  <a:extLst>
                    <a:ext uri="{9D8B030D-6E8A-4147-A177-3AD203B41FA5}">
                      <a16:colId xmlns:a16="http://schemas.microsoft.com/office/drawing/2014/main" val="3425682322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3082716593"/>
                    </a:ext>
                  </a:extLst>
                </a:gridCol>
                <a:gridCol w="1464907">
                  <a:extLst>
                    <a:ext uri="{9D8B030D-6E8A-4147-A177-3AD203B41FA5}">
                      <a16:colId xmlns:a16="http://schemas.microsoft.com/office/drawing/2014/main" val="1810188222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3831836145"/>
                    </a:ext>
                  </a:extLst>
                </a:gridCol>
                <a:gridCol w="1259633">
                  <a:extLst>
                    <a:ext uri="{9D8B030D-6E8A-4147-A177-3AD203B41FA5}">
                      <a16:colId xmlns:a16="http://schemas.microsoft.com/office/drawing/2014/main" val="2823816056"/>
                    </a:ext>
                  </a:extLst>
                </a:gridCol>
                <a:gridCol w="1937298">
                  <a:extLst>
                    <a:ext uri="{9D8B030D-6E8A-4147-A177-3AD203B41FA5}">
                      <a16:colId xmlns:a16="http://schemas.microsoft.com/office/drawing/2014/main" val="33754723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HEMA LYM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33525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273626"/>
                  </a:ext>
                </a:extLst>
              </a:tr>
              <a:tr h="180975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 FL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82331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04792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171547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T4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66580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6887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610DC7-7392-4411-9044-C992657DED7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82350" y="4317682"/>
          <a:ext cx="3898900" cy="14992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30982047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170798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63357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IO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05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Institution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206236"/>
                  </a:ext>
                </a:extLst>
              </a:tr>
              <a:tr h="180975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558862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361181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15806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243639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70876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T5b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33391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654CA6-1140-48E5-B38F-A00769B7D78E}"/>
              </a:ext>
            </a:extLst>
          </p:cNvPr>
          <p:cNvSpPr txBox="1"/>
          <p:nvPr/>
        </p:nvSpPr>
        <p:spPr>
          <a:xfrm>
            <a:off x="1082350" y="3797559"/>
            <a:ext cx="3889570" cy="160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138142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4">
            <a:extLst>
              <a:ext uri="{FF2B5EF4-FFF2-40B4-BE49-F238E27FC236}">
                <a16:creationId xmlns:a16="http://schemas.microsoft.com/office/drawing/2014/main" id="{FBCBA89C-CE08-466C-B530-ED65A4669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708" y="591148"/>
            <a:ext cx="11068061" cy="786689"/>
          </a:xfrm>
        </p:spPr>
        <p:txBody>
          <a:bodyPr/>
          <a:lstStyle/>
          <a:p>
            <a:r>
              <a:rPr lang="en-US" sz="2800" dirty="0"/>
              <a:t>C-SCAN: Add new items and logic for counting Myeloma and Lymphoma detail activities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BDBC01-FB5C-4A2A-8939-DF8C10E85F32}"/>
              </a:ext>
            </a:extLst>
          </p:cNvPr>
          <p:cNvSpPr/>
          <p:nvPr/>
        </p:nvSpPr>
        <p:spPr>
          <a:xfrm>
            <a:off x="-2244" y="4102"/>
            <a:ext cx="12212335" cy="364067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en-US" sz="2000" dirty="0"/>
          </a:p>
        </p:txBody>
      </p:sp>
      <p:sp>
        <p:nvSpPr>
          <p:cNvPr id="32" name="Road Sign">
            <a:extLst>
              <a:ext uri="{FF2B5EF4-FFF2-40B4-BE49-F238E27FC236}">
                <a16:creationId xmlns:a16="http://schemas.microsoft.com/office/drawing/2014/main" id="{DA6AA068-A1BA-4C2A-9664-F4D401B6F3F9}"/>
              </a:ext>
            </a:extLst>
          </p:cNvPr>
          <p:cNvSpPr txBox="1"/>
          <p:nvPr/>
        </p:nvSpPr>
        <p:spPr bwMode="blackWhite">
          <a:xfrm rot="10800000" flipV="1">
            <a:off x="9879384" y="-111198"/>
            <a:ext cx="2330708" cy="572536"/>
          </a:xfrm>
          <a:prstGeom prst="rect">
            <a:avLst/>
          </a:prstGeom>
          <a:noFill/>
        </p:spPr>
        <p:txBody>
          <a:bodyPr vert="horz" wrap="none" lIns="91440" tIns="45720" rIns="91440" bIns="45720" rtlCol="0" anchor="ctr">
            <a:noAutofit/>
          </a:bodyPr>
          <a:lstStyle>
            <a:defPPr>
              <a:defRPr lang="fr-FR"/>
            </a:defPPr>
            <a:lvl1pPr algn="r">
              <a:defRPr sz="1000" b="1" i="1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+mn-cs"/>
              </a:rPr>
              <a:t>Flow chart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4AD570F-4F98-4331-97F2-D1D656B864DD}"/>
              </a:ext>
            </a:extLst>
          </p:cNvPr>
          <p:cNvSpPr txBox="1">
            <a:spLocks/>
          </p:cNvSpPr>
          <p:nvPr/>
        </p:nvSpPr>
        <p:spPr>
          <a:xfrm>
            <a:off x="11676179" y="6456008"/>
            <a:ext cx="320040" cy="2286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7E36F4B-402F-4A06-93F9-9C0901CC7DE3}"/>
              </a:ext>
            </a:extLst>
          </p:cNvPr>
          <p:cNvSpPr txBox="1"/>
          <p:nvPr/>
        </p:nvSpPr>
        <p:spPr>
          <a:xfrm>
            <a:off x="670560" y="1821180"/>
            <a:ext cx="10256520" cy="32461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685800" lvl="1" indent="-228600"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HEMA Product Groups: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5E6F6-23AF-40C7-A4D4-DA43EEC0CA82}"/>
              </a:ext>
            </a:extLst>
          </p:cNvPr>
          <p:cNvSpPr txBox="1"/>
          <p:nvPr/>
        </p:nvSpPr>
        <p:spPr>
          <a:xfrm>
            <a:off x="1082350" y="1573780"/>
            <a:ext cx="6960637" cy="391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dirty="0"/>
              <a:t>Priority Doctor Segment List</a:t>
            </a:r>
            <a:r>
              <a:rPr lang="en-US" sz="2000" dirty="0"/>
              <a:t> </a:t>
            </a:r>
          </a:p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2000" b="1" u="sng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61848F-6ED1-4237-8BB8-1607CDFACEE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063690" y="2307664"/>
          <a:ext cx="8795298" cy="13087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380930">
                  <a:extLst>
                    <a:ext uri="{9D8B030D-6E8A-4147-A177-3AD203B41FA5}">
                      <a16:colId xmlns:a16="http://schemas.microsoft.com/office/drawing/2014/main" val="3425682322"/>
                    </a:ext>
                  </a:extLst>
                </a:gridCol>
                <a:gridCol w="1129004">
                  <a:extLst>
                    <a:ext uri="{9D8B030D-6E8A-4147-A177-3AD203B41FA5}">
                      <a16:colId xmlns:a16="http://schemas.microsoft.com/office/drawing/2014/main" val="3082716593"/>
                    </a:ext>
                  </a:extLst>
                </a:gridCol>
                <a:gridCol w="1464907">
                  <a:extLst>
                    <a:ext uri="{9D8B030D-6E8A-4147-A177-3AD203B41FA5}">
                      <a16:colId xmlns:a16="http://schemas.microsoft.com/office/drawing/2014/main" val="1810188222"/>
                    </a:ext>
                  </a:extLst>
                </a:gridCol>
                <a:gridCol w="1623526">
                  <a:extLst>
                    <a:ext uri="{9D8B030D-6E8A-4147-A177-3AD203B41FA5}">
                      <a16:colId xmlns:a16="http://schemas.microsoft.com/office/drawing/2014/main" val="3831836145"/>
                    </a:ext>
                  </a:extLst>
                </a:gridCol>
                <a:gridCol w="1259633">
                  <a:extLst>
                    <a:ext uri="{9D8B030D-6E8A-4147-A177-3AD203B41FA5}">
                      <a16:colId xmlns:a16="http://schemas.microsoft.com/office/drawing/2014/main" val="2823816056"/>
                    </a:ext>
                  </a:extLst>
                </a:gridCol>
                <a:gridCol w="1937298">
                  <a:extLst>
                    <a:ext uri="{9D8B030D-6E8A-4147-A177-3AD203B41FA5}">
                      <a16:colId xmlns:a16="http://schemas.microsoft.com/office/drawing/2014/main" val="33754723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HEMA MM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HEMA LYM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733525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Products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Priority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40273626"/>
                  </a:ext>
                </a:extLst>
              </a:tr>
              <a:tr h="180975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REV MM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POM</a:t>
                      </a:r>
                      <a:br>
                        <a:rPr lang="en-US" sz="1100" u="none" strike="noStrike" dirty="0">
                          <a:effectLst/>
                        </a:rPr>
                      </a:br>
                      <a:r>
                        <a:rPr lang="en-US" sz="1100" u="none" strike="noStrike" dirty="0">
                          <a:effectLst/>
                        </a:rPr>
                        <a:t>EM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REV FL</a:t>
                      </a:r>
                      <a:br>
                        <a:rPr lang="en-US" sz="1100" u="none" strike="noStrike">
                          <a:effectLst/>
                        </a:rPr>
                      </a:br>
                      <a:r>
                        <a:rPr lang="en-US" sz="1100" u="none" strike="noStrike">
                          <a:effectLst/>
                        </a:rPr>
                        <a:t>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T1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38233112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u="none" strike="noStrike">
                          <a:effectLst/>
                        </a:rPr>
                        <a:t>T2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73047921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T3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11715476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9665808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36887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610DC7-7392-4411-9044-C992657DED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504841"/>
              </p:ext>
            </p:extLst>
          </p:nvPr>
        </p:nvGraphicFramePr>
        <p:xfrm>
          <a:off x="1082350" y="4317682"/>
          <a:ext cx="3898900" cy="1499235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1498600">
                  <a:extLst>
                    <a:ext uri="{9D8B030D-6E8A-4147-A177-3AD203B41FA5}">
                      <a16:colId xmlns:a16="http://schemas.microsoft.com/office/drawing/2014/main" val="230982047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61707986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633576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IO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905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>
                          <a:effectLst/>
                        </a:rPr>
                        <a:t>Products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Segments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Priority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4206236"/>
                  </a:ext>
                </a:extLst>
              </a:tr>
              <a:tr h="180975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>
                          <a:effectLst/>
                        </a:rPr>
                        <a:t>OP LC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A-H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558862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A-M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9361181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A-L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3315806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62436395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>
                          <a:effectLst/>
                        </a:rPr>
                        <a:t>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7087608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>
                          <a:effectLst/>
                        </a:rPr>
                        <a:t>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8333914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654CA6-1140-48E5-B38F-A00769B7D78E}"/>
              </a:ext>
            </a:extLst>
          </p:cNvPr>
          <p:cNvSpPr txBox="1"/>
          <p:nvPr/>
        </p:nvSpPr>
        <p:spPr>
          <a:xfrm>
            <a:off x="1082350" y="3797559"/>
            <a:ext cx="3889570" cy="16083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>
              <a:lnSpc>
                <a:spcPct val="100000"/>
              </a:lnSpc>
              <a:spcBef>
                <a:spcPts val="1200"/>
              </a:spcBef>
              <a:buSzPct val="100000"/>
              <a:buFont typeface="Trebuchet MS"/>
              <a:buChar char="•"/>
            </a:pPr>
            <a:r>
              <a:rPr lang="en-US" sz="2000" dirty="0"/>
              <a:t>ONC Product Groups</a:t>
            </a:r>
          </a:p>
        </p:txBody>
      </p:sp>
    </p:spTree>
    <p:extLst>
      <p:ext uri="{BB962C8B-B14F-4D97-AF65-F5344CB8AC3E}">
        <p14:creationId xmlns:p14="http://schemas.microsoft.com/office/powerpoint/2010/main" val="3351806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039379"/>
              </p:ext>
            </p:extLst>
          </p:nvPr>
        </p:nvGraphicFramePr>
        <p:xfrm>
          <a:off x="643812" y="1081087"/>
          <a:ext cx="10862388" cy="4511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8376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53543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6010469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Detail &amp; Explanatory Meetings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 distinct # of calls which has detail for any of the underlying detail products and count that as # of details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41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Planned Detail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Nishant to confirm C-SCAN logic for IO CRC/ RCC; Checked and no change required here. MAX Logic present. In sync with BRD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TDFA, Clear Ratio &amp; Detail Attainment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 them at product group level but not at product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342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Seminar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Calculate # of seminar at product level and aggregate the same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Nishant to confirm C-SCAN logic for IO CRC/ RCC; Logic is in sync with BRD. No change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25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6022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9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199878"/>
              </p:ext>
            </p:extLst>
          </p:nvPr>
        </p:nvGraphicFramePr>
        <p:xfrm>
          <a:off x="643812" y="1081086"/>
          <a:ext cx="10842172" cy="41148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6518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46371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5999283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95012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New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Take the sum of # of new patients for all treatment lines at product level and aggregate them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941825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Accumulated 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Take the sum of # of accumulated patients for all treatment lines at product level and aggregate them at product group level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570959"/>
                  </a:ext>
                </a:extLst>
              </a:tr>
              <a:tr h="69886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Institution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target institution flag on the basis of priority. Refer next section for detailed 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6342830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tier on the basis of priority. Refer next section; TBD ;One </a:t>
                      </a:r>
                      <a:r>
                        <a:rPr lang="en-US" dirty="0" err="1"/>
                        <a:t>insn</a:t>
                      </a:r>
                      <a:r>
                        <a:rPr lang="en-US" dirty="0"/>
                        <a:t> has 1 tier for one Product group will that be the same for HEMA prods.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866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39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B98C6-6C8D-4D0A-87C3-E3C1D3A1D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Calculation of metric at product group level: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56D3FD-4B77-4DFF-9AC5-E3902EE57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CE479C-20B9-4BEB-B520-6FD1A058C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556586"/>
              </p:ext>
            </p:extLst>
          </p:nvPr>
        </p:nvGraphicFramePr>
        <p:xfrm>
          <a:off x="643812" y="1081086"/>
          <a:ext cx="10842172" cy="271272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996518">
                  <a:extLst>
                    <a:ext uri="{9D8B030D-6E8A-4147-A177-3AD203B41FA5}">
                      <a16:colId xmlns:a16="http://schemas.microsoft.com/office/drawing/2014/main" val="1394717343"/>
                    </a:ext>
                  </a:extLst>
                </a:gridCol>
                <a:gridCol w="3846371">
                  <a:extLst>
                    <a:ext uri="{9D8B030D-6E8A-4147-A177-3AD203B41FA5}">
                      <a16:colId xmlns:a16="http://schemas.microsoft.com/office/drawing/2014/main" val="4072326938"/>
                    </a:ext>
                  </a:extLst>
                </a:gridCol>
                <a:gridCol w="5999283">
                  <a:extLst>
                    <a:ext uri="{9D8B030D-6E8A-4147-A177-3AD203B41FA5}">
                      <a16:colId xmlns:a16="http://schemas.microsoft.com/office/drawing/2014/main" val="1003515610"/>
                    </a:ext>
                  </a:extLst>
                </a:gridCol>
              </a:tblGrid>
              <a:tr h="395012">
                <a:tc>
                  <a:txBody>
                    <a:bodyPr/>
                    <a:lstStyle/>
                    <a:p>
                      <a:r>
                        <a:rPr lang="en-US" dirty="0"/>
                        <a:t>S.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Calculation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209737"/>
                  </a:ext>
                </a:extLst>
              </a:tr>
              <a:tr h="1306579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Doctor 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Pick Doctor Segment on the basis of priority. Refer next section; TBD; One </a:t>
                      </a:r>
                      <a:r>
                        <a:rPr lang="en-US" dirty="0" err="1"/>
                        <a:t>insn</a:t>
                      </a:r>
                      <a:r>
                        <a:rPr lang="en-US" dirty="0"/>
                        <a:t> has 1 </a:t>
                      </a:r>
                      <a:r>
                        <a:rPr lang="en-US" dirty="0" err="1"/>
                        <a:t>dr</a:t>
                      </a:r>
                      <a:r>
                        <a:rPr lang="en-US" dirty="0"/>
                        <a:t> seg for one Product group will that be the same for HEMA prods.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1325804"/>
                  </a:ext>
                </a:extLst>
              </a:tr>
              <a:tr h="1002724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 Doctor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If an </a:t>
                      </a:r>
                      <a:r>
                        <a:rPr lang="en-US" dirty="0" err="1"/>
                        <a:t>insn-dr</a:t>
                      </a:r>
                      <a:r>
                        <a:rPr lang="en-US" dirty="0"/>
                        <a:t> is Targeted for a product within product group then it should be targeted at product group level. Refer next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5309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5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DEE8C-9EFE-46FA-9BD6-471C403A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Target Patients, New Patients and Potential Patients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9B7BBD-A748-4C0A-B0F3-AF59AA97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11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036675-8546-4C0B-A6B3-EDDAAEF6B7B2}"/>
              </a:ext>
            </a:extLst>
          </p:cNvPr>
          <p:cNvSpPr/>
          <p:nvPr/>
        </p:nvSpPr>
        <p:spPr>
          <a:xfrm>
            <a:off x="1749992" y="2292424"/>
            <a:ext cx="872264" cy="763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CRM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1561456-1661-40DB-A89D-DDEEA45DBA54}"/>
              </a:ext>
            </a:extLst>
          </p:cNvPr>
          <p:cNvCxnSpPr>
            <a:cxnSpLocks/>
          </p:cNvCxnSpPr>
          <p:nvPr/>
        </p:nvCxnSpPr>
        <p:spPr>
          <a:xfrm flipV="1">
            <a:off x="2643750" y="2708087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9072B5B-573F-4D95-9D12-5F0EECEC7E56}"/>
              </a:ext>
            </a:extLst>
          </p:cNvPr>
          <p:cNvSpPr/>
          <p:nvPr/>
        </p:nvSpPr>
        <p:spPr>
          <a:xfrm>
            <a:off x="2960964" y="2270021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Prescription Follow Up Object  </a:t>
            </a:r>
          </a:p>
        </p:txBody>
      </p:sp>
      <p:sp>
        <p:nvSpPr>
          <p:cNvPr id="7" name="Can 10">
            <a:extLst>
              <a:ext uri="{FF2B5EF4-FFF2-40B4-BE49-F238E27FC236}">
                <a16:creationId xmlns:a16="http://schemas.microsoft.com/office/drawing/2014/main" id="{B5418115-51F6-42B0-94C8-A311D8E671C1}"/>
              </a:ext>
            </a:extLst>
          </p:cNvPr>
          <p:cNvSpPr/>
          <p:nvPr/>
        </p:nvSpPr>
        <p:spPr>
          <a:xfrm>
            <a:off x="4153976" y="229242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CAF7A6-04D3-4E6A-BFA7-08ACDE92205A}"/>
              </a:ext>
            </a:extLst>
          </p:cNvPr>
          <p:cNvCxnSpPr>
            <a:cxnSpLocks/>
          </p:cNvCxnSpPr>
          <p:nvPr/>
        </p:nvCxnSpPr>
        <p:spPr>
          <a:xfrm flipV="1">
            <a:off x="3781869" y="2707655"/>
            <a:ext cx="313809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8FCF809-FE0F-4FF1-BE0D-749530ACFFC7}"/>
              </a:ext>
            </a:extLst>
          </p:cNvPr>
          <p:cNvCxnSpPr>
            <a:cxnSpLocks/>
          </p:cNvCxnSpPr>
          <p:nvPr/>
        </p:nvCxnSpPr>
        <p:spPr>
          <a:xfrm flipV="1">
            <a:off x="4766245" y="4603522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D5BE4A2F-991A-4CAE-B144-3AFFCA22EF9E}"/>
              </a:ext>
            </a:extLst>
          </p:cNvPr>
          <p:cNvSpPr/>
          <p:nvPr/>
        </p:nvSpPr>
        <p:spPr>
          <a:xfrm>
            <a:off x="5012061" y="2436959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B91663-8C17-45BA-A119-DCA281FC9661}"/>
              </a:ext>
            </a:extLst>
          </p:cNvPr>
          <p:cNvSpPr txBox="1"/>
          <p:nvPr/>
        </p:nvSpPr>
        <p:spPr>
          <a:xfrm>
            <a:off x="1278384" y="2348880"/>
            <a:ext cx="489297" cy="28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1000" dirty="0"/>
          </a:p>
        </p:txBody>
      </p:sp>
      <p:sp>
        <p:nvSpPr>
          <p:cNvPr id="12" name="Can 14">
            <a:extLst>
              <a:ext uri="{FF2B5EF4-FFF2-40B4-BE49-F238E27FC236}">
                <a16:creationId xmlns:a16="http://schemas.microsoft.com/office/drawing/2014/main" id="{6A801A76-281C-4A2B-871D-9B3E5EEDF725}"/>
              </a:ext>
            </a:extLst>
          </p:cNvPr>
          <p:cNvSpPr/>
          <p:nvPr/>
        </p:nvSpPr>
        <p:spPr>
          <a:xfrm>
            <a:off x="5921880" y="2309242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7F3DEA-123D-4E6B-9F81-1631682C6944}"/>
              </a:ext>
            </a:extLst>
          </p:cNvPr>
          <p:cNvSpPr txBox="1"/>
          <p:nvPr/>
        </p:nvSpPr>
        <p:spPr>
          <a:xfrm>
            <a:off x="1214947" y="3367263"/>
            <a:ext cx="489297" cy="3664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endParaRPr lang="en-US" sz="10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E3742C-5ED1-4B39-8147-F5C7B09E66F1}"/>
              </a:ext>
            </a:extLst>
          </p:cNvPr>
          <p:cNvCxnSpPr>
            <a:cxnSpLocks/>
          </p:cNvCxnSpPr>
          <p:nvPr/>
        </p:nvCxnSpPr>
        <p:spPr>
          <a:xfrm>
            <a:off x="4766245" y="2729655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FE0C88-5B77-4D05-8D9E-017A90F4134D}"/>
              </a:ext>
            </a:extLst>
          </p:cNvPr>
          <p:cNvCxnSpPr>
            <a:cxnSpLocks/>
          </p:cNvCxnSpPr>
          <p:nvPr/>
        </p:nvCxnSpPr>
        <p:spPr>
          <a:xfrm>
            <a:off x="6492556" y="2729655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3E301AA-01B5-493D-9FE2-1FBBFB684CBA}"/>
              </a:ext>
            </a:extLst>
          </p:cNvPr>
          <p:cNvCxnSpPr>
            <a:cxnSpLocks/>
          </p:cNvCxnSpPr>
          <p:nvPr/>
        </p:nvCxnSpPr>
        <p:spPr>
          <a:xfrm>
            <a:off x="8901404" y="2729655"/>
            <a:ext cx="0" cy="788362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11E116-BCBA-452C-B18C-6959491F3188}"/>
              </a:ext>
            </a:extLst>
          </p:cNvPr>
          <p:cNvCxnSpPr>
            <a:cxnSpLocks/>
          </p:cNvCxnSpPr>
          <p:nvPr/>
        </p:nvCxnSpPr>
        <p:spPr>
          <a:xfrm>
            <a:off x="8950960" y="3529658"/>
            <a:ext cx="217540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an 14">
            <a:extLst>
              <a:ext uri="{FF2B5EF4-FFF2-40B4-BE49-F238E27FC236}">
                <a16:creationId xmlns:a16="http://schemas.microsoft.com/office/drawing/2014/main" id="{33BB88B3-F6A3-4E39-9F04-D7F0A0F67AD3}"/>
              </a:ext>
            </a:extLst>
          </p:cNvPr>
          <p:cNvSpPr/>
          <p:nvPr/>
        </p:nvSpPr>
        <p:spPr>
          <a:xfrm>
            <a:off x="9175985" y="3056368"/>
            <a:ext cx="824456" cy="824427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Summary Table </a:t>
            </a:r>
          </a:p>
        </p:txBody>
      </p:sp>
      <p:sp>
        <p:nvSpPr>
          <p:cNvPr id="19" name="Can 14">
            <a:extLst>
              <a:ext uri="{FF2B5EF4-FFF2-40B4-BE49-F238E27FC236}">
                <a16:creationId xmlns:a16="http://schemas.microsoft.com/office/drawing/2014/main" id="{0FCEE4EE-9948-471D-B178-035B961D3343}"/>
              </a:ext>
            </a:extLst>
          </p:cNvPr>
          <p:cNvSpPr/>
          <p:nvPr/>
        </p:nvSpPr>
        <p:spPr>
          <a:xfrm>
            <a:off x="10378232" y="225751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L3 (Drilldown)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Can 14">
            <a:extLst>
              <a:ext uri="{FF2B5EF4-FFF2-40B4-BE49-F238E27FC236}">
                <a16:creationId xmlns:a16="http://schemas.microsoft.com/office/drawing/2014/main" id="{656FA0D8-2C1E-4823-80B4-EB9DC21F4C3E}"/>
              </a:ext>
            </a:extLst>
          </p:cNvPr>
          <p:cNvSpPr/>
          <p:nvPr/>
        </p:nvSpPr>
        <p:spPr>
          <a:xfrm>
            <a:off x="10378231" y="4045314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L3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kern="0" dirty="0">
                <a:solidFill>
                  <a:srgbClr val="000000"/>
                </a:solidFill>
              </a:rPr>
              <a:t>(C-SCOR)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B23FFB6-87D2-4520-9048-4719595B573E}"/>
              </a:ext>
            </a:extLst>
          </p:cNvPr>
          <p:cNvCxnSpPr>
            <a:cxnSpLocks/>
            <a:stCxn id="18" idx="4"/>
            <a:endCxn id="19" idx="2"/>
          </p:cNvCxnSpPr>
          <p:nvPr/>
        </p:nvCxnSpPr>
        <p:spPr>
          <a:xfrm flipV="1">
            <a:off x="10000441" y="2639486"/>
            <a:ext cx="377791" cy="829096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0450A4-E369-4E5E-BB8D-BE3C63894CA9}"/>
              </a:ext>
            </a:extLst>
          </p:cNvPr>
          <p:cNvCxnSpPr>
            <a:cxnSpLocks/>
            <a:stCxn id="18" idx="4"/>
            <a:endCxn id="20" idx="2"/>
          </p:cNvCxnSpPr>
          <p:nvPr/>
        </p:nvCxnSpPr>
        <p:spPr>
          <a:xfrm>
            <a:off x="10000441" y="3468582"/>
            <a:ext cx="377790" cy="958704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Left Brace 22">
            <a:extLst>
              <a:ext uri="{FF2B5EF4-FFF2-40B4-BE49-F238E27FC236}">
                <a16:creationId xmlns:a16="http://schemas.microsoft.com/office/drawing/2014/main" id="{72CF64F6-E302-4208-AB58-9695175A23CE}"/>
              </a:ext>
            </a:extLst>
          </p:cNvPr>
          <p:cNvSpPr/>
          <p:nvPr/>
        </p:nvSpPr>
        <p:spPr>
          <a:xfrm>
            <a:off x="1375229" y="2486705"/>
            <a:ext cx="329016" cy="461832"/>
          </a:xfrm>
          <a:prstGeom prst="leftBrac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792CFC-99E7-4B8F-AB72-5B2D8DB1959B}"/>
              </a:ext>
            </a:extLst>
          </p:cNvPr>
          <p:cNvSpPr txBox="1"/>
          <p:nvPr/>
        </p:nvSpPr>
        <p:spPr>
          <a:xfrm>
            <a:off x="204825" y="2377442"/>
            <a:ext cx="1171550" cy="6864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200" dirty="0"/>
              <a:t>New Patients and Potential Patients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DC14226-DAB7-4A49-B1E2-F090606E55BB}"/>
              </a:ext>
            </a:extLst>
          </p:cNvPr>
          <p:cNvSpPr/>
          <p:nvPr/>
        </p:nvSpPr>
        <p:spPr>
          <a:xfrm>
            <a:off x="1749992" y="4225251"/>
            <a:ext cx="872264" cy="763944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0" kern="0" dirty="0">
                <a:solidFill>
                  <a:srgbClr val="000000"/>
                </a:solidFill>
                <a:effectLst/>
              </a:rPr>
              <a:t>CRM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FEBACD-8F09-46AE-84F9-2679771A28D5}"/>
              </a:ext>
            </a:extLst>
          </p:cNvPr>
          <p:cNvSpPr/>
          <p:nvPr/>
        </p:nvSpPr>
        <p:spPr>
          <a:xfrm>
            <a:off x="2994759" y="4210295"/>
            <a:ext cx="799411" cy="793855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r>
              <a:rPr lang="en-US" sz="1100" dirty="0">
                <a:solidFill>
                  <a:schemeClr val="bg1"/>
                </a:solidFill>
                <a:cs typeface="Arial" panose="020B0604020202020204" pitchFamily="34" charset="0"/>
              </a:rPr>
              <a:t>Product Metric Object</a:t>
            </a:r>
          </a:p>
        </p:txBody>
      </p:sp>
      <p:sp>
        <p:nvSpPr>
          <p:cNvPr id="27" name="Can 10">
            <a:extLst>
              <a:ext uri="{FF2B5EF4-FFF2-40B4-BE49-F238E27FC236}">
                <a16:creationId xmlns:a16="http://schemas.microsoft.com/office/drawing/2014/main" id="{1F282F27-F62D-4369-A93E-D6F74CE470BF}"/>
              </a:ext>
            </a:extLst>
          </p:cNvPr>
          <p:cNvSpPr/>
          <p:nvPr/>
        </p:nvSpPr>
        <p:spPr>
          <a:xfrm>
            <a:off x="4142052" y="4198483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285DFF-D0FB-462B-89A7-22B8FDCB7000}"/>
              </a:ext>
            </a:extLst>
          </p:cNvPr>
          <p:cNvSpPr/>
          <p:nvPr/>
        </p:nvSpPr>
        <p:spPr>
          <a:xfrm>
            <a:off x="5028021" y="4324666"/>
            <a:ext cx="663563" cy="511577"/>
          </a:xfrm>
          <a:prstGeom prst="rect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ETL Process</a:t>
            </a:r>
          </a:p>
        </p:txBody>
      </p:sp>
      <p:sp>
        <p:nvSpPr>
          <p:cNvPr id="29" name="Can 14">
            <a:extLst>
              <a:ext uri="{FF2B5EF4-FFF2-40B4-BE49-F238E27FC236}">
                <a16:creationId xmlns:a16="http://schemas.microsoft.com/office/drawing/2014/main" id="{06FF9961-AAB3-4608-8169-99886900CBDB}"/>
              </a:ext>
            </a:extLst>
          </p:cNvPr>
          <p:cNvSpPr/>
          <p:nvPr/>
        </p:nvSpPr>
        <p:spPr>
          <a:xfrm>
            <a:off x="5931677" y="4198483"/>
            <a:ext cx="568741" cy="763944"/>
          </a:xfrm>
          <a:prstGeom prst="can">
            <a:avLst/>
          </a:prstGeom>
          <a:solidFill>
            <a:srgbClr val="B2A0CA"/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L2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B1FF5E5-A7FF-47B1-A528-D19A4212F101}"/>
              </a:ext>
            </a:extLst>
          </p:cNvPr>
          <p:cNvCxnSpPr>
            <a:cxnSpLocks/>
          </p:cNvCxnSpPr>
          <p:nvPr/>
        </p:nvCxnSpPr>
        <p:spPr>
          <a:xfrm>
            <a:off x="8901404" y="3529658"/>
            <a:ext cx="0" cy="1031313"/>
          </a:xfrm>
          <a:prstGeom prst="lin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8E5A02-3220-4635-B400-EC6DCD0EEAEA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8391478" y="4574960"/>
            <a:ext cx="509824" cy="549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DB2D4E-FA63-4D61-84CC-E0BEFCE179FE}"/>
              </a:ext>
            </a:extLst>
          </p:cNvPr>
          <p:cNvCxnSpPr>
            <a:cxnSpLocks/>
          </p:cNvCxnSpPr>
          <p:nvPr/>
        </p:nvCxnSpPr>
        <p:spPr>
          <a:xfrm flipV="1">
            <a:off x="2682577" y="4618942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192248A-CE68-43BC-9D06-647B85A6BB42}"/>
              </a:ext>
            </a:extLst>
          </p:cNvPr>
          <p:cNvCxnSpPr>
            <a:cxnSpLocks/>
          </p:cNvCxnSpPr>
          <p:nvPr/>
        </p:nvCxnSpPr>
        <p:spPr>
          <a:xfrm flipV="1">
            <a:off x="3860498" y="4607223"/>
            <a:ext cx="272541" cy="1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Left Brace 33">
            <a:extLst>
              <a:ext uri="{FF2B5EF4-FFF2-40B4-BE49-F238E27FC236}">
                <a16:creationId xmlns:a16="http://schemas.microsoft.com/office/drawing/2014/main" id="{2DB0C27D-F4F4-4F20-A201-8376C2C29A76}"/>
              </a:ext>
            </a:extLst>
          </p:cNvPr>
          <p:cNvSpPr/>
          <p:nvPr/>
        </p:nvSpPr>
        <p:spPr>
          <a:xfrm>
            <a:off x="1386724" y="4427285"/>
            <a:ext cx="329016" cy="412573"/>
          </a:xfrm>
          <a:prstGeom prst="leftBrace">
            <a:avLst/>
          </a:prstGeom>
          <a:ln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88AF13-B62C-47C2-B12E-F3FDB9277135}"/>
              </a:ext>
            </a:extLst>
          </p:cNvPr>
          <p:cNvSpPr txBox="1"/>
          <p:nvPr/>
        </p:nvSpPr>
        <p:spPr>
          <a:xfrm>
            <a:off x="251760" y="4434221"/>
            <a:ext cx="1079512" cy="53514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SzPct val="100000"/>
            </a:pPr>
            <a:r>
              <a:rPr lang="en-US" sz="1200" dirty="0"/>
              <a:t>Target Patients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A7677A0-0A9B-4C0E-B878-27C4DCAEFC1E}"/>
              </a:ext>
            </a:extLst>
          </p:cNvPr>
          <p:cNvCxnSpPr>
            <a:cxnSpLocks/>
          </p:cNvCxnSpPr>
          <p:nvPr/>
        </p:nvCxnSpPr>
        <p:spPr>
          <a:xfrm>
            <a:off x="5691584" y="4598794"/>
            <a:ext cx="272541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20D2CE8-B734-4B42-9B46-7FA8C3ABE3FE}"/>
              </a:ext>
            </a:extLst>
          </p:cNvPr>
          <p:cNvCxnSpPr>
            <a:cxnSpLocks/>
          </p:cNvCxnSpPr>
          <p:nvPr/>
        </p:nvCxnSpPr>
        <p:spPr>
          <a:xfrm>
            <a:off x="6535008" y="4588294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1C2F450-9D11-4BF1-8E5C-37D4A707082D}"/>
              </a:ext>
            </a:extLst>
          </p:cNvPr>
          <p:cNvSpPr/>
          <p:nvPr/>
        </p:nvSpPr>
        <p:spPr>
          <a:xfrm>
            <a:off x="6759652" y="2332728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count(</a:t>
            </a:r>
            <a:r>
              <a:rPr lang="en-US" sz="1100" kern="0" dirty="0" err="1">
                <a:solidFill>
                  <a:srgbClr val="000000"/>
                </a:solidFill>
              </a:rPr>
              <a:t>bp_prd_rx_id</a:t>
            </a:r>
            <a:r>
              <a:rPr lang="en-US" sz="1100" kern="0" dirty="0">
                <a:solidFill>
                  <a:srgbClr val="000000"/>
                </a:solidFill>
              </a:rPr>
              <a:t>) as Patient Count 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154AC75-7F97-40EC-94A8-9A46AAC8E437}"/>
              </a:ext>
            </a:extLst>
          </p:cNvPr>
          <p:cNvSpPr/>
          <p:nvPr/>
        </p:nvSpPr>
        <p:spPr>
          <a:xfrm>
            <a:off x="6809991" y="4183526"/>
            <a:ext cx="1581487" cy="79385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 cap="flat" cmpd="sng" algn="ctr">
            <a:solidFill>
              <a:srgbClr val="004B7E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90000" bIns="90000" rtlCol="0" anchor="ctr" anchorCtr="0"/>
          <a:lstStyle/>
          <a:p>
            <a:pPr algn="ctr"/>
            <a:r>
              <a:rPr lang="en-US" sz="1100" kern="0" dirty="0">
                <a:solidFill>
                  <a:srgbClr val="000000"/>
                </a:solidFill>
              </a:rPr>
              <a:t>Sum(</a:t>
            </a:r>
            <a:r>
              <a:rPr lang="en-US" sz="1100" kern="0" dirty="0" err="1">
                <a:solidFill>
                  <a:srgbClr val="000000"/>
                </a:solidFill>
              </a:rPr>
              <a:t>pat_num</a:t>
            </a:r>
            <a:r>
              <a:rPr lang="en-US" sz="1100" kern="0" dirty="0">
                <a:solidFill>
                  <a:srgbClr val="000000"/>
                </a:solidFill>
              </a:rPr>
              <a:t>) as Patient Count 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CFFECD3-B2DC-4073-A8B8-7F419A904B71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8341139" y="2729656"/>
            <a:ext cx="560163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80A46AB-4EA0-4704-8855-305A90220726}"/>
              </a:ext>
            </a:extLst>
          </p:cNvPr>
          <p:cNvCxnSpPr>
            <a:cxnSpLocks/>
          </p:cNvCxnSpPr>
          <p:nvPr/>
        </p:nvCxnSpPr>
        <p:spPr>
          <a:xfrm>
            <a:off x="5697029" y="2740494"/>
            <a:ext cx="267096" cy="0"/>
          </a:xfrm>
          <a:prstGeom prst="straightConnector1">
            <a:avLst/>
          </a:prstGeom>
          <a:ln w="2857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97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3F98B-9073-47B9-902F-689A2FE41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Sorting Order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AC1578-17F6-4E17-A833-5F4042548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009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EC41A-C923-4958-9459-B47C26448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Impacted Reports: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CAE9F1-EE14-4CB7-B135-21298CB8D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DE5F1-E0F9-4CCA-92B7-7A6FC4DFEE1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7665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  <a:extLst>
    <a:ext uri="{05A4C25C-085E-4340-85A3-A5531E510DB2}">
      <thm15:themeFamily xmlns:thm15="http://schemas.microsoft.com/office/thememl/2012/main" name="bms-powerpoint-template (003).potx  -  Read-Only" id="{FD796F40-B4E8-4A28-BDC1-591A47BED6E1}" vid="{65C418F9-8773-4E40-B745-46F14E9E8802}"/>
    </a:ext>
  </a:extLst>
</a:theme>
</file>

<file path=ppt/theme/theme2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ppt/theme/theme3.xml><?xml version="1.0" encoding="utf-8"?>
<a:theme xmlns:a="http://schemas.openxmlformats.org/drawingml/2006/main" name="Bristol Myers Squibb">
  <a:themeElements>
    <a:clrScheme name="Bristol Myers Squibb Colors">
      <a:dk1>
        <a:srgbClr val="595454"/>
      </a:dk1>
      <a:lt1>
        <a:srgbClr val="FFFFFF"/>
      </a:lt1>
      <a:dk2>
        <a:srgbClr val="595454"/>
      </a:dk2>
      <a:lt2>
        <a:srgbClr val="EEE7E7"/>
      </a:lt2>
      <a:accent1>
        <a:srgbClr val="595454"/>
      </a:accent1>
      <a:accent2>
        <a:srgbClr val="FFD186"/>
      </a:accent2>
      <a:accent3>
        <a:srgbClr val="59FFB9"/>
      </a:accent3>
      <a:accent4>
        <a:srgbClr val="A69F9F"/>
      </a:accent4>
      <a:accent5>
        <a:srgbClr val="33D6F1"/>
      </a:accent5>
      <a:accent6>
        <a:srgbClr val="FDA97D"/>
      </a:accent6>
      <a:hlink>
        <a:srgbClr val="595454"/>
      </a:hlink>
      <a:folHlink>
        <a:srgbClr val="595454"/>
      </a:folHlink>
    </a:clrScheme>
    <a:fontScheme name="Bristol Myers Squibb Fonts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Bristol Myers Squibb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  <a:ln w="12700" cap="sq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</a:ln>
      </a:spPr>
      <a:bodyPr/>
      <a:lstStyle>
        <a:defPPr algn="ctr">
          <a:lnSpc>
            <a:spcPct val="100000"/>
          </a:lnSpc>
          <a:defRPr sz="20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chemeClr val="lt1"/>
        </a:fontRef>
      </a:style>
    </a:spDef>
    <a:lnDef>
      <a:spPr>
        <a:ln w="12700" cap="sq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chemeClr val="lt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>
          <a:lnSpc>
            <a:spcPct val="100000"/>
          </a:lnSpc>
          <a:spcBef>
            <a:spcPts val="1200"/>
          </a:spcBef>
          <a:buSzPct val="100000"/>
          <a:buFont typeface="Trebuchet MS"/>
          <a:buChar char="•"/>
          <a:defRPr sz="2000"/>
        </a:defPPr>
      </a:lstStyle>
    </a:txDef>
  </a:objectDefaults>
  <a:extraClrSchemeLst/>
  <a:custClrLst>
    <a:custClr name="Purple">
      <a:srgbClr val="BE2BBB"/>
    </a:custClr>
    <a:custClr name="Dark Gray">
      <a:srgbClr val="595454"/>
    </a:custClr>
    <a:custClr name="Gray">
      <a:srgbClr val="A69F9F"/>
    </a:custClr>
    <a:custClr name="Light Gray">
      <a:srgbClr val="EEE7E7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White">
      <a:srgbClr val="FFFFFF"/>
    </a:custClr>
    <a:custClr name="Amber 2">
      <a:srgbClr val="FFD186"/>
    </a:custClr>
    <a:custClr name="Amber 1">
      <a:srgbClr val="FFECCD"/>
    </a:custClr>
    <a:custClr name="Peach 2">
      <a:srgbClr val="FDA97D"/>
    </a:custClr>
    <a:custClr name="Peach 1">
      <a:srgbClr val="FEDCCA"/>
    </a:custClr>
    <a:custClr name="Sienna 2">
      <a:srgbClr val="CB7C78"/>
    </a:custClr>
    <a:custClr name="Sienna 1">
      <a:srgbClr val="DAC5C5"/>
    </a:custClr>
    <a:custClr name="Mint 2">
      <a:srgbClr val="59FFB9"/>
    </a:custClr>
    <a:custClr name="Mint 1">
      <a:srgbClr val="C5FFE6"/>
    </a:custClr>
    <a:custClr name="Aqua 2">
      <a:srgbClr val="33D6F1"/>
    </a:custClr>
    <a:custClr name="Aqua 1">
      <a:srgbClr val="C0F2FB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13860</TotalTime>
  <Words>987</Words>
  <Application>Microsoft Office PowerPoint</Application>
  <PresentationFormat>Widescreen</PresentationFormat>
  <Paragraphs>295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Tahoma</vt:lpstr>
      <vt:lpstr>Trebuchet MS</vt:lpstr>
      <vt:lpstr>Bristol Myers Squibb</vt:lpstr>
      <vt:lpstr>PowerPoint Presentation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C-SCAN: Add new items and logic for counting Myeloma and Lymphoma detail activities</vt:lpstr>
      <vt:lpstr>Calculation of metric at product group level:</vt:lpstr>
      <vt:lpstr>Calculation of metric at product group level:</vt:lpstr>
      <vt:lpstr>Calculation of metric at product group level:</vt:lpstr>
      <vt:lpstr>Target Patients, New Patients and Potential Patients </vt:lpstr>
      <vt:lpstr>Product Sorting Order</vt:lpstr>
      <vt:lpstr>Impacted Reports:</vt:lpstr>
    </vt:vector>
  </TitlesOfParts>
  <Manager/>
  <Company>Bristol Myers Squibb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abhay.sharma@zs.com</dc:creator>
  <cp:keywords/>
  <dc:description/>
  <cp:lastModifiedBy>Nishant Sachdeva</cp:lastModifiedBy>
  <cp:revision>763</cp:revision>
  <cp:lastPrinted>2019-10-06T00:46:52Z</cp:lastPrinted>
  <dcterms:created xsi:type="dcterms:W3CDTF">2020-03-30T05:57:22Z</dcterms:created>
  <dcterms:modified xsi:type="dcterms:W3CDTF">2020-10-15T09:35:35Z</dcterms:modified>
  <cp:category/>
</cp:coreProperties>
</file>