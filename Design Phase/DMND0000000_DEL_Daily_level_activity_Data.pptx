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82" r:id="rId2"/>
    <p:sldId id="209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sh N Tripathi" initials="HNT" lastIdx="1" clrIdx="0">
    <p:extLst>
      <p:ext uri="{19B8F6BF-5375-455C-9EA6-DF929625EA0E}">
        <p15:presenceInfo xmlns:p15="http://schemas.microsoft.com/office/powerpoint/2012/main" userId="S::harsh.n.tripathi@zs.com::003d1333-c52e-4198-b04d-74de7066c530" providerId="AD"/>
      </p:ext>
    </p:extLst>
  </p:cmAuthor>
  <p:cmAuthor id="2" name="Prasanth U" initials="PU" lastIdx="4" clrIdx="1">
    <p:extLst>
      <p:ext uri="{19B8F6BF-5375-455C-9EA6-DF929625EA0E}">
        <p15:presenceInfo xmlns:p15="http://schemas.microsoft.com/office/powerpoint/2012/main" userId="S-1-5-21-2460924596-1293597354-2123413825-156092" providerId="AD"/>
      </p:ext>
    </p:extLst>
  </p:cmAuthor>
  <p:cmAuthor id="3" name="Abhay Sharma" initials="AS" lastIdx="2" clrIdx="2">
    <p:extLst>
      <p:ext uri="{19B8F6BF-5375-455C-9EA6-DF929625EA0E}">
        <p15:presenceInfo xmlns:p15="http://schemas.microsoft.com/office/powerpoint/2012/main" userId="S::abhay.sharma@zs.com::3a235f68-679c-4f7c-8d96-4db4025272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CCCC"/>
    <a:srgbClr val="F2F2F2"/>
    <a:srgbClr val="E7EDF4"/>
    <a:srgbClr val="BDFFE3"/>
    <a:srgbClr val="E9EDF4"/>
    <a:srgbClr val="FDA97D"/>
    <a:srgbClr val="D9D9D9"/>
    <a:srgbClr val="9BFFD5"/>
    <a:srgbClr val="BDA2A2"/>
    <a:srgbClr val="BDE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AFD8959-9B3F-4D47-BAAB-44C6AA61CEA2}">
  <a:tblStyle styleId="{7AFD8959-9B3F-4D47-BAAB-44C6AA61CEA2}" styleName="BMS Table Gray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tx1"/>
              </a:solidFill>
            </a:ln>
          </a:top>
          <a:bottom>
            <a:ln w="6350">
              <a:solidFill>
                <a:schemeClr val="tx1"/>
              </a:solidFill>
            </a:ln>
          </a:bottom>
          <a:insideH>
            <a:ln w="6350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EEE7E7"/>
          </a:solidFill>
        </a:fill>
      </a:tcStyle>
    </a:band2H>
    <a:band1V>
      <a:tcStyle>
        <a:tcBdr/>
        <a:fill>
          <a:solidFill>
            <a:srgbClr val="EEE7E7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chemeClr val="tx1"/>
              </a:solidFill>
            </a:ln>
          </a:top>
          <a:bottom>
            <a:ln w="19050">
              <a:solidFill>
                <a:schemeClr val="tx1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tx1"/>
          </a:solidFill>
        </a:fill>
      </a:tcStyle>
    </a:firstRow>
  </a:tblStyle>
  <a:tblStyle styleId="{AB131486-7932-478D-BA04-5426E13E8524}" styleName="BMS Table Amber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FFD186"/>
              </a:solidFill>
            </a:ln>
          </a:top>
          <a:bottom>
            <a:ln w="6350">
              <a:solidFill>
                <a:srgbClr val="FFD186"/>
              </a:solidFill>
            </a:ln>
          </a:bottom>
          <a:insideH>
            <a:ln w="6350">
              <a:solidFill>
                <a:srgbClr val="FFD18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FECCD"/>
          </a:solidFill>
        </a:fill>
      </a:tcStyle>
    </a:band2H>
    <a:band1V>
      <a:tcStyle>
        <a:tcBdr/>
        <a:fill>
          <a:solidFill>
            <a:srgbClr val="FFECCD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FFD186"/>
              </a:solidFill>
            </a:ln>
          </a:top>
          <a:bottom>
            <a:ln w="19050">
              <a:solidFill>
                <a:srgbClr val="FFD186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FD186"/>
          </a:solidFill>
        </a:fill>
      </a:tcStyle>
    </a:firstRow>
  </a:tblStyle>
  <a:tblStyle styleId="{17987A09-FBC6-4D12-BA78-BE2ACF4811F2}" styleName="BMS Table Peach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FDA97D"/>
              </a:solidFill>
            </a:ln>
          </a:top>
          <a:bottom>
            <a:ln w="6350">
              <a:solidFill>
                <a:srgbClr val="FDA97D"/>
              </a:solidFill>
            </a:ln>
          </a:bottom>
          <a:insideH>
            <a:ln w="6350">
              <a:solidFill>
                <a:srgbClr val="FDA97D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EDCCA"/>
          </a:solidFill>
        </a:fill>
      </a:tcStyle>
    </a:band2H>
    <a:band1V>
      <a:tcStyle>
        <a:tcBdr/>
        <a:fill>
          <a:solidFill>
            <a:srgbClr val="FEDCCA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FDA97D"/>
              </a:solidFill>
            </a:ln>
          </a:top>
          <a:bottom>
            <a:ln w="19050">
              <a:solidFill>
                <a:srgbClr val="FDA97D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DA97D"/>
          </a:solidFill>
        </a:fill>
      </a:tcStyle>
    </a:firstRow>
  </a:tblStyle>
  <a:tblStyle styleId="{3FB51E2C-7BFB-4B95-B8AA-B85EA3A58659}" styleName="BMS Table Sienna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CB7C78"/>
              </a:solidFill>
            </a:ln>
          </a:top>
          <a:bottom>
            <a:ln w="6350">
              <a:solidFill>
                <a:srgbClr val="CB7C78"/>
              </a:solidFill>
            </a:ln>
          </a:bottom>
          <a:insideH>
            <a:ln w="6350">
              <a:solidFill>
                <a:srgbClr val="CB7C7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DAC5C5"/>
          </a:solidFill>
        </a:fill>
      </a:tcStyle>
    </a:band2H>
    <a:band1V>
      <a:tcStyle>
        <a:tcBdr/>
        <a:fill>
          <a:solidFill>
            <a:srgbClr val="DAC5C5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CB7C78"/>
              </a:solidFill>
            </a:ln>
          </a:top>
          <a:bottom>
            <a:ln w="19050">
              <a:solidFill>
                <a:srgbClr val="CB7C78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B7C78"/>
          </a:solidFill>
        </a:fill>
      </a:tcStyle>
    </a:firstRow>
  </a:tblStyle>
  <a:tblStyle styleId="{341639D1-FA1C-4AE1-8705-CAF77B6581E0}" styleName="BMS Table Mint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59FFB9"/>
              </a:solidFill>
            </a:ln>
          </a:top>
          <a:bottom>
            <a:ln w="6350">
              <a:solidFill>
                <a:srgbClr val="59FFB9"/>
              </a:solidFill>
            </a:ln>
          </a:bottom>
          <a:insideH>
            <a:ln w="6350">
              <a:solidFill>
                <a:srgbClr val="59FFB9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5FFE6"/>
          </a:solidFill>
        </a:fill>
      </a:tcStyle>
    </a:band2H>
    <a:band1V>
      <a:tcStyle>
        <a:tcBdr/>
        <a:fill>
          <a:solidFill>
            <a:srgbClr val="C5FFE6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59FFB9"/>
              </a:solidFill>
            </a:ln>
          </a:top>
          <a:bottom>
            <a:ln w="19050">
              <a:solidFill>
                <a:srgbClr val="59FFB9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59FFB9"/>
          </a:solidFill>
        </a:fill>
      </a:tcStyle>
    </a:firstRow>
  </a:tblStyle>
  <a:tblStyle styleId="{634F3CDC-9E1D-4E82-9B7D-985DE547036D}" styleName="BMS Table Aqua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33D6F1"/>
              </a:solidFill>
            </a:ln>
          </a:top>
          <a:bottom>
            <a:ln w="6350">
              <a:solidFill>
                <a:srgbClr val="33D6F1"/>
              </a:solidFill>
            </a:ln>
          </a:bottom>
          <a:insideH>
            <a:ln w="6350">
              <a:solidFill>
                <a:srgbClr val="33D6F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0F2FB"/>
          </a:solidFill>
        </a:fill>
      </a:tcStyle>
    </a:band2H>
    <a:band1V>
      <a:tcStyle>
        <a:tcBdr/>
        <a:fill>
          <a:solidFill>
            <a:srgbClr val="C0F2FB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33D6F1"/>
              </a:solidFill>
            </a:ln>
          </a:top>
          <a:bottom>
            <a:ln w="19050">
              <a:solidFill>
                <a:srgbClr val="33D6F1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33D6F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32" autoAdjust="0"/>
  </p:normalViewPr>
  <p:slideViewPr>
    <p:cSldViewPr snapToGrid="0" showGuides="1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66" d="100"/>
          <a:sy n="166" d="100"/>
        </p:scale>
        <p:origin x="546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6B232A-A90B-0843-9FE3-CD41AEF1F4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6EF4F6-6352-EF49-8B94-F88281AD3C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A1003-23F1-F848-ABD7-AA279ACD1B1C}" type="datetimeFigureOut">
              <a:rPr lang="en-US" smtClean="0"/>
              <a:t>10/22/2020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22398-7E15-714C-85A0-DACC6DC3F1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B2665-97EF-CE47-ABE4-18D4D76C98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B60F0-68D7-274B-9B3A-8BD634CF5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41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6C0D1-008B-C245-AF1E-F6ADA8BEAF3C}" type="datetimeFigureOut">
              <a:rPr lang="en-US" smtClean="0"/>
              <a:t>10/22/2020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B8535-DC0F-AF47-A510-8461A80C06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8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2880" indent="-182880" algn="l" defTabSz="914400" rtl="0" eaLnBrk="1" latinLnBrk="0" hangingPunct="1">
      <a:spcBef>
        <a:spcPts val="600"/>
      </a:spcBef>
      <a:buFont typeface="Trebuchet MS" panose="020B0603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6576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4864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3152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1440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09728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28016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46304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64592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 dirty="0"/>
              <a:t>Division/Therapeutic Area [Edit here]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 dirty="0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 dirty="0"/>
              <a:t>[Month 00, 0000]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E39BE-06F7-7349-BF12-45D065ED87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 dirty="0"/>
              <a:t>[Presenter Name]</a:t>
            </a:r>
            <a:br>
              <a:rPr lang="en-US" dirty="0"/>
            </a:br>
            <a:r>
              <a:rPr lang="en-US" dirty="0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10" name="Disclaimer">
            <a:extLst>
              <a:ext uri="{FF2B5EF4-FFF2-40B4-BE49-F238E27FC236}">
                <a16:creationId xmlns:a16="http://schemas.microsoft.com/office/drawing/2014/main" id="{0411BC70-4820-DF40-90C3-6ACD451ADD60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600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 dirty="0"/>
              <a:t>Division/Therapeutic Area [Edit here]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 dirty="0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 dirty="0"/>
              <a:t>[Month 00, 0000]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1E892DE-B840-A64B-91A1-1B18F6037C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 dirty="0"/>
              <a:t>[Presenter Name]</a:t>
            </a:r>
            <a:br>
              <a:rPr lang="en-US" dirty="0"/>
            </a:br>
            <a:r>
              <a:rPr lang="en-US" dirty="0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8" name="Disclaimer">
            <a:extLst>
              <a:ext uri="{FF2B5EF4-FFF2-40B4-BE49-F238E27FC236}">
                <a16:creationId xmlns:a16="http://schemas.microsoft.com/office/drawing/2014/main" id="{F95EDC5C-ABEE-824D-9A00-482457322324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9629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Ins="0" numCol="2" spcCol="301752"/>
          <a:lstStyle>
            <a:lvl1pPr marL="411480" indent="-411480">
              <a:buFont typeface="+mj-lt"/>
              <a:buAutoNum type="arabicPeriod"/>
              <a:tabLst/>
              <a:defRPr/>
            </a:lvl1pPr>
            <a:lvl2pPr marL="640080" indent="-228600">
              <a:tabLst/>
              <a:defRPr/>
            </a:lvl2pPr>
            <a:lvl3pPr marL="868680" indent="-228600">
              <a:tabLst/>
              <a:defRPr/>
            </a:lvl3pPr>
            <a:lvl4pPr marL="1097280" indent="-228600">
              <a:tabLst/>
              <a:defRPr/>
            </a:lvl4pPr>
            <a:lvl5pPr marL="1325880" indent="-228600">
              <a:tabLst/>
              <a:defRPr/>
            </a:lvl5pPr>
            <a:lvl6pPr marL="1554480" indent="-228600">
              <a:tabLst/>
              <a:defRPr/>
            </a:lvl6pPr>
            <a:lvl7pPr marL="1783080" indent="-228600">
              <a:tabLst/>
              <a:defRPr/>
            </a:lvl7pPr>
            <a:lvl8pPr marL="2011680" indent="-228600">
              <a:tabLst/>
              <a:defRPr/>
            </a:lvl8pPr>
            <a:lvl9pPr marL="2240280" indent="-228600">
              <a:tabLst/>
              <a:defRPr/>
            </a:lvl9pPr>
          </a:lstStyle>
          <a:p>
            <a:pPr lvl="0"/>
            <a:r>
              <a:rPr lang="en-US" dirty="0"/>
              <a:t>[Agenda item]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75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744" userDrawn="1">
          <p15:clr>
            <a:srgbClr val="FBAE40"/>
          </p15:clr>
        </p15:guide>
        <p15:guide id="2" pos="39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82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F4C8E8-7E9A-224F-8714-AB4216A9C1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58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90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744" userDrawn="1">
          <p15:clr>
            <a:srgbClr val="FBAE40"/>
          </p15:clr>
        </p15:guide>
        <p15:guide id="2" pos="39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A65C3A-C556-7B4E-9098-E1FD19D432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488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05216" y="1554480"/>
            <a:ext cx="3621024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4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98" userDrawn="1">
          <p15:clr>
            <a:srgbClr val="FBAE40"/>
          </p15:clr>
        </p15:guide>
        <p15:guide id="2" pos="2512" userDrawn="1">
          <p15:clr>
            <a:srgbClr val="FBAE40"/>
          </p15:clr>
        </p15:guide>
        <p15:guide id="3" pos="4982" userDrawn="1">
          <p15:clr>
            <a:srgbClr val="FBAE40"/>
          </p15:clr>
        </p15:guide>
        <p15:guide id="4" pos="51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2642616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02001" y="1554480"/>
            <a:ext cx="2641598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8400" y="1554480"/>
            <a:ext cx="2641600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4198CF4-E51B-2147-88D7-1228A1479BF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83624" y="1554480"/>
            <a:ext cx="2642616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99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080" userDrawn="1">
          <p15:clr>
            <a:srgbClr val="FBAE40"/>
          </p15:clr>
        </p15:guide>
        <p15:guide id="2" pos="1896" userDrawn="1">
          <p15:clr>
            <a:srgbClr val="FBAE40"/>
          </p15:clr>
        </p15:guide>
        <p15:guide id="3" pos="5600" userDrawn="1">
          <p15:clr>
            <a:srgbClr val="FBAE40"/>
          </p15:clr>
        </p15:guide>
        <p15:guide id="4" pos="5784" userDrawn="1">
          <p15:clr>
            <a:srgbClr val="FBAE40"/>
          </p15:clr>
        </p15:guide>
        <p15:guide id="5" pos="3744" userDrawn="1">
          <p15:clr>
            <a:srgbClr val="FBAE40"/>
          </p15:clr>
        </p15:guide>
        <p15:guide id="6" pos="393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903699-153C-AD47-95F6-16E2B3016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6504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31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700" userDrawn="1">
          <p15:clr>
            <a:srgbClr val="FBAE40"/>
          </p15:clr>
        </p15:guide>
        <p15:guide id="2" pos="251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F123-E2C1-8448-BA4B-9ECBEA28E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07248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7FB1D32-3E1C-554A-A887-047CEBF6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73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4980" userDrawn="1">
          <p15:clr>
            <a:srgbClr val="FBAE40"/>
          </p15:clr>
        </p15:guide>
        <p15:guide id="4" pos="516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246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19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634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49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79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189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470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91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908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nent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314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On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18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6096000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13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3429000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04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1719072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26BC3F3-33EB-F346-B70E-DE269C6819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0952" y="5148072"/>
            <a:ext cx="3051048" cy="170992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8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6B9E9C5D-8364-0D47-AF90-417652D3C1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5126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8A87F8F-2D9A-B243-A5FB-6E555C2704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576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5797D6E4-4FD3-FB41-AC2F-B0BC4466093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01999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8504504-7E85-584D-A20B-448D0D56BB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020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8B42205D-9591-3C43-8A71-9811FC49A76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8400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BC915BB-BDF2-BD44-8C3A-2C34D2A9A6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84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DD93C7F7-3C80-DA48-9BC2-95DD73DF878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83624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0A585D99-3BCE-844A-8969-7E2EFD217B5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821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36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080">
          <p15:clr>
            <a:srgbClr val="FBAE40"/>
          </p15:clr>
        </p15:guide>
        <p15:guide id="2" pos="1896">
          <p15:clr>
            <a:srgbClr val="FBAE40"/>
          </p15:clr>
        </p15:guide>
        <p15:guide id="3" pos="5600">
          <p15:clr>
            <a:srgbClr val="FBAE40"/>
          </p15:clr>
        </p15:guide>
        <p15:guide id="4" pos="5784">
          <p15:clr>
            <a:srgbClr val="FBAE40"/>
          </p15:clr>
        </p15:guide>
        <p15:guide id="5" pos="3744">
          <p15:clr>
            <a:srgbClr val="FBAE40"/>
          </p15:clr>
        </p15:guide>
        <p15:guide id="6" pos="3936">
          <p15:clr>
            <a:srgbClr val="FBAE40"/>
          </p15:clr>
        </p15:guide>
        <p15:guide id="7" orient="horz" pos="2074" userDrawn="1">
          <p15:clr>
            <a:srgbClr val="FBAE40"/>
          </p15:clr>
        </p15:guide>
        <p15:guide id="8" orient="horz" pos="2188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3F25E4DD-7BAF-CF43-9AF5-512CC54177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DC9E62E-3AF4-C24D-8B08-8A7FCB7ED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E3D7CA1-C89E-E24C-B557-52A1F9AEB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0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16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7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90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27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64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0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3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7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3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D8B1-1581-4488-A1A4-886D01EEFD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CF9CDAC-EC28-4BA6-9827-D58133E1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96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5BF3E53-7A3D-40D5-AE68-3CE44909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99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ristol Myers Squibb" descr="Bristol Myers Squibb">
            <a:extLst>
              <a:ext uri="{FF2B5EF4-FFF2-40B4-BE49-F238E27FC236}">
                <a16:creationId xmlns:a16="http://schemas.microsoft.com/office/drawing/2014/main" id="{B50985CD-7333-F343-85B8-C4893E81FC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645920" y="2194560"/>
            <a:ext cx="9056906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445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4" cy="822960"/>
          </a:xfrm>
          <a:prstGeom prst="rect">
            <a:avLst/>
          </a:prstGeom>
          <a:noFill/>
        </p:spPr>
      </p:pic>
      <p:sp>
        <p:nvSpPr>
          <p:cNvPr id="8" name="Thank You">
            <a:extLst>
              <a:ext uri="{FF2B5EF4-FFF2-40B4-BE49-F238E27FC236}">
                <a16:creationId xmlns:a16="http://schemas.microsoft.com/office/drawing/2014/main" id="{2DF7BC51-D766-5D44-8D23-2A1F0BF208B3}"/>
              </a:ext>
            </a:extLst>
          </p:cNvPr>
          <p:cNvSpPr txBox="1">
            <a:spLocks/>
          </p:cNvSpPr>
          <p:nvPr userDrawn="1"/>
        </p:nvSpPr>
        <p:spPr>
          <a:xfrm>
            <a:off x="365760" y="1554480"/>
            <a:ext cx="7543165" cy="182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3D75AF2-C99D-9247-B7AF-B859D95DB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4434840"/>
            <a:ext cx="7543165" cy="1371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[Optional contact information]</a:t>
            </a:r>
          </a:p>
        </p:txBody>
      </p:sp>
    </p:spTree>
    <p:extLst>
      <p:ext uri="{BB962C8B-B14F-4D97-AF65-F5344CB8AC3E}">
        <p14:creationId xmlns:p14="http://schemas.microsoft.com/office/powerpoint/2010/main" val="62417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BO Templa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251346" y="1575162"/>
            <a:ext cx="7708928" cy="1646605"/>
          </a:xfrm>
        </p:spPr>
        <p:txBody>
          <a:bodyPr/>
          <a:lstStyle>
            <a:lvl1pPr marL="0" indent="0">
              <a:buNone/>
              <a:defRPr sz="5400" b="1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sz="5400" b="1" dirty="0"/>
              <a:t>Remote Group Detail Distinguish Approach</a:t>
            </a:r>
            <a:endParaRPr lang="en-US" altLang="ja-JP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241021" y="3339604"/>
            <a:ext cx="8846595" cy="646331"/>
          </a:xfrm>
        </p:spPr>
        <p:txBody>
          <a:bodyPr/>
          <a:lstStyle>
            <a:lvl1pPr marL="0" indent="0">
              <a:buNone/>
              <a:defRPr sz="3600" b="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Subtitle: Click to edit Master text styles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51346" y="4278323"/>
            <a:ext cx="7708928" cy="52322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F66F0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Date: Click to edit Master text styles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298E450-4001-45D4-BAAA-81B2CF2D1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084800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C88FF-867A-4400-B205-E69EFB35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48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E4FC5-C208-4061-8E32-8B795BC19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554480"/>
            <a:ext cx="11460480" cy="4572000"/>
          </a:xfrm>
          <a:prstGeom prst="rect">
            <a:avLst/>
          </a:prstGeom>
        </p:spPr>
        <p:txBody>
          <a:bodyPr vert="horz" lIns="0" tIns="0" rIns="0" bIns="0" spcCol="301752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B202EDA2-849C-5746-B520-4E5047A7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black">
          <a:xfrm>
            <a:off x="365760" y="6355080"/>
            <a:ext cx="11460480" cy="0"/>
          </a:xfrm>
          <a:prstGeom prst="line">
            <a:avLst/>
          </a:prstGeom>
          <a:ln w="63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pic>
        <p:nvPicPr>
          <p:cNvPr id="5" name="Bristol Myers Squibb" descr="Bristol Myers Squibb">
            <a:extLst>
              <a:ext uri="{FF2B5EF4-FFF2-40B4-BE49-F238E27FC236}">
                <a16:creationId xmlns:a16="http://schemas.microsoft.com/office/drawing/2014/main" id="{B7697988-37C6-7C4A-AA57-C36971D11EEC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 bwMode="black">
          <a:xfrm>
            <a:off x="258318" y="6355080"/>
            <a:ext cx="1627632" cy="410821"/>
          </a:xfrm>
          <a:prstGeom prst="rect">
            <a:avLst/>
          </a:prstGeom>
          <a:noFill/>
        </p:spPr>
      </p:pic>
      <p:sp>
        <p:nvSpPr>
          <p:cNvPr id="16" name="Disclaimer">
            <a:extLst>
              <a:ext uri="{FF2B5EF4-FFF2-40B4-BE49-F238E27FC236}">
                <a16:creationId xmlns:a16="http://schemas.microsoft.com/office/drawing/2014/main" id="{A785335B-16F9-6F4B-9AC7-614641E447A6}"/>
              </a:ext>
            </a:extLst>
          </p:cNvPr>
          <p:cNvSpPr txBox="1"/>
          <p:nvPr userDrawn="1"/>
        </p:nvSpPr>
        <p:spPr>
          <a:xfrm>
            <a:off x="8205216" y="6429375"/>
            <a:ext cx="3209544" cy="228600"/>
          </a:xfrm>
          <a:prstGeom prst="rect">
            <a:avLst/>
          </a:prstGeom>
          <a:noFill/>
        </p:spPr>
        <p:txBody>
          <a:bodyPr wrap="square" lIns="0" tIns="0" rIns="0" bIns="9144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9012A93-F35D-41B8-A960-2FAFDF3C47A5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20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9" r:id="rId2"/>
    <p:sldLayoutId id="2147483662" r:id="rId3"/>
    <p:sldLayoutId id="2147483650" r:id="rId4"/>
    <p:sldLayoutId id="2147483652" r:id="rId5"/>
    <p:sldLayoutId id="2147483656" r:id="rId6"/>
    <p:sldLayoutId id="2147483657" r:id="rId7"/>
    <p:sldLayoutId id="2147483660" r:id="rId8"/>
    <p:sldLayoutId id="2147483661" r:id="rId9"/>
    <p:sldLayoutId id="2147483694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2" r:id="rId17"/>
    <p:sldLayoutId id="2147483709" r:id="rId18"/>
    <p:sldLayoutId id="2147483710" r:id="rId19"/>
    <p:sldLayoutId id="2147483690" r:id="rId20"/>
    <p:sldLayoutId id="2147483691" r:id="rId21"/>
    <p:sldLayoutId id="2147483692" r:id="rId22"/>
    <p:sldLayoutId id="2147483693" r:id="rId23"/>
    <p:sldLayoutId id="2147483698" r:id="rId24"/>
    <p:sldLayoutId id="2147483695" r:id="rId25"/>
    <p:sldLayoutId id="214748365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89" r:id="rId34"/>
    <p:sldLayoutId id="2147483700" r:id="rId35"/>
    <p:sldLayoutId id="2147483654" r:id="rId36"/>
    <p:sldLayoutId id="2147483655" r:id="rId37"/>
    <p:sldLayoutId id="2147483696" r:id="rId38"/>
    <p:sldLayoutId id="2147483697" r:id="rId39"/>
    <p:sldLayoutId id="2147483711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buFont typeface="Trebuchet MS" panose="020B0603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" userDrawn="1">
          <p15:clr>
            <a:srgbClr val="F26B43"/>
          </p15:clr>
        </p15:guide>
        <p15:guide id="2" pos="230" userDrawn="1">
          <p15:clr>
            <a:srgbClr val="F26B43"/>
          </p15:clr>
        </p15:guide>
        <p15:guide id="3" pos="7450" userDrawn="1">
          <p15:clr>
            <a:srgbClr val="F26B43"/>
          </p15:clr>
        </p15:guide>
        <p15:guide id="5" orient="horz" pos="978" userDrawn="1">
          <p15:clr>
            <a:srgbClr val="F26B43"/>
          </p15:clr>
        </p15:guide>
        <p15:guide id="6" orient="horz" pos="38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34139" y="1549727"/>
            <a:ext cx="11123720" cy="769441"/>
          </a:xfrm>
        </p:spPr>
        <p:txBody>
          <a:bodyPr anchor="ctr"/>
          <a:lstStyle/>
          <a:p>
            <a:pPr algn="ctr"/>
            <a:r>
              <a:rPr lang="en-US" sz="4400" dirty="0"/>
              <a:t>Celgene Integration Batch 2 – Japan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672702" y="3321849"/>
            <a:ext cx="8846595" cy="1090353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Daily activity aggregation to show up in DEL- C-SCAN Approach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2F3ABB-87ED-4A68-86B3-296049248E95}"/>
              </a:ext>
            </a:extLst>
          </p:cNvPr>
          <p:cNvSpPr/>
          <p:nvPr/>
        </p:nvSpPr>
        <p:spPr>
          <a:xfrm>
            <a:off x="-2244" y="-5229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EEEFF-5B88-4C04-AEDA-4135CD6B3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8"/>
            <a:ext cx="11068061" cy="786689"/>
          </a:xfrm>
        </p:spPr>
        <p:txBody>
          <a:bodyPr/>
          <a:lstStyle/>
          <a:p>
            <a:r>
              <a:rPr lang="en-US" sz="2800" dirty="0"/>
              <a:t>C-SCAN: Approach to show daily level activity aggregation: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7FAEFAA-4DAB-4442-AC00-B2971EC058CC}"/>
              </a:ext>
            </a:extLst>
          </p:cNvPr>
          <p:cNvSpPr/>
          <p:nvPr/>
        </p:nvSpPr>
        <p:spPr>
          <a:xfrm>
            <a:off x="1232984" y="2085736"/>
            <a:ext cx="872264" cy="76394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 kern="0" dirty="0">
                <a:solidFill>
                  <a:srgbClr val="000000"/>
                </a:solidFill>
                <a:effectLst/>
              </a:rPr>
              <a:t>Veeva </a:t>
            </a:r>
          </a:p>
        </p:txBody>
      </p:sp>
      <p:sp>
        <p:nvSpPr>
          <p:cNvPr id="41" name="Can 10">
            <a:extLst>
              <a:ext uri="{FF2B5EF4-FFF2-40B4-BE49-F238E27FC236}">
                <a16:creationId xmlns:a16="http://schemas.microsoft.com/office/drawing/2014/main" id="{C629F661-E28E-4531-B28A-AE30702CD583}"/>
              </a:ext>
            </a:extLst>
          </p:cNvPr>
          <p:cNvSpPr/>
          <p:nvPr/>
        </p:nvSpPr>
        <p:spPr>
          <a:xfrm>
            <a:off x="2562031" y="2085736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1C14EE0-31CC-426B-B8C3-9A5595FB8288}"/>
              </a:ext>
            </a:extLst>
          </p:cNvPr>
          <p:cNvSpPr/>
          <p:nvPr/>
        </p:nvSpPr>
        <p:spPr>
          <a:xfrm>
            <a:off x="3696565" y="2230917"/>
            <a:ext cx="665914" cy="521609"/>
          </a:xfrm>
          <a:prstGeom prst="rect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ETL Process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0D59DDA-B95F-441B-A738-1D83A8E3BF16}"/>
              </a:ext>
            </a:extLst>
          </p:cNvPr>
          <p:cNvCxnSpPr>
            <a:cxnSpLocks/>
            <a:stCxn id="41" idx="4"/>
          </p:cNvCxnSpPr>
          <p:nvPr/>
        </p:nvCxnSpPr>
        <p:spPr>
          <a:xfrm>
            <a:off x="3130772" y="2467708"/>
            <a:ext cx="565793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Can 14">
            <a:extLst>
              <a:ext uri="{FF2B5EF4-FFF2-40B4-BE49-F238E27FC236}">
                <a16:creationId xmlns:a16="http://schemas.microsoft.com/office/drawing/2014/main" id="{750B2520-044F-4908-BF06-504523C4AFFD}"/>
              </a:ext>
            </a:extLst>
          </p:cNvPr>
          <p:cNvSpPr/>
          <p:nvPr/>
        </p:nvSpPr>
        <p:spPr>
          <a:xfrm>
            <a:off x="4637948" y="2093846"/>
            <a:ext cx="592417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L2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83C2CC0-9EBD-419D-B45E-E76A4E6AE162}"/>
              </a:ext>
            </a:extLst>
          </p:cNvPr>
          <p:cNvCxnSpPr>
            <a:cxnSpLocks/>
            <a:stCxn id="42" idx="3"/>
          </p:cNvCxnSpPr>
          <p:nvPr/>
        </p:nvCxnSpPr>
        <p:spPr>
          <a:xfrm flipV="1">
            <a:off x="4362479" y="2486706"/>
            <a:ext cx="270190" cy="501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79931A1-6A7D-4978-8BD1-7E66C1B63BB3}"/>
              </a:ext>
            </a:extLst>
          </p:cNvPr>
          <p:cNvSpPr/>
          <p:nvPr/>
        </p:nvSpPr>
        <p:spPr>
          <a:xfrm>
            <a:off x="5623570" y="1600816"/>
            <a:ext cx="2093007" cy="173378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algn="ctr"/>
            <a:r>
              <a:rPr lang="en-US" sz="1100" kern="0" dirty="0">
                <a:solidFill>
                  <a:srgbClr val="000000"/>
                </a:solidFill>
              </a:rPr>
              <a:t>Activity for the below Channels are calculated:</a:t>
            </a:r>
          </a:p>
          <a:p>
            <a:pPr algn="ctr"/>
            <a:r>
              <a:rPr lang="en-US" sz="1100" kern="0" dirty="0">
                <a:solidFill>
                  <a:srgbClr val="000000"/>
                </a:solidFill>
              </a:rPr>
              <a:t>WEB</a:t>
            </a:r>
            <a:r>
              <a:rPr lang="ja-JP" altLang="en-US" sz="1100" kern="0" dirty="0">
                <a:solidFill>
                  <a:srgbClr val="000000"/>
                </a:solidFill>
              </a:rPr>
              <a:t>セミナー</a:t>
            </a:r>
            <a:endParaRPr lang="en-US" altLang="ja-JP" sz="1100" kern="0" dirty="0">
              <a:solidFill>
                <a:srgbClr val="000000"/>
              </a:solidFill>
            </a:endParaRPr>
          </a:p>
          <a:p>
            <a:pPr algn="ctr"/>
            <a:r>
              <a:rPr lang="en-US" sz="1100" kern="0" dirty="0">
                <a:solidFill>
                  <a:srgbClr val="000000"/>
                </a:solidFill>
              </a:rPr>
              <a:t>IVA</a:t>
            </a:r>
          </a:p>
          <a:p>
            <a:pPr algn="ctr"/>
            <a:r>
              <a:rPr lang="en-US" sz="1100" kern="0" dirty="0">
                <a:solidFill>
                  <a:srgbClr val="000000"/>
                </a:solidFill>
              </a:rPr>
              <a:t>APPROVED E-MAIL</a:t>
            </a:r>
          </a:p>
          <a:p>
            <a:pPr algn="ctr"/>
            <a:r>
              <a:rPr lang="en-US" sz="1100" kern="0" dirty="0">
                <a:solidFill>
                  <a:srgbClr val="000000"/>
                </a:solidFill>
              </a:rPr>
              <a:t>CO-VISITS WITH SUPERVISOR</a:t>
            </a:r>
          </a:p>
          <a:p>
            <a:pPr algn="ctr"/>
            <a:r>
              <a:rPr lang="en-US" sz="1100" kern="0" dirty="0">
                <a:solidFill>
                  <a:srgbClr val="000000"/>
                </a:solidFill>
              </a:rPr>
              <a:t>DETAIL</a:t>
            </a:r>
          </a:p>
          <a:p>
            <a:pPr algn="ctr"/>
            <a:r>
              <a:rPr lang="en-US" sz="1100" kern="0" dirty="0">
                <a:solidFill>
                  <a:srgbClr val="000000"/>
                </a:solidFill>
              </a:rPr>
              <a:t>APPOINTMENT DETAIL </a:t>
            </a:r>
          </a:p>
        </p:txBody>
      </p:sp>
      <p:sp>
        <p:nvSpPr>
          <p:cNvPr id="55" name="Can 14">
            <a:extLst>
              <a:ext uri="{FF2B5EF4-FFF2-40B4-BE49-F238E27FC236}">
                <a16:creationId xmlns:a16="http://schemas.microsoft.com/office/drawing/2014/main" id="{FCCC814E-7EC1-40C0-87CD-19D263E4B111}"/>
              </a:ext>
            </a:extLst>
          </p:cNvPr>
          <p:cNvSpPr/>
          <p:nvPr/>
        </p:nvSpPr>
        <p:spPr>
          <a:xfrm>
            <a:off x="8538918" y="2104244"/>
            <a:ext cx="860112" cy="786689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kern="0" dirty="0">
              <a:solidFill>
                <a:srgbClr val="000000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kern="0" dirty="0">
              <a:solidFill>
                <a:srgbClr val="000000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 dirty="0">
                <a:solidFill>
                  <a:srgbClr val="000000"/>
                </a:solidFill>
              </a:rPr>
              <a:t>L3 Summary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kern="0" dirty="0">
              <a:solidFill>
                <a:srgbClr val="000000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61F9357-A553-4EB4-83DE-49E6B8C0423E}"/>
              </a:ext>
            </a:extLst>
          </p:cNvPr>
          <p:cNvCxnSpPr>
            <a:cxnSpLocks/>
          </p:cNvCxnSpPr>
          <p:nvPr/>
        </p:nvCxnSpPr>
        <p:spPr>
          <a:xfrm flipV="1">
            <a:off x="7736653" y="2470374"/>
            <a:ext cx="815398" cy="10888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Speech Bubble: Rectangle with Corners Rounded 80">
            <a:extLst>
              <a:ext uri="{FF2B5EF4-FFF2-40B4-BE49-F238E27FC236}">
                <a16:creationId xmlns:a16="http://schemas.microsoft.com/office/drawing/2014/main" id="{FB070003-3CCC-422A-A49C-69B92487123D}"/>
              </a:ext>
            </a:extLst>
          </p:cNvPr>
          <p:cNvSpPr/>
          <p:nvPr/>
        </p:nvSpPr>
        <p:spPr>
          <a:xfrm>
            <a:off x="8109782" y="1099730"/>
            <a:ext cx="1197811" cy="681139"/>
          </a:xfrm>
          <a:prstGeom prst="wedgeRoundRectCallout">
            <a:avLst>
              <a:gd name="adj1" fmla="val -61389"/>
              <a:gd name="adj2" fmla="val 157240"/>
              <a:gd name="adj3" fmla="val 16667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1000" kern="0" dirty="0">
                <a:solidFill>
                  <a:schemeClr val="bg1"/>
                </a:solidFill>
              </a:rPr>
              <a:t>Monthly level data is flown to the summary table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0" y="-511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Daily activity aggregation to show up in DEL- C-SCAN Approach</a:t>
            </a:r>
          </a:p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78B09-5A76-4A59-BD92-146B55C383FA}"/>
              </a:ext>
            </a:extLst>
          </p:cNvPr>
          <p:cNvSpPr txBox="1"/>
          <p:nvPr/>
        </p:nvSpPr>
        <p:spPr>
          <a:xfrm>
            <a:off x="1278384" y="2348880"/>
            <a:ext cx="489297" cy="288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4D9CC-D718-4673-BF2F-6A6F2E129C28}"/>
              </a:ext>
            </a:extLst>
          </p:cNvPr>
          <p:cNvSpPr txBox="1"/>
          <p:nvPr/>
        </p:nvSpPr>
        <p:spPr>
          <a:xfrm>
            <a:off x="9759820" y="3367264"/>
            <a:ext cx="2432180" cy="814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endParaRPr lang="en-US" sz="800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CBC48ED-974B-4828-B1E2-A5DB0E070DD7}"/>
              </a:ext>
            </a:extLst>
          </p:cNvPr>
          <p:cNvCxnSpPr>
            <a:cxnSpLocks/>
            <a:stCxn id="44" idx="4"/>
          </p:cNvCxnSpPr>
          <p:nvPr/>
        </p:nvCxnSpPr>
        <p:spPr>
          <a:xfrm flipV="1">
            <a:off x="5230365" y="2470356"/>
            <a:ext cx="388725" cy="5462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E40AB70-BF46-4155-AF64-4A3E48B9CF07}"/>
              </a:ext>
            </a:extLst>
          </p:cNvPr>
          <p:cNvCxnSpPr>
            <a:cxnSpLocks/>
          </p:cNvCxnSpPr>
          <p:nvPr/>
        </p:nvCxnSpPr>
        <p:spPr>
          <a:xfrm>
            <a:off x="6670073" y="3367264"/>
            <a:ext cx="0" cy="80352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Can 14">
            <a:extLst>
              <a:ext uri="{FF2B5EF4-FFF2-40B4-BE49-F238E27FC236}">
                <a16:creationId xmlns:a16="http://schemas.microsoft.com/office/drawing/2014/main" id="{2278A9E0-4B94-4E49-890B-76CEDDA409D1}"/>
              </a:ext>
            </a:extLst>
          </p:cNvPr>
          <p:cNvSpPr/>
          <p:nvPr/>
        </p:nvSpPr>
        <p:spPr>
          <a:xfrm>
            <a:off x="10228314" y="2085578"/>
            <a:ext cx="1099112" cy="797577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 dirty="0">
                <a:solidFill>
                  <a:srgbClr val="000000"/>
                </a:solidFill>
              </a:rPr>
              <a:t>DEL Monthly level activity data view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8844661-ED41-4E09-A4A8-7C0EA75223AF}"/>
              </a:ext>
            </a:extLst>
          </p:cNvPr>
          <p:cNvCxnSpPr>
            <a:cxnSpLocks/>
          </p:cNvCxnSpPr>
          <p:nvPr/>
        </p:nvCxnSpPr>
        <p:spPr>
          <a:xfrm flipV="1">
            <a:off x="9405973" y="2465029"/>
            <a:ext cx="815398" cy="10888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Can 14">
            <a:extLst>
              <a:ext uri="{FF2B5EF4-FFF2-40B4-BE49-F238E27FC236}">
                <a16:creationId xmlns:a16="http://schemas.microsoft.com/office/drawing/2014/main" id="{31E6EED4-7E9C-41F9-9C26-414B551B3AEC}"/>
              </a:ext>
            </a:extLst>
          </p:cNvPr>
          <p:cNvSpPr/>
          <p:nvPr/>
        </p:nvSpPr>
        <p:spPr>
          <a:xfrm>
            <a:off x="6096000" y="4170784"/>
            <a:ext cx="1198998" cy="803515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kern="0" dirty="0">
              <a:solidFill>
                <a:srgbClr val="000000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kern="0" dirty="0">
              <a:solidFill>
                <a:srgbClr val="000000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 dirty="0">
                <a:solidFill>
                  <a:srgbClr val="000000"/>
                </a:solidFill>
              </a:rPr>
              <a:t>DEL View with daily level activity data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kern="0" dirty="0">
              <a:solidFill>
                <a:srgbClr val="000000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9" name="Speech Bubble: Rectangle with Corners Rounded 68">
            <a:extLst>
              <a:ext uri="{FF2B5EF4-FFF2-40B4-BE49-F238E27FC236}">
                <a16:creationId xmlns:a16="http://schemas.microsoft.com/office/drawing/2014/main" id="{8540C5B1-D605-40B9-9911-B8026BC74136}"/>
              </a:ext>
            </a:extLst>
          </p:cNvPr>
          <p:cNvSpPr/>
          <p:nvPr/>
        </p:nvSpPr>
        <p:spPr>
          <a:xfrm>
            <a:off x="3470456" y="3296856"/>
            <a:ext cx="1403608" cy="1175728"/>
          </a:xfrm>
          <a:prstGeom prst="wedgeRoundRectCallout">
            <a:avLst>
              <a:gd name="adj1" fmla="val 177143"/>
              <a:gd name="adj2" fmla="val -4584"/>
              <a:gd name="adj3" fmla="val 16667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1000" kern="0" dirty="0">
                <a:solidFill>
                  <a:schemeClr val="bg1"/>
                </a:solidFill>
              </a:rPr>
              <a:t>Daily level activity data will be included in and will be shown at new DEL view daily activity metrics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B67687B-F7B4-48DF-A31B-7A0737354CAA}"/>
              </a:ext>
            </a:extLst>
          </p:cNvPr>
          <p:cNvCxnSpPr>
            <a:cxnSpLocks/>
            <a:stCxn id="39" idx="3"/>
            <a:endCxn id="41" idx="2"/>
          </p:cNvCxnSpPr>
          <p:nvPr/>
        </p:nvCxnSpPr>
        <p:spPr>
          <a:xfrm>
            <a:off x="2105248" y="2467708"/>
            <a:ext cx="456783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03C6D14-E7AA-4C62-9C32-B48E7AD575BA}"/>
              </a:ext>
            </a:extLst>
          </p:cNvPr>
          <p:cNvSpPr txBox="1"/>
          <p:nvPr/>
        </p:nvSpPr>
        <p:spPr>
          <a:xfrm>
            <a:off x="5230365" y="1099730"/>
            <a:ext cx="2872474" cy="45452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endParaRPr lang="en-US" sz="2000" dirty="0"/>
          </a:p>
        </p:txBody>
      </p:sp>
      <p:sp>
        <p:nvSpPr>
          <p:cNvPr id="34" name="Flowchart: Process 33">
            <a:extLst>
              <a:ext uri="{FF2B5EF4-FFF2-40B4-BE49-F238E27FC236}">
                <a16:creationId xmlns:a16="http://schemas.microsoft.com/office/drawing/2014/main" id="{9B7B9198-2001-4850-8F44-2F240B2280C3}"/>
              </a:ext>
            </a:extLst>
          </p:cNvPr>
          <p:cNvSpPr/>
          <p:nvPr/>
        </p:nvSpPr>
        <p:spPr>
          <a:xfrm>
            <a:off x="5430416" y="1099730"/>
            <a:ext cx="2500604" cy="4658540"/>
          </a:xfrm>
          <a:prstGeom prst="flowChartProcess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7009D4E-5EE6-4469-A0FE-7C8755FA832B}"/>
              </a:ext>
            </a:extLst>
          </p:cNvPr>
          <p:cNvSpPr txBox="1"/>
          <p:nvPr/>
        </p:nvSpPr>
        <p:spPr>
          <a:xfrm>
            <a:off x="562708" y="1250302"/>
            <a:ext cx="1667308" cy="4534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400" dirty="0"/>
              <a:t>: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90A930-8124-4468-BB9B-C923E24F23A2}"/>
              </a:ext>
            </a:extLst>
          </p:cNvPr>
          <p:cNvSpPr txBox="1"/>
          <p:nvPr/>
        </p:nvSpPr>
        <p:spPr>
          <a:xfrm>
            <a:off x="5383047" y="5871699"/>
            <a:ext cx="3083604" cy="2996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400" dirty="0"/>
              <a:t>Daily activity aggregation process</a:t>
            </a:r>
          </a:p>
        </p:txBody>
      </p:sp>
    </p:spTree>
    <p:extLst>
      <p:ext uri="{BB962C8B-B14F-4D97-AF65-F5344CB8AC3E}">
        <p14:creationId xmlns:p14="http://schemas.microsoft.com/office/powerpoint/2010/main" val="60096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  <a:extLst>
    <a:ext uri="{05A4C25C-085E-4340-85A3-A5531E510DB2}">
      <thm15:themeFamily xmlns:thm15="http://schemas.microsoft.com/office/thememl/2012/main" name="bms-powerpoint-template (003).potx  -  Read-Only" id="{FD796F40-B4E8-4A28-BDC1-591A47BED6E1}" vid="{65C418F9-8773-4E40-B745-46F14E9E8802}"/>
    </a:ext>
  </a:extLst>
</a:theme>
</file>

<file path=ppt/theme/theme2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</a:theme>
</file>

<file path=ppt/theme/theme3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11520</TotalTime>
  <Words>115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Century Gothic</vt:lpstr>
      <vt:lpstr>Tahoma</vt:lpstr>
      <vt:lpstr>Trebuchet MS</vt:lpstr>
      <vt:lpstr>Bristol Myers Squibb</vt:lpstr>
      <vt:lpstr>PowerPoint Presentation</vt:lpstr>
      <vt:lpstr>C-SCAN: Approach to show daily level activity aggregation:</vt:lpstr>
    </vt:vector>
  </TitlesOfParts>
  <Manager/>
  <Company>Bristol Myers Squibb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abhay.sharma@zs.com</dc:creator>
  <cp:keywords/>
  <dc:description/>
  <cp:lastModifiedBy>Abhay Sharma</cp:lastModifiedBy>
  <cp:revision>752</cp:revision>
  <cp:lastPrinted>2019-10-06T00:46:52Z</cp:lastPrinted>
  <dcterms:created xsi:type="dcterms:W3CDTF">2020-03-30T05:57:22Z</dcterms:created>
  <dcterms:modified xsi:type="dcterms:W3CDTF">2020-10-22T16:12:36Z</dcterms:modified>
  <cp:category/>
</cp:coreProperties>
</file>