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5"/>
  </p:notesMasterIdLst>
  <p:handoutMasterIdLst>
    <p:handoutMasterId r:id="rId26"/>
  </p:handoutMasterIdLst>
  <p:sldIdLst>
    <p:sldId id="1882" r:id="rId2"/>
    <p:sldId id="2098" r:id="rId3"/>
    <p:sldId id="2099" r:id="rId4"/>
    <p:sldId id="2100" r:id="rId5"/>
    <p:sldId id="2102" r:id="rId6"/>
    <p:sldId id="2103" r:id="rId7"/>
    <p:sldId id="2104" r:id="rId8"/>
    <p:sldId id="2105" r:id="rId9"/>
    <p:sldId id="2106" r:id="rId10"/>
    <p:sldId id="2101" r:id="rId11"/>
    <p:sldId id="2107" r:id="rId12"/>
    <p:sldId id="2108" r:id="rId13"/>
    <p:sldId id="2110" r:id="rId14"/>
    <p:sldId id="2111" r:id="rId15"/>
    <p:sldId id="2109" r:id="rId16"/>
    <p:sldId id="2112" r:id="rId17"/>
    <p:sldId id="2113" r:id="rId18"/>
    <p:sldId id="2114" r:id="rId19"/>
    <p:sldId id="2115" r:id="rId20"/>
    <p:sldId id="2116" r:id="rId21"/>
    <p:sldId id="2117" r:id="rId22"/>
    <p:sldId id="2118" r:id="rId23"/>
    <p:sldId id="211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rsh N Tripathi" initials="HNT" lastIdx="1" clrIdx="0">
    <p:extLst>
      <p:ext uri="{19B8F6BF-5375-455C-9EA6-DF929625EA0E}">
        <p15:presenceInfo xmlns:p15="http://schemas.microsoft.com/office/powerpoint/2012/main" userId="S::harsh.n.tripathi@zs.com::003d1333-c52e-4198-b04d-74de7066c530" providerId="AD"/>
      </p:ext>
    </p:extLst>
  </p:cmAuthor>
  <p:cmAuthor id="2" name="Prasanth U" initials="PU" lastIdx="4" clrIdx="1">
    <p:extLst>
      <p:ext uri="{19B8F6BF-5375-455C-9EA6-DF929625EA0E}">
        <p15:presenceInfo xmlns:p15="http://schemas.microsoft.com/office/powerpoint/2012/main" userId="S-1-5-21-2460924596-1293597354-2123413825-156092" providerId="AD"/>
      </p:ext>
    </p:extLst>
  </p:cmAuthor>
  <p:cmAuthor id="3" name="Abhay Sharma" initials="AS" lastIdx="2" clrIdx="2">
    <p:extLst>
      <p:ext uri="{19B8F6BF-5375-455C-9EA6-DF929625EA0E}">
        <p15:presenceInfo xmlns:p15="http://schemas.microsoft.com/office/powerpoint/2012/main" userId="S::abhay.sharma@zs.com::3a235f68-679c-4f7c-8d96-4db40252729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6F00"/>
    <a:srgbClr val="DBCCCC"/>
    <a:srgbClr val="F2F2F2"/>
    <a:srgbClr val="E7EDF4"/>
    <a:srgbClr val="BDFFE3"/>
    <a:srgbClr val="E9EDF4"/>
    <a:srgbClr val="FDA97D"/>
    <a:srgbClr val="D9D9D9"/>
    <a:srgbClr val="9BFFD5"/>
    <a:srgbClr val="BDA2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AFD8959-9B3F-4D47-BAAB-44C6AA61CEA2}">
  <a:tblStyle styleId="{7AFD8959-9B3F-4D47-BAAB-44C6AA61CEA2}" styleName="BMS Table Gray">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EEE7E7"/>
          </a:solidFill>
        </a:fill>
      </a:tcStyle>
    </a:band2H>
    <a:band1V>
      <a:tcStyle>
        <a:tcBdr/>
        <a:fill>
          <a:solidFill>
            <a:srgbClr val="EEE7E7"/>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chemeClr val="tx1"/>
              </a:solidFill>
            </a:ln>
          </a:top>
          <a:bottom>
            <a:ln w="19050">
              <a:solidFill>
                <a:schemeClr val="tx1"/>
              </a:solid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 styleId="{AB131486-7932-478D-BA04-5426E13E8524}" styleName="BMS Table Amber">
    <a:wholeTbl>
      <a:tcTxStyle>
        <a:fontRef idx="minor"/>
        <a:schemeClr val="tx1"/>
      </a:tcTxStyle>
      <a:tcStyle>
        <a:tcBdr>
          <a:left>
            <a:ln>
              <a:noFill/>
            </a:ln>
          </a:left>
          <a:right>
            <a:ln>
              <a:noFill/>
            </a:ln>
          </a:right>
          <a:top>
            <a:ln w="6350">
              <a:solidFill>
                <a:srgbClr val="FFD186"/>
              </a:solidFill>
            </a:ln>
          </a:top>
          <a:bottom>
            <a:ln w="6350">
              <a:solidFill>
                <a:srgbClr val="FFD186"/>
              </a:solidFill>
            </a:ln>
          </a:bottom>
          <a:insideH>
            <a:ln w="6350">
              <a:solidFill>
                <a:srgbClr val="FFD186"/>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FFECCD"/>
          </a:solidFill>
        </a:fill>
      </a:tcStyle>
    </a:band2H>
    <a:band1V>
      <a:tcStyle>
        <a:tcBdr/>
        <a:fill>
          <a:solidFill>
            <a:srgbClr val="FFECCD"/>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FFD186"/>
              </a:solidFill>
            </a:ln>
          </a:top>
          <a:bottom>
            <a:ln w="19050">
              <a:solidFill>
                <a:srgbClr val="FFD186"/>
              </a:solidFill>
            </a:ln>
          </a:bottom>
        </a:tcBdr>
        <a:fill>
          <a:noFill/>
        </a:fill>
      </a:tcStyle>
    </a:lastRow>
    <a:firstRow>
      <a:tcTxStyle b="on">
        <a:fontRef idx="minor"/>
        <a:schemeClr val="tx1"/>
      </a:tcTxStyle>
      <a:tcStyle>
        <a:tcBdr>
          <a:top>
            <a:ln>
              <a:noFill/>
            </a:ln>
          </a:top>
          <a:bottom>
            <a:ln>
              <a:noFill/>
            </a:ln>
          </a:bottom>
        </a:tcBdr>
        <a:fill>
          <a:solidFill>
            <a:srgbClr val="FFD186"/>
          </a:solidFill>
        </a:fill>
      </a:tcStyle>
    </a:firstRow>
  </a:tblStyle>
  <a:tblStyle styleId="{17987A09-FBC6-4D12-BA78-BE2ACF4811F2}" styleName="BMS Table Peach">
    <a:wholeTbl>
      <a:tcTxStyle>
        <a:fontRef idx="minor"/>
        <a:schemeClr val="tx1"/>
      </a:tcTxStyle>
      <a:tcStyle>
        <a:tcBdr>
          <a:left>
            <a:ln>
              <a:noFill/>
            </a:ln>
          </a:left>
          <a:right>
            <a:ln>
              <a:noFill/>
            </a:ln>
          </a:right>
          <a:top>
            <a:ln w="6350">
              <a:solidFill>
                <a:srgbClr val="FDA97D"/>
              </a:solidFill>
            </a:ln>
          </a:top>
          <a:bottom>
            <a:ln w="6350">
              <a:solidFill>
                <a:srgbClr val="FDA97D"/>
              </a:solidFill>
            </a:ln>
          </a:bottom>
          <a:insideH>
            <a:ln w="6350">
              <a:solidFill>
                <a:srgbClr val="FDA97D"/>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FEDCCA"/>
          </a:solidFill>
        </a:fill>
      </a:tcStyle>
    </a:band2H>
    <a:band1V>
      <a:tcStyle>
        <a:tcBdr/>
        <a:fill>
          <a:solidFill>
            <a:srgbClr val="FEDCCA"/>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FDA97D"/>
              </a:solidFill>
            </a:ln>
          </a:top>
          <a:bottom>
            <a:ln w="19050">
              <a:solidFill>
                <a:srgbClr val="FDA97D"/>
              </a:solidFill>
            </a:ln>
          </a:bottom>
        </a:tcBdr>
        <a:fill>
          <a:noFill/>
        </a:fill>
      </a:tcStyle>
    </a:lastRow>
    <a:firstRow>
      <a:tcTxStyle b="on">
        <a:fontRef idx="minor"/>
        <a:schemeClr val="tx1"/>
      </a:tcTxStyle>
      <a:tcStyle>
        <a:tcBdr>
          <a:top>
            <a:ln>
              <a:noFill/>
            </a:ln>
          </a:top>
          <a:bottom>
            <a:ln>
              <a:noFill/>
            </a:ln>
          </a:bottom>
        </a:tcBdr>
        <a:fill>
          <a:solidFill>
            <a:srgbClr val="FDA97D"/>
          </a:solidFill>
        </a:fill>
      </a:tcStyle>
    </a:firstRow>
  </a:tblStyle>
  <a:tblStyle styleId="{3FB51E2C-7BFB-4B95-B8AA-B85EA3A58659}" styleName="BMS Table Sienna">
    <a:wholeTbl>
      <a:tcTxStyle>
        <a:fontRef idx="minor"/>
        <a:schemeClr val="tx1"/>
      </a:tcTxStyle>
      <a:tcStyle>
        <a:tcBdr>
          <a:left>
            <a:ln>
              <a:noFill/>
            </a:ln>
          </a:left>
          <a:right>
            <a:ln>
              <a:noFill/>
            </a:ln>
          </a:right>
          <a:top>
            <a:ln w="6350">
              <a:solidFill>
                <a:srgbClr val="CB7C78"/>
              </a:solidFill>
            </a:ln>
          </a:top>
          <a:bottom>
            <a:ln w="6350">
              <a:solidFill>
                <a:srgbClr val="CB7C78"/>
              </a:solidFill>
            </a:ln>
          </a:bottom>
          <a:insideH>
            <a:ln w="6350">
              <a:solidFill>
                <a:srgbClr val="CB7C78"/>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DAC5C5"/>
          </a:solidFill>
        </a:fill>
      </a:tcStyle>
    </a:band2H>
    <a:band1V>
      <a:tcStyle>
        <a:tcBdr/>
        <a:fill>
          <a:solidFill>
            <a:srgbClr val="DAC5C5"/>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CB7C78"/>
              </a:solidFill>
            </a:ln>
          </a:top>
          <a:bottom>
            <a:ln w="19050">
              <a:solidFill>
                <a:srgbClr val="CB7C78"/>
              </a:solidFill>
            </a:ln>
          </a:bottom>
        </a:tcBdr>
        <a:fill>
          <a:noFill/>
        </a:fill>
      </a:tcStyle>
    </a:lastRow>
    <a:firstRow>
      <a:tcTxStyle b="on">
        <a:fontRef idx="minor"/>
        <a:schemeClr val="bg1"/>
      </a:tcTxStyle>
      <a:tcStyle>
        <a:tcBdr>
          <a:top>
            <a:ln>
              <a:noFill/>
            </a:ln>
          </a:top>
          <a:bottom>
            <a:ln>
              <a:noFill/>
            </a:ln>
          </a:bottom>
        </a:tcBdr>
        <a:fill>
          <a:solidFill>
            <a:srgbClr val="CB7C78"/>
          </a:solidFill>
        </a:fill>
      </a:tcStyle>
    </a:firstRow>
  </a:tblStyle>
  <a:tblStyle styleId="{341639D1-FA1C-4AE1-8705-CAF77B6581E0}" styleName="BMS Table Mint">
    <a:wholeTbl>
      <a:tcTxStyle>
        <a:fontRef idx="minor"/>
        <a:schemeClr val="tx1"/>
      </a:tcTxStyle>
      <a:tcStyle>
        <a:tcBdr>
          <a:left>
            <a:ln>
              <a:noFill/>
            </a:ln>
          </a:left>
          <a:right>
            <a:ln>
              <a:noFill/>
            </a:ln>
          </a:right>
          <a:top>
            <a:ln w="6350">
              <a:solidFill>
                <a:srgbClr val="59FFB9"/>
              </a:solidFill>
            </a:ln>
          </a:top>
          <a:bottom>
            <a:ln w="6350">
              <a:solidFill>
                <a:srgbClr val="59FFB9"/>
              </a:solidFill>
            </a:ln>
          </a:bottom>
          <a:insideH>
            <a:ln w="6350">
              <a:solidFill>
                <a:srgbClr val="59FFB9"/>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C5FFE6"/>
          </a:solidFill>
        </a:fill>
      </a:tcStyle>
    </a:band2H>
    <a:band1V>
      <a:tcStyle>
        <a:tcBdr/>
        <a:fill>
          <a:solidFill>
            <a:srgbClr val="C5FFE6"/>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59FFB9"/>
              </a:solidFill>
            </a:ln>
          </a:top>
          <a:bottom>
            <a:ln w="19050">
              <a:solidFill>
                <a:srgbClr val="59FFB9"/>
              </a:solidFill>
            </a:ln>
          </a:bottom>
        </a:tcBdr>
        <a:fill>
          <a:noFill/>
        </a:fill>
      </a:tcStyle>
    </a:lastRow>
    <a:firstRow>
      <a:tcTxStyle b="on">
        <a:fontRef idx="minor"/>
        <a:schemeClr val="tx1"/>
      </a:tcTxStyle>
      <a:tcStyle>
        <a:tcBdr>
          <a:top>
            <a:ln>
              <a:noFill/>
            </a:ln>
          </a:top>
          <a:bottom>
            <a:ln>
              <a:noFill/>
            </a:ln>
          </a:bottom>
        </a:tcBdr>
        <a:fill>
          <a:solidFill>
            <a:srgbClr val="59FFB9"/>
          </a:solidFill>
        </a:fill>
      </a:tcStyle>
    </a:firstRow>
  </a:tblStyle>
  <a:tblStyle styleId="{634F3CDC-9E1D-4E82-9B7D-985DE547036D}" styleName="BMS Table Aqua">
    <a:wholeTbl>
      <a:tcTxStyle>
        <a:fontRef idx="minor"/>
        <a:schemeClr val="tx1"/>
      </a:tcTxStyle>
      <a:tcStyle>
        <a:tcBdr>
          <a:left>
            <a:ln>
              <a:noFill/>
            </a:ln>
          </a:left>
          <a:right>
            <a:ln>
              <a:noFill/>
            </a:ln>
          </a:right>
          <a:top>
            <a:ln w="6350">
              <a:solidFill>
                <a:srgbClr val="33D6F1"/>
              </a:solidFill>
            </a:ln>
          </a:top>
          <a:bottom>
            <a:ln w="6350">
              <a:solidFill>
                <a:srgbClr val="33D6F1"/>
              </a:solidFill>
            </a:ln>
          </a:bottom>
          <a:insideH>
            <a:ln w="6350">
              <a:solidFill>
                <a:srgbClr val="33D6F1"/>
              </a:solidFill>
            </a:ln>
          </a:insideH>
          <a:insideV>
            <a:ln>
              <a:noFill/>
            </a:ln>
          </a:insideV>
        </a:tcBdr>
        <a:fill>
          <a:noFill/>
        </a:fill>
      </a:tcStyle>
    </a:wholeTbl>
    <a:band1H>
      <a:tcStyle>
        <a:tcBdr/>
        <a:fill>
          <a:noFill/>
        </a:fill>
      </a:tcStyle>
    </a:band1H>
    <a:band2H>
      <a:tcStyle>
        <a:tcBdr>
          <a:top>
            <a:ln>
              <a:noFill/>
            </a:ln>
          </a:top>
          <a:bottom>
            <a:ln>
              <a:noFill/>
            </a:ln>
          </a:bottom>
        </a:tcBdr>
        <a:fill>
          <a:solidFill>
            <a:srgbClr val="C0F2FB"/>
          </a:solidFill>
        </a:fill>
      </a:tcStyle>
    </a:band2H>
    <a:band1V>
      <a:tcStyle>
        <a:tcBdr/>
        <a:fill>
          <a:solidFill>
            <a:srgbClr val="C0F2FB"/>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rgbClr val="33D6F1"/>
              </a:solidFill>
            </a:ln>
          </a:top>
          <a:bottom>
            <a:ln w="19050">
              <a:solidFill>
                <a:srgbClr val="33D6F1"/>
              </a:solidFill>
            </a:ln>
          </a:bottom>
        </a:tcBdr>
        <a:fill>
          <a:noFill/>
        </a:fill>
      </a:tcStyle>
    </a:lastRow>
    <a:firstRow>
      <a:tcTxStyle b="on">
        <a:fontRef idx="minor"/>
        <a:schemeClr val="tx1"/>
      </a:tcTxStyle>
      <a:tcStyle>
        <a:tcBdr>
          <a:top>
            <a:ln>
              <a:noFill/>
            </a:ln>
          </a:top>
          <a:bottom>
            <a:ln>
              <a:noFill/>
            </a:ln>
          </a:bottom>
        </a:tcBdr>
        <a:fill>
          <a:solidFill>
            <a:srgbClr val="33D6F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232" autoAdjust="0"/>
  </p:normalViewPr>
  <p:slideViewPr>
    <p:cSldViewPr snapToGrid="0" showGuides="1">
      <p:cViewPr varScale="1">
        <p:scale>
          <a:sx n="82" d="100"/>
          <a:sy n="82" d="100"/>
        </p:scale>
        <p:origin x="720" y="5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166" d="100"/>
          <a:sy n="166" d="100"/>
        </p:scale>
        <p:origin x="5464"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3" dt="2020-10-07T16:46:36.729" idx="1">
    <p:pos x="7750" y="133"/>
    <p:text>check if the ONC1 survey module objects are there in CRM / BRD</p:text>
    <p:extLst>
      <p:ext uri="{C676402C-5697-4E1C-873F-D02D1690AC5C}">
        <p15:threadingInfo xmlns:p15="http://schemas.microsoft.com/office/powerpoint/2012/main" timeZoneBias="-33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3" dt="2020-10-07T16:46:36.729" idx="1">
    <p:pos x="7750" y="133"/>
    <p:text>check if the ONC1 survey module objects are there in CRM / BRD</p:text>
    <p:extLst>
      <p:ext uri="{C676402C-5697-4E1C-873F-D02D1690AC5C}">
        <p15:threadingInfo xmlns:p15="http://schemas.microsoft.com/office/powerpoint/2012/main" timeZoneBias="-33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6B232A-A90B-0843-9FE3-CD41AEF1F4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D6EF4F6-6352-EF49-8B94-F88281AD3C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FA1003-23F1-F848-ABD7-AA279ACD1B1C}" type="datetimeFigureOut">
              <a:rPr lang="en-US" smtClean="0"/>
              <a:t>10/22/2020</a:t>
            </a:fld>
            <a:endParaRPr lang="en-US" dirty="0"/>
          </a:p>
        </p:txBody>
      </p:sp>
      <p:sp>
        <p:nvSpPr>
          <p:cNvPr id="4" name="Footer Placeholder 3">
            <a:extLst>
              <a:ext uri="{FF2B5EF4-FFF2-40B4-BE49-F238E27FC236}">
                <a16:creationId xmlns:a16="http://schemas.microsoft.com/office/drawing/2014/main" id="{6DF22398-7E15-714C-85A0-DACC6DC3F1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F1B2665-97EF-CE47-ABE4-18D4D76C98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AB60F0-68D7-274B-9B3A-8BD634CF5613}" type="slidenum">
              <a:rPr lang="en-US" smtClean="0"/>
              <a:t>‹#›</a:t>
            </a:fld>
            <a:endParaRPr lang="en-US" dirty="0"/>
          </a:p>
        </p:txBody>
      </p:sp>
    </p:spTree>
    <p:extLst>
      <p:ext uri="{BB962C8B-B14F-4D97-AF65-F5344CB8AC3E}">
        <p14:creationId xmlns:p14="http://schemas.microsoft.com/office/powerpoint/2010/main" val="127641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F6C0D1-008B-C245-AF1E-F6ADA8BEAF3C}" type="datetimeFigureOut">
              <a:rPr lang="en-US" smtClean="0"/>
              <a:t>10/22/2020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B8535-DC0F-AF47-A510-8461A80C06B7}" type="slidenum">
              <a:rPr lang="en-US" smtClean="0"/>
              <a:t>‹#›</a:t>
            </a:fld>
            <a:endParaRPr lang="en-US" dirty="0"/>
          </a:p>
        </p:txBody>
      </p:sp>
    </p:spTree>
    <p:extLst>
      <p:ext uri="{BB962C8B-B14F-4D97-AF65-F5344CB8AC3E}">
        <p14:creationId xmlns:p14="http://schemas.microsoft.com/office/powerpoint/2010/main" val="7078110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spcBef>
        <a:spcPts val="600"/>
      </a:spcBef>
      <a:buFont typeface="Trebuchet MS" panose="020B0603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Trebuchet MS" panose="020B0603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B8535-DC0F-AF47-A510-8461A80C06B7}" type="slidenum">
              <a:rPr lang="en-US" smtClean="0"/>
              <a:t>3</a:t>
            </a:fld>
            <a:endParaRPr lang="en-US" dirty="0"/>
          </a:p>
        </p:txBody>
      </p:sp>
    </p:spTree>
    <p:extLst>
      <p:ext uri="{BB962C8B-B14F-4D97-AF65-F5344CB8AC3E}">
        <p14:creationId xmlns:p14="http://schemas.microsoft.com/office/powerpoint/2010/main" val="1850540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B8535-DC0F-AF47-A510-8461A80C06B7}" type="slidenum">
              <a:rPr lang="en-US" smtClean="0"/>
              <a:t>4</a:t>
            </a:fld>
            <a:endParaRPr lang="en-US" dirty="0"/>
          </a:p>
        </p:txBody>
      </p:sp>
    </p:spTree>
    <p:extLst>
      <p:ext uri="{BB962C8B-B14F-4D97-AF65-F5344CB8AC3E}">
        <p14:creationId xmlns:p14="http://schemas.microsoft.com/office/powerpoint/2010/main" val="2192620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692E5CDC-3F8F-AF4C-BDBB-F6335CB85FE8}"/>
              </a:ext>
            </a:extLst>
          </p:cNvPr>
          <p:cNvSpPr>
            <a:spLocks noGrp="1"/>
          </p:cNvSpPr>
          <p:nvPr>
            <p:ph type="body" sz="quarter" idx="10" hasCustomPrompt="1"/>
          </p:nvPr>
        </p:nvSpPr>
        <p:spPr>
          <a:xfrm>
            <a:off x="365760" y="365760"/>
            <a:ext cx="7543165" cy="457200"/>
          </a:xfrm>
        </p:spPr>
        <p:txBody>
          <a:bodyPr/>
          <a:lstStyle>
            <a:lvl1pPr marL="0" marR="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b="1"/>
            </a:lvl1pPr>
            <a:lvl2pPr marL="0" indent="0">
              <a:spcBef>
                <a:spcPts val="0"/>
              </a:spcBef>
              <a:buNone/>
              <a:defRPr b="1"/>
            </a:lvl2pPr>
            <a:lvl3pPr marL="0" indent="0">
              <a:spcBef>
                <a:spcPts val="0"/>
              </a:spcBef>
              <a:buNone/>
              <a:defRPr b="1"/>
            </a:lvl3pPr>
            <a:lvl4pPr marL="0" indent="0">
              <a:spcBef>
                <a:spcPts val="0"/>
              </a:spcBef>
              <a:buNone/>
              <a:defRPr b="1"/>
            </a:lvl4pPr>
            <a:lvl5pPr marL="0" indent="0">
              <a:spcBef>
                <a:spcPts val="0"/>
              </a:spcBef>
              <a:buNone/>
              <a:defRPr b="1"/>
            </a:lvl5pPr>
            <a:lvl6pPr marL="0" indent="0">
              <a:spcBef>
                <a:spcPts val="0"/>
              </a:spcBef>
              <a:buNone/>
              <a:defRPr b="1"/>
            </a:lvl6pPr>
            <a:lvl7pPr marL="0" indent="0">
              <a:spcBef>
                <a:spcPts val="0"/>
              </a:spcBef>
              <a:buNone/>
              <a:defRPr b="1"/>
            </a:lvl7pPr>
            <a:lvl8pPr marL="0" indent="0">
              <a:spcBef>
                <a:spcPts val="0"/>
              </a:spcBef>
              <a:buNone/>
              <a:defRPr b="1"/>
            </a:lvl8pPr>
            <a:lvl9pPr marL="0" indent="0">
              <a:spcBef>
                <a:spcPts val="0"/>
              </a:spcBef>
              <a:buNone/>
              <a:defRPr b="1"/>
            </a:lvl9pPr>
          </a:lstStyle>
          <a:p>
            <a:pPr lvl="0"/>
            <a:r>
              <a:rPr lang="en-US" dirty="0"/>
              <a:t>Division/Therapeutic Area [Edit here]</a:t>
            </a:r>
          </a:p>
        </p:txBody>
      </p:sp>
      <p:sp>
        <p:nvSpPr>
          <p:cNvPr id="2" name="Title 2">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365760" y="1554480"/>
            <a:ext cx="7543165" cy="2560320"/>
          </a:xfrm>
        </p:spPr>
        <p:txBody>
          <a:bodyPr anchor="t" anchorCtr="0"/>
          <a:lstStyle>
            <a:lvl1pPr algn="l">
              <a:defRPr sz="6000" b="0" spc="0" baseline="0"/>
            </a:lvl1pPr>
          </a:lstStyle>
          <a:p>
            <a:r>
              <a:rPr lang="en-US" dirty="0"/>
              <a:t>[Presentation title]</a:t>
            </a:r>
          </a:p>
        </p:txBody>
      </p:sp>
      <p:sp>
        <p:nvSpPr>
          <p:cNvPr id="3" name="Subtitle 3">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365758" y="4343400"/>
            <a:ext cx="7543800" cy="457200"/>
          </a:xfrm>
        </p:spPr>
        <p:txBody>
          <a:bodyPr>
            <a:noAutofit/>
          </a:bodyPr>
          <a:lstStyle>
            <a:lvl1pPr marL="0" indent="0" algn="l">
              <a:spcBef>
                <a:spcPts val="0"/>
              </a:spcBef>
              <a:buNone/>
              <a:defRPr sz="2000" b="1"/>
            </a:lvl1pPr>
            <a:lvl2pPr marL="0" indent="0" algn="l">
              <a:spcBef>
                <a:spcPts val="0"/>
              </a:spcBef>
              <a:buNone/>
              <a:defRPr sz="2000"/>
            </a:lvl2pPr>
            <a:lvl3pPr marL="0" indent="0" algn="l">
              <a:spcBef>
                <a:spcPts val="0"/>
              </a:spcBef>
              <a:buNone/>
              <a:defRPr sz="2000"/>
            </a:lvl3pPr>
            <a:lvl4pPr marL="0" indent="0" algn="l">
              <a:spcBef>
                <a:spcPts val="0"/>
              </a:spcBef>
              <a:buNone/>
              <a:defRPr sz="2000"/>
            </a:lvl4pPr>
            <a:lvl5pPr marL="0" indent="0" algn="l">
              <a:spcBef>
                <a:spcPts val="0"/>
              </a:spcBef>
              <a:buNone/>
              <a:defRPr sz="2000"/>
            </a:lvl5pPr>
            <a:lvl6pPr marL="0" indent="0" algn="l">
              <a:spcBef>
                <a:spcPts val="0"/>
              </a:spcBef>
              <a:buNone/>
              <a:defRPr sz="2000"/>
            </a:lvl6pPr>
            <a:lvl7pPr marL="0" indent="0" algn="l">
              <a:spcBef>
                <a:spcPts val="0"/>
              </a:spcBef>
              <a:buNone/>
              <a:defRPr sz="2000"/>
            </a:lvl7pPr>
            <a:lvl8pPr marL="0" indent="0" algn="l">
              <a:spcBef>
                <a:spcPts val="0"/>
              </a:spcBef>
              <a:buNone/>
              <a:defRPr sz="2000"/>
            </a:lvl8pPr>
            <a:lvl9pPr marL="0" indent="0" algn="l">
              <a:spcBef>
                <a:spcPts val="0"/>
              </a:spcBef>
              <a:buNone/>
              <a:defRPr sz="2000"/>
            </a:lvl9pPr>
          </a:lstStyle>
          <a:p>
            <a:r>
              <a:rPr lang="en-US" dirty="0"/>
              <a:t>[Month 00, 0000]</a:t>
            </a:r>
          </a:p>
        </p:txBody>
      </p:sp>
      <p:sp>
        <p:nvSpPr>
          <p:cNvPr id="5" name="Text Placeholder 4">
            <a:extLst>
              <a:ext uri="{FF2B5EF4-FFF2-40B4-BE49-F238E27FC236}">
                <a16:creationId xmlns:a16="http://schemas.microsoft.com/office/drawing/2014/main" id="{C7CE39BE-06F7-7349-BF12-45D065ED872B}"/>
              </a:ext>
            </a:extLst>
          </p:cNvPr>
          <p:cNvSpPr>
            <a:spLocks noGrp="1"/>
          </p:cNvSpPr>
          <p:nvPr>
            <p:ph type="body" sz="quarter" idx="11" hasCustomPrompt="1"/>
          </p:nvPr>
        </p:nvSpPr>
        <p:spPr>
          <a:xfrm>
            <a:off x="365757" y="4937760"/>
            <a:ext cx="7543167" cy="685800"/>
          </a:xfrm>
        </p:spPr>
        <p:txBody>
          <a:bodyPr/>
          <a:lstStyle>
            <a:lvl1pPr marL="0" indent="0">
              <a:spcBef>
                <a:spcPts val="0"/>
              </a:spcBef>
              <a:buNone/>
              <a:defRPr b="0"/>
            </a:lvl1pPr>
            <a:lvl2pPr marL="0" indent="0">
              <a:spcBef>
                <a:spcPts val="0"/>
              </a:spcBef>
              <a:buNone/>
              <a:defRPr b="0"/>
            </a:lvl2pPr>
            <a:lvl3pPr marL="0" indent="0">
              <a:spcBef>
                <a:spcPts val="0"/>
              </a:spcBef>
              <a:buNone/>
              <a:defRPr b="0"/>
            </a:lvl3pPr>
            <a:lvl4pPr marL="0" indent="0">
              <a:spcBef>
                <a:spcPts val="0"/>
              </a:spcBef>
              <a:buNone/>
              <a:defRPr b="0"/>
            </a:lvl4pPr>
            <a:lvl5pPr marL="0" indent="0">
              <a:spcBef>
                <a:spcPts val="0"/>
              </a:spcBef>
              <a:buNone/>
              <a:defRPr b="0"/>
            </a:lvl5pPr>
            <a:lvl6pPr marL="0" indent="0">
              <a:spcBef>
                <a:spcPts val="0"/>
              </a:spcBef>
              <a:buNone/>
              <a:defRPr b="0"/>
            </a:lvl6pPr>
            <a:lvl7pPr marL="0" indent="0">
              <a:spcBef>
                <a:spcPts val="0"/>
              </a:spcBef>
              <a:buNone/>
              <a:defRPr b="0"/>
            </a:lvl7pPr>
            <a:lvl8pPr marL="0" indent="0">
              <a:spcBef>
                <a:spcPts val="0"/>
              </a:spcBef>
              <a:buNone/>
              <a:defRPr b="0"/>
            </a:lvl8pPr>
            <a:lvl9pPr marL="0" indent="0">
              <a:spcBef>
                <a:spcPts val="0"/>
              </a:spcBef>
              <a:buNone/>
              <a:defRPr b="0"/>
            </a:lvl9pPr>
          </a:lstStyle>
          <a:p>
            <a:pPr lvl="0"/>
            <a:r>
              <a:rPr lang="en-US" dirty="0"/>
              <a:t>[Presenter Name]</a:t>
            </a:r>
            <a:br>
              <a:rPr lang="en-US" dirty="0"/>
            </a:br>
            <a:r>
              <a:rPr lang="en-US" dirty="0"/>
              <a:t>[Title]</a:t>
            </a:r>
          </a:p>
        </p:txBody>
      </p:sp>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userDrawn="1"/>
        </p:nvPicPr>
        <p:blipFill>
          <a:blip r:embed="rId2"/>
          <a:stretch>
            <a:fillRect/>
          </a:stretch>
        </p:blipFill>
        <p:spPr bwMode="black">
          <a:xfrm>
            <a:off x="150688" y="5913096"/>
            <a:ext cx="3260486" cy="822960"/>
          </a:xfrm>
          <a:prstGeom prst="rect">
            <a:avLst/>
          </a:prstGeom>
          <a:noFill/>
        </p:spPr>
      </p:pic>
      <p:sp>
        <p:nvSpPr>
          <p:cNvPr id="10" name="Disclaimer">
            <a:extLst>
              <a:ext uri="{FF2B5EF4-FFF2-40B4-BE49-F238E27FC236}">
                <a16:creationId xmlns:a16="http://schemas.microsoft.com/office/drawing/2014/main" id="{0411BC70-4820-DF40-90C3-6ACD451ADD60}"/>
              </a:ext>
            </a:extLst>
          </p:cNvPr>
          <p:cNvSpPr txBox="1"/>
          <p:nvPr userDrawn="1"/>
        </p:nvSpPr>
        <p:spPr>
          <a:xfrm>
            <a:off x="8205215" y="6257290"/>
            <a:ext cx="3621659" cy="228600"/>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800" b="0" dirty="0"/>
              <a:t>Highly Confidential</a:t>
            </a:r>
          </a:p>
        </p:txBody>
      </p:sp>
    </p:spTree>
    <p:extLst>
      <p:ext uri="{BB962C8B-B14F-4D97-AF65-F5344CB8AC3E}">
        <p14:creationId xmlns:p14="http://schemas.microsoft.com/office/powerpoint/2010/main" val="128600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Gray">
    <p:bg>
      <p:bgPr>
        <a:solidFill>
          <a:srgbClr val="EEE7E7"/>
        </a:solidFill>
        <a:effectLst/>
      </p:bgPr>
    </p:bg>
    <p:spTree>
      <p:nvGrpSpPr>
        <p:cNvPr id="1" name=""/>
        <p:cNvGrpSpPr/>
        <p:nvPr/>
      </p:nvGrpSpPr>
      <p:grpSpPr>
        <a:xfrm>
          <a:off x="0" y="0"/>
          <a:ext cx="0" cy="0"/>
          <a:chOff x="0" y="0"/>
          <a:chExt cx="0" cy="0"/>
        </a:xfrm>
      </p:grpSpPr>
      <p:sp>
        <p:nvSpPr>
          <p:cNvPr id="13" name="Text Placeholder 1">
            <a:extLst>
              <a:ext uri="{FF2B5EF4-FFF2-40B4-BE49-F238E27FC236}">
                <a16:creationId xmlns:a16="http://schemas.microsoft.com/office/drawing/2014/main" id="{692E5CDC-3F8F-AF4C-BDBB-F6335CB85FE8}"/>
              </a:ext>
            </a:extLst>
          </p:cNvPr>
          <p:cNvSpPr>
            <a:spLocks noGrp="1"/>
          </p:cNvSpPr>
          <p:nvPr>
            <p:ph type="body" sz="quarter" idx="10" hasCustomPrompt="1"/>
          </p:nvPr>
        </p:nvSpPr>
        <p:spPr>
          <a:xfrm>
            <a:off x="365760" y="365760"/>
            <a:ext cx="7543165" cy="457200"/>
          </a:xfrm>
        </p:spPr>
        <p:txBody>
          <a:bodyPr/>
          <a:lstStyle>
            <a:lvl1pPr marL="0" marR="0" indent="0" algn="l" defTabSz="914400" rtl="0" eaLnBrk="1" fontAlgn="auto" latinLnBrk="0" hangingPunct="1">
              <a:lnSpc>
                <a:spcPct val="100000"/>
              </a:lnSpc>
              <a:spcBef>
                <a:spcPts val="0"/>
              </a:spcBef>
              <a:spcAft>
                <a:spcPts val="0"/>
              </a:spcAft>
              <a:buClrTx/>
              <a:buSzTx/>
              <a:buFont typeface="Trebuchet MS" panose="020B0603020202020204" pitchFamily="34" charset="0"/>
              <a:buNone/>
              <a:tabLst/>
              <a:defRPr b="1"/>
            </a:lvl1pPr>
            <a:lvl2pPr marL="0" indent="0">
              <a:spcBef>
                <a:spcPts val="0"/>
              </a:spcBef>
              <a:buNone/>
              <a:defRPr b="1"/>
            </a:lvl2pPr>
            <a:lvl3pPr marL="0" indent="0">
              <a:spcBef>
                <a:spcPts val="0"/>
              </a:spcBef>
              <a:buNone/>
              <a:defRPr b="1"/>
            </a:lvl3pPr>
            <a:lvl4pPr marL="0" indent="0">
              <a:spcBef>
                <a:spcPts val="0"/>
              </a:spcBef>
              <a:buNone/>
              <a:defRPr b="1"/>
            </a:lvl4pPr>
            <a:lvl5pPr marL="0" indent="0">
              <a:spcBef>
                <a:spcPts val="0"/>
              </a:spcBef>
              <a:buNone/>
              <a:defRPr b="1"/>
            </a:lvl5pPr>
            <a:lvl6pPr marL="0" indent="0">
              <a:spcBef>
                <a:spcPts val="0"/>
              </a:spcBef>
              <a:buNone/>
              <a:defRPr b="1"/>
            </a:lvl6pPr>
            <a:lvl7pPr marL="0" indent="0">
              <a:spcBef>
                <a:spcPts val="0"/>
              </a:spcBef>
              <a:buNone/>
              <a:defRPr b="1"/>
            </a:lvl7pPr>
            <a:lvl8pPr marL="0" indent="0">
              <a:spcBef>
                <a:spcPts val="0"/>
              </a:spcBef>
              <a:buNone/>
              <a:defRPr b="1"/>
            </a:lvl8pPr>
            <a:lvl9pPr marL="0" indent="0">
              <a:spcBef>
                <a:spcPts val="0"/>
              </a:spcBef>
              <a:buNone/>
              <a:defRPr b="1"/>
            </a:lvl9pPr>
          </a:lstStyle>
          <a:p>
            <a:pPr lvl="0"/>
            <a:r>
              <a:rPr lang="en-US" dirty="0"/>
              <a:t>Division/Therapeutic Area [Edit here]</a:t>
            </a:r>
          </a:p>
        </p:txBody>
      </p:sp>
      <p:sp>
        <p:nvSpPr>
          <p:cNvPr id="2" name="Title 2">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365760" y="1554480"/>
            <a:ext cx="7543165" cy="2560320"/>
          </a:xfrm>
        </p:spPr>
        <p:txBody>
          <a:bodyPr anchor="t" anchorCtr="0"/>
          <a:lstStyle>
            <a:lvl1pPr algn="l">
              <a:defRPr sz="6000" b="0" spc="0" baseline="0"/>
            </a:lvl1pPr>
          </a:lstStyle>
          <a:p>
            <a:r>
              <a:rPr lang="en-US" dirty="0"/>
              <a:t>[Presentation title]</a:t>
            </a:r>
          </a:p>
        </p:txBody>
      </p:sp>
      <p:sp>
        <p:nvSpPr>
          <p:cNvPr id="3" name="Subtitle 3">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365758" y="4343400"/>
            <a:ext cx="7543800" cy="457200"/>
          </a:xfrm>
        </p:spPr>
        <p:txBody>
          <a:bodyPr>
            <a:noAutofit/>
          </a:bodyPr>
          <a:lstStyle>
            <a:lvl1pPr marL="0" indent="0" algn="l">
              <a:spcBef>
                <a:spcPts val="0"/>
              </a:spcBef>
              <a:buNone/>
              <a:defRPr sz="2000" b="1"/>
            </a:lvl1pPr>
            <a:lvl2pPr marL="0" indent="0" algn="l">
              <a:spcBef>
                <a:spcPts val="0"/>
              </a:spcBef>
              <a:buNone/>
              <a:defRPr sz="2000"/>
            </a:lvl2pPr>
            <a:lvl3pPr marL="0" indent="0" algn="l">
              <a:spcBef>
                <a:spcPts val="0"/>
              </a:spcBef>
              <a:buNone/>
              <a:defRPr sz="2000"/>
            </a:lvl3pPr>
            <a:lvl4pPr marL="0" indent="0" algn="l">
              <a:spcBef>
                <a:spcPts val="0"/>
              </a:spcBef>
              <a:buNone/>
              <a:defRPr sz="2000"/>
            </a:lvl4pPr>
            <a:lvl5pPr marL="0" indent="0" algn="l">
              <a:spcBef>
                <a:spcPts val="0"/>
              </a:spcBef>
              <a:buNone/>
              <a:defRPr sz="2000"/>
            </a:lvl5pPr>
            <a:lvl6pPr marL="0" indent="0" algn="l">
              <a:spcBef>
                <a:spcPts val="0"/>
              </a:spcBef>
              <a:buNone/>
              <a:defRPr sz="2000"/>
            </a:lvl6pPr>
            <a:lvl7pPr marL="0" indent="0" algn="l">
              <a:spcBef>
                <a:spcPts val="0"/>
              </a:spcBef>
              <a:buNone/>
              <a:defRPr sz="2000"/>
            </a:lvl7pPr>
            <a:lvl8pPr marL="0" indent="0" algn="l">
              <a:spcBef>
                <a:spcPts val="0"/>
              </a:spcBef>
              <a:buNone/>
              <a:defRPr sz="2000"/>
            </a:lvl8pPr>
            <a:lvl9pPr marL="0" indent="0" algn="l">
              <a:spcBef>
                <a:spcPts val="0"/>
              </a:spcBef>
              <a:buNone/>
              <a:defRPr sz="2000"/>
            </a:lvl9pPr>
          </a:lstStyle>
          <a:p>
            <a:r>
              <a:rPr lang="en-US" dirty="0"/>
              <a:t>[Month 00, 0000]</a:t>
            </a:r>
          </a:p>
        </p:txBody>
      </p:sp>
      <p:sp>
        <p:nvSpPr>
          <p:cNvPr id="6" name="Text Placeholder 4">
            <a:extLst>
              <a:ext uri="{FF2B5EF4-FFF2-40B4-BE49-F238E27FC236}">
                <a16:creationId xmlns:a16="http://schemas.microsoft.com/office/drawing/2014/main" id="{F1E892DE-B840-A64B-91A1-1B18F6037C3F}"/>
              </a:ext>
            </a:extLst>
          </p:cNvPr>
          <p:cNvSpPr>
            <a:spLocks noGrp="1"/>
          </p:cNvSpPr>
          <p:nvPr>
            <p:ph type="body" sz="quarter" idx="11" hasCustomPrompt="1"/>
          </p:nvPr>
        </p:nvSpPr>
        <p:spPr>
          <a:xfrm>
            <a:off x="365757" y="4937760"/>
            <a:ext cx="7543167" cy="685800"/>
          </a:xfrm>
        </p:spPr>
        <p:txBody>
          <a:bodyPr/>
          <a:lstStyle>
            <a:lvl1pPr marL="0" indent="0">
              <a:spcBef>
                <a:spcPts val="0"/>
              </a:spcBef>
              <a:buNone/>
              <a:defRPr b="0"/>
            </a:lvl1pPr>
            <a:lvl2pPr marL="0" indent="0">
              <a:spcBef>
                <a:spcPts val="0"/>
              </a:spcBef>
              <a:buNone/>
              <a:defRPr b="0"/>
            </a:lvl2pPr>
            <a:lvl3pPr marL="0" indent="0">
              <a:spcBef>
                <a:spcPts val="0"/>
              </a:spcBef>
              <a:buNone/>
              <a:defRPr b="0"/>
            </a:lvl3pPr>
            <a:lvl4pPr marL="0" indent="0">
              <a:spcBef>
                <a:spcPts val="0"/>
              </a:spcBef>
              <a:buNone/>
              <a:defRPr b="0"/>
            </a:lvl4pPr>
            <a:lvl5pPr marL="0" indent="0">
              <a:spcBef>
                <a:spcPts val="0"/>
              </a:spcBef>
              <a:buNone/>
              <a:defRPr b="0"/>
            </a:lvl5pPr>
            <a:lvl6pPr marL="0" indent="0">
              <a:spcBef>
                <a:spcPts val="0"/>
              </a:spcBef>
              <a:buNone/>
              <a:defRPr b="0"/>
            </a:lvl6pPr>
            <a:lvl7pPr marL="0" indent="0">
              <a:spcBef>
                <a:spcPts val="0"/>
              </a:spcBef>
              <a:buNone/>
              <a:defRPr b="0"/>
            </a:lvl7pPr>
            <a:lvl8pPr marL="0" indent="0">
              <a:spcBef>
                <a:spcPts val="0"/>
              </a:spcBef>
              <a:buNone/>
              <a:defRPr b="0"/>
            </a:lvl8pPr>
            <a:lvl9pPr marL="0" indent="0">
              <a:spcBef>
                <a:spcPts val="0"/>
              </a:spcBef>
              <a:buNone/>
              <a:defRPr b="0"/>
            </a:lvl9pPr>
          </a:lstStyle>
          <a:p>
            <a:pPr lvl="0"/>
            <a:r>
              <a:rPr lang="en-US" dirty="0"/>
              <a:t>[Presenter Name]</a:t>
            </a:r>
            <a:br>
              <a:rPr lang="en-US" dirty="0"/>
            </a:br>
            <a:r>
              <a:rPr lang="en-US" dirty="0"/>
              <a:t>[Title]</a:t>
            </a:r>
          </a:p>
        </p:txBody>
      </p:sp>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userDrawn="1"/>
        </p:nvPicPr>
        <p:blipFill>
          <a:blip r:embed="rId2"/>
          <a:stretch>
            <a:fillRect/>
          </a:stretch>
        </p:blipFill>
        <p:spPr bwMode="black">
          <a:xfrm>
            <a:off x="150688" y="5913096"/>
            <a:ext cx="3260486" cy="822960"/>
          </a:xfrm>
          <a:prstGeom prst="rect">
            <a:avLst/>
          </a:prstGeom>
          <a:noFill/>
        </p:spPr>
      </p:pic>
      <p:sp>
        <p:nvSpPr>
          <p:cNvPr id="8" name="Disclaimer">
            <a:extLst>
              <a:ext uri="{FF2B5EF4-FFF2-40B4-BE49-F238E27FC236}">
                <a16:creationId xmlns:a16="http://schemas.microsoft.com/office/drawing/2014/main" id="{F95EDC5C-ABEE-824D-9A00-482457322324}"/>
              </a:ext>
            </a:extLst>
          </p:cNvPr>
          <p:cNvSpPr txBox="1"/>
          <p:nvPr userDrawn="1"/>
        </p:nvSpPr>
        <p:spPr>
          <a:xfrm>
            <a:off x="8205215" y="6257290"/>
            <a:ext cx="3621659" cy="228600"/>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800" b="0" dirty="0"/>
              <a:t>Highly Confidential</a:t>
            </a:r>
          </a:p>
        </p:txBody>
      </p:sp>
    </p:spTree>
    <p:extLst>
      <p:ext uri="{BB962C8B-B14F-4D97-AF65-F5344CB8AC3E}">
        <p14:creationId xmlns:p14="http://schemas.microsoft.com/office/powerpoint/2010/main" val="3896294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p:txBody>
          <a:bodyPr rIns="0" numCol="2" spcCol="301752"/>
          <a:lstStyle>
            <a:lvl1pPr marL="411480" indent="-411480">
              <a:buFont typeface="+mj-lt"/>
              <a:buAutoNum type="arabicPeriod"/>
              <a:tabLst/>
              <a:defRPr/>
            </a:lvl1pPr>
            <a:lvl2pPr marL="640080" indent="-228600">
              <a:tabLst/>
              <a:defRPr/>
            </a:lvl2pPr>
            <a:lvl3pPr marL="868680" indent="-228600">
              <a:tabLst/>
              <a:defRPr/>
            </a:lvl3pPr>
            <a:lvl4pPr marL="1097280" indent="-228600">
              <a:tabLst/>
              <a:defRPr/>
            </a:lvl4pPr>
            <a:lvl5pPr marL="1325880" indent="-228600">
              <a:tabLst/>
              <a:defRPr/>
            </a:lvl5pPr>
            <a:lvl6pPr marL="1554480" indent="-228600">
              <a:tabLst/>
              <a:defRPr/>
            </a:lvl6pPr>
            <a:lvl7pPr marL="1783080" indent="-228600">
              <a:tabLst/>
              <a:defRPr/>
            </a:lvl7pPr>
            <a:lvl8pPr marL="2011680" indent="-228600">
              <a:tabLst/>
              <a:defRPr/>
            </a:lvl8pPr>
            <a:lvl9pPr marL="2240280" indent="-228600">
              <a:tabLst/>
              <a:defRPr/>
            </a:lvl9pPr>
          </a:lstStyle>
          <a:p>
            <a:pPr lvl="0"/>
            <a:r>
              <a:rPr lang="en-US" dirty="0"/>
              <a:t>[Agenda item]</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786750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userDrawn="1">
          <p15:clr>
            <a:srgbClr val="FBAE40"/>
          </p15:clr>
        </p15:guide>
        <p15:guide id="2" pos="39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19682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58" y="1554480"/>
            <a:ext cx="5577840"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8400" y="1554480"/>
            <a:ext cx="5577840"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4">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863907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userDrawn="1">
          <p15:clr>
            <a:srgbClr val="FBAE40"/>
          </p15:clr>
        </p15:guide>
        <p15:guide id="2" pos="393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3621024"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5488" y="1554480"/>
            <a:ext cx="3621024"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05216" y="1554480"/>
            <a:ext cx="3621024"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92414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698" userDrawn="1">
          <p15:clr>
            <a:srgbClr val="FBAE40"/>
          </p15:clr>
        </p15:guide>
        <p15:guide id="2" pos="2512" userDrawn="1">
          <p15:clr>
            <a:srgbClr val="FBAE40"/>
          </p15:clr>
        </p15:guide>
        <p15:guide id="3" pos="4982" userDrawn="1">
          <p15:clr>
            <a:srgbClr val="FBAE40"/>
          </p15:clr>
        </p15:guide>
        <p15:guide id="4" pos="516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2642616"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02001" y="1554480"/>
            <a:ext cx="2641598"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8400" y="1554480"/>
            <a:ext cx="2641600"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3624" y="1554480"/>
            <a:ext cx="2642616" cy="457200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65099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0" userDrawn="1">
          <p15:clr>
            <a:srgbClr val="FBAE40"/>
          </p15:clr>
        </p15:guide>
        <p15:guide id="2" pos="1896" userDrawn="1">
          <p15:clr>
            <a:srgbClr val="FBAE40"/>
          </p15:clr>
        </p15:guide>
        <p15:guide id="3" pos="5600" userDrawn="1">
          <p15:clr>
            <a:srgbClr val="FBAE40"/>
          </p15:clr>
        </p15:guide>
        <p15:guide id="4" pos="5784" userDrawn="1">
          <p15:clr>
            <a:srgbClr val="FBAE40"/>
          </p15:clr>
        </p15:guide>
        <p15:guide id="5" pos="3744" userDrawn="1">
          <p15:clr>
            <a:srgbClr val="FBAE40"/>
          </p15:clr>
        </p15:guide>
        <p15:guide id="6" pos="393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3618992"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6504" y="1554480"/>
            <a:ext cx="7539736"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4">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92031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1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554480"/>
            <a:ext cx="7539736"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07248" y="1554480"/>
            <a:ext cx="3618992"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4">
            <a:extLst>
              <a:ext uri="{FF2B5EF4-FFF2-40B4-BE49-F238E27FC236}">
                <a16:creationId xmlns:a16="http://schemas.microsoft.com/office/drawing/2014/main" id="{67FB1D32-3E1C-554A-A887-047CEBF6A063}"/>
              </a:ext>
            </a:extLst>
          </p:cNvPr>
          <p:cNvSpPr>
            <a:spLocks noGrp="1"/>
          </p:cNvSpPr>
          <p:nvPr>
            <p:ph type="sldNum" sz="quarter" idx="12"/>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76573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80" userDrawn="1">
          <p15:clr>
            <a:srgbClr val="FBAE40"/>
          </p15:clr>
        </p15:guide>
        <p15:guide id="4" pos="516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g 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1642462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g Statement - Amber">
    <p:bg>
      <p:bgPr>
        <a:gradFill>
          <a:gsLst>
            <a:gs pos="0">
              <a:srgbClr val="FFFBF4"/>
            </a:gs>
            <a:gs pos="100000">
              <a:srgbClr val="FFECCD"/>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1436197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g Statement - Peach">
    <p:bg>
      <p:bgPr>
        <a:gradFill>
          <a:gsLst>
            <a:gs pos="0">
              <a:srgbClr val="FFF7F3"/>
            </a:gs>
            <a:gs pos="100000">
              <a:srgbClr val="FEDCCA"/>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2706347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g Statement - Olive">
    <p:bg>
      <p:bgPr>
        <a:gradFill>
          <a:gsLst>
            <a:gs pos="0">
              <a:srgbClr val="FAF6F3"/>
            </a:gs>
            <a:gs pos="100000">
              <a:srgbClr val="EAD5C9"/>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592498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g Statement - Almond">
    <p:bg>
      <p:bgPr>
        <a:gradFill>
          <a:gsLst>
            <a:gs pos="0">
              <a:srgbClr val="F8F3F1"/>
            </a:gs>
            <a:gs pos="100000">
              <a:srgbClr val="DFCBC3"/>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612797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ig Statement - Sienna">
    <p:bg>
      <p:bgPr>
        <a:gradFill>
          <a:gsLst>
            <a:gs pos="0">
              <a:srgbClr val="F5F0F0"/>
            </a:gs>
            <a:gs pos="100000">
              <a:srgbClr val="DAC5C5"/>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33901893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ig Statement - Chocolate">
    <p:bg>
      <p:bgPr>
        <a:gradFill>
          <a:gsLst>
            <a:gs pos="0">
              <a:srgbClr val="F6F4F3"/>
            </a:gs>
            <a:gs pos="100000">
              <a:srgbClr val="D2CAC8"/>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4194702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g Statement - Mint">
    <p:bg>
      <p:bgPr>
        <a:gradFill>
          <a:gsLst>
            <a:gs pos="0">
              <a:srgbClr val="F2FFF9"/>
            </a:gs>
            <a:gs pos="100000">
              <a:srgbClr val="C5FFE6"/>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5739913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Statement - Aqua">
    <p:bg>
      <p:bgPr>
        <a:gradFill>
          <a:gsLst>
            <a:gs pos="0">
              <a:srgbClr val="EFFCFE"/>
            </a:gs>
            <a:gs pos="100000">
              <a:srgbClr val="C0F2FB"/>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0629085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Statemnent - Light Gray">
    <p:bg>
      <p:bgPr>
        <a:solidFill>
          <a:srgbClr val="EEE7E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244BE-F5F5-DB40-B805-09B59F695DCE}"/>
              </a:ext>
            </a:extLst>
          </p:cNvPr>
          <p:cNvSpPr>
            <a:spLocks noGrp="1"/>
          </p:cNvSpPr>
          <p:nvPr>
            <p:ph type="title" hasCustomPrompt="1"/>
          </p:nvPr>
        </p:nvSpPr>
        <p:spPr>
          <a:xfrm>
            <a:off x="365760" y="365760"/>
            <a:ext cx="11460480" cy="914400"/>
          </a:xfrm>
        </p:spPr>
        <p:txBody>
          <a:bodyPr/>
          <a:lstStyle/>
          <a:p>
            <a:r>
              <a:rPr lang="en-US" dirty="0"/>
              <a:t>[Optional 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a:xfrm>
            <a:off x="365760" y="1554479"/>
            <a:ext cx="8524240" cy="4572000"/>
          </a:xfrm>
        </p:spPr>
        <p:txBody>
          <a:bodyPr>
            <a:noAutofit/>
          </a:bodyPr>
          <a:lstStyle>
            <a:lvl1pPr marL="0" indent="0">
              <a:lnSpc>
                <a:spcPct val="90000"/>
              </a:lnSpc>
              <a:spcBef>
                <a:spcPts val="0"/>
              </a:spcBef>
              <a:buFontTx/>
              <a:buNone/>
              <a:defRPr sz="6000" b="0" spc="0" baseline="0">
                <a:solidFill>
                  <a:schemeClr val="tx1"/>
                </a:solidFill>
                <a:latin typeface="+mn-lt"/>
              </a:defRPr>
            </a:lvl1pPr>
            <a:lvl2pPr marL="228600">
              <a:spcBef>
                <a:spcPts val="1200"/>
              </a:spcBef>
              <a:defRPr/>
            </a:lvl2pPr>
            <a:lvl3pPr marL="457200">
              <a:defRPr/>
            </a:lvl3pPr>
            <a:lvl4pPr marL="685800">
              <a:defRPr/>
            </a:lvl4pPr>
            <a:lvl5pPr marL="914400">
              <a:defRPr/>
            </a:lvl5pPr>
            <a:lvl6pPr marL="1143000">
              <a:defRPr/>
            </a:lvl6pPr>
            <a:lvl7pPr marL="1371600">
              <a:defRPr/>
            </a:lvl7pPr>
            <a:lvl8pPr marL="1600200">
              <a:defRPr/>
            </a:lvl8pPr>
            <a:lvl9pPr marL="182880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9573142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60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and One Pictur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6858000"/>
          </a:xfrm>
          <a:solidFill>
            <a:srgbClr val="F2F2F2"/>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6" name="Slide Number Placeholder 4">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3064184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and Two Pictur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3429000"/>
          </a:xfrm>
          <a:solidFill>
            <a:srgbClr val="F2F2F2"/>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7" name="Picture Placeholder 4">
            <a:extLst>
              <a:ext uri="{FF2B5EF4-FFF2-40B4-BE49-F238E27FC236}">
                <a16:creationId xmlns:a16="http://schemas.microsoft.com/office/drawing/2014/main" id="{A613A27A-887F-7D4B-BD42-C5EF05F12448}"/>
              </a:ext>
            </a:extLst>
          </p:cNvPr>
          <p:cNvSpPr>
            <a:spLocks noGrp="1"/>
          </p:cNvSpPr>
          <p:nvPr>
            <p:ph type="pic" sz="quarter" idx="14"/>
          </p:nvPr>
        </p:nvSpPr>
        <p:spPr>
          <a:xfrm>
            <a:off x="6096000" y="3429000"/>
            <a:ext cx="6096000" cy="3429000"/>
          </a:xfrm>
          <a:solidFill>
            <a:srgbClr val="D9D9D9"/>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6" name="Slide Number Placeholder 5">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724134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and Three Pictur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3429000"/>
          </a:xfrm>
          <a:solidFill>
            <a:srgbClr val="F2F2F2"/>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7" name="Picture Placeholder 4">
            <a:extLst>
              <a:ext uri="{FF2B5EF4-FFF2-40B4-BE49-F238E27FC236}">
                <a16:creationId xmlns:a16="http://schemas.microsoft.com/office/drawing/2014/main" id="{A613A27A-887F-7D4B-BD42-C5EF05F12448}"/>
              </a:ext>
            </a:extLst>
          </p:cNvPr>
          <p:cNvSpPr>
            <a:spLocks noGrp="1"/>
          </p:cNvSpPr>
          <p:nvPr>
            <p:ph type="pic" sz="quarter" idx="14"/>
          </p:nvPr>
        </p:nvSpPr>
        <p:spPr>
          <a:xfrm>
            <a:off x="6096000" y="3429000"/>
            <a:ext cx="3044952" cy="3429000"/>
          </a:xfrm>
          <a:solidFill>
            <a:srgbClr val="D9D9D9"/>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8" name="Picture Placeholder 5">
            <a:extLst>
              <a:ext uri="{FF2B5EF4-FFF2-40B4-BE49-F238E27FC236}">
                <a16:creationId xmlns:a16="http://schemas.microsoft.com/office/drawing/2014/main" id="{C2AB3B13-24B5-EA40-92B2-665869E4657A}"/>
              </a:ext>
            </a:extLst>
          </p:cNvPr>
          <p:cNvSpPr>
            <a:spLocks noGrp="1"/>
          </p:cNvSpPr>
          <p:nvPr>
            <p:ph type="pic" sz="quarter" idx="15"/>
          </p:nvPr>
        </p:nvSpPr>
        <p:spPr>
          <a:xfrm>
            <a:off x="9140952" y="3429000"/>
            <a:ext cx="3051048" cy="3429000"/>
          </a:xfrm>
          <a:solidFill>
            <a:srgbClr val="BFBFBF"/>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6" name="Slide Number Placeholder 6">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880044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and Four Pictur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5428488" cy="914400"/>
          </a:xfrm>
        </p:spPr>
        <p:txBody>
          <a:bodyPr/>
          <a:lstStyle>
            <a:lvl1pPr>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554480"/>
            <a:ext cx="5428488" cy="457200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3">
            <a:extLst>
              <a:ext uri="{FF2B5EF4-FFF2-40B4-BE49-F238E27FC236}">
                <a16:creationId xmlns:a16="http://schemas.microsoft.com/office/drawing/2014/main" id="{FB768959-B468-B74C-99C1-89889E5B1ED7}"/>
              </a:ext>
            </a:extLst>
          </p:cNvPr>
          <p:cNvSpPr>
            <a:spLocks noGrp="1"/>
          </p:cNvSpPr>
          <p:nvPr>
            <p:ph type="pic" sz="quarter" idx="13"/>
          </p:nvPr>
        </p:nvSpPr>
        <p:spPr>
          <a:xfrm>
            <a:off x="6096000" y="0"/>
            <a:ext cx="6096000" cy="3429000"/>
          </a:xfrm>
          <a:solidFill>
            <a:srgbClr val="F2F2F2"/>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7" name="Picture Placeholder 4">
            <a:extLst>
              <a:ext uri="{FF2B5EF4-FFF2-40B4-BE49-F238E27FC236}">
                <a16:creationId xmlns:a16="http://schemas.microsoft.com/office/drawing/2014/main" id="{A613A27A-887F-7D4B-BD42-C5EF05F12448}"/>
              </a:ext>
            </a:extLst>
          </p:cNvPr>
          <p:cNvSpPr>
            <a:spLocks noGrp="1"/>
          </p:cNvSpPr>
          <p:nvPr>
            <p:ph type="pic" sz="quarter" idx="14"/>
          </p:nvPr>
        </p:nvSpPr>
        <p:spPr>
          <a:xfrm>
            <a:off x="6096000" y="3429000"/>
            <a:ext cx="3044952" cy="3429000"/>
          </a:xfrm>
          <a:solidFill>
            <a:srgbClr val="D9D9D9"/>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8" name="Picture Placeholder 5">
            <a:extLst>
              <a:ext uri="{FF2B5EF4-FFF2-40B4-BE49-F238E27FC236}">
                <a16:creationId xmlns:a16="http://schemas.microsoft.com/office/drawing/2014/main" id="{C2AB3B13-24B5-EA40-92B2-665869E4657A}"/>
              </a:ext>
            </a:extLst>
          </p:cNvPr>
          <p:cNvSpPr>
            <a:spLocks noGrp="1"/>
          </p:cNvSpPr>
          <p:nvPr>
            <p:ph type="pic" sz="quarter" idx="15"/>
          </p:nvPr>
        </p:nvSpPr>
        <p:spPr>
          <a:xfrm>
            <a:off x="9140952" y="3429000"/>
            <a:ext cx="3051048" cy="1719072"/>
          </a:xfrm>
          <a:solidFill>
            <a:srgbClr val="BFBFBF"/>
          </a:solidFill>
        </p:spPr>
        <p:txBody>
          <a:bodyPr anchor="ctr" anchorCtr="0">
            <a:normAutofit/>
          </a:bodyPr>
          <a:lstStyle>
            <a:lvl1pPr marL="0" indent="0" algn="ctr">
              <a:buFontTx/>
              <a:buNone/>
              <a:defRPr sz="1200"/>
            </a:lvl1pPr>
          </a:lstStyle>
          <a:p>
            <a:r>
              <a:rPr lang="en-US" dirty="0"/>
              <a:t>Click icon to add picture</a:t>
            </a:r>
          </a:p>
        </p:txBody>
      </p:sp>
      <p:sp>
        <p:nvSpPr>
          <p:cNvPr id="9" name="Picture Placeholder 6">
            <a:extLst>
              <a:ext uri="{FF2B5EF4-FFF2-40B4-BE49-F238E27FC236}">
                <a16:creationId xmlns:a16="http://schemas.microsoft.com/office/drawing/2014/main" id="{A26BC3F3-33EB-F346-B70E-DE269C6819EE}"/>
              </a:ext>
            </a:extLst>
          </p:cNvPr>
          <p:cNvSpPr>
            <a:spLocks noGrp="1"/>
          </p:cNvSpPr>
          <p:nvPr>
            <p:ph type="pic" sz="quarter" idx="16"/>
          </p:nvPr>
        </p:nvSpPr>
        <p:spPr>
          <a:xfrm>
            <a:off x="9140952" y="5148072"/>
            <a:ext cx="3051048" cy="1709928"/>
          </a:xfrm>
          <a:solidFill>
            <a:srgbClr val="F2F2F2"/>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6" name="Slide Number Placeholder 7">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3402688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Pictures an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60480" cy="914400"/>
          </a:xfrm>
        </p:spPr>
        <p:txBody>
          <a:bodyPr/>
          <a:lstStyle/>
          <a:p>
            <a:r>
              <a:rPr lang="en-US" dirty="0"/>
              <a:t>[Slide title]</a:t>
            </a:r>
          </a:p>
        </p:txBody>
      </p:sp>
      <p:sp>
        <p:nvSpPr>
          <p:cNvPr id="9" name="Picture Placeholder 2">
            <a:extLst>
              <a:ext uri="{FF2B5EF4-FFF2-40B4-BE49-F238E27FC236}">
                <a16:creationId xmlns:a16="http://schemas.microsoft.com/office/drawing/2014/main" id="{6B9E9C5D-8364-0D47-AF90-417652D3C169}"/>
              </a:ext>
            </a:extLst>
          </p:cNvPr>
          <p:cNvSpPr>
            <a:spLocks noGrp="1"/>
          </p:cNvSpPr>
          <p:nvPr>
            <p:ph type="pic" sz="quarter" idx="16"/>
          </p:nvPr>
        </p:nvSpPr>
        <p:spPr>
          <a:xfrm>
            <a:off x="365126" y="1552575"/>
            <a:ext cx="2642616" cy="1737358"/>
          </a:xfrm>
          <a:solidFill>
            <a:srgbClr val="F2F2F2"/>
          </a:solidFill>
        </p:spPr>
        <p:txBody>
          <a:bodyPr anchor="ctr" anchorCtr="0">
            <a:normAutofit/>
          </a:bodyPr>
          <a:lstStyle>
            <a:lvl1pPr marL="0" indent="0" algn="ctr">
              <a:spcBef>
                <a:spcPts val="0"/>
              </a:spcBef>
              <a:buNone/>
              <a:defRPr sz="1200"/>
            </a:lvl1pPr>
          </a:lstStyle>
          <a:p>
            <a:r>
              <a:rPr lang="en-US" dirty="0"/>
              <a:t>Click icon to add picture</a:t>
            </a:r>
          </a:p>
        </p:txBody>
      </p:sp>
      <p:sp>
        <p:nvSpPr>
          <p:cNvPr id="17" name="Text Placeholder 3">
            <a:extLst>
              <a:ext uri="{FF2B5EF4-FFF2-40B4-BE49-F238E27FC236}">
                <a16:creationId xmlns:a16="http://schemas.microsoft.com/office/drawing/2014/main" id="{D8A87F8F-2D9A-B243-A5FB-6E555C2704C5}"/>
              </a:ext>
            </a:extLst>
          </p:cNvPr>
          <p:cNvSpPr>
            <a:spLocks noGrp="1"/>
          </p:cNvSpPr>
          <p:nvPr>
            <p:ph type="body" sz="quarter" idx="17"/>
          </p:nvPr>
        </p:nvSpPr>
        <p:spPr>
          <a:xfrm>
            <a:off x="36576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Picture Placeholder 4">
            <a:extLst>
              <a:ext uri="{FF2B5EF4-FFF2-40B4-BE49-F238E27FC236}">
                <a16:creationId xmlns:a16="http://schemas.microsoft.com/office/drawing/2014/main" id="{5797D6E4-4FD3-FB41-AC2F-B0BC44660939}"/>
              </a:ext>
            </a:extLst>
          </p:cNvPr>
          <p:cNvSpPr>
            <a:spLocks noGrp="1"/>
          </p:cNvSpPr>
          <p:nvPr>
            <p:ph type="pic" sz="quarter" idx="18"/>
          </p:nvPr>
        </p:nvSpPr>
        <p:spPr>
          <a:xfrm>
            <a:off x="3301999" y="1552575"/>
            <a:ext cx="2642616" cy="1737358"/>
          </a:xfrm>
          <a:solidFill>
            <a:srgbClr val="F2F2F2"/>
          </a:solidFill>
        </p:spPr>
        <p:txBody>
          <a:bodyPr anchor="ctr" anchorCtr="0">
            <a:normAutofit/>
          </a:bodyPr>
          <a:lstStyle>
            <a:lvl1pPr marL="0" indent="0" algn="ctr">
              <a:spcBef>
                <a:spcPts val="0"/>
              </a:spcBef>
              <a:buNone/>
              <a:defRPr sz="1200"/>
            </a:lvl1pPr>
          </a:lstStyle>
          <a:p>
            <a:r>
              <a:rPr lang="en-US" dirty="0"/>
              <a:t>Click icon to add picture</a:t>
            </a:r>
          </a:p>
        </p:txBody>
      </p:sp>
      <p:sp>
        <p:nvSpPr>
          <p:cNvPr id="25" name="Text Placeholder 5">
            <a:extLst>
              <a:ext uri="{FF2B5EF4-FFF2-40B4-BE49-F238E27FC236}">
                <a16:creationId xmlns:a16="http://schemas.microsoft.com/office/drawing/2014/main" id="{A8504504-7E85-584D-A20B-448D0D56BBE5}"/>
              </a:ext>
            </a:extLst>
          </p:cNvPr>
          <p:cNvSpPr>
            <a:spLocks noGrp="1"/>
          </p:cNvSpPr>
          <p:nvPr>
            <p:ph type="body" sz="quarter" idx="21"/>
          </p:nvPr>
        </p:nvSpPr>
        <p:spPr>
          <a:xfrm>
            <a:off x="330200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6">
            <a:extLst>
              <a:ext uri="{FF2B5EF4-FFF2-40B4-BE49-F238E27FC236}">
                <a16:creationId xmlns:a16="http://schemas.microsoft.com/office/drawing/2014/main" id="{8B42205D-9591-3C43-8A71-9811FC49A762}"/>
              </a:ext>
            </a:extLst>
          </p:cNvPr>
          <p:cNvSpPr>
            <a:spLocks noGrp="1"/>
          </p:cNvSpPr>
          <p:nvPr>
            <p:ph type="pic" sz="quarter" idx="19"/>
          </p:nvPr>
        </p:nvSpPr>
        <p:spPr>
          <a:xfrm>
            <a:off x="6248400" y="1552575"/>
            <a:ext cx="2642616" cy="1737358"/>
          </a:xfrm>
          <a:solidFill>
            <a:srgbClr val="F2F2F2"/>
          </a:solidFill>
        </p:spPr>
        <p:txBody>
          <a:bodyPr anchor="ctr" anchorCtr="0">
            <a:normAutofit/>
          </a:bodyPr>
          <a:lstStyle>
            <a:lvl1pPr marL="0" indent="0" algn="ctr">
              <a:spcBef>
                <a:spcPts val="0"/>
              </a:spcBef>
              <a:buNone/>
              <a:defRPr sz="1200"/>
            </a:lvl1pPr>
          </a:lstStyle>
          <a:p>
            <a:r>
              <a:rPr lang="en-US" dirty="0"/>
              <a:t>Click icon to add picture</a:t>
            </a:r>
          </a:p>
        </p:txBody>
      </p:sp>
      <p:sp>
        <p:nvSpPr>
          <p:cNvPr id="27" name="Text Placeholder 7">
            <a:extLst>
              <a:ext uri="{FF2B5EF4-FFF2-40B4-BE49-F238E27FC236}">
                <a16:creationId xmlns:a16="http://schemas.microsoft.com/office/drawing/2014/main" id="{0BC915BB-BDF2-BD44-8C3A-2C34D2A9A632}"/>
              </a:ext>
            </a:extLst>
          </p:cNvPr>
          <p:cNvSpPr>
            <a:spLocks noGrp="1"/>
          </p:cNvSpPr>
          <p:nvPr>
            <p:ph type="body" sz="quarter" idx="22"/>
          </p:nvPr>
        </p:nvSpPr>
        <p:spPr>
          <a:xfrm>
            <a:off x="624840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Picture Placeholder 8">
            <a:extLst>
              <a:ext uri="{FF2B5EF4-FFF2-40B4-BE49-F238E27FC236}">
                <a16:creationId xmlns:a16="http://schemas.microsoft.com/office/drawing/2014/main" id="{DD93C7F7-3C80-DA48-9BC2-95DD73DF8782}"/>
              </a:ext>
            </a:extLst>
          </p:cNvPr>
          <p:cNvSpPr>
            <a:spLocks noGrp="1"/>
          </p:cNvSpPr>
          <p:nvPr>
            <p:ph type="pic" sz="quarter" idx="20"/>
          </p:nvPr>
        </p:nvSpPr>
        <p:spPr>
          <a:xfrm>
            <a:off x="9183624" y="1552575"/>
            <a:ext cx="2642616" cy="1737358"/>
          </a:xfrm>
          <a:solidFill>
            <a:srgbClr val="F2F2F2"/>
          </a:solidFill>
        </p:spPr>
        <p:txBody>
          <a:bodyPr anchor="ctr" anchorCtr="0">
            <a:normAutofit/>
          </a:bodyPr>
          <a:lstStyle>
            <a:lvl1pPr marL="0" indent="0" algn="ctr">
              <a:spcBef>
                <a:spcPts val="0"/>
              </a:spcBef>
              <a:buNone/>
              <a:defRPr sz="1200"/>
            </a:lvl1pPr>
          </a:lstStyle>
          <a:p>
            <a:r>
              <a:rPr lang="en-US" dirty="0"/>
              <a:t>Click icon to add picture</a:t>
            </a:r>
          </a:p>
        </p:txBody>
      </p:sp>
      <p:sp>
        <p:nvSpPr>
          <p:cNvPr id="29" name="Text Placeholder 9">
            <a:extLst>
              <a:ext uri="{FF2B5EF4-FFF2-40B4-BE49-F238E27FC236}">
                <a16:creationId xmlns:a16="http://schemas.microsoft.com/office/drawing/2014/main" id="{0A585D99-3BCE-844A-8969-7E2EFD217B54}"/>
              </a:ext>
            </a:extLst>
          </p:cNvPr>
          <p:cNvSpPr>
            <a:spLocks noGrp="1"/>
          </p:cNvSpPr>
          <p:nvPr>
            <p:ph type="body" sz="quarter" idx="23"/>
          </p:nvPr>
        </p:nvSpPr>
        <p:spPr>
          <a:xfrm>
            <a:off x="9182100" y="3474720"/>
            <a:ext cx="2642616" cy="2651760"/>
          </a:xfrm>
        </p:spPr>
        <p:txBody>
          <a:bodyPr>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10">
            <a:extLst>
              <a:ext uri="{FF2B5EF4-FFF2-40B4-BE49-F238E27FC236}">
                <a16:creationId xmlns:a16="http://schemas.microsoft.com/office/drawing/2014/main" id="{941E30D8-4EF8-495A-8824-D819A46BF988}"/>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345364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0">
          <p15:clr>
            <a:srgbClr val="FBAE40"/>
          </p15:clr>
        </p15:guide>
        <p15:guide id="2" pos="1896">
          <p15:clr>
            <a:srgbClr val="FBAE40"/>
          </p15:clr>
        </p15:guide>
        <p15:guide id="3" pos="5600">
          <p15:clr>
            <a:srgbClr val="FBAE40"/>
          </p15:clr>
        </p15:guide>
        <p15:guide id="4" pos="5784">
          <p15:clr>
            <a:srgbClr val="FBAE40"/>
          </p15:clr>
        </p15:guide>
        <p15:guide id="5" pos="3744">
          <p15:clr>
            <a:srgbClr val="FBAE40"/>
          </p15:clr>
        </p15:guide>
        <p15:guide id="6" pos="3936">
          <p15:clr>
            <a:srgbClr val="FBAE40"/>
          </p15:clr>
        </p15:guide>
        <p15:guide id="7" orient="horz" pos="2074" userDrawn="1">
          <p15:clr>
            <a:srgbClr val="FBAE40"/>
          </p15:clr>
        </p15:guide>
        <p15:guide id="8" orient="horz" pos="218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nd One Picture">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3F25E4DD-7BAF-CF43-9AF5-512CC54177DD}"/>
              </a:ext>
            </a:extLst>
          </p:cNvPr>
          <p:cNvSpPr>
            <a:spLocks noGrp="1"/>
          </p:cNvSpPr>
          <p:nvPr>
            <p:ph type="pic" sz="quarter" idx="13"/>
          </p:nvPr>
        </p:nvSpPr>
        <p:spPr>
          <a:xfrm>
            <a:off x="0" y="0"/>
            <a:ext cx="12192000" cy="6858000"/>
          </a:xfrm>
          <a:solidFill>
            <a:srgbClr val="F2F2F2"/>
          </a:solidFill>
        </p:spPr>
        <p:txBody>
          <a:bodyPr anchor="ctr" anchorCtr="0">
            <a:normAutofit/>
          </a:bodyPr>
          <a:lstStyle>
            <a:lvl1pPr marL="0" indent="0" algn="ctr">
              <a:spcBef>
                <a:spcPts val="0"/>
              </a:spcBef>
              <a:buFontTx/>
              <a:buNone/>
              <a:defRPr sz="1200"/>
            </a:lvl1pPr>
          </a:lstStyle>
          <a:p>
            <a:r>
              <a:rPr lang="en-US" dirty="0"/>
              <a:t>Click icon to add picture</a:t>
            </a:r>
          </a:p>
        </p:txBody>
      </p:sp>
      <p:sp>
        <p:nvSpPr>
          <p:cNvPr id="2" name="Title 2">
            <a:extLst>
              <a:ext uri="{FF2B5EF4-FFF2-40B4-BE49-F238E27FC236}">
                <a16:creationId xmlns:a16="http://schemas.microsoft.com/office/drawing/2014/main" id="{ADC9E62E-3AF4-C24D-8B08-8A7FCB7EDCE0}"/>
              </a:ext>
            </a:extLst>
          </p:cNvPr>
          <p:cNvSpPr>
            <a:spLocks noGrp="1"/>
          </p:cNvSpPr>
          <p:nvPr>
            <p:ph type="title" hasCustomPrompt="1"/>
          </p:nvPr>
        </p:nvSpPr>
        <p:spPr/>
        <p:txBody>
          <a:bodyPr/>
          <a:lstStyle/>
          <a:p>
            <a:r>
              <a:rPr lang="en-US" dirty="0"/>
              <a:t>[Slide title]</a:t>
            </a:r>
          </a:p>
        </p:txBody>
      </p:sp>
      <p:sp>
        <p:nvSpPr>
          <p:cNvPr id="3" name="Slide Number Placeholder 3">
            <a:extLst>
              <a:ext uri="{FF2B5EF4-FFF2-40B4-BE49-F238E27FC236}">
                <a16:creationId xmlns:a16="http://schemas.microsoft.com/office/drawing/2014/main" id="{EE3D7CA1-C89E-E24C-B557-52A1F9AEBF30}"/>
              </a:ext>
            </a:extLst>
          </p:cNvPr>
          <p:cNvSpPr>
            <a:spLocks noGrp="1"/>
          </p:cNvSpPr>
          <p:nvPr>
            <p:ph type="sldNum" sz="quarter" idx="10"/>
          </p:nvPr>
        </p:nvSpPr>
        <p:spPr/>
        <p:txBody>
          <a:body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2953605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858165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Header - Amber">
    <p:bg>
      <p:bgPr>
        <a:gradFill>
          <a:gsLst>
            <a:gs pos="0">
              <a:srgbClr val="FFFBF4"/>
            </a:gs>
            <a:gs pos="100000">
              <a:srgbClr val="FFECCD"/>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383177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Header - Peach">
    <p:bg>
      <p:bgPr>
        <a:gradFill>
          <a:gsLst>
            <a:gs pos="0">
              <a:srgbClr val="FFF7F3"/>
            </a:gs>
            <a:gs pos="100000">
              <a:srgbClr val="FEDCCA"/>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851908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Header - Olive">
    <p:bg>
      <p:bgPr>
        <a:gradFill>
          <a:gsLst>
            <a:gs pos="0">
              <a:srgbClr val="FAF6F3"/>
            </a:gs>
            <a:gs pos="100000">
              <a:srgbClr val="EAD5C9"/>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371277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Header - Almond">
    <p:bg>
      <p:bgPr>
        <a:gradFill>
          <a:gsLst>
            <a:gs pos="0">
              <a:srgbClr val="F8F3F1"/>
            </a:gs>
            <a:gs pos="100000">
              <a:srgbClr val="DFCBC3"/>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074644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Header - Sienna">
    <p:bg>
      <p:bgPr>
        <a:gradFill>
          <a:gsLst>
            <a:gs pos="0">
              <a:srgbClr val="F5F0F0"/>
            </a:gs>
            <a:gs pos="100000">
              <a:srgbClr val="DAC5C5"/>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108406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Header - Chocolate">
    <p:bg>
      <p:bgPr>
        <a:gradFill>
          <a:gsLst>
            <a:gs pos="0">
              <a:srgbClr val="F6F4F3"/>
            </a:gs>
            <a:gs pos="100000">
              <a:srgbClr val="D2CAC8"/>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067021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Header - Mint">
    <p:bg>
      <p:bgPr>
        <a:gradFill>
          <a:gsLst>
            <a:gs pos="0">
              <a:srgbClr val="F2FFF9"/>
            </a:gs>
            <a:gs pos="100000">
              <a:srgbClr val="C5FFE6"/>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265343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Header - Aqua">
    <p:bg>
      <p:bgPr>
        <a:gradFill>
          <a:gsLst>
            <a:gs pos="0">
              <a:srgbClr val="EFFCFE"/>
            </a:gs>
            <a:gs pos="100000">
              <a:srgbClr val="C0F2FB"/>
            </a:gs>
          </a:gsLst>
          <a:lin ang="5400000" scaled="1"/>
        </a:gra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659477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Header - Light Gray">
    <p:bg>
      <p:bgPr>
        <a:solidFill>
          <a:srgbClr val="EEE7E7"/>
        </a:solidFill>
        <a:effectLst/>
      </p:bgPr>
    </p:bg>
    <p:spTree>
      <p:nvGrpSpPr>
        <p:cNvPr id="1" name=""/>
        <p:cNvGrpSpPr/>
        <p:nvPr/>
      </p:nvGrpSpPr>
      <p:grpSpPr>
        <a:xfrm>
          <a:off x="0" y="0"/>
          <a:ext cx="0" cy="0"/>
          <a:chOff x="0" y="0"/>
          <a:chExt cx="0" cy="0"/>
        </a:xfrm>
      </p:grpSpPr>
      <p:sp>
        <p:nvSpPr>
          <p:cNvPr id="5" name="Subtitle 1">
            <a:extLst>
              <a:ext uri="{FF2B5EF4-FFF2-40B4-BE49-F238E27FC236}">
                <a16:creationId xmlns:a16="http://schemas.microsoft.com/office/drawing/2014/main" id="{3036AABB-FB6C-2340-8AFB-DFFA0E13AE08}"/>
              </a:ext>
            </a:extLst>
          </p:cNvPr>
          <p:cNvSpPr>
            <a:spLocks noGrp="1"/>
          </p:cNvSpPr>
          <p:nvPr>
            <p:ph type="subTitle" idx="1" hasCustomPrompt="1"/>
          </p:nvPr>
        </p:nvSpPr>
        <p:spPr>
          <a:xfrm>
            <a:off x="365758" y="365125"/>
            <a:ext cx="7539992" cy="914400"/>
          </a:xfrm>
        </p:spPr>
        <p:txBody>
          <a:bodyPr>
            <a:noAutofit/>
          </a:bodyPr>
          <a:lstStyle>
            <a:lvl1pPr marL="0" indent="0" algn="l">
              <a:lnSpc>
                <a:spcPct val="90000"/>
              </a:lnSpc>
              <a:spcBef>
                <a:spcPts val="0"/>
              </a:spcBef>
              <a:buNone/>
              <a:defRPr sz="3200" b="1">
                <a:latin typeface="+mj-lt"/>
              </a:defRPr>
            </a:lvl1pPr>
            <a:lvl2pPr marL="0" indent="0" algn="l">
              <a:lnSpc>
                <a:spcPct val="90000"/>
              </a:lnSpc>
              <a:spcBef>
                <a:spcPts val="0"/>
              </a:spcBef>
              <a:buNone/>
              <a:defRPr sz="3200" b="1">
                <a:latin typeface="+mj-lt"/>
              </a:defRPr>
            </a:lvl2pPr>
            <a:lvl3pPr marL="0" indent="0" algn="l">
              <a:lnSpc>
                <a:spcPct val="90000"/>
              </a:lnSpc>
              <a:spcBef>
                <a:spcPts val="0"/>
              </a:spcBef>
              <a:buNone/>
              <a:defRPr sz="3200" b="1">
                <a:latin typeface="+mj-lt"/>
              </a:defRPr>
            </a:lvl3pPr>
            <a:lvl4pPr marL="0" indent="0" algn="l">
              <a:lnSpc>
                <a:spcPct val="90000"/>
              </a:lnSpc>
              <a:spcBef>
                <a:spcPts val="0"/>
              </a:spcBef>
              <a:buNone/>
              <a:defRPr sz="3200" b="1">
                <a:latin typeface="+mj-lt"/>
              </a:defRPr>
            </a:lvl4pPr>
            <a:lvl5pPr marL="0" indent="0" algn="l">
              <a:lnSpc>
                <a:spcPct val="90000"/>
              </a:lnSpc>
              <a:spcBef>
                <a:spcPts val="0"/>
              </a:spcBef>
              <a:buNone/>
              <a:defRPr sz="3200" b="1">
                <a:latin typeface="+mj-lt"/>
              </a:defRPr>
            </a:lvl5pPr>
            <a:lvl6pPr marL="0" indent="0" algn="l">
              <a:lnSpc>
                <a:spcPct val="90000"/>
              </a:lnSpc>
              <a:spcBef>
                <a:spcPts val="0"/>
              </a:spcBef>
              <a:buNone/>
              <a:defRPr sz="3200" b="1">
                <a:latin typeface="+mj-lt"/>
              </a:defRPr>
            </a:lvl6pPr>
            <a:lvl7pPr marL="0" indent="0" algn="l">
              <a:lnSpc>
                <a:spcPct val="90000"/>
              </a:lnSpc>
              <a:spcBef>
                <a:spcPts val="0"/>
              </a:spcBef>
              <a:buNone/>
              <a:defRPr sz="3200" b="1">
                <a:latin typeface="+mj-lt"/>
              </a:defRPr>
            </a:lvl7pPr>
            <a:lvl8pPr marL="0" indent="0" algn="l">
              <a:lnSpc>
                <a:spcPct val="90000"/>
              </a:lnSpc>
              <a:spcBef>
                <a:spcPts val="0"/>
              </a:spcBef>
              <a:buNone/>
              <a:defRPr sz="3200" b="1">
                <a:latin typeface="+mj-lt"/>
              </a:defRPr>
            </a:lvl8pPr>
            <a:lvl9pPr marL="0" indent="0" algn="l">
              <a:lnSpc>
                <a:spcPct val="90000"/>
              </a:lnSpc>
              <a:spcBef>
                <a:spcPts val="0"/>
              </a:spcBef>
              <a:buNone/>
              <a:defRPr sz="3200" b="1">
                <a:latin typeface="+mj-lt"/>
              </a:defRPr>
            </a:lvl9pPr>
          </a:lstStyle>
          <a:p>
            <a:r>
              <a:rPr lang="en-US" dirty="0"/>
              <a:t>[Optional section subtitle/lead-in]</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125" y="1554480"/>
            <a:ext cx="7540371" cy="2743200"/>
          </a:xfrm>
        </p:spPr>
        <p:txBody>
          <a:bodyPr anchor="t" anchorCtr="0"/>
          <a:lstStyle>
            <a:lvl1pPr>
              <a:defRPr sz="6000" b="0" spc="0" baseline="0"/>
            </a:lvl1pPr>
          </a:lstStyle>
          <a:p>
            <a:r>
              <a:rPr lang="en-US" dirty="0"/>
              <a:t>[Section title]</a:t>
            </a:r>
          </a:p>
        </p:txBody>
      </p:sp>
      <p:sp>
        <p:nvSpPr>
          <p:cNvPr id="6" name="Slide Number Placeholder 3">
            <a:extLst>
              <a:ext uri="{FF2B5EF4-FFF2-40B4-BE49-F238E27FC236}">
                <a16:creationId xmlns:a16="http://schemas.microsoft.com/office/drawing/2014/main" id="{FDB1BE67-4AA2-4F98-8F15-39B4F53A1316}"/>
              </a:ext>
            </a:extLst>
          </p:cNvPr>
          <p:cNvSpPr>
            <a:spLocks noGrp="1"/>
          </p:cNvSpPr>
          <p:nvPr userDrawn="1">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3557130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98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D8B1-1581-4488-A1A4-886D01EEFD4F}"/>
              </a:ext>
            </a:extLst>
          </p:cNvPr>
          <p:cNvSpPr>
            <a:spLocks noGrp="1"/>
          </p:cNvSpPr>
          <p:nvPr>
            <p:ph type="title" hasCustomPrompt="1"/>
          </p:nvPr>
        </p:nvSpPr>
        <p:spPr/>
        <p:txBody>
          <a:bodyPr/>
          <a:lstStyle>
            <a:lvl1pPr>
              <a:defRPr/>
            </a:lvl1pPr>
          </a:lstStyle>
          <a:p>
            <a:r>
              <a:rPr lang="en-US" dirty="0"/>
              <a:t>[Slide title]</a:t>
            </a:r>
          </a:p>
        </p:txBody>
      </p:sp>
      <p:sp>
        <p:nvSpPr>
          <p:cNvPr id="5" name="Slide Number Placeholder 2">
            <a:extLst>
              <a:ext uri="{FF2B5EF4-FFF2-40B4-BE49-F238E27FC236}">
                <a16:creationId xmlns:a16="http://schemas.microsoft.com/office/drawing/2014/main" id="{6CF9CDAC-EC28-4BA6-9827-D58133E18874}"/>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1450968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45BF3E53-7A3D-40D5-AE68-3CE44909F1CF}"/>
              </a:ext>
            </a:extLst>
          </p:cNvPr>
          <p:cNvSpPr>
            <a:spLocks noGrp="1"/>
          </p:cNvSpPr>
          <p:nvPr>
            <p:ph type="sldNum" sz="quarter" idx="12"/>
          </p:nvPr>
        </p:nvSpPr>
        <p:spPr/>
        <p:txBody>
          <a:bodyPr/>
          <a:lstStyle/>
          <a:p>
            <a:fld id="{B58DE5F1-E0F9-4CCA-92B7-7A6FC4DFEE14}" type="slidenum">
              <a:rPr lang="en-US" smtClean="0"/>
              <a:t>‹#›</a:t>
            </a:fld>
            <a:endParaRPr lang="en-US" dirty="0"/>
          </a:p>
        </p:txBody>
      </p:sp>
    </p:spTree>
    <p:extLst>
      <p:ext uri="{BB962C8B-B14F-4D97-AF65-F5344CB8AC3E}">
        <p14:creationId xmlns:p14="http://schemas.microsoft.com/office/powerpoint/2010/main" val="3940990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4" name="Bristol Myers Squibb" descr="Bristol Myers Squibb">
            <a:extLst>
              <a:ext uri="{FF2B5EF4-FFF2-40B4-BE49-F238E27FC236}">
                <a16:creationId xmlns:a16="http://schemas.microsoft.com/office/drawing/2014/main" id="{B50985CD-7333-F343-85B8-C4893E81FC91}"/>
              </a:ext>
            </a:extLst>
          </p:cNvPr>
          <p:cNvPicPr>
            <a:picLocks noChangeAspect="1"/>
          </p:cNvPicPr>
          <p:nvPr userDrawn="1"/>
        </p:nvPicPr>
        <p:blipFill>
          <a:blip r:embed="rId2"/>
          <a:stretch>
            <a:fillRect/>
          </a:stretch>
        </p:blipFill>
        <p:spPr bwMode="black">
          <a:xfrm>
            <a:off x="1645920" y="2194560"/>
            <a:ext cx="9056906" cy="2286000"/>
          </a:xfrm>
          <a:prstGeom prst="rect">
            <a:avLst/>
          </a:prstGeom>
          <a:noFill/>
        </p:spPr>
      </p:pic>
    </p:spTree>
    <p:extLst>
      <p:ext uri="{BB962C8B-B14F-4D97-AF65-F5344CB8AC3E}">
        <p14:creationId xmlns:p14="http://schemas.microsoft.com/office/powerpoint/2010/main" val="3444456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pic>
        <p:nvPicPr>
          <p:cNvPr id="7" name="Bristol Myers Squibb" descr="Bristol Myers Squibb">
            <a:extLst>
              <a:ext uri="{FF2B5EF4-FFF2-40B4-BE49-F238E27FC236}">
                <a16:creationId xmlns:a16="http://schemas.microsoft.com/office/drawing/2014/main" id="{91000A19-9025-2C4A-9321-625720905BF5}"/>
              </a:ext>
            </a:extLst>
          </p:cNvPr>
          <p:cNvPicPr>
            <a:picLocks noChangeAspect="1"/>
          </p:cNvPicPr>
          <p:nvPr userDrawn="1"/>
        </p:nvPicPr>
        <p:blipFill>
          <a:blip r:embed="rId2"/>
          <a:stretch>
            <a:fillRect/>
          </a:stretch>
        </p:blipFill>
        <p:spPr bwMode="black">
          <a:xfrm>
            <a:off x="150688" y="5913096"/>
            <a:ext cx="3260484" cy="822960"/>
          </a:xfrm>
          <a:prstGeom prst="rect">
            <a:avLst/>
          </a:prstGeom>
          <a:noFill/>
        </p:spPr>
      </p:pic>
      <p:sp>
        <p:nvSpPr>
          <p:cNvPr id="8" name="Thank You">
            <a:extLst>
              <a:ext uri="{FF2B5EF4-FFF2-40B4-BE49-F238E27FC236}">
                <a16:creationId xmlns:a16="http://schemas.microsoft.com/office/drawing/2014/main" id="{2DF7BC51-D766-5D44-8D23-2A1F0BF208B3}"/>
              </a:ext>
            </a:extLst>
          </p:cNvPr>
          <p:cNvSpPr txBox="1">
            <a:spLocks/>
          </p:cNvSpPr>
          <p:nvPr userDrawn="1"/>
        </p:nvSpPr>
        <p:spPr>
          <a:xfrm>
            <a:off x="365760" y="1554480"/>
            <a:ext cx="7543165" cy="18288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6000" b="0" kern="1200" spc="0" baseline="0">
                <a:solidFill>
                  <a:schemeClr val="tx1"/>
                </a:solidFill>
                <a:latin typeface="+mj-lt"/>
                <a:ea typeface="+mj-ea"/>
                <a:cs typeface="+mj-cs"/>
              </a:defRPr>
            </a:lvl1pPr>
          </a:lstStyle>
          <a:p>
            <a:r>
              <a:rPr lang="en-US" dirty="0"/>
              <a:t>Thank you</a:t>
            </a:r>
          </a:p>
        </p:txBody>
      </p:sp>
      <p:sp>
        <p:nvSpPr>
          <p:cNvPr id="5" name="Text Placeholder 1">
            <a:extLst>
              <a:ext uri="{FF2B5EF4-FFF2-40B4-BE49-F238E27FC236}">
                <a16:creationId xmlns:a16="http://schemas.microsoft.com/office/drawing/2014/main" id="{03D75AF2-C99D-9247-B7AF-B859D95DB41A}"/>
              </a:ext>
            </a:extLst>
          </p:cNvPr>
          <p:cNvSpPr>
            <a:spLocks noGrp="1"/>
          </p:cNvSpPr>
          <p:nvPr>
            <p:ph type="body" sz="quarter" idx="10" hasCustomPrompt="1"/>
          </p:nvPr>
        </p:nvSpPr>
        <p:spPr>
          <a:xfrm>
            <a:off x="365760" y="4434840"/>
            <a:ext cx="7543165" cy="1371600"/>
          </a:xfrm>
        </p:spPr>
        <p:txBody>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[Optional contact information]</a:t>
            </a:r>
          </a:p>
        </p:txBody>
      </p:sp>
    </p:spTree>
    <p:extLst>
      <p:ext uri="{BB962C8B-B14F-4D97-AF65-F5344CB8AC3E}">
        <p14:creationId xmlns:p14="http://schemas.microsoft.com/office/powerpoint/2010/main" val="624175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98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GBO Template Tit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3251346" y="1575162"/>
            <a:ext cx="7708928" cy="1646605"/>
          </a:xfrm>
        </p:spPr>
        <p:txBody>
          <a:bodyPr/>
          <a:lstStyle>
            <a:lvl1pPr marL="0" indent="0">
              <a:buNone/>
              <a:defRPr sz="5400" b="1">
                <a:latin typeface="Century Gothic" panose="020B0502020202020204" pitchFamily="34" charset="0"/>
              </a:defRPr>
            </a:lvl1pPr>
          </a:lstStyle>
          <a:p>
            <a:pPr lvl="0"/>
            <a:r>
              <a:rPr lang="en-US" sz="5400" b="1" dirty="0"/>
              <a:t>Remote Group Detail Distinguish Approach</a:t>
            </a:r>
            <a:endParaRPr lang="en-US" altLang="ja-JP" dirty="0"/>
          </a:p>
        </p:txBody>
      </p:sp>
      <p:sp>
        <p:nvSpPr>
          <p:cNvPr id="9" name="Text Placeholder 7"/>
          <p:cNvSpPr>
            <a:spLocks noGrp="1"/>
          </p:cNvSpPr>
          <p:nvPr>
            <p:ph type="body" sz="quarter" idx="11" hasCustomPrompt="1"/>
          </p:nvPr>
        </p:nvSpPr>
        <p:spPr>
          <a:xfrm>
            <a:off x="3241021" y="3339604"/>
            <a:ext cx="8846595" cy="646331"/>
          </a:xfrm>
        </p:spPr>
        <p:txBody>
          <a:bodyPr/>
          <a:lstStyle>
            <a:lvl1pPr marL="0" indent="0">
              <a:buNone/>
              <a:defRPr sz="3600" b="0" baseline="0">
                <a:latin typeface="Century Gothic" panose="020B0502020202020204" pitchFamily="34" charset="0"/>
              </a:defRPr>
            </a:lvl1pPr>
          </a:lstStyle>
          <a:p>
            <a:pPr lvl="0"/>
            <a:r>
              <a:rPr lang="en-US" dirty="0"/>
              <a:t>Subtitle: Click to edit Master text styles</a:t>
            </a:r>
          </a:p>
        </p:txBody>
      </p:sp>
      <p:sp>
        <p:nvSpPr>
          <p:cNvPr id="10" name="Text Placeholder 7"/>
          <p:cNvSpPr>
            <a:spLocks noGrp="1"/>
          </p:cNvSpPr>
          <p:nvPr>
            <p:ph type="body" sz="quarter" idx="12" hasCustomPrompt="1"/>
          </p:nvPr>
        </p:nvSpPr>
        <p:spPr>
          <a:xfrm>
            <a:off x="3251346" y="4278323"/>
            <a:ext cx="7708928" cy="523220"/>
          </a:xfrm>
        </p:spPr>
        <p:txBody>
          <a:bodyPr/>
          <a:lstStyle>
            <a:lvl1pPr marL="0" indent="0">
              <a:buNone/>
              <a:defRPr sz="2800" b="0">
                <a:solidFill>
                  <a:srgbClr val="F66F00"/>
                </a:solidFill>
                <a:latin typeface="+mj-lt"/>
              </a:defRPr>
            </a:lvl1pPr>
          </a:lstStyle>
          <a:p>
            <a:pPr lvl="0"/>
            <a:r>
              <a:rPr lang="en-US" dirty="0"/>
              <a:t>Date: Click to edit Master text styles</a:t>
            </a:r>
          </a:p>
        </p:txBody>
      </p:sp>
      <p:sp>
        <p:nvSpPr>
          <p:cNvPr id="11" name="Slide Number Placeholder 3">
            <a:extLst>
              <a:ext uri="{FF2B5EF4-FFF2-40B4-BE49-F238E27FC236}">
                <a16:creationId xmlns:a16="http://schemas.microsoft.com/office/drawing/2014/main" id="{C298E450-4001-45D4-BAAA-81B2CF2D15E5}"/>
              </a:ext>
            </a:extLst>
          </p:cNvPr>
          <p:cNvSpPr>
            <a:spLocks noGrp="1"/>
          </p:cNvSpPr>
          <p:nvPr>
            <p:ph type="sldNum" sz="quarter" idx="4"/>
          </p:nvPr>
        </p:nvSpPr>
        <p:spPr>
          <a:xfrm>
            <a:off x="11506200" y="6429375"/>
            <a:ext cx="320040" cy="228600"/>
          </a:xfrm>
          <a:prstGeom prst="rect">
            <a:avLst/>
          </a:prstGeom>
        </p:spPr>
        <p:txBody>
          <a:bodyPr vert="horz" wrap="none" lIns="0" tIns="0" rIns="0" bIns="0" rtlCol="0" anchor="b" anchorCtr="0"/>
          <a:lstStyle>
            <a:lvl1pPr algn="r">
              <a:defRPr sz="1000" b="1">
                <a:solidFill>
                  <a:schemeClr val="tx1"/>
                </a:solidFill>
              </a:defRPr>
            </a:lvl1p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1806084800"/>
      </p:ext>
    </p:extLst>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60480" cy="914400"/>
          </a:xfrm>
          <a:prstGeom prst="rect">
            <a:avLst/>
          </a:prstGeom>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554480"/>
            <a:ext cx="11460480" cy="4572000"/>
          </a:xfrm>
          <a:prstGeom prst="rect">
            <a:avLst/>
          </a:prstGeom>
        </p:spPr>
        <p:txBody>
          <a:bodyPr vert="horz" lIns="0" tIns="0" rIns="0" bIns="0" spcCol="30175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Line">
            <a:extLst>
              <a:ext uri="{FF2B5EF4-FFF2-40B4-BE49-F238E27FC236}">
                <a16:creationId xmlns:a16="http://schemas.microsoft.com/office/drawing/2014/main" id="{B202EDA2-849C-5746-B520-4E5047A70604}"/>
              </a:ext>
              <a:ext uri="{C183D7F6-B498-43B3-948B-1728B52AA6E4}">
                <adec:decorative xmlns:adec="http://schemas.microsoft.com/office/drawing/2017/decorative" val="1"/>
              </a:ext>
            </a:extLst>
          </p:cNvPr>
          <p:cNvCxnSpPr>
            <a:cxnSpLocks/>
          </p:cNvCxnSpPr>
          <p:nvPr userDrawn="1"/>
        </p:nvCxnSpPr>
        <p:spPr bwMode="black">
          <a:xfrm>
            <a:off x="365760" y="6355080"/>
            <a:ext cx="11460480" cy="0"/>
          </a:xfrm>
          <a:prstGeom prst="line">
            <a:avLst/>
          </a:prstGeom>
          <a:ln w="6350" cap="rnd">
            <a:solidFill>
              <a:schemeClr val="tx1"/>
            </a:solidFill>
          </a:ln>
        </p:spPr>
        <p:style>
          <a:lnRef idx="1">
            <a:schemeClr val="accent1"/>
          </a:lnRef>
          <a:fillRef idx="0">
            <a:schemeClr val="accent1"/>
          </a:fillRef>
          <a:effectRef idx="0">
            <a:srgbClr val="000000"/>
          </a:effectRef>
          <a:fontRef idx="minor">
            <a:schemeClr val="lt1"/>
          </a:fontRef>
        </p:style>
      </p:cxnSp>
      <p:pic>
        <p:nvPicPr>
          <p:cNvPr id="5" name="Bristol Myers Squibb" descr="Bristol Myers Squibb">
            <a:extLst>
              <a:ext uri="{FF2B5EF4-FFF2-40B4-BE49-F238E27FC236}">
                <a16:creationId xmlns:a16="http://schemas.microsoft.com/office/drawing/2014/main" id="{B7697988-37C6-7C4A-AA57-C36971D11EEC}"/>
              </a:ext>
            </a:extLst>
          </p:cNvPr>
          <p:cNvPicPr>
            <a:picLocks noChangeAspect="1"/>
          </p:cNvPicPr>
          <p:nvPr userDrawn="1"/>
        </p:nvPicPr>
        <p:blipFill>
          <a:blip r:embed="rId42"/>
          <a:stretch>
            <a:fillRect/>
          </a:stretch>
        </p:blipFill>
        <p:spPr bwMode="black">
          <a:xfrm>
            <a:off x="258318" y="6355080"/>
            <a:ext cx="1627632" cy="410821"/>
          </a:xfrm>
          <a:prstGeom prst="rect">
            <a:avLst/>
          </a:prstGeom>
          <a:noFill/>
        </p:spPr>
      </p:pic>
      <p:sp>
        <p:nvSpPr>
          <p:cNvPr id="16" name="Disclaimer">
            <a:extLst>
              <a:ext uri="{FF2B5EF4-FFF2-40B4-BE49-F238E27FC236}">
                <a16:creationId xmlns:a16="http://schemas.microsoft.com/office/drawing/2014/main" id="{A785335B-16F9-6F4B-9AC7-614641E447A6}"/>
              </a:ext>
            </a:extLst>
          </p:cNvPr>
          <p:cNvSpPr txBox="1"/>
          <p:nvPr userDrawn="1"/>
        </p:nvSpPr>
        <p:spPr>
          <a:xfrm>
            <a:off x="8205216" y="6429375"/>
            <a:ext cx="3209544" cy="228600"/>
          </a:xfrm>
          <a:prstGeom prst="rect">
            <a:avLst/>
          </a:prstGeom>
          <a:noFill/>
        </p:spPr>
        <p:txBody>
          <a:bodyPr wrap="square" lIns="0" tIns="0" rIns="0" bIns="9144" rtlCol="0" anchor="b" anchorCtr="0">
            <a:noAutofit/>
          </a:bodyPr>
          <a:lstStyle/>
          <a:p>
            <a:pPr marL="0" indent="0" algn="r">
              <a:lnSpc>
                <a:spcPct val="100000"/>
              </a:lnSpc>
              <a:spcBef>
                <a:spcPts val="0"/>
              </a:spcBef>
              <a:buSzPct val="100000"/>
              <a:buFontTx/>
              <a:buNone/>
            </a:pPr>
            <a:r>
              <a:rPr lang="en-US" sz="800" b="0" dirty="0"/>
              <a:t>Highly Confidential</a:t>
            </a:r>
          </a:p>
        </p:txBody>
      </p:sp>
      <p:sp>
        <p:nvSpPr>
          <p:cNvPr id="6" name="Slide Number Placeholder 3">
            <a:extLst>
              <a:ext uri="{FF2B5EF4-FFF2-40B4-BE49-F238E27FC236}">
                <a16:creationId xmlns:a16="http://schemas.microsoft.com/office/drawing/2014/main" id="{79012A93-F35D-41B8-A960-2FAFDF3C47A5}"/>
              </a:ext>
            </a:extLst>
          </p:cNvPr>
          <p:cNvSpPr>
            <a:spLocks noGrp="1"/>
          </p:cNvSpPr>
          <p:nvPr userDrawn="1">
            <p:ph type="sldNum" sz="quarter" idx="4"/>
          </p:nvPr>
        </p:nvSpPr>
        <p:spPr>
          <a:xfrm>
            <a:off x="11506200" y="6429375"/>
            <a:ext cx="320040" cy="228600"/>
          </a:xfrm>
          <a:prstGeom prst="rect">
            <a:avLst/>
          </a:prstGeom>
        </p:spPr>
        <p:txBody>
          <a:bodyPr vert="horz" wrap="none" lIns="0" tIns="0" rIns="0" bIns="0" rtlCol="0" anchor="b" anchorCtr="0"/>
          <a:lstStyle>
            <a:lvl1pPr algn="r">
              <a:defRPr sz="1000" b="1">
                <a:solidFill>
                  <a:schemeClr val="tx1"/>
                </a:solidFill>
              </a:defRPr>
            </a:lvl1pPr>
          </a:lstStyle>
          <a:p>
            <a:fld id="{B58DE5F1-E0F9-4CCA-92B7-7A6FC4DFEE14}" type="slidenum">
              <a:rPr lang="en-US" smtClean="0"/>
              <a:pPr/>
              <a:t>‹#›</a:t>
            </a:fld>
            <a:endParaRPr lang="en-US" dirty="0"/>
          </a:p>
        </p:txBody>
      </p:sp>
    </p:spTree>
    <p:extLst>
      <p:ext uri="{BB962C8B-B14F-4D97-AF65-F5344CB8AC3E}">
        <p14:creationId xmlns:p14="http://schemas.microsoft.com/office/powerpoint/2010/main" val="842204006"/>
      </p:ext>
    </p:extLst>
  </p:cSld>
  <p:clrMap bg1="lt1" tx1="dk1" bg2="lt2" tx2="dk2" accent1="accent1" accent2="accent2" accent3="accent3" accent4="accent4" accent5="accent5" accent6="accent6" hlink="hlink" folHlink="folHlink"/>
  <p:sldLayoutIdLst>
    <p:sldLayoutId id="2147483649" r:id="rId1"/>
    <p:sldLayoutId id="2147483699" r:id="rId2"/>
    <p:sldLayoutId id="2147483662" r:id="rId3"/>
    <p:sldLayoutId id="2147483650" r:id="rId4"/>
    <p:sldLayoutId id="2147483652" r:id="rId5"/>
    <p:sldLayoutId id="2147483656" r:id="rId6"/>
    <p:sldLayoutId id="2147483657" r:id="rId7"/>
    <p:sldLayoutId id="2147483660" r:id="rId8"/>
    <p:sldLayoutId id="2147483661" r:id="rId9"/>
    <p:sldLayoutId id="2147483694" r:id="rId10"/>
    <p:sldLayoutId id="2147483703" r:id="rId11"/>
    <p:sldLayoutId id="2147483704" r:id="rId12"/>
    <p:sldLayoutId id="2147483705" r:id="rId13"/>
    <p:sldLayoutId id="2147483706" r:id="rId14"/>
    <p:sldLayoutId id="2147483707" r:id="rId15"/>
    <p:sldLayoutId id="2147483708" r:id="rId16"/>
    <p:sldLayoutId id="2147483702" r:id="rId17"/>
    <p:sldLayoutId id="2147483709" r:id="rId18"/>
    <p:sldLayoutId id="2147483710" r:id="rId19"/>
    <p:sldLayoutId id="2147483690" r:id="rId20"/>
    <p:sldLayoutId id="2147483691" r:id="rId21"/>
    <p:sldLayoutId id="2147483692" r:id="rId22"/>
    <p:sldLayoutId id="2147483693" r:id="rId23"/>
    <p:sldLayoutId id="2147483698" r:id="rId24"/>
    <p:sldLayoutId id="2147483695" r:id="rId25"/>
    <p:sldLayoutId id="2147483651" r:id="rId26"/>
    <p:sldLayoutId id="2147483682" r:id="rId27"/>
    <p:sldLayoutId id="2147483683" r:id="rId28"/>
    <p:sldLayoutId id="2147483684" r:id="rId29"/>
    <p:sldLayoutId id="2147483685" r:id="rId30"/>
    <p:sldLayoutId id="2147483686" r:id="rId31"/>
    <p:sldLayoutId id="2147483687" r:id="rId32"/>
    <p:sldLayoutId id="2147483688" r:id="rId33"/>
    <p:sldLayoutId id="2147483689" r:id="rId34"/>
    <p:sldLayoutId id="2147483700" r:id="rId35"/>
    <p:sldLayoutId id="2147483654" r:id="rId36"/>
    <p:sldLayoutId id="2147483655" r:id="rId37"/>
    <p:sldLayoutId id="2147483696" r:id="rId38"/>
    <p:sldLayoutId id="2147483697" r:id="rId39"/>
    <p:sldLayoutId id="2147483711" r:id="rId4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200"/>
        </a:spcBef>
        <a:buFont typeface="Trebuchet MS" panose="020B0603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2pPr>
      <a:lvl3pPr marL="6858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4pPr>
      <a:lvl5pPr marL="11430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5pPr>
      <a:lvl6pPr marL="13716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6pPr>
      <a:lvl7pPr marL="16002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7pPr>
      <a:lvl8pPr marL="18288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8pPr>
      <a:lvl9pPr marL="2057400" indent="-228600" algn="l" defTabSz="914400" rtl="0" eaLnBrk="1" latinLnBrk="0" hangingPunct="1">
        <a:lnSpc>
          <a:spcPct val="100000"/>
        </a:lnSpc>
        <a:spcBef>
          <a:spcPts val="400"/>
        </a:spcBef>
        <a:buFont typeface="Trebuchet MS" panose="020B0603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2000" kern="1200">
          <a:solidFill>
            <a:schemeClr val="tx1"/>
          </a:solidFill>
          <a:latin typeface="+mn-lt"/>
          <a:ea typeface="+mn-ea"/>
          <a:cs typeface="+mn-cs"/>
        </a:defRPr>
      </a:lvl1pPr>
      <a:lvl2pPr marL="457200" algn="l" defTabSz="914400" rtl="0" eaLnBrk="1" latinLnBrk="0" hangingPunct="1">
        <a:defRPr sz="2000" kern="1200">
          <a:solidFill>
            <a:schemeClr val="tx1"/>
          </a:solidFill>
          <a:latin typeface="+mn-lt"/>
          <a:ea typeface="+mn-ea"/>
          <a:cs typeface="+mn-cs"/>
        </a:defRPr>
      </a:lvl2pPr>
      <a:lvl3pPr marL="914400" algn="l" defTabSz="914400" rtl="0" eaLnBrk="1" latinLnBrk="0" hangingPunct="1">
        <a:defRPr sz="2000" kern="1200">
          <a:solidFill>
            <a:schemeClr val="tx1"/>
          </a:solidFill>
          <a:latin typeface="+mn-lt"/>
          <a:ea typeface="+mn-ea"/>
          <a:cs typeface="+mn-cs"/>
        </a:defRPr>
      </a:lvl3pPr>
      <a:lvl4pPr marL="1371600" algn="l" defTabSz="914400" rtl="0" eaLnBrk="1" latinLnBrk="0" hangingPunct="1">
        <a:defRPr sz="2000" kern="1200">
          <a:solidFill>
            <a:schemeClr val="tx1"/>
          </a:solidFill>
          <a:latin typeface="+mn-lt"/>
          <a:ea typeface="+mn-ea"/>
          <a:cs typeface="+mn-cs"/>
        </a:defRPr>
      </a:lvl4pPr>
      <a:lvl5pPr marL="1828800" algn="l" defTabSz="914400" rtl="0" eaLnBrk="1" latinLnBrk="0" hangingPunct="1">
        <a:defRPr sz="2000" kern="1200">
          <a:solidFill>
            <a:schemeClr val="tx1"/>
          </a:solidFill>
          <a:latin typeface="+mn-lt"/>
          <a:ea typeface="+mn-ea"/>
          <a:cs typeface="+mn-cs"/>
        </a:defRPr>
      </a:lvl5pPr>
      <a:lvl6pPr marL="2286000" algn="l" defTabSz="914400" rtl="0" eaLnBrk="1" latinLnBrk="0" hangingPunct="1">
        <a:defRPr sz="2000" kern="1200">
          <a:solidFill>
            <a:schemeClr val="tx1"/>
          </a:solidFill>
          <a:latin typeface="+mn-lt"/>
          <a:ea typeface="+mn-ea"/>
          <a:cs typeface="+mn-cs"/>
        </a:defRPr>
      </a:lvl6pPr>
      <a:lvl7pPr marL="2743200" algn="l" defTabSz="914400" rtl="0" eaLnBrk="1" latinLnBrk="0" hangingPunct="1">
        <a:defRPr sz="2000" kern="1200">
          <a:solidFill>
            <a:schemeClr val="tx1"/>
          </a:solidFill>
          <a:latin typeface="+mn-lt"/>
          <a:ea typeface="+mn-ea"/>
          <a:cs typeface="+mn-cs"/>
        </a:defRPr>
      </a:lvl7pPr>
      <a:lvl8pPr marL="3200400" algn="l" defTabSz="914400" rtl="0" eaLnBrk="1" latinLnBrk="0" hangingPunct="1">
        <a:defRPr sz="2000" kern="1200">
          <a:solidFill>
            <a:schemeClr val="tx1"/>
          </a:solidFill>
          <a:latin typeface="+mn-lt"/>
          <a:ea typeface="+mn-ea"/>
          <a:cs typeface="+mn-cs"/>
        </a:defRPr>
      </a:lvl8pPr>
      <a:lvl9pPr marL="3657600" algn="l" defTabSz="914400" rtl="0" eaLnBrk="1" latinLnBrk="0" hangingPunct="1">
        <a:defRPr sz="20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30" userDrawn="1">
          <p15:clr>
            <a:srgbClr val="F26B43"/>
          </p15:clr>
        </p15:guide>
        <p15:guide id="2" pos="230" userDrawn="1">
          <p15:clr>
            <a:srgbClr val="F26B43"/>
          </p15:clr>
        </p15:guide>
        <p15:guide id="3" pos="7450" userDrawn="1">
          <p15:clr>
            <a:srgbClr val="F26B43"/>
          </p15:clr>
        </p15:guide>
        <p15:guide id="5" orient="horz" pos="978" userDrawn="1">
          <p15:clr>
            <a:srgbClr val="F26B43"/>
          </p15:clr>
        </p15:guide>
        <p15:guide id="6" orient="horz" pos="38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6.xml"/><Relationship Id="rId4" Type="http://schemas.openxmlformats.org/officeDocument/2006/relationships/comments" Target="../comments/commen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34139" y="1549727"/>
            <a:ext cx="11123720" cy="769441"/>
          </a:xfrm>
        </p:spPr>
        <p:txBody>
          <a:bodyPr anchor="ctr"/>
          <a:lstStyle/>
          <a:p>
            <a:pPr algn="ctr"/>
            <a:r>
              <a:rPr lang="en-US" sz="4400" dirty="0"/>
              <a:t>Celgene Integration Batch 2 – Japan </a:t>
            </a:r>
          </a:p>
        </p:txBody>
      </p:sp>
      <p:sp>
        <p:nvSpPr>
          <p:cNvPr id="3" name="Text Placeholder 2"/>
          <p:cNvSpPr>
            <a:spLocks noGrp="1"/>
          </p:cNvSpPr>
          <p:nvPr>
            <p:ph type="body" sz="quarter" idx="11"/>
          </p:nvPr>
        </p:nvSpPr>
        <p:spPr>
          <a:xfrm>
            <a:off x="1672702" y="3321849"/>
            <a:ext cx="8846595" cy="1090353"/>
          </a:xfrm>
        </p:spPr>
        <p:txBody>
          <a:bodyPr/>
          <a:lstStyle/>
          <a:p>
            <a:pPr algn="ctr"/>
            <a:r>
              <a:rPr lang="en-US" sz="3200" dirty="0">
                <a:solidFill>
                  <a:schemeClr val="accent2">
                    <a:lumMod val="75000"/>
                  </a:schemeClr>
                </a:solidFill>
              </a:rPr>
              <a:t>Design Document</a:t>
            </a:r>
          </a:p>
        </p:txBody>
      </p:sp>
      <p:sp>
        <p:nvSpPr>
          <p:cNvPr id="5" name="Rectangle 4">
            <a:extLst>
              <a:ext uri="{FF2B5EF4-FFF2-40B4-BE49-F238E27FC236}">
                <a16:creationId xmlns:a16="http://schemas.microsoft.com/office/drawing/2014/main" id="{112F3ABB-87ED-4A68-86B3-296049248E95}"/>
              </a:ext>
            </a:extLst>
          </p:cNvPr>
          <p:cNvSpPr/>
          <p:nvPr/>
        </p:nvSpPr>
        <p:spPr>
          <a:xfrm>
            <a:off x="-2244" y="-5229"/>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6" name="Slide Number Placeholder 5">
            <a:extLst>
              <a:ext uri="{FF2B5EF4-FFF2-40B4-BE49-F238E27FC236}">
                <a16:creationId xmlns:a16="http://schemas.microsoft.com/office/drawing/2014/main" id="{3FFEEEFF-5B88-4C04-AEDA-4135CD6B335A}"/>
              </a:ext>
            </a:extLst>
          </p:cNvPr>
          <p:cNvSpPr>
            <a:spLocks noGrp="1"/>
          </p:cNvSpPr>
          <p:nvPr>
            <p:ph type="sldNum" sz="quarter" idx="4"/>
          </p:nvPr>
        </p:nvSpPr>
        <p:spPr/>
        <p:txBody>
          <a:bodyPr/>
          <a:lstStyle/>
          <a:p>
            <a:fld id="{B58DE5F1-E0F9-4CCA-92B7-7A6FC4DFEE14}" type="slidenum">
              <a:rPr lang="en-US" smtClean="0"/>
              <a:pPr/>
              <a:t>1</a:t>
            </a:fld>
            <a:endParaRPr lang="en-US" dirty="0"/>
          </a:p>
        </p:txBody>
      </p:sp>
    </p:spTree>
    <p:extLst>
      <p:ext uri="{BB962C8B-B14F-4D97-AF65-F5344CB8AC3E}">
        <p14:creationId xmlns:p14="http://schemas.microsoft.com/office/powerpoint/2010/main" val="826975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Prescription Follow up as well as moving Survey level data to Prescription follow up Object for ONC1  :</a:t>
            </a:r>
          </a:p>
        </p:txBody>
      </p:sp>
      <p:sp>
        <p:nvSpPr>
          <p:cNvPr id="38" name="Rectangle 37">
            <a:extLst>
              <a:ext uri="{FF2B5EF4-FFF2-40B4-BE49-F238E27FC236}">
                <a16:creationId xmlns:a16="http://schemas.microsoft.com/office/drawing/2014/main" id="{5C75A6E9-080B-4754-A651-24B68B926C3D}"/>
              </a:ext>
            </a:extLst>
          </p:cNvPr>
          <p:cNvSpPr/>
          <p:nvPr/>
        </p:nvSpPr>
        <p:spPr>
          <a:xfrm>
            <a:off x="951178" y="2031866"/>
            <a:ext cx="8784976" cy="2486271"/>
          </a:xfrm>
          <a:prstGeom prst="rect">
            <a:avLst/>
          </a:prstGeom>
          <a:ln/>
        </p:spPr>
        <p:style>
          <a:lnRef idx="2">
            <a:schemeClr val="accent2"/>
          </a:lnRef>
          <a:fillRef idx="1">
            <a:schemeClr val="lt1"/>
          </a:fillRef>
          <a:effectRef idx="0">
            <a:schemeClr val="accent2"/>
          </a:effectRef>
          <a:fontRef idx="minor">
            <a:schemeClr val="dk1"/>
          </a:fontRef>
        </p:style>
        <p:txBody>
          <a:bodyPr tIns="90000" bIns="90000" rtlCol="0" anchor="ctr" anchorCtr="0"/>
          <a:lstStyle/>
          <a:p>
            <a:pPr algn="ctr"/>
            <a:endParaRPr lang="en-US" sz="1400" dirty="0" err="1">
              <a:solidFill>
                <a:schemeClr val="tx1"/>
              </a:solidFill>
            </a:endParaRPr>
          </a:p>
        </p:txBody>
      </p:sp>
      <p:sp>
        <p:nvSpPr>
          <p:cNvPr id="39" name="Rectangle: Rounded Corners 38">
            <a:extLst>
              <a:ext uri="{FF2B5EF4-FFF2-40B4-BE49-F238E27FC236}">
                <a16:creationId xmlns:a16="http://schemas.microsoft.com/office/drawing/2014/main" id="{77FAEFAA-4DAB-4442-AC00-B2971EC058CC}"/>
              </a:ext>
            </a:extLst>
          </p:cNvPr>
          <p:cNvSpPr/>
          <p:nvPr/>
        </p:nvSpPr>
        <p:spPr>
          <a:xfrm>
            <a:off x="1770155" y="2104734"/>
            <a:ext cx="959490"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sp>
        <p:nvSpPr>
          <p:cNvPr id="40" name="Rectangle 39">
            <a:extLst>
              <a:ext uri="{FF2B5EF4-FFF2-40B4-BE49-F238E27FC236}">
                <a16:creationId xmlns:a16="http://schemas.microsoft.com/office/drawing/2014/main" id="{3BF85409-5F63-4C9E-9C7C-08E38C69F4B9}"/>
              </a:ext>
            </a:extLst>
          </p:cNvPr>
          <p:cNvSpPr/>
          <p:nvPr/>
        </p:nvSpPr>
        <p:spPr>
          <a:xfrm>
            <a:off x="2999140" y="2089777"/>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Survey Module</a:t>
            </a:r>
          </a:p>
        </p:txBody>
      </p:sp>
      <p:sp>
        <p:nvSpPr>
          <p:cNvPr id="41" name="Can 10">
            <a:extLst>
              <a:ext uri="{FF2B5EF4-FFF2-40B4-BE49-F238E27FC236}">
                <a16:creationId xmlns:a16="http://schemas.microsoft.com/office/drawing/2014/main" id="{C629F661-E28E-4531-B28A-AE30702CD583}"/>
              </a:ext>
            </a:extLst>
          </p:cNvPr>
          <p:cNvSpPr/>
          <p:nvPr/>
        </p:nvSpPr>
        <p:spPr>
          <a:xfrm>
            <a:off x="4105279"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42" name="Rectangle 41">
            <a:extLst>
              <a:ext uri="{FF2B5EF4-FFF2-40B4-BE49-F238E27FC236}">
                <a16:creationId xmlns:a16="http://schemas.microsoft.com/office/drawing/2014/main" id="{F1C14EE0-31CC-426B-B8C3-9A5595FB8288}"/>
              </a:ext>
            </a:extLst>
          </p:cNvPr>
          <p:cNvSpPr/>
          <p:nvPr/>
        </p:nvSpPr>
        <p:spPr>
          <a:xfrm>
            <a:off x="4969375" y="2230918"/>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cxnSp>
        <p:nvCxnSpPr>
          <p:cNvPr id="43" name="Straight Arrow Connector 42">
            <a:extLst>
              <a:ext uri="{FF2B5EF4-FFF2-40B4-BE49-F238E27FC236}">
                <a16:creationId xmlns:a16="http://schemas.microsoft.com/office/drawing/2014/main" id="{30D59DDA-B95F-441B-A738-1D83A8E3BF16}"/>
              </a:ext>
            </a:extLst>
          </p:cNvPr>
          <p:cNvCxnSpPr>
            <a:cxnSpLocks/>
          </p:cNvCxnSpPr>
          <p:nvPr/>
        </p:nvCxnSpPr>
        <p:spPr>
          <a:xfrm>
            <a:off x="4674020" y="2486706"/>
            <a:ext cx="295355"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4" name="Can 14">
            <a:extLst>
              <a:ext uri="{FF2B5EF4-FFF2-40B4-BE49-F238E27FC236}">
                <a16:creationId xmlns:a16="http://schemas.microsoft.com/office/drawing/2014/main" id="{750B2520-044F-4908-BF06-504523C4AFFD}"/>
              </a:ext>
            </a:extLst>
          </p:cNvPr>
          <p:cNvSpPr/>
          <p:nvPr/>
        </p:nvSpPr>
        <p:spPr>
          <a:xfrm>
            <a:off x="5905479"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45" name="Straight Arrow Connector 44">
            <a:extLst>
              <a:ext uri="{FF2B5EF4-FFF2-40B4-BE49-F238E27FC236}">
                <a16:creationId xmlns:a16="http://schemas.microsoft.com/office/drawing/2014/main" id="{96EDD63D-E40B-43DE-838B-E58A7657979C}"/>
              </a:ext>
            </a:extLst>
          </p:cNvPr>
          <p:cNvCxnSpPr>
            <a:cxnSpLocks/>
          </p:cNvCxnSpPr>
          <p:nvPr/>
        </p:nvCxnSpPr>
        <p:spPr>
          <a:xfrm flipV="1">
            <a:off x="5632938"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C83C2CC0-9EBD-419D-B45E-E76A4E6AE162}"/>
              </a:ext>
            </a:extLst>
          </p:cNvPr>
          <p:cNvCxnSpPr>
            <a:cxnSpLocks/>
            <a:stCxn id="42" idx="3"/>
          </p:cNvCxnSpPr>
          <p:nvPr/>
        </p:nvCxnSpPr>
        <p:spPr>
          <a:xfrm>
            <a:off x="5632938" y="2486707"/>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EDAE4F9B-1979-4B47-978D-97CAAFF3D5D2}"/>
              </a:ext>
            </a:extLst>
          </p:cNvPr>
          <p:cNvCxnSpPr>
            <a:cxnSpLocks/>
          </p:cNvCxnSpPr>
          <p:nvPr/>
        </p:nvCxnSpPr>
        <p:spPr>
          <a:xfrm flipV="1">
            <a:off x="3832738"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7FED461F-D94F-4627-A709-895EB8204C14}"/>
              </a:ext>
            </a:extLst>
          </p:cNvPr>
          <p:cNvCxnSpPr>
            <a:cxnSpLocks/>
          </p:cNvCxnSpPr>
          <p:nvPr/>
        </p:nvCxnSpPr>
        <p:spPr>
          <a:xfrm flipV="1">
            <a:off x="2715619"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9" name="Rectangle 48">
            <a:extLst>
              <a:ext uri="{FF2B5EF4-FFF2-40B4-BE49-F238E27FC236}">
                <a16:creationId xmlns:a16="http://schemas.microsoft.com/office/drawing/2014/main" id="{B79931A1-6A7D-4978-8BD1-7E66C1B63BB3}"/>
              </a:ext>
            </a:extLst>
          </p:cNvPr>
          <p:cNvSpPr/>
          <p:nvPr/>
        </p:nvSpPr>
        <p:spPr>
          <a:xfrm>
            <a:off x="6741316" y="2089778"/>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Take survey answers for BMS products </a:t>
            </a:r>
          </a:p>
        </p:txBody>
      </p:sp>
      <p:cxnSp>
        <p:nvCxnSpPr>
          <p:cNvPr id="50" name="Straight Arrow Connector 49">
            <a:extLst>
              <a:ext uri="{FF2B5EF4-FFF2-40B4-BE49-F238E27FC236}">
                <a16:creationId xmlns:a16="http://schemas.microsoft.com/office/drawing/2014/main" id="{C7088030-EF57-4833-B403-BB1FDA665A70}"/>
              </a:ext>
            </a:extLst>
          </p:cNvPr>
          <p:cNvCxnSpPr>
            <a:cxnSpLocks/>
            <a:stCxn id="44" idx="4"/>
            <a:endCxn id="49" idx="1"/>
          </p:cNvCxnSpPr>
          <p:nvPr/>
        </p:nvCxnSpPr>
        <p:spPr>
          <a:xfrm>
            <a:off x="6474220" y="2486706"/>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5" name="Can 14">
            <a:extLst>
              <a:ext uri="{FF2B5EF4-FFF2-40B4-BE49-F238E27FC236}">
                <a16:creationId xmlns:a16="http://schemas.microsoft.com/office/drawing/2014/main" id="{FCCC814E-7EC1-40C0-87CD-19D263E4B111}"/>
              </a:ext>
            </a:extLst>
          </p:cNvPr>
          <p:cNvSpPr/>
          <p:nvPr/>
        </p:nvSpPr>
        <p:spPr>
          <a:xfrm>
            <a:off x="8756695"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L3</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56" name="Straight Arrow Connector 55">
            <a:extLst>
              <a:ext uri="{FF2B5EF4-FFF2-40B4-BE49-F238E27FC236}">
                <a16:creationId xmlns:a16="http://schemas.microsoft.com/office/drawing/2014/main" id="{F61F9357-A553-4EB4-83DE-49E6B8C0423E}"/>
              </a:ext>
            </a:extLst>
          </p:cNvPr>
          <p:cNvCxnSpPr>
            <a:cxnSpLocks/>
            <a:endCxn id="55" idx="2"/>
          </p:cNvCxnSpPr>
          <p:nvPr/>
        </p:nvCxnSpPr>
        <p:spPr>
          <a:xfrm>
            <a:off x="8322803" y="2486705"/>
            <a:ext cx="433892"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91A91DD6-FB20-461C-AED1-3E6F4A1D7B63}"/>
              </a:ext>
            </a:extLst>
          </p:cNvPr>
          <p:cNvSpPr txBox="1"/>
          <p:nvPr/>
        </p:nvSpPr>
        <p:spPr>
          <a:xfrm>
            <a:off x="4389649" y="1682241"/>
            <a:ext cx="2072742" cy="366424"/>
          </a:xfrm>
          <a:prstGeom prst="rect">
            <a:avLst/>
          </a:prstGeom>
          <a:noFill/>
        </p:spPr>
        <p:txBody>
          <a:bodyPr wrap="square" tIns="90000" bIns="90000" rtlCol="0" anchor="t">
            <a:spAutoFit/>
          </a:bodyPr>
          <a:lstStyle/>
          <a:p>
            <a:pPr algn="ctr"/>
            <a:r>
              <a:rPr lang="en-US" sz="1200" b="1" dirty="0"/>
              <a:t>Existing Process</a:t>
            </a:r>
          </a:p>
        </p:txBody>
      </p:sp>
      <p:cxnSp>
        <p:nvCxnSpPr>
          <p:cNvPr id="63" name="Straight Connector 62">
            <a:extLst>
              <a:ext uri="{FF2B5EF4-FFF2-40B4-BE49-F238E27FC236}">
                <a16:creationId xmlns:a16="http://schemas.microsoft.com/office/drawing/2014/main" id="{0E5C1985-423D-4C91-A557-FC816623087F}"/>
              </a:ext>
            </a:extLst>
          </p:cNvPr>
          <p:cNvCxnSpPr>
            <a:cxnSpLocks/>
          </p:cNvCxnSpPr>
          <p:nvPr/>
        </p:nvCxnSpPr>
        <p:spPr>
          <a:xfrm>
            <a:off x="8472264" y="2348880"/>
            <a:ext cx="115774" cy="28803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sp>
        <p:nvSpPr>
          <p:cNvPr id="81" name="Speech Bubble: Rectangle with Corners Rounded 80">
            <a:extLst>
              <a:ext uri="{FF2B5EF4-FFF2-40B4-BE49-F238E27FC236}">
                <a16:creationId xmlns:a16="http://schemas.microsoft.com/office/drawing/2014/main" id="{FB070003-3CCC-422A-A49C-69B92487123D}"/>
              </a:ext>
            </a:extLst>
          </p:cNvPr>
          <p:cNvSpPr/>
          <p:nvPr/>
        </p:nvSpPr>
        <p:spPr>
          <a:xfrm>
            <a:off x="9759820" y="4060901"/>
            <a:ext cx="1689962" cy="1080120"/>
          </a:xfrm>
          <a:prstGeom prst="wedgeRoundRectCallout">
            <a:avLst>
              <a:gd name="adj1" fmla="val -118689"/>
              <a:gd name="adj2" fmla="val -178350"/>
              <a:gd name="adj3" fmla="val 16667"/>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000" kern="0" dirty="0">
                <a:solidFill>
                  <a:schemeClr val="bg1"/>
                </a:solidFill>
              </a:rPr>
              <a:t>We are using a configuration table to load data from Survey module with the intended CRM questions to get its corresponding answers</a:t>
            </a:r>
          </a:p>
        </p:txBody>
      </p:sp>
      <p:sp>
        <p:nvSpPr>
          <p:cNvPr id="83" name="TextBox 82">
            <a:extLst>
              <a:ext uri="{FF2B5EF4-FFF2-40B4-BE49-F238E27FC236}">
                <a16:creationId xmlns:a16="http://schemas.microsoft.com/office/drawing/2014/main" id="{E84AD120-296B-4E82-BE7E-CC2F282702DB}"/>
              </a:ext>
            </a:extLst>
          </p:cNvPr>
          <p:cNvSpPr txBox="1"/>
          <p:nvPr/>
        </p:nvSpPr>
        <p:spPr>
          <a:xfrm>
            <a:off x="2999140" y="5545850"/>
            <a:ext cx="4932449" cy="551090"/>
          </a:xfrm>
          <a:prstGeom prst="rect">
            <a:avLst/>
          </a:prstGeom>
          <a:noFill/>
        </p:spPr>
        <p:txBody>
          <a:bodyPr wrap="square" tIns="90000" bIns="90000" rtlCol="0" anchor="t">
            <a:spAutoFit/>
          </a:bodyPr>
          <a:lstStyle/>
          <a:p>
            <a:pPr algn="ctr"/>
            <a:r>
              <a:rPr lang="en-US" sz="1200" dirty="0"/>
              <a:t>Process to add new Celgene Products in Prescription Follow up  (move to next slide)</a:t>
            </a:r>
            <a:endParaRPr lang="en-US" sz="1200" b="1" dirty="0"/>
          </a:p>
        </p:txBody>
      </p:sp>
      <p:sp>
        <p:nvSpPr>
          <p:cNvPr id="31" name="Rectangle 30">
            <a:extLst>
              <a:ext uri="{FF2B5EF4-FFF2-40B4-BE49-F238E27FC236}">
                <a16:creationId xmlns:a16="http://schemas.microsoft.com/office/drawing/2014/main" id="{FABDBC01-FB5C-4A2A-8939-DF8C10E85F32}"/>
              </a:ext>
            </a:extLst>
          </p:cNvPr>
          <p:cNvSpPr/>
          <p:nvPr/>
        </p:nvSpPr>
        <p:spPr>
          <a:xfrm>
            <a:off x="-2243" y="41475"/>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ctr"/>
            <a:r>
              <a:rPr lang="en-US" sz="2000" dirty="0">
                <a:solidFill>
                  <a:schemeClr val="accent2">
                    <a:lumMod val="75000"/>
                  </a:schemeClr>
                </a:solidFill>
              </a:rPr>
              <a:t>Prescription Follow-up and Patient Tracking Report Integration Approach </a:t>
            </a:r>
          </a:p>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35" name="Rectangle: Rounded Corners 34">
            <a:extLst>
              <a:ext uri="{FF2B5EF4-FFF2-40B4-BE49-F238E27FC236}">
                <a16:creationId xmlns:a16="http://schemas.microsoft.com/office/drawing/2014/main" id="{7F17C245-E22C-4761-A151-57597D003CB7}"/>
              </a:ext>
            </a:extLst>
          </p:cNvPr>
          <p:cNvSpPr/>
          <p:nvPr/>
        </p:nvSpPr>
        <p:spPr>
          <a:xfrm>
            <a:off x="1843355" y="3204664"/>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cxnSp>
        <p:nvCxnSpPr>
          <p:cNvPr id="36" name="Straight Arrow Connector 35">
            <a:extLst>
              <a:ext uri="{FF2B5EF4-FFF2-40B4-BE49-F238E27FC236}">
                <a16:creationId xmlns:a16="http://schemas.microsoft.com/office/drawing/2014/main" id="{14EBA857-ECC1-421A-8EA4-4AF014071B89}"/>
              </a:ext>
            </a:extLst>
          </p:cNvPr>
          <p:cNvCxnSpPr>
            <a:cxnSpLocks/>
          </p:cNvCxnSpPr>
          <p:nvPr/>
        </p:nvCxnSpPr>
        <p:spPr>
          <a:xfrm flipV="1">
            <a:off x="2715619" y="3613513"/>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2" name="Rectangle 51">
            <a:extLst>
              <a:ext uri="{FF2B5EF4-FFF2-40B4-BE49-F238E27FC236}">
                <a16:creationId xmlns:a16="http://schemas.microsoft.com/office/drawing/2014/main" id="{80D2BE66-DDB8-42EB-9897-4D22B7646021}"/>
              </a:ext>
            </a:extLst>
          </p:cNvPr>
          <p:cNvSpPr/>
          <p:nvPr/>
        </p:nvSpPr>
        <p:spPr>
          <a:xfrm>
            <a:off x="3010598" y="3182020"/>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Prescription Follow Up Object  </a:t>
            </a:r>
          </a:p>
        </p:txBody>
      </p:sp>
      <p:sp>
        <p:nvSpPr>
          <p:cNvPr id="53" name="Can 10">
            <a:extLst>
              <a:ext uri="{FF2B5EF4-FFF2-40B4-BE49-F238E27FC236}">
                <a16:creationId xmlns:a16="http://schemas.microsoft.com/office/drawing/2014/main" id="{4023E4AB-1A32-4EAD-A369-39DC9BBDC708}"/>
              </a:ext>
            </a:extLst>
          </p:cNvPr>
          <p:cNvSpPr/>
          <p:nvPr/>
        </p:nvSpPr>
        <p:spPr>
          <a:xfrm>
            <a:off x="4124448" y="3215258"/>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cxnSp>
        <p:nvCxnSpPr>
          <p:cNvPr id="54" name="Straight Arrow Connector 53">
            <a:extLst>
              <a:ext uri="{FF2B5EF4-FFF2-40B4-BE49-F238E27FC236}">
                <a16:creationId xmlns:a16="http://schemas.microsoft.com/office/drawing/2014/main" id="{E6F63D43-B81F-44EB-8B47-CBEB118D15AF}"/>
              </a:ext>
            </a:extLst>
          </p:cNvPr>
          <p:cNvCxnSpPr>
            <a:cxnSpLocks/>
          </p:cNvCxnSpPr>
          <p:nvPr/>
        </p:nvCxnSpPr>
        <p:spPr>
          <a:xfrm flipV="1">
            <a:off x="3875614" y="3625007"/>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5F478BFF-BA3B-48E6-8BD3-F14EC9E96C74}"/>
              </a:ext>
            </a:extLst>
          </p:cNvPr>
          <p:cNvCxnSpPr>
            <a:cxnSpLocks/>
          </p:cNvCxnSpPr>
          <p:nvPr/>
        </p:nvCxnSpPr>
        <p:spPr>
          <a:xfrm flipV="1">
            <a:off x="4728378" y="3625250"/>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9" name="Rectangle 58">
            <a:extLst>
              <a:ext uri="{FF2B5EF4-FFF2-40B4-BE49-F238E27FC236}">
                <a16:creationId xmlns:a16="http://schemas.microsoft.com/office/drawing/2014/main" id="{CF2B1283-90ED-4684-87A6-A15DE60A99BD}"/>
              </a:ext>
            </a:extLst>
          </p:cNvPr>
          <p:cNvSpPr/>
          <p:nvPr/>
        </p:nvSpPr>
        <p:spPr>
          <a:xfrm>
            <a:off x="5012368" y="3369218"/>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sp>
        <p:nvSpPr>
          <p:cNvPr id="4" name="TextBox 3">
            <a:extLst>
              <a:ext uri="{FF2B5EF4-FFF2-40B4-BE49-F238E27FC236}">
                <a16:creationId xmlns:a16="http://schemas.microsoft.com/office/drawing/2014/main" id="{03878B09-5A76-4A59-BD92-146B55C383FA}"/>
              </a:ext>
            </a:extLst>
          </p:cNvPr>
          <p:cNvSpPr txBox="1"/>
          <p:nvPr/>
        </p:nvSpPr>
        <p:spPr>
          <a:xfrm>
            <a:off x="1278384" y="2348880"/>
            <a:ext cx="489297" cy="288032"/>
          </a:xfrm>
          <a:prstGeom prst="rect">
            <a:avLst/>
          </a:prstGeom>
          <a:noFill/>
        </p:spPr>
        <p:txBody>
          <a:bodyPr wrap="square" lIns="0" tIns="0" rIns="0" bIns="0" rtlCol="0">
            <a:noAutofit/>
          </a:bodyPr>
          <a:lstStyle/>
          <a:p>
            <a:pPr>
              <a:lnSpc>
                <a:spcPct val="100000"/>
              </a:lnSpc>
              <a:spcBef>
                <a:spcPts val="1200"/>
              </a:spcBef>
              <a:buSzPct val="100000"/>
            </a:pPr>
            <a:r>
              <a:rPr lang="en-US" sz="1000" dirty="0"/>
              <a:t>ONC1 , EQ</a:t>
            </a:r>
          </a:p>
        </p:txBody>
      </p:sp>
      <p:sp>
        <p:nvSpPr>
          <p:cNvPr id="62" name="Can 14">
            <a:extLst>
              <a:ext uri="{FF2B5EF4-FFF2-40B4-BE49-F238E27FC236}">
                <a16:creationId xmlns:a16="http://schemas.microsoft.com/office/drawing/2014/main" id="{90BF65E8-8FC0-40BE-88A2-774F34FA06C1}"/>
              </a:ext>
            </a:extLst>
          </p:cNvPr>
          <p:cNvSpPr/>
          <p:nvPr/>
        </p:nvSpPr>
        <p:spPr>
          <a:xfrm>
            <a:off x="5905479" y="3250650"/>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sp>
        <p:nvSpPr>
          <p:cNvPr id="64" name="Can 14">
            <a:extLst>
              <a:ext uri="{FF2B5EF4-FFF2-40B4-BE49-F238E27FC236}">
                <a16:creationId xmlns:a16="http://schemas.microsoft.com/office/drawing/2014/main" id="{713D14EE-55C0-435A-8E8D-5FA76D38107F}"/>
              </a:ext>
            </a:extLst>
          </p:cNvPr>
          <p:cNvSpPr/>
          <p:nvPr/>
        </p:nvSpPr>
        <p:spPr>
          <a:xfrm>
            <a:off x="8838687" y="3242791"/>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L3</a:t>
            </a:r>
            <a:endParaRPr kumimoji="0" lang="en-US" sz="1100" b="0" i="0" u="none" strike="noStrike" kern="0" cap="none" spc="0" normalizeH="0" baseline="0" noProof="0" dirty="0">
              <a:ln>
                <a:noFill/>
              </a:ln>
              <a:solidFill>
                <a:srgbClr val="000000"/>
              </a:solidFill>
              <a:effectLst/>
              <a:uLnTx/>
              <a:uFillTx/>
              <a:ea typeface="+mn-ea"/>
              <a:cs typeface="+mn-cs"/>
            </a:endParaRPr>
          </a:p>
        </p:txBody>
      </p:sp>
      <p:sp>
        <p:nvSpPr>
          <p:cNvPr id="67" name="Rectangle 66">
            <a:extLst>
              <a:ext uri="{FF2B5EF4-FFF2-40B4-BE49-F238E27FC236}">
                <a16:creationId xmlns:a16="http://schemas.microsoft.com/office/drawing/2014/main" id="{3EA688EE-1228-4982-AF23-2492D2C6F9D3}"/>
              </a:ext>
            </a:extLst>
          </p:cNvPr>
          <p:cNvSpPr/>
          <p:nvPr/>
        </p:nvSpPr>
        <p:spPr>
          <a:xfrm>
            <a:off x="6703768" y="3021458"/>
            <a:ext cx="1727510" cy="993126"/>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Custom objects of Prescription follow up will have  data related to individual product metric , which will flow to L3 </a:t>
            </a:r>
          </a:p>
        </p:txBody>
      </p:sp>
      <p:sp>
        <p:nvSpPr>
          <p:cNvPr id="5" name="TextBox 4">
            <a:extLst>
              <a:ext uri="{FF2B5EF4-FFF2-40B4-BE49-F238E27FC236}">
                <a16:creationId xmlns:a16="http://schemas.microsoft.com/office/drawing/2014/main" id="{A5E3CC25-9EFC-46BD-A852-916B51F7DA51}"/>
              </a:ext>
            </a:extLst>
          </p:cNvPr>
          <p:cNvSpPr txBox="1"/>
          <p:nvPr/>
        </p:nvSpPr>
        <p:spPr>
          <a:xfrm>
            <a:off x="1214947" y="3367263"/>
            <a:ext cx="489297" cy="366424"/>
          </a:xfrm>
          <a:prstGeom prst="rect">
            <a:avLst/>
          </a:prstGeom>
          <a:noFill/>
        </p:spPr>
        <p:txBody>
          <a:bodyPr wrap="square" lIns="0" tIns="0" rIns="0" bIns="0" rtlCol="0">
            <a:noAutofit/>
          </a:bodyPr>
          <a:lstStyle/>
          <a:p>
            <a:pPr>
              <a:lnSpc>
                <a:spcPct val="100000"/>
              </a:lnSpc>
              <a:spcBef>
                <a:spcPts val="1200"/>
              </a:spcBef>
              <a:buSzPct val="100000"/>
            </a:pPr>
            <a:r>
              <a:rPr lang="en-US" sz="1000" dirty="0"/>
              <a:t>ONC2 ,OP HL, SP ,EM </a:t>
            </a:r>
          </a:p>
        </p:txBody>
      </p:sp>
      <p:sp>
        <p:nvSpPr>
          <p:cNvPr id="6" name="Arrow: Down 5">
            <a:extLst>
              <a:ext uri="{FF2B5EF4-FFF2-40B4-BE49-F238E27FC236}">
                <a16:creationId xmlns:a16="http://schemas.microsoft.com/office/drawing/2014/main" id="{D8E427A2-1BD6-45B6-9E1E-6BD6121C1377}"/>
              </a:ext>
            </a:extLst>
          </p:cNvPr>
          <p:cNvSpPr/>
          <p:nvPr/>
        </p:nvSpPr>
        <p:spPr>
          <a:xfrm>
            <a:off x="5344149" y="4279037"/>
            <a:ext cx="435214" cy="1266813"/>
          </a:xfrm>
          <a:prstGeom prst="downArrow">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cxnSp>
        <p:nvCxnSpPr>
          <p:cNvPr id="71" name="Straight Arrow Connector 70">
            <a:extLst>
              <a:ext uri="{FF2B5EF4-FFF2-40B4-BE49-F238E27FC236}">
                <a16:creationId xmlns:a16="http://schemas.microsoft.com/office/drawing/2014/main" id="{DBFD570B-A782-41BC-88FD-D2A9D43F3C78}"/>
              </a:ext>
            </a:extLst>
          </p:cNvPr>
          <p:cNvCxnSpPr>
            <a:cxnSpLocks/>
          </p:cNvCxnSpPr>
          <p:nvPr/>
        </p:nvCxnSpPr>
        <p:spPr>
          <a:xfrm>
            <a:off x="5675931" y="3625007"/>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79E4119B-5770-485F-B899-A01871A6CC06}"/>
              </a:ext>
            </a:extLst>
          </p:cNvPr>
          <p:cNvCxnSpPr>
            <a:cxnSpLocks/>
          </p:cNvCxnSpPr>
          <p:nvPr/>
        </p:nvCxnSpPr>
        <p:spPr>
          <a:xfrm>
            <a:off x="6474220" y="3625007"/>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74" name="Straight Arrow Connector 73">
            <a:extLst>
              <a:ext uri="{FF2B5EF4-FFF2-40B4-BE49-F238E27FC236}">
                <a16:creationId xmlns:a16="http://schemas.microsoft.com/office/drawing/2014/main" id="{C5FC24C3-5EA6-4DAE-8E1A-0DCC26C326A2}"/>
              </a:ext>
            </a:extLst>
          </p:cNvPr>
          <p:cNvCxnSpPr>
            <a:cxnSpLocks/>
          </p:cNvCxnSpPr>
          <p:nvPr/>
        </p:nvCxnSpPr>
        <p:spPr>
          <a:xfrm>
            <a:off x="8404795" y="3610309"/>
            <a:ext cx="433892"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AC5E0E9E-72F5-4957-ACC0-CFEF26CEAEF1}"/>
              </a:ext>
            </a:extLst>
          </p:cNvPr>
          <p:cNvSpPr txBox="1"/>
          <p:nvPr/>
        </p:nvSpPr>
        <p:spPr>
          <a:xfrm>
            <a:off x="9631648" y="2348880"/>
            <a:ext cx="2235951" cy="137825"/>
          </a:xfrm>
          <a:prstGeom prst="rect">
            <a:avLst/>
          </a:prstGeom>
          <a:noFill/>
        </p:spPr>
        <p:txBody>
          <a:bodyPr wrap="square" lIns="0" tIns="0" rIns="0" bIns="0" rtlCol="0">
            <a:noAutofit/>
          </a:bodyPr>
          <a:lstStyle/>
          <a:p>
            <a:pPr>
              <a:lnSpc>
                <a:spcPct val="100000"/>
              </a:lnSpc>
              <a:spcBef>
                <a:spcPts val="1200"/>
              </a:spcBef>
              <a:buSzPct val="100000"/>
            </a:pPr>
            <a:r>
              <a:rPr lang="en-US" sz="900" dirty="0" err="1"/>
              <a:t>v_s_sorg_sls_wrkr_bp_prd_time_bckt_srvy</a:t>
            </a:r>
            <a:endParaRPr lang="en-US" sz="900" dirty="0"/>
          </a:p>
        </p:txBody>
      </p:sp>
      <p:sp>
        <p:nvSpPr>
          <p:cNvPr id="9" name="TextBox 8">
            <a:extLst>
              <a:ext uri="{FF2B5EF4-FFF2-40B4-BE49-F238E27FC236}">
                <a16:creationId xmlns:a16="http://schemas.microsoft.com/office/drawing/2014/main" id="{F9D4D9CC-D718-4673-BF2F-6A6F2E129C28}"/>
              </a:ext>
            </a:extLst>
          </p:cNvPr>
          <p:cNvSpPr txBox="1"/>
          <p:nvPr/>
        </p:nvSpPr>
        <p:spPr>
          <a:xfrm>
            <a:off x="9759820" y="3367264"/>
            <a:ext cx="2432180" cy="81490"/>
          </a:xfrm>
          <a:prstGeom prst="rect">
            <a:avLst/>
          </a:prstGeom>
          <a:noFill/>
        </p:spPr>
        <p:txBody>
          <a:bodyPr wrap="square" lIns="0" tIns="0" rIns="0" bIns="0" rtlCol="0">
            <a:noAutofit/>
          </a:bodyPr>
          <a:lstStyle/>
          <a:p>
            <a:pPr>
              <a:lnSpc>
                <a:spcPct val="100000"/>
              </a:lnSpc>
              <a:spcBef>
                <a:spcPts val="1200"/>
              </a:spcBef>
              <a:buSzPct val="100000"/>
            </a:pPr>
            <a:r>
              <a:rPr lang="en-US" sz="800" dirty="0" err="1"/>
              <a:t>v_s_sorg_sls_wrkr_</a:t>
            </a:r>
            <a:r>
              <a:rPr lang="en-US" sz="900" dirty="0" err="1"/>
              <a:t>bp</a:t>
            </a:r>
            <a:r>
              <a:rPr lang="en-US" sz="800" dirty="0" err="1"/>
              <a:t>_prd_time_bckt_srvy_fol_up</a:t>
            </a:r>
            <a:endParaRPr lang="en-US" sz="800" dirty="0"/>
          </a:p>
        </p:txBody>
      </p:sp>
      <p:sp>
        <p:nvSpPr>
          <p:cNvPr id="2" name="Slide Number Placeholder 1">
            <a:extLst>
              <a:ext uri="{FF2B5EF4-FFF2-40B4-BE49-F238E27FC236}">
                <a16:creationId xmlns:a16="http://schemas.microsoft.com/office/drawing/2014/main" id="{65FE2FFD-253C-4648-996F-452F08A0407E}"/>
              </a:ext>
            </a:extLst>
          </p:cNvPr>
          <p:cNvSpPr>
            <a:spLocks noGrp="1"/>
          </p:cNvSpPr>
          <p:nvPr>
            <p:ph type="sldNum" sz="quarter" idx="12"/>
          </p:nvPr>
        </p:nvSpPr>
        <p:spPr/>
        <p:txBody>
          <a:bodyPr/>
          <a:lstStyle/>
          <a:p>
            <a:fld id="{B58DE5F1-E0F9-4CCA-92B7-7A6FC4DFEE14}" type="slidenum">
              <a:rPr lang="en-US" smtClean="0"/>
              <a:t>2</a:t>
            </a:fld>
            <a:endParaRPr lang="en-US" dirty="0"/>
          </a:p>
        </p:txBody>
      </p:sp>
    </p:spTree>
    <p:extLst>
      <p:ext uri="{BB962C8B-B14F-4D97-AF65-F5344CB8AC3E}">
        <p14:creationId xmlns:p14="http://schemas.microsoft.com/office/powerpoint/2010/main" val="600964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Prescription Follow up as well as moving Survey level data to Prescription follow up Object for ONC1</a:t>
            </a:r>
          </a:p>
        </p:txBody>
      </p:sp>
      <p:sp>
        <p:nvSpPr>
          <p:cNvPr id="38" name="Rectangle 37">
            <a:extLst>
              <a:ext uri="{FF2B5EF4-FFF2-40B4-BE49-F238E27FC236}">
                <a16:creationId xmlns:a16="http://schemas.microsoft.com/office/drawing/2014/main" id="{5C75A6E9-080B-4754-A651-24B68B926C3D}"/>
              </a:ext>
            </a:extLst>
          </p:cNvPr>
          <p:cNvSpPr/>
          <p:nvPr/>
        </p:nvSpPr>
        <p:spPr>
          <a:xfrm>
            <a:off x="1113984" y="1997355"/>
            <a:ext cx="8784976" cy="3489045"/>
          </a:xfrm>
          <a:prstGeom prst="rect">
            <a:avLst/>
          </a:prstGeom>
          <a:ln/>
        </p:spPr>
        <p:style>
          <a:lnRef idx="2">
            <a:schemeClr val="accent2"/>
          </a:lnRef>
          <a:fillRef idx="1">
            <a:schemeClr val="lt1"/>
          </a:fillRef>
          <a:effectRef idx="0">
            <a:schemeClr val="accent2"/>
          </a:effectRef>
          <a:fontRef idx="minor">
            <a:schemeClr val="dk1"/>
          </a:fontRef>
        </p:style>
        <p:txBody>
          <a:bodyPr tIns="90000" bIns="90000" rtlCol="0" anchor="ctr" anchorCtr="0"/>
          <a:lstStyle/>
          <a:p>
            <a:pPr algn="ctr"/>
            <a:endParaRPr lang="en-US" sz="1400" dirty="0" err="1">
              <a:solidFill>
                <a:schemeClr val="tx1"/>
              </a:solidFill>
            </a:endParaRPr>
          </a:p>
        </p:txBody>
      </p:sp>
      <p:sp>
        <p:nvSpPr>
          <p:cNvPr id="39" name="Rectangle: Rounded Corners 38">
            <a:extLst>
              <a:ext uri="{FF2B5EF4-FFF2-40B4-BE49-F238E27FC236}">
                <a16:creationId xmlns:a16="http://schemas.microsoft.com/office/drawing/2014/main" id="{77FAEFAA-4DAB-4442-AC00-B2971EC058CC}"/>
              </a:ext>
            </a:extLst>
          </p:cNvPr>
          <p:cNvSpPr/>
          <p:nvPr/>
        </p:nvSpPr>
        <p:spPr>
          <a:xfrm>
            <a:off x="1756791" y="4348966"/>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sp>
        <p:nvSpPr>
          <p:cNvPr id="40" name="Rectangle 39">
            <a:extLst>
              <a:ext uri="{FF2B5EF4-FFF2-40B4-BE49-F238E27FC236}">
                <a16:creationId xmlns:a16="http://schemas.microsoft.com/office/drawing/2014/main" id="{3BF85409-5F63-4C9E-9C7C-08E38C69F4B9}"/>
              </a:ext>
            </a:extLst>
          </p:cNvPr>
          <p:cNvSpPr/>
          <p:nvPr/>
        </p:nvSpPr>
        <p:spPr>
          <a:xfrm>
            <a:off x="3011211" y="4191823"/>
            <a:ext cx="956678" cy="942570"/>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Patient prescription Follow Up Object </a:t>
            </a:r>
          </a:p>
        </p:txBody>
      </p:sp>
      <p:sp>
        <p:nvSpPr>
          <p:cNvPr id="41" name="Can 10">
            <a:extLst>
              <a:ext uri="{FF2B5EF4-FFF2-40B4-BE49-F238E27FC236}">
                <a16:creationId xmlns:a16="http://schemas.microsoft.com/office/drawing/2014/main" id="{C629F661-E28E-4531-B28A-AE30702CD583}"/>
              </a:ext>
            </a:extLst>
          </p:cNvPr>
          <p:cNvSpPr/>
          <p:nvPr/>
        </p:nvSpPr>
        <p:spPr>
          <a:xfrm>
            <a:off x="4261487" y="4323759"/>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42" name="Rectangle 41">
            <a:extLst>
              <a:ext uri="{FF2B5EF4-FFF2-40B4-BE49-F238E27FC236}">
                <a16:creationId xmlns:a16="http://schemas.microsoft.com/office/drawing/2014/main" id="{F1C14EE0-31CC-426B-B8C3-9A5595FB8288}"/>
              </a:ext>
            </a:extLst>
          </p:cNvPr>
          <p:cNvSpPr/>
          <p:nvPr/>
        </p:nvSpPr>
        <p:spPr>
          <a:xfrm>
            <a:off x="5098125" y="4451504"/>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cxnSp>
        <p:nvCxnSpPr>
          <p:cNvPr id="43" name="Straight Arrow Connector 42">
            <a:extLst>
              <a:ext uri="{FF2B5EF4-FFF2-40B4-BE49-F238E27FC236}">
                <a16:creationId xmlns:a16="http://schemas.microsoft.com/office/drawing/2014/main" id="{30D59DDA-B95F-441B-A738-1D83A8E3BF16}"/>
              </a:ext>
            </a:extLst>
          </p:cNvPr>
          <p:cNvCxnSpPr>
            <a:cxnSpLocks/>
          </p:cNvCxnSpPr>
          <p:nvPr/>
        </p:nvCxnSpPr>
        <p:spPr>
          <a:xfrm>
            <a:off x="4765106" y="4705730"/>
            <a:ext cx="295355"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4" name="Can 14">
            <a:extLst>
              <a:ext uri="{FF2B5EF4-FFF2-40B4-BE49-F238E27FC236}">
                <a16:creationId xmlns:a16="http://schemas.microsoft.com/office/drawing/2014/main" id="{750B2520-044F-4908-BF06-504523C4AFFD}"/>
              </a:ext>
            </a:extLst>
          </p:cNvPr>
          <p:cNvSpPr/>
          <p:nvPr/>
        </p:nvSpPr>
        <p:spPr>
          <a:xfrm>
            <a:off x="6071893" y="4277069"/>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46" name="Straight Arrow Connector 45">
            <a:extLst>
              <a:ext uri="{FF2B5EF4-FFF2-40B4-BE49-F238E27FC236}">
                <a16:creationId xmlns:a16="http://schemas.microsoft.com/office/drawing/2014/main" id="{C83C2CC0-9EBD-419D-B45E-E76A4E6AE162}"/>
              </a:ext>
            </a:extLst>
          </p:cNvPr>
          <p:cNvCxnSpPr>
            <a:cxnSpLocks/>
            <a:stCxn id="42" idx="3"/>
          </p:cNvCxnSpPr>
          <p:nvPr/>
        </p:nvCxnSpPr>
        <p:spPr>
          <a:xfrm>
            <a:off x="5761688" y="4707293"/>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EDAE4F9B-1979-4B47-978D-97CAAFF3D5D2}"/>
              </a:ext>
            </a:extLst>
          </p:cNvPr>
          <p:cNvCxnSpPr>
            <a:cxnSpLocks/>
          </p:cNvCxnSpPr>
          <p:nvPr/>
        </p:nvCxnSpPr>
        <p:spPr>
          <a:xfrm flipV="1">
            <a:off x="3970114" y="4659041"/>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7FED461F-D94F-4627-A709-895EB8204C14}"/>
              </a:ext>
            </a:extLst>
          </p:cNvPr>
          <p:cNvCxnSpPr>
            <a:cxnSpLocks/>
          </p:cNvCxnSpPr>
          <p:nvPr/>
        </p:nvCxnSpPr>
        <p:spPr>
          <a:xfrm flipV="1">
            <a:off x="2684518" y="4705729"/>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9" name="Rectangle 48">
            <a:extLst>
              <a:ext uri="{FF2B5EF4-FFF2-40B4-BE49-F238E27FC236}">
                <a16:creationId xmlns:a16="http://schemas.microsoft.com/office/drawing/2014/main" id="{B79931A1-6A7D-4978-8BD1-7E66C1B63BB3}"/>
              </a:ext>
            </a:extLst>
          </p:cNvPr>
          <p:cNvSpPr/>
          <p:nvPr/>
        </p:nvSpPr>
        <p:spPr>
          <a:xfrm>
            <a:off x="6950839" y="3895673"/>
            <a:ext cx="1689962" cy="1198486"/>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Custom objects of Prescription follow up will have  data related to individual product metric , which will flow to L3 </a:t>
            </a:r>
          </a:p>
        </p:txBody>
      </p:sp>
      <p:sp>
        <p:nvSpPr>
          <p:cNvPr id="55" name="Can 14">
            <a:extLst>
              <a:ext uri="{FF2B5EF4-FFF2-40B4-BE49-F238E27FC236}">
                <a16:creationId xmlns:a16="http://schemas.microsoft.com/office/drawing/2014/main" id="{FCCC814E-7EC1-40C0-87CD-19D263E4B111}"/>
              </a:ext>
            </a:extLst>
          </p:cNvPr>
          <p:cNvSpPr/>
          <p:nvPr/>
        </p:nvSpPr>
        <p:spPr>
          <a:xfrm>
            <a:off x="9088800" y="4244508"/>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L3</a:t>
            </a: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56" name="Straight Arrow Connector 55">
            <a:extLst>
              <a:ext uri="{FF2B5EF4-FFF2-40B4-BE49-F238E27FC236}">
                <a16:creationId xmlns:a16="http://schemas.microsoft.com/office/drawing/2014/main" id="{F61F9357-A553-4EB4-83DE-49E6B8C0423E}"/>
              </a:ext>
            </a:extLst>
          </p:cNvPr>
          <p:cNvCxnSpPr>
            <a:cxnSpLocks/>
            <a:endCxn id="55" idx="2"/>
          </p:cNvCxnSpPr>
          <p:nvPr/>
        </p:nvCxnSpPr>
        <p:spPr>
          <a:xfrm>
            <a:off x="8654908" y="4626479"/>
            <a:ext cx="433892"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91A91DD6-FB20-461C-AED1-3E6F4A1D7B63}"/>
              </a:ext>
            </a:extLst>
          </p:cNvPr>
          <p:cNvSpPr txBox="1"/>
          <p:nvPr/>
        </p:nvSpPr>
        <p:spPr>
          <a:xfrm>
            <a:off x="2319276" y="1630931"/>
            <a:ext cx="5659546" cy="366424"/>
          </a:xfrm>
          <a:prstGeom prst="rect">
            <a:avLst/>
          </a:prstGeom>
          <a:noFill/>
        </p:spPr>
        <p:txBody>
          <a:bodyPr wrap="square" tIns="90000" bIns="90000" rtlCol="0" anchor="t">
            <a:spAutoFit/>
          </a:bodyPr>
          <a:lstStyle/>
          <a:p>
            <a:pPr algn="ctr"/>
            <a:r>
              <a:rPr lang="en-US" sz="1200" b="1" dirty="0"/>
              <a:t>Process to add new Celgene Products in Prescription Follow up</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4" name="TextBox 3">
            <a:extLst>
              <a:ext uri="{FF2B5EF4-FFF2-40B4-BE49-F238E27FC236}">
                <a16:creationId xmlns:a16="http://schemas.microsoft.com/office/drawing/2014/main" id="{03878B09-5A76-4A59-BD92-146B55C383FA}"/>
              </a:ext>
            </a:extLst>
          </p:cNvPr>
          <p:cNvSpPr txBox="1"/>
          <p:nvPr/>
        </p:nvSpPr>
        <p:spPr>
          <a:xfrm>
            <a:off x="1295197" y="4310429"/>
            <a:ext cx="489297" cy="632101"/>
          </a:xfrm>
          <a:prstGeom prst="rect">
            <a:avLst/>
          </a:prstGeom>
          <a:noFill/>
        </p:spPr>
        <p:txBody>
          <a:bodyPr wrap="square" lIns="0" tIns="0" rIns="0" bIns="0" rtlCol="0">
            <a:noAutofit/>
          </a:bodyPr>
          <a:lstStyle/>
          <a:p>
            <a:pPr>
              <a:lnSpc>
                <a:spcPct val="100000"/>
              </a:lnSpc>
              <a:spcBef>
                <a:spcPts val="1200"/>
              </a:spcBef>
              <a:buSzPct val="100000"/>
            </a:pPr>
            <a:r>
              <a:rPr lang="en-US" sz="1000" dirty="0"/>
              <a:t>OR</a:t>
            </a:r>
          </a:p>
          <a:p>
            <a:pPr>
              <a:lnSpc>
                <a:spcPct val="100000"/>
              </a:lnSpc>
              <a:spcBef>
                <a:spcPts val="1200"/>
              </a:spcBef>
              <a:buSzPct val="100000"/>
            </a:pPr>
            <a:r>
              <a:rPr lang="en-US" sz="1000" dirty="0"/>
              <a:t>ONC1</a:t>
            </a:r>
          </a:p>
          <a:p>
            <a:pPr>
              <a:lnSpc>
                <a:spcPct val="100000"/>
              </a:lnSpc>
              <a:spcBef>
                <a:spcPts val="1200"/>
              </a:spcBef>
              <a:buSzPct val="100000"/>
            </a:pPr>
            <a:r>
              <a:rPr lang="en-US" sz="1000" dirty="0"/>
              <a:t>ONC2</a:t>
            </a:r>
          </a:p>
          <a:p>
            <a:pPr>
              <a:lnSpc>
                <a:spcPct val="100000"/>
              </a:lnSpc>
              <a:spcBef>
                <a:spcPts val="1200"/>
              </a:spcBef>
              <a:buSzPct val="100000"/>
            </a:pPr>
            <a:r>
              <a:rPr lang="en-US" sz="1000" dirty="0"/>
              <a:t>HEMA</a:t>
            </a:r>
          </a:p>
        </p:txBody>
      </p:sp>
      <p:sp>
        <p:nvSpPr>
          <p:cNvPr id="5" name="TextBox 4">
            <a:extLst>
              <a:ext uri="{FF2B5EF4-FFF2-40B4-BE49-F238E27FC236}">
                <a16:creationId xmlns:a16="http://schemas.microsoft.com/office/drawing/2014/main" id="{A5E3CC25-9EFC-46BD-A852-916B51F7DA51}"/>
              </a:ext>
            </a:extLst>
          </p:cNvPr>
          <p:cNvSpPr txBox="1"/>
          <p:nvPr/>
        </p:nvSpPr>
        <p:spPr>
          <a:xfrm>
            <a:off x="1214947" y="4727735"/>
            <a:ext cx="489297" cy="366424"/>
          </a:xfrm>
          <a:prstGeom prst="rect">
            <a:avLst/>
          </a:prstGeom>
          <a:noFill/>
        </p:spPr>
        <p:txBody>
          <a:bodyPr wrap="square" lIns="0" tIns="0" rIns="0" bIns="0" rtlCol="0">
            <a:noAutofit/>
          </a:bodyPr>
          <a:lstStyle/>
          <a:p>
            <a:pPr>
              <a:lnSpc>
                <a:spcPct val="100000"/>
              </a:lnSpc>
              <a:spcBef>
                <a:spcPts val="1200"/>
              </a:spcBef>
              <a:buSzPct val="100000"/>
            </a:pPr>
            <a:endParaRPr lang="en-US" sz="1000" dirty="0"/>
          </a:p>
        </p:txBody>
      </p:sp>
      <p:cxnSp>
        <p:nvCxnSpPr>
          <p:cNvPr id="65" name="Straight Arrow Connector 64">
            <a:extLst>
              <a:ext uri="{FF2B5EF4-FFF2-40B4-BE49-F238E27FC236}">
                <a16:creationId xmlns:a16="http://schemas.microsoft.com/office/drawing/2014/main" id="{14A94D65-EC79-4C0C-A5F5-61CFA4099E1C}"/>
              </a:ext>
            </a:extLst>
          </p:cNvPr>
          <p:cNvCxnSpPr>
            <a:cxnSpLocks/>
          </p:cNvCxnSpPr>
          <p:nvPr/>
        </p:nvCxnSpPr>
        <p:spPr>
          <a:xfrm>
            <a:off x="6607671" y="4626480"/>
            <a:ext cx="417704"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C75E23A9-D0B0-4180-8BBD-8189D5C2FF9F}"/>
              </a:ext>
            </a:extLst>
          </p:cNvPr>
          <p:cNvSpPr txBox="1"/>
          <p:nvPr/>
        </p:nvSpPr>
        <p:spPr>
          <a:xfrm>
            <a:off x="1214947" y="3897297"/>
            <a:ext cx="3934102" cy="566741"/>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endParaRPr lang="en-US" sz="2000" dirty="0"/>
          </a:p>
        </p:txBody>
      </p:sp>
      <p:sp>
        <p:nvSpPr>
          <p:cNvPr id="69" name="Speech Bubble: Rectangle with Corners Rounded 68">
            <a:extLst>
              <a:ext uri="{FF2B5EF4-FFF2-40B4-BE49-F238E27FC236}">
                <a16:creationId xmlns:a16="http://schemas.microsoft.com/office/drawing/2014/main" id="{D7ADBEAC-BEAB-47E4-9116-B9FE8F16258C}"/>
              </a:ext>
            </a:extLst>
          </p:cNvPr>
          <p:cNvSpPr/>
          <p:nvPr/>
        </p:nvSpPr>
        <p:spPr>
          <a:xfrm>
            <a:off x="3983035" y="5445288"/>
            <a:ext cx="2091209" cy="1455977"/>
          </a:xfrm>
          <a:prstGeom prst="wedgeRoundRectCallout">
            <a:avLst>
              <a:gd name="adj1" fmla="val -107577"/>
              <a:gd name="adj2" fmla="val -98848"/>
              <a:gd name="adj3" fmla="val 16667"/>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000" kern="0" dirty="0">
                <a:solidFill>
                  <a:schemeClr val="bg1"/>
                </a:solidFill>
              </a:rPr>
              <a:t>In C-SCAN L1 level, we will have to pull new columns from CRM prescription follow up object for HEMA BU products as well as ONC1 products.(This will be handled by Veeva Framework in Production)</a:t>
            </a:r>
          </a:p>
        </p:txBody>
      </p:sp>
      <p:sp>
        <p:nvSpPr>
          <p:cNvPr id="17" name="Rectangle 16">
            <a:extLst>
              <a:ext uri="{FF2B5EF4-FFF2-40B4-BE49-F238E27FC236}">
                <a16:creationId xmlns:a16="http://schemas.microsoft.com/office/drawing/2014/main" id="{9E7B87C3-D9BA-407B-ADA6-854DB8C777CF}"/>
              </a:ext>
            </a:extLst>
          </p:cNvPr>
          <p:cNvSpPr/>
          <p:nvPr/>
        </p:nvSpPr>
        <p:spPr>
          <a:xfrm>
            <a:off x="9777439" y="4474897"/>
            <a:ext cx="2672366" cy="230832"/>
          </a:xfrm>
          <a:prstGeom prst="rect">
            <a:avLst/>
          </a:prstGeom>
        </p:spPr>
        <p:txBody>
          <a:bodyPr wrap="square">
            <a:spAutoFit/>
          </a:bodyPr>
          <a:lstStyle/>
          <a:p>
            <a:pPr>
              <a:lnSpc>
                <a:spcPct val="100000"/>
              </a:lnSpc>
              <a:spcBef>
                <a:spcPts val="1200"/>
              </a:spcBef>
              <a:buSzPct val="100000"/>
            </a:pPr>
            <a:r>
              <a:rPr lang="en-US" sz="800" dirty="0" err="1"/>
              <a:t>v_s_sorg_sls_wrkr_</a:t>
            </a:r>
            <a:r>
              <a:rPr lang="en-US" sz="900" dirty="0" err="1"/>
              <a:t>bp</a:t>
            </a:r>
            <a:r>
              <a:rPr lang="en-US" sz="800" dirty="0" err="1"/>
              <a:t>_prd_time_bckt_srvy_fol_up</a:t>
            </a:r>
            <a:endParaRPr lang="en-US" sz="800" dirty="0"/>
          </a:p>
        </p:txBody>
      </p:sp>
      <p:sp>
        <p:nvSpPr>
          <p:cNvPr id="78" name="Rectangle: Rounded Corners 77">
            <a:extLst>
              <a:ext uri="{FF2B5EF4-FFF2-40B4-BE49-F238E27FC236}">
                <a16:creationId xmlns:a16="http://schemas.microsoft.com/office/drawing/2014/main" id="{F0D179AB-1485-4EB3-9BC7-D3F751F51F0C}"/>
              </a:ext>
            </a:extLst>
          </p:cNvPr>
          <p:cNvSpPr/>
          <p:nvPr/>
        </p:nvSpPr>
        <p:spPr>
          <a:xfrm>
            <a:off x="1784494" y="2839670"/>
            <a:ext cx="959490"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sp>
        <p:nvSpPr>
          <p:cNvPr id="79" name="Rectangle 78">
            <a:extLst>
              <a:ext uri="{FF2B5EF4-FFF2-40B4-BE49-F238E27FC236}">
                <a16:creationId xmlns:a16="http://schemas.microsoft.com/office/drawing/2014/main" id="{AB673CDD-6B93-4935-BA1B-E1C8CE6B17FE}"/>
              </a:ext>
            </a:extLst>
          </p:cNvPr>
          <p:cNvSpPr/>
          <p:nvPr/>
        </p:nvSpPr>
        <p:spPr>
          <a:xfrm>
            <a:off x="3013479" y="2824713"/>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Survey Module</a:t>
            </a:r>
          </a:p>
        </p:txBody>
      </p:sp>
      <p:sp>
        <p:nvSpPr>
          <p:cNvPr id="80" name="Can 10">
            <a:extLst>
              <a:ext uri="{FF2B5EF4-FFF2-40B4-BE49-F238E27FC236}">
                <a16:creationId xmlns:a16="http://schemas.microsoft.com/office/drawing/2014/main" id="{06123A1D-DA03-4AA5-8447-A3EBBFEF576C}"/>
              </a:ext>
            </a:extLst>
          </p:cNvPr>
          <p:cNvSpPr/>
          <p:nvPr/>
        </p:nvSpPr>
        <p:spPr>
          <a:xfrm>
            <a:off x="4119618" y="2839670"/>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81" name="Rectangle 80">
            <a:extLst>
              <a:ext uri="{FF2B5EF4-FFF2-40B4-BE49-F238E27FC236}">
                <a16:creationId xmlns:a16="http://schemas.microsoft.com/office/drawing/2014/main" id="{97D0FC04-77BA-49BB-B1C3-5E81A1EFC1C4}"/>
              </a:ext>
            </a:extLst>
          </p:cNvPr>
          <p:cNvSpPr/>
          <p:nvPr/>
        </p:nvSpPr>
        <p:spPr>
          <a:xfrm>
            <a:off x="4983714" y="2965854"/>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cxnSp>
        <p:nvCxnSpPr>
          <p:cNvPr id="82" name="Straight Arrow Connector 81">
            <a:extLst>
              <a:ext uri="{FF2B5EF4-FFF2-40B4-BE49-F238E27FC236}">
                <a16:creationId xmlns:a16="http://schemas.microsoft.com/office/drawing/2014/main" id="{AED13E23-42EA-4ED4-B2E7-A3A6539885C9}"/>
              </a:ext>
            </a:extLst>
          </p:cNvPr>
          <p:cNvCxnSpPr>
            <a:cxnSpLocks/>
          </p:cNvCxnSpPr>
          <p:nvPr/>
        </p:nvCxnSpPr>
        <p:spPr>
          <a:xfrm>
            <a:off x="4688359" y="3221642"/>
            <a:ext cx="295355"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3" name="Can 14">
            <a:extLst>
              <a:ext uri="{FF2B5EF4-FFF2-40B4-BE49-F238E27FC236}">
                <a16:creationId xmlns:a16="http://schemas.microsoft.com/office/drawing/2014/main" id="{B8C32E9C-E66A-4325-A5AE-9EEE0A51040D}"/>
              </a:ext>
            </a:extLst>
          </p:cNvPr>
          <p:cNvSpPr/>
          <p:nvPr/>
        </p:nvSpPr>
        <p:spPr>
          <a:xfrm>
            <a:off x="5919818" y="2839670"/>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84" name="Straight Arrow Connector 83">
            <a:extLst>
              <a:ext uri="{FF2B5EF4-FFF2-40B4-BE49-F238E27FC236}">
                <a16:creationId xmlns:a16="http://schemas.microsoft.com/office/drawing/2014/main" id="{3565EA55-A365-4696-A494-E5EBD9B72E23}"/>
              </a:ext>
            </a:extLst>
          </p:cNvPr>
          <p:cNvCxnSpPr>
            <a:cxnSpLocks/>
          </p:cNvCxnSpPr>
          <p:nvPr/>
        </p:nvCxnSpPr>
        <p:spPr>
          <a:xfrm flipV="1">
            <a:off x="5647277" y="3221642"/>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5" name="Straight Arrow Connector 84">
            <a:extLst>
              <a:ext uri="{FF2B5EF4-FFF2-40B4-BE49-F238E27FC236}">
                <a16:creationId xmlns:a16="http://schemas.microsoft.com/office/drawing/2014/main" id="{5613C966-A319-4F8B-BC7B-BE21D4120459}"/>
              </a:ext>
            </a:extLst>
          </p:cNvPr>
          <p:cNvCxnSpPr>
            <a:cxnSpLocks/>
            <a:stCxn id="81" idx="3"/>
          </p:cNvCxnSpPr>
          <p:nvPr/>
        </p:nvCxnSpPr>
        <p:spPr>
          <a:xfrm>
            <a:off x="5647277" y="3221643"/>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FE419DEE-900E-4FB6-BC45-F9CBAECF9198}"/>
              </a:ext>
            </a:extLst>
          </p:cNvPr>
          <p:cNvCxnSpPr>
            <a:cxnSpLocks/>
          </p:cNvCxnSpPr>
          <p:nvPr/>
        </p:nvCxnSpPr>
        <p:spPr>
          <a:xfrm flipV="1">
            <a:off x="3847077" y="3221642"/>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7" name="Straight Arrow Connector 86">
            <a:extLst>
              <a:ext uri="{FF2B5EF4-FFF2-40B4-BE49-F238E27FC236}">
                <a16:creationId xmlns:a16="http://schemas.microsoft.com/office/drawing/2014/main" id="{E47254B4-5889-44D9-99FD-A070A66E12A4}"/>
              </a:ext>
            </a:extLst>
          </p:cNvPr>
          <p:cNvCxnSpPr>
            <a:cxnSpLocks/>
          </p:cNvCxnSpPr>
          <p:nvPr/>
        </p:nvCxnSpPr>
        <p:spPr>
          <a:xfrm flipV="1">
            <a:off x="2729958" y="3221642"/>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8" name="Rectangle 87">
            <a:extLst>
              <a:ext uri="{FF2B5EF4-FFF2-40B4-BE49-F238E27FC236}">
                <a16:creationId xmlns:a16="http://schemas.microsoft.com/office/drawing/2014/main" id="{B23DBD45-95A9-451B-8915-E726BA23E98D}"/>
              </a:ext>
            </a:extLst>
          </p:cNvPr>
          <p:cNvSpPr/>
          <p:nvPr/>
        </p:nvSpPr>
        <p:spPr>
          <a:xfrm>
            <a:off x="6755655" y="2824714"/>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Take survey answers for BMS products </a:t>
            </a:r>
          </a:p>
        </p:txBody>
      </p:sp>
      <p:cxnSp>
        <p:nvCxnSpPr>
          <p:cNvPr id="89" name="Straight Arrow Connector 88">
            <a:extLst>
              <a:ext uri="{FF2B5EF4-FFF2-40B4-BE49-F238E27FC236}">
                <a16:creationId xmlns:a16="http://schemas.microsoft.com/office/drawing/2014/main" id="{5463ECF5-8753-4C10-89B9-C4F3C343CB39}"/>
              </a:ext>
            </a:extLst>
          </p:cNvPr>
          <p:cNvCxnSpPr>
            <a:cxnSpLocks/>
            <a:stCxn id="83" idx="4"/>
            <a:endCxn id="88" idx="1"/>
          </p:cNvCxnSpPr>
          <p:nvPr/>
        </p:nvCxnSpPr>
        <p:spPr>
          <a:xfrm>
            <a:off x="6488559" y="3221642"/>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90" name="Can 14">
            <a:extLst>
              <a:ext uri="{FF2B5EF4-FFF2-40B4-BE49-F238E27FC236}">
                <a16:creationId xmlns:a16="http://schemas.microsoft.com/office/drawing/2014/main" id="{D3C518A0-C365-4141-B0BE-281FFE702D1E}"/>
              </a:ext>
            </a:extLst>
          </p:cNvPr>
          <p:cNvSpPr/>
          <p:nvPr/>
        </p:nvSpPr>
        <p:spPr>
          <a:xfrm>
            <a:off x="8771034" y="2839670"/>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L3</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91" name="Straight Arrow Connector 90">
            <a:extLst>
              <a:ext uri="{FF2B5EF4-FFF2-40B4-BE49-F238E27FC236}">
                <a16:creationId xmlns:a16="http://schemas.microsoft.com/office/drawing/2014/main" id="{84DB1C55-A7D2-4D23-972F-3567E5BE9EA9}"/>
              </a:ext>
            </a:extLst>
          </p:cNvPr>
          <p:cNvCxnSpPr>
            <a:cxnSpLocks/>
            <a:endCxn id="90" idx="2"/>
          </p:cNvCxnSpPr>
          <p:nvPr/>
        </p:nvCxnSpPr>
        <p:spPr>
          <a:xfrm>
            <a:off x="8337142" y="3221641"/>
            <a:ext cx="433892"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93" name="TextBox 92">
            <a:extLst>
              <a:ext uri="{FF2B5EF4-FFF2-40B4-BE49-F238E27FC236}">
                <a16:creationId xmlns:a16="http://schemas.microsoft.com/office/drawing/2014/main" id="{A053297A-CA59-47A6-ACE8-DEE02321F7A6}"/>
              </a:ext>
            </a:extLst>
          </p:cNvPr>
          <p:cNvSpPr txBox="1"/>
          <p:nvPr/>
        </p:nvSpPr>
        <p:spPr>
          <a:xfrm>
            <a:off x="1292723" y="3083816"/>
            <a:ext cx="489297" cy="288032"/>
          </a:xfrm>
          <a:prstGeom prst="rect">
            <a:avLst/>
          </a:prstGeom>
          <a:noFill/>
        </p:spPr>
        <p:txBody>
          <a:bodyPr wrap="square" lIns="0" tIns="0" rIns="0" bIns="0" rtlCol="0">
            <a:noAutofit/>
          </a:bodyPr>
          <a:lstStyle/>
          <a:p>
            <a:pPr>
              <a:lnSpc>
                <a:spcPct val="100000"/>
              </a:lnSpc>
              <a:spcBef>
                <a:spcPts val="1200"/>
              </a:spcBef>
              <a:buSzPct val="100000"/>
            </a:pPr>
            <a:r>
              <a:rPr lang="en-US" sz="1000" dirty="0"/>
              <a:t> EQ</a:t>
            </a:r>
          </a:p>
        </p:txBody>
      </p:sp>
      <p:sp>
        <p:nvSpPr>
          <p:cNvPr id="94" name="TextBox 93">
            <a:extLst>
              <a:ext uri="{FF2B5EF4-FFF2-40B4-BE49-F238E27FC236}">
                <a16:creationId xmlns:a16="http://schemas.microsoft.com/office/drawing/2014/main" id="{475DB7C5-5F3B-4F7A-AFDC-2A3E9E507A2D}"/>
              </a:ext>
            </a:extLst>
          </p:cNvPr>
          <p:cNvSpPr txBox="1"/>
          <p:nvPr/>
        </p:nvSpPr>
        <p:spPr>
          <a:xfrm>
            <a:off x="9645987" y="3083816"/>
            <a:ext cx="2235951" cy="137825"/>
          </a:xfrm>
          <a:prstGeom prst="rect">
            <a:avLst/>
          </a:prstGeom>
          <a:noFill/>
        </p:spPr>
        <p:txBody>
          <a:bodyPr wrap="square" lIns="0" tIns="0" rIns="0" bIns="0" rtlCol="0">
            <a:noAutofit/>
          </a:bodyPr>
          <a:lstStyle/>
          <a:p>
            <a:pPr>
              <a:lnSpc>
                <a:spcPct val="100000"/>
              </a:lnSpc>
              <a:spcBef>
                <a:spcPts val="1200"/>
              </a:spcBef>
              <a:buSzPct val="100000"/>
            </a:pPr>
            <a:r>
              <a:rPr lang="en-US" sz="900" dirty="0" err="1"/>
              <a:t>v_s_sorg_sls_wrkr_bp_prd_time_bckt_srvy</a:t>
            </a:r>
            <a:endParaRPr lang="en-US" sz="900" dirty="0"/>
          </a:p>
        </p:txBody>
      </p:sp>
      <p:sp>
        <p:nvSpPr>
          <p:cNvPr id="45" name="Rectangle 44">
            <a:extLst>
              <a:ext uri="{FF2B5EF4-FFF2-40B4-BE49-F238E27FC236}">
                <a16:creationId xmlns:a16="http://schemas.microsoft.com/office/drawing/2014/main" id="{59C49077-31E0-4DD1-8499-1D996D0C46C1}"/>
              </a:ext>
            </a:extLst>
          </p:cNvPr>
          <p:cNvSpPr/>
          <p:nvPr/>
        </p:nvSpPr>
        <p:spPr>
          <a:xfrm>
            <a:off x="-2243" y="41475"/>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ctr"/>
            <a:r>
              <a:rPr lang="en-US" sz="2000" dirty="0">
                <a:solidFill>
                  <a:schemeClr val="accent2">
                    <a:lumMod val="75000"/>
                  </a:schemeClr>
                </a:solidFill>
              </a:rPr>
              <a:t>Prescription Follow-up and Patient Tracking Report Integration Approach </a:t>
            </a:r>
          </a:p>
          <a:p>
            <a:pPr algn="ctr">
              <a:lnSpc>
                <a:spcPct val="100000"/>
              </a:lnSpc>
            </a:pPr>
            <a:endParaRPr lang="en-US" sz="2000" dirty="0"/>
          </a:p>
        </p:txBody>
      </p:sp>
      <p:sp>
        <p:nvSpPr>
          <p:cNvPr id="2" name="Slide Number Placeholder 1">
            <a:extLst>
              <a:ext uri="{FF2B5EF4-FFF2-40B4-BE49-F238E27FC236}">
                <a16:creationId xmlns:a16="http://schemas.microsoft.com/office/drawing/2014/main" id="{E077351F-5C17-44D5-A1D7-CC0FE6F3D7FA}"/>
              </a:ext>
            </a:extLst>
          </p:cNvPr>
          <p:cNvSpPr>
            <a:spLocks noGrp="1"/>
          </p:cNvSpPr>
          <p:nvPr>
            <p:ph type="sldNum" sz="quarter" idx="12"/>
          </p:nvPr>
        </p:nvSpPr>
        <p:spPr/>
        <p:txBody>
          <a:bodyPr/>
          <a:lstStyle/>
          <a:p>
            <a:fld id="{B58DE5F1-E0F9-4CCA-92B7-7A6FC4DFEE14}" type="slidenum">
              <a:rPr lang="en-US" smtClean="0"/>
              <a:t>3</a:t>
            </a:fld>
            <a:endParaRPr lang="en-US" dirty="0"/>
          </a:p>
        </p:txBody>
      </p:sp>
    </p:spTree>
    <p:extLst>
      <p:ext uri="{BB962C8B-B14F-4D97-AF65-F5344CB8AC3E}">
        <p14:creationId xmlns:p14="http://schemas.microsoft.com/office/powerpoint/2010/main" val="876732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Prescription Follow up:</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5" name="TextBox 4">
            <a:extLst>
              <a:ext uri="{FF2B5EF4-FFF2-40B4-BE49-F238E27FC236}">
                <a16:creationId xmlns:a16="http://schemas.microsoft.com/office/drawing/2014/main" id="{A5E3CC25-9EFC-46BD-A852-916B51F7DA51}"/>
              </a:ext>
            </a:extLst>
          </p:cNvPr>
          <p:cNvSpPr txBox="1"/>
          <p:nvPr/>
        </p:nvSpPr>
        <p:spPr>
          <a:xfrm>
            <a:off x="1214947" y="3367263"/>
            <a:ext cx="489297" cy="366424"/>
          </a:xfrm>
          <a:prstGeom prst="rect">
            <a:avLst/>
          </a:prstGeom>
          <a:noFill/>
        </p:spPr>
        <p:txBody>
          <a:bodyPr wrap="square" lIns="0" tIns="0" rIns="0" bIns="0" rtlCol="0">
            <a:noAutofit/>
          </a:bodyPr>
          <a:lstStyle/>
          <a:p>
            <a:pPr>
              <a:lnSpc>
                <a:spcPct val="100000"/>
              </a:lnSpc>
              <a:spcBef>
                <a:spcPts val="1200"/>
              </a:spcBef>
              <a:buSzPct val="100000"/>
            </a:pPr>
            <a:endParaRPr lang="en-US" sz="1000" dirty="0"/>
          </a:p>
        </p:txBody>
      </p:sp>
      <p:sp>
        <p:nvSpPr>
          <p:cNvPr id="16" name="TextBox 15">
            <a:extLst>
              <a:ext uri="{FF2B5EF4-FFF2-40B4-BE49-F238E27FC236}">
                <a16:creationId xmlns:a16="http://schemas.microsoft.com/office/drawing/2014/main" id="{C75E23A9-D0B0-4180-8BBD-8189D5C2FF9F}"/>
              </a:ext>
            </a:extLst>
          </p:cNvPr>
          <p:cNvSpPr txBox="1"/>
          <p:nvPr/>
        </p:nvSpPr>
        <p:spPr>
          <a:xfrm>
            <a:off x="1214947" y="3897297"/>
            <a:ext cx="3934102" cy="566741"/>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endParaRPr lang="en-US" sz="2000" dirty="0"/>
          </a:p>
        </p:txBody>
      </p:sp>
      <p:sp>
        <p:nvSpPr>
          <p:cNvPr id="2" name="TextBox 1">
            <a:extLst>
              <a:ext uri="{FF2B5EF4-FFF2-40B4-BE49-F238E27FC236}">
                <a16:creationId xmlns:a16="http://schemas.microsoft.com/office/drawing/2014/main" id="{714E9DE3-449A-4414-82CD-961939354E61}"/>
              </a:ext>
            </a:extLst>
          </p:cNvPr>
          <p:cNvSpPr txBox="1"/>
          <p:nvPr/>
        </p:nvSpPr>
        <p:spPr>
          <a:xfrm>
            <a:off x="1091682" y="1875453"/>
            <a:ext cx="3934102" cy="366424"/>
          </a:xfrm>
          <a:prstGeom prst="rect">
            <a:avLst/>
          </a:prstGeom>
          <a:noFill/>
        </p:spPr>
        <p:txBody>
          <a:bodyPr wrap="square" lIns="0" tIns="0" rIns="0" bIns="0" rtlCol="0">
            <a:noAutofit/>
          </a:bodyPr>
          <a:lstStyle/>
          <a:p>
            <a:pPr>
              <a:lnSpc>
                <a:spcPct val="100000"/>
              </a:lnSpc>
              <a:spcBef>
                <a:spcPts val="1200"/>
              </a:spcBef>
              <a:buSzPct val="100000"/>
            </a:pPr>
            <a:r>
              <a:rPr lang="en-US" sz="2000" b="1" dirty="0"/>
              <a:t>Historical Data Preservation</a:t>
            </a:r>
          </a:p>
        </p:txBody>
      </p:sp>
      <p:sp>
        <p:nvSpPr>
          <p:cNvPr id="3" name="TextBox 2">
            <a:extLst>
              <a:ext uri="{FF2B5EF4-FFF2-40B4-BE49-F238E27FC236}">
                <a16:creationId xmlns:a16="http://schemas.microsoft.com/office/drawing/2014/main" id="{5CF5AF12-E178-4366-8E8D-3F64FB042CCA}"/>
              </a:ext>
            </a:extLst>
          </p:cNvPr>
          <p:cNvSpPr txBox="1"/>
          <p:nvPr/>
        </p:nvSpPr>
        <p:spPr>
          <a:xfrm>
            <a:off x="1091682" y="2323322"/>
            <a:ext cx="9972457" cy="3470988"/>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r>
              <a:rPr lang="en-US" sz="2000" dirty="0"/>
              <a:t>In Prescription Follow up Report ,for ONC1 products (IO LC, IO RCC, IO HN), we are preserving data coming from survey module until October in separate tabs. </a:t>
            </a:r>
          </a:p>
          <a:p>
            <a:pPr marL="228600" indent="-228600">
              <a:lnSpc>
                <a:spcPct val="100000"/>
              </a:lnSpc>
              <a:spcBef>
                <a:spcPts val="1200"/>
              </a:spcBef>
              <a:buSzPct val="100000"/>
              <a:buFont typeface="Trebuchet MS"/>
              <a:buChar char="•"/>
            </a:pPr>
            <a:endParaRPr lang="en-US" sz="2000" dirty="0"/>
          </a:p>
          <a:p>
            <a:pPr marL="228600" indent="-228600">
              <a:lnSpc>
                <a:spcPct val="100000"/>
              </a:lnSpc>
              <a:spcBef>
                <a:spcPts val="1200"/>
              </a:spcBef>
              <a:buSzPct val="100000"/>
              <a:buFont typeface="Trebuchet MS"/>
              <a:buChar char="•"/>
            </a:pPr>
            <a:endParaRPr lang="en-US" sz="2000" dirty="0"/>
          </a:p>
        </p:txBody>
      </p:sp>
      <p:pic>
        <p:nvPicPr>
          <p:cNvPr id="6" name="Picture 5">
            <a:extLst>
              <a:ext uri="{FF2B5EF4-FFF2-40B4-BE49-F238E27FC236}">
                <a16:creationId xmlns:a16="http://schemas.microsoft.com/office/drawing/2014/main" id="{2892C88B-0DE5-4614-BECA-42E25E992C5B}"/>
              </a:ext>
            </a:extLst>
          </p:cNvPr>
          <p:cNvPicPr>
            <a:picLocks noChangeAspect="1"/>
          </p:cNvPicPr>
          <p:nvPr/>
        </p:nvPicPr>
        <p:blipFill>
          <a:blip r:embed="rId3"/>
          <a:stretch>
            <a:fillRect/>
          </a:stretch>
        </p:blipFill>
        <p:spPr>
          <a:xfrm>
            <a:off x="1214947" y="3367263"/>
            <a:ext cx="8791575" cy="885825"/>
          </a:xfrm>
          <a:prstGeom prst="rect">
            <a:avLst/>
          </a:prstGeom>
        </p:spPr>
      </p:pic>
      <p:sp>
        <p:nvSpPr>
          <p:cNvPr id="11" name="Rectangle 10">
            <a:extLst>
              <a:ext uri="{FF2B5EF4-FFF2-40B4-BE49-F238E27FC236}">
                <a16:creationId xmlns:a16="http://schemas.microsoft.com/office/drawing/2014/main" id="{7514FD32-8D89-4021-A63E-EE4306EA9DB2}"/>
              </a:ext>
            </a:extLst>
          </p:cNvPr>
          <p:cNvSpPr/>
          <p:nvPr/>
        </p:nvSpPr>
        <p:spPr>
          <a:xfrm>
            <a:off x="-2243" y="41475"/>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ctr"/>
            <a:r>
              <a:rPr lang="en-US" sz="2000" dirty="0">
                <a:solidFill>
                  <a:schemeClr val="accent2">
                    <a:lumMod val="75000"/>
                  </a:schemeClr>
                </a:solidFill>
              </a:rPr>
              <a:t>Prescription Follow-up and Patient Tracking Report Integration Approach </a:t>
            </a:r>
          </a:p>
          <a:p>
            <a:pPr algn="ctr">
              <a:lnSpc>
                <a:spcPct val="100000"/>
              </a:lnSpc>
            </a:pPr>
            <a:endParaRPr lang="en-US" sz="2000" dirty="0"/>
          </a:p>
        </p:txBody>
      </p:sp>
      <p:sp>
        <p:nvSpPr>
          <p:cNvPr id="4" name="Slide Number Placeholder 3">
            <a:extLst>
              <a:ext uri="{FF2B5EF4-FFF2-40B4-BE49-F238E27FC236}">
                <a16:creationId xmlns:a16="http://schemas.microsoft.com/office/drawing/2014/main" id="{2976E788-4214-4E23-B212-E252C6FBD664}"/>
              </a:ext>
            </a:extLst>
          </p:cNvPr>
          <p:cNvSpPr>
            <a:spLocks noGrp="1"/>
          </p:cNvSpPr>
          <p:nvPr>
            <p:ph type="sldNum" sz="quarter" idx="12"/>
          </p:nvPr>
        </p:nvSpPr>
        <p:spPr/>
        <p:txBody>
          <a:bodyPr/>
          <a:lstStyle/>
          <a:p>
            <a:fld id="{B58DE5F1-E0F9-4CCA-92B7-7A6FC4DFEE14}" type="slidenum">
              <a:rPr lang="en-US" smtClean="0"/>
              <a:t>4</a:t>
            </a:fld>
            <a:endParaRPr lang="en-US" dirty="0"/>
          </a:p>
        </p:txBody>
      </p:sp>
    </p:spTree>
    <p:extLst>
      <p:ext uri="{BB962C8B-B14F-4D97-AF65-F5344CB8AC3E}">
        <p14:creationId xmlns:p14="http://schemas.microsoft.com/office/powerpoint/2010/main" val="253539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Patient Tracking Drilldown and C-SCOR Reports:</a:t>
            </a:r>
          </a:p>
        </p:txBody>
      </p:sp>
      <p:sp>
        <p:nvSpPr>
          <p:cNvPr id="38" name="Rectangle 37">
            <a:extLst>
              <a:ext uri="{FF2B5EF4-FFF2-40B4-BE49-F238E27FC236}">
                <a16:creationId xmlns:a16="http://schemas.microsoft.com/office/drawing/2014/main" id="{5C75A6E9-080B-4754-A651-24B68B926C3D}"/>
              </a:ext>
            </a:extLst>
          </p:cNvPr>
          <p:cNvSpPr/>
          <p:nvPr/>
        </p:nvSpPr>
        <p:spPr>
          <a:xfrm>
            <a:off x="187404" y="1938884"/>
            <a:ext cx="10977053" cy="3556847"/>
          </a:xfrm>
          <a:prstGeom prst="rect">
            <a:avLst/>
          </a:prstGeom>
          <a:ln/>
        </p:spPr>
        <p:style>
          <a:lnRef idx="2">
            <a:schemeClr val="accent2"/>
          </a:lnRef>
          <a:fillRef idx="1">
            <a:schemeClr val="lt1"/>
          </a:fillRef>
          <a:effectRef idx="0">
            <a:schemeClr val="accent2"/>
          </a:effectRef>
          <a:fontRef idx="minor">
            <a:schemeClr val="dk1"/>
          </a:fontRef>
        </p:style>
        <p:txBody>
          <a:bodyPr tIns="90000" bIns="90000" rtlCol="0" anchor="ctr" anchorCtr="0"/>
          <a:lstStyle/>
          <a:p>
            <a:pPr algn="ctr"/>
            <a:endParaRPr lang="en-US" sz="1400" dirty="0" err="1">
              <a:solidFill>
                <a:schemeClr val="tx1"/>
              </a:solidFill>
            </a:endParaRPr>
          </a:p>
        </p:txBody>
      </p:sp>
      <p:sp>
        <p:nvSpPr>
          <p:cNvPr id="39" name="Rectangle: Rounded Corners 38">
            <a:extLst>
              <a:ext uri="{FF2B5EF4-FFF2-40B4-BE49-F238E27FC236}">
                <a16:creationId xmlns:a16="http://schemas.microsoft.com/office/drawing/2014/main" id="{77FAEFAA-4DAB-4442-AC00-B2971EC058CC}"/>
              </a:ext>
            </a:extLst>
          </p:cNvPr>
          <p:cNvSpPr/>
          <p:nvPr/>
        </p:nvSpPr>
        <p:spPr>
          <a:xfrm>
            <a:off x="1813768" y="2104734"/>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sp>
        <p:nvSpPr>
          <p:cNvPr id="40" name="Rectangle 39">
            <a:extLst>
              <a:ext uri="{FF2B5EF4-FFF2-40B4-BE49-F238E27FC236}">
                <a16:creationId xmlns:a16="http://schemas.microsoft.com/office/drawing/2014/main" id="{3BF85409-5F63-4C9E-9C7C-08E38C69F4B9}"/>
              </a:ext>
            </a:extLst>
          </p:cNvPr>
          <p:cNvSpPr/>
          <p:nvPr/>
        </p:nvSpPr>
        <p:spPr>
          <a:xfrm>
            <a:off x="2999140" y="2089777"/>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Survey Module</a:t>
            </a:r>
          </a:p>
        </p:txBody>
      </p:sp>
      <p:sp>
        <p:nvSpPr>
          <p:cNvPr id="41" name="Can 10">
            <a:extLst>
              <a:ext uri="{FF2B5EF4-FFF2-40B4-BE49-F238E27FC236}">
                <a16:creationId xmlns:a16="http://schemas.microsoft.com/office/drawing/2014/main" id="{C629F661-E28E-4531-B28A-AE30702CD583}"/>
              </a:ext>
            </a:extLst>
          </p:cNvPr>
          <p:cNvSpPr/>
          <p:nvPr/>
        </p:nvSpPr>
        <p:spPr>
          <a:xfrm>
            <a:off x="4105279"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42" name="Rectangle 41">
            <a:extLst>
              <a:ext uri="{FF2B5EF4-FFF2-40B4-BE49-F238E27FC236}">
                <a16:creationId xmlns:a16="http://schemas.microsoft.com/office/drawing/2014/main" id="{F1C14EE0-31CC-426B-B8C3-9A5595FB8288}"/>
              </a:ext>
            </a:extLst>
          </p:cNvPr>
          <p:cNvSpPr/>
          <p:nvPr/>
        </p:nvSpPr>
        <p:spPr>
          <a:xfrm>
            <a:off x="4969375" y="2230918"/>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cxnSp>
        <p:nvCxnSpPr>
          <p:cNvPr id="43" name="Straight Arrow Connector 42">
            <a:extLst>
              <a:ext uri="{FF2B5EF4-FFF2-40B4-BE49-F238E27FC236}">
                <a16:creationId xmlns:a16="http://schemas.microsoft.com/office/drawing/2014/main" id="{30D59DDA-B95F-441B-A738-1D83A8E3BF16}"/>
              </a:ext>
            </a:extLst>
          </p:cNvPr>
          <p:cNvCxnSpPr>
            <a:cxnSpLocks/>
          </p:cNvCxnSpPr>
          <p:nvPr/>
        </p:nvCxnSpPr>
        <p:spPr>
          <a:xfrm>
            <a:off x="4674020" y="2486706"/>
            <a:ext cx="295355"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4" name="Can 14">
            <a:extLst>
              <a:ext uri="{FF2B5EF4-FFF2-40B4-BE49-F238E27FC236}">
                <a16:creationId xmlns:a16="http://schemas.microsoft.com/office/drawing/2014/main" id="{750B2520-044F-4908-BF06-504523C4AFFD}"/>
              </a:ext>
            </a:extLst>
          </p:cNvPr>
          <p:cNvSpPr/>
          <p:nvPr/>
        </p:nvSpPr>
        <p:spPr>
          <a:xfrm>
            <a:off x="5905479"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45" name="Straight Arrow Connector 44">
            <a:extLst>
              <a:ext uri="{FF2B5EF4-FFF2-40B4-BE49-F238E27FC236}">
                <a16:creationId xmlns:a16="http://schemas.microsoft.com/office/drawing/2014/main" id="{96EDD63D-E40B-43DE-838B-E58A7657979C}"/>
              </a:ext>
            </a:extLst>
          </p:cNvPr>
          <p:cNvCxnSpPr>
            <a:cxnSpLocks/>
          </p:cNvCxnSpPr>
          <p:nvPr/>
        </p:nvCxnSpPr>
        <p:spPr>
          <a:xfrm flipV="1">
            <a:off x="5632938"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C83C2CC0-9EBD-419D-B45E-E76A4E6AE162}"/>
              </a:ext>
            </a:extLst>
          </p:cNvPr>
          <p:cNvCxnSpPr>
            <a:cxnSpLocks/>
            <a:stCxn id="42" idx="3"/>
          </p:cNvCxnSpPr>
          <p:nvPr/>
        </p:nvCxnSpPr>
        <p:spPr>
          <a:xfrm>
            <a:off x="5632938" y="2486707"/>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EDAE4F9B-1979-4B47-978D-97CAAFF3D5D2}"/>
              </a:ext>
            </a:extLst>
          </p:cNvPr>
          <p:cNvCxnSpPr>
            <a:cxnSpLocks/>
          </p:cNvCxnSpPr>
          <p:nvPr/>
        </p:nvCxnSpPr>
        <p:spPr>
          <a:xfrm flipV="1">
            <a:off x="3832738"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7FED461F-D94F-4627-A709-895EB8204C14}"/>
              </a:ext>
            </a:extLst>
          </p:cNvPr>
          <p:cNvCxnSpPr>
            <a:cxnSpLocks/>
          </p:cNvCxnSpPr>
          <p:nvPr/>
        </p:nvCxnSpPr>
        <p:spPr>
          <a:xfrm flipV="1">
            <a:off x="2715619"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9" name="Rectangle 48">
            <a:extLst>
              <a:ext uri="{FF2B5EF4-FFF2-40B4-BE49-F238E27FC236}">
                <a16:creationId xmlns:a16="http://schemas.microsoft.com/office/drawing/2014/main" id="{B79931A1-6A7D-4978-8BD1-7E66C1B63BB3}"/>
              </a:ext>
            </a:extLst>
          </p:cNvPr>
          <p:cNvSpPr/>
          <p:nvPr/>
        </p:nvSpPr>
        <p:spPr>
          <a:xfrm>
            <a:off x="6741316" y="2089778"/>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AF_NEW_PAT_NUM as  Patient Count</a:t>
            </a:r>
          </a:p>
        </p:txBody>
      </p:sp>
      <p:cxnSp>
        <p:nvCxnSpPr>
          <p:cNvPr id="50" name="Straight Arrow Connector 49">
            <a:extLst>
              <a:ext uri="{FF2B5EF4-FFF2-40B4-BE49-F238E27FC236}">
                <a16:creationId xmlns:a16="http://schemas.microsoft.com/office/drawing/2014/main" id="{C7088030-EF57-4833-B403-BB1FDA665A70}"/>
              </a:ext>
            </a:extLst>
          </p:cNvPr>
          <p:cNvCxnSpPr>
            <a:cxnSpLocks/>
            <a:stCxn id="44" idx="4"/>
            <a:endCxn id="49" idx="1"/>
          </p:cNvCxnSpPr>
          <p:nvPr/>
        </p:nvCxnSpPr>
        <p:spPr>
          <a:xfrm>
            <a:off x="6474220" y="2486706"/>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91A91DD6-FB20-461C-AED1-3E6F4A1D7B63}"/>
              </a:ext>
            </a:extLst>
          </p:cNvPr>
          <p:cNvSpPr txBox="1"/>
          <p:nvPr/>
        </p:nvSpPr>
        <p:spPr>
          <a:xfrm>
            <a:off x="4389649" y="1682241"/>
            <a:ext cx="2072742" cy="366424"/>
          </a:xfrm>
          <a:prstGeom prst="rect">
            <a:avLst/>
          </a:prstGeom>
          <a:noFill/>
        </p:spPr>
        <p:txBody>
          <a:bodyPr wrap="square" tIns="90000" bIns="90000" rtlCol="0" anchor="t">
            <a:spAutoFit/>
          </a:bodyPr>
          <a:lstStyle/>
          <a:p>
            <a:pPr algn="ctr"/>
            <a:r>
              <a:rPr lang="en-US" sz="1200" b="1" dirty="0"/>
              <a:t>Existing Process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35" name="Rectangle: Rounded Corners 34">
            <a:extLst>
              <a:ext uri="{FF2B5EF4-FFF2-40B4-BE49-F238E27FC236}">
                <a16:creationId xmlns:a16="http://schemas.microsoft.com/office/drawing/2014/main" id="{7F17C245-E22C-4761-A151-57597D003CB7}"/>
              </a:ext>
            </a:extLst>
          </p:cNvPr>
          <p:cNvSpPr/>
          <p:nvPr/>
        </p:nvSpPr>
        <p:spPr>
          <a:xfrm>
            <a:off x="1843355" y="3204664"/>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cxnSp>
        <p:nvCxnSpPr>
          <p:cNvPr id="36" name="Straight Arrow Connector 35">
            <a:extLst>
              <a:ext uri="{FF2B5EF4-FFF2-40B4-BE49-F238E27FC236}">
                <a16:creationId xmlns:a16="http://schemas.microsoft.com/office/drawing/2014/main" id="{14EBA857-ECC1-421A-8EA4-4AF014071B89}"/>
              </a:ext>
            </a:extLst>
          </p:cNvPr>
          <p:cNvCxnSpPr>
            <a:cxnSpLocks/>
          </p:cNvCxnSpPr>
          <p:nvPr/>
        </p:nvCxnSpPr>
        <p:spPr>
          <a:xfrm flipV="1">
            <a:off x="2715619" y="3613513"/>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2" name="Rectangle 51">
            <a:extLst>
              <a:ext uri="{FF2B5EF4-FFF2-40B4-BE49-F238E27FC236}">
                <a16:creationId xmlns:a16="http://schemas.microsoft.com/office/drawing/2014/main" id="{80D2BE66-DDB8-42EB-9897-4D22B7646021}"/>
              </a:ext>
            </a:extLst>
          </p:cNvPr>
          <p:cNvSpPr/>
          <p:nvPr/>
        </p:nvSpPr>
        <p:spPr>
          <a:xfrm>
            <a:off x="3010598" y="3182020"/>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Prescription Follow Up Object  </a:t>
            </a:r>
          </a:p>
        </p:txBody>
      </p:sp>
      <p:sp>
        <p:nvSpPr>
          <p:cNvPr id="53" name="Can 10">
            <a:extLst>
              <a:ext uri="{FF2B5EF4-FFF2-40B4-BE49-F238E27FC236}">
                <a16:creationId xmlns:a16="http://schemas.microsoft.com/office/drawing/2014/main" id="{4023E4AB-1A32-4EAD-A369-39DC9BBDC708}"/>
              </a:ext>
            </a:extLst>
          </p:cNvPr>
          <p:cNvSpPr/>
          <p:nvPr/>
        </p:nvSpPr>
        <p:spPr>
          <a:xfrm>
            <a:off x="4124448" y="3215258"/>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cxnSp>
        <p:nvCxnSpPr>
          <p:cNvPr id="54" name="Straight Arrow Connector 53">
            <a:extLst>
              <a:ext uri="{FF2B5EF4-FFF2-40B4-BE49-F238E27FC236}">
                <a16:creationId xmlns:a16="http://schemas.microsoft.com/office/drawing/2014/main" id="{E6F63D43-B81F-44EB-8B47-CBEB118D15AF}"/>
              </a:ext>
            </a:extLst>
          </p:cNvPr>
          <p:cNvCxnSpPr>
            <a:cxnSpLocks/>
          </p:cNvCxnSpPr>
          <p:nvPr/>
        </p:nvCxnSpPr>
        <p:spPr>
          <a:xfrm flipV="1">
            <a:off x="3875614" y="3625007"/>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5F478BFF-BA3B-48E6-8BD3-F14EC9E96C74}"/>
              </a:ext>
            </a:extLst>
          </p:cNvPr>
          <p:cNvCxnSpPr>
            <a:cxnSpLocks/>
          </p:cNvCxnSpPr>
          <p:nvPr/>
        </p:nvCxnSpPr>
        <p:spPr>
          <a:xfrm flipV="1">
            <a:off x="4766245" y="4603522"/>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9" name="Rectangle 58">
            <a:extLst>
              <a:ext uri="{FF2B5EF4-FFF2-40B4-BE49-F238E27FC236}">
                <a16:creationId xmlns:a16="http://schemas.microsoft.com/office/drawing/2014/main" id="{CF2B1283-90ED-4684-87A6-A15DE60A99BD}"/>
              </a:ext>
            </a:extLst>
          </p:cNvPr>
          <p:cNvSpPr/>
          <p:nvPr/>
        </p:nvSpPr>
        <p:spPr>
          <a:xfrm>
            <a:off x="5012368" y="3369218"/>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sp>
        <p:nvSpPr>
          <p:cNvPr id="4" name="TextBox 3">
            <a:extLst>
              <a:ext uri="{FF2B5EF4-FFF2-40B4-BE49-F238E27FC236}">
                <a16:creationId xmlns:a16="http://schemas.microsoft.com/office/drawing/2014/main" id="{03878B09-5A76-4A59-BD92-146B55C383FA}"/>
              </a:ext>
            </a:extLst>
          </p:cNvPr>
          <p:cNvSpPr txBox="1"/>
          <p:nvPr/>
        </p:nvSpPr>
        <p:spPr>
          <a:xfrm>
            <a:off x="1278384" y="2348880"/>
            <a:ext cx="489297" cy="288032"/>
          </a:xfrm>
          <a:prstGeom prst="rect">
            <a:avLst/>
          </a:prstGeom>
          <a:noFill/>
        </p:spPr>
        <p:txBody>
          <a:bodyPr wrap="square" lIns="0" tIns="0" rIns="0" bIns="0" rtlCol="0">
            <a:noAutofit/>
          </a:bodyPr>
          <a:lstStyle/>
          <a:p>
            <a:pPr>
              <a:lnSpc>
                <a:spcPct val="100000"/>
              </a:lnSpc>
              <a:spcBef>
                <a:spcPts val="1200"/>
              </a:spcBef>
              <a:buSzPct val="100000"/>
            </a:pPr>
            <a:endParaRPr lang="en-US" sz="1000" dirty="0"/>
          </a:p>
        </p:txBody>
      </p:sp>
      <p:sp>
        <p:nvSpPr>
          <p:cNvPr id="62" name="Can 14">
            <a:extLst>
              <a:ext uri="{FF2B5EF4-FFF2-40B4-BE49-F238E27FC236}">
                <a16:creationId xmlns:a16="http://schemas.microsoft.com/office/drawing/2014/main" id="{90BF65E8-8FC0-40BE-88A2-774F34FA06C1}"/>
              </a:ext>
            </a:extLst>
          </p:cNvPr>
          <p:cNvSpPr/>
          <p:nvPr/>
        </p:nvSpPr>
        <p:spPr>
          <a:xfrm>
            <a:off x="5905479" y="3250650"/>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sp>
        <p:nvSpPr>
          <p:cNvPr id="5" name="TextBox 4">
            <a:extLst>
              <a:ext uri="{FF2B5EF4-FFF2-40B4-BE49-F238E27FC236}">
                <a16:creationId xmlns:a16="http://schemas.microsoft.com/office/drawing/2014/main" id="{A5E3CC25-9EFC-46BD-A852-916B51F7DA51}"/>
              </a:ext>
            </a:extLst>
          </p:cNvPr>
          <p:cNvSpPr txBox="1"/>
          <p:nvPr/>
        </p:nvSpPr>
        <p:spPr>
          <a:xfrm>
            <a:off x="1214947" y="3367263"/>
            <a:ext cx="489297" cy="366424"/>
          </a:xfrm>
          <a:prstGeom prst="rect">
            <a:avLst/>
          </a:prstGeom>
          <a:noFill/>
        </p:spPr>
        <p:txBody>
          <a:bodyPr wrap="square" lIns="0" tIns="0" rIns="0" bIns="0" rtlCol="0">
            <a:noAutofit/>
          </a:bodyPr>
          <a:lstStyle/>
          <a:p>
            <a:pPr>
              <a:lnSpc>
                <a:spcPct val="100000"/>
              </a:lnSpc>
              <a:spcBef>
                <a:spcPts val="1200"/>
              </a:spcBef>
              <a:buSzPct val="100000"/>
            </a:pPr>
            <a:endParaRPr lang="en-US" sz="1000" dirty="0"/>
          </a:p>
        </p:txBody>
      </p:sp>
      <p:cxnSp>
        <p:nvCxnSpPr>
          <p:cNvPr id="71" name="Straight Arrow Connector 70">
            <a:extLst>
              <a:ext uri="{FF2B5EF4-FFF2-40B4-BE49-F238E27FC236}">
                <a16:creationId xmlns:a16="http://schemas.microsoft.com/office/drawing/2014/main" id="{DBFD570B-A782-41BC-88FD-D2A9D43F3C78}"/>
              </a:ext>
            </a:extLst>
          </p:cNvPr>
          <p:cNvCxnSpPr>
            <a:cxnSpLocks/>
          </p:cNvCxnSpPr>
          <p:nvPr/>
        </p:nvCxnSpPr>
        <p:spPr>
          <a:xfrm>
            <a:off x="5675931" y="3625007"/>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79E4119B-5770-485F-B899-A01871A6CC06}"/>
              </a:ext>
            </a:extLst>
          </p:cNvPr>
          <p:cNvCxnSpPr>
            <a:cxnSpLocks/>
          </p:cNvCxnSpPr>
          <p:nvPr/>
        </p:nvCxnSpPr>
        <p:spPr>
          <a:xfrm>
            <a:off x="6474220" y="3625007"/>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80D75379-57D4-4302-B137-1C1510CBBC53}"/>
              </a:ext>
            </a:extLst>
          </p:cNvPr>
          <p:cNvCxnSpPr>
            <a:stCxn id="49" idx="3"/>
          </p:cNvCxnSpPr>
          <p:nvPr/>
        </p:nvCxnSpPr>
        <p:spPr>
          <a:xfrm flipV="1">
            <a:off x="8322803" y="2486704"/>
            <a:ext cx="578601" cy="2"/>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4" name="Straight Connector 13">
            <a:extLst>
              <a:ext uri="{FF2B5EF4-FFF2-40B4-BE49-F238E27FC236}">
                <a16:creationId xmlns:a16="http://schemas.microsoft.com/office/drawing/2014/main" id="{F9B821D5-E1E2-4C30-A51B-2CA09085A04C}"/>
              </a:ext>
            </a:extLst>
          </p:cNvPr>
          <p:cNvCxnSpPr>
            <a:cxnSpLocks/>
          </p:cNvCxnSpPr>
          <p:nvPr/>
        </p:nvCxnSpPr>
        <p:spPr>
          <a:xfrm flipV="1">
            <a:off x="8322803" y="3549143"/>
            <a:ext cx="630170" cy="5252"/>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6" name="Straight Connector 15">
            <a:extLst>
              <a:ext uri="{FF2B5EF4-FFF2-40B4-BE49-F238E27FC236}">
                <a16:creationId xmlns:a16="http://schemas.microsoft.com/office/drawing/2014/main" id="{5EC2B07D-913F-4A02-9243-B25B434EB4D1}"/>
              </a:ext>
            </a:extLst>
          </p:cNvPr>
          <p:cNvCxnSpPr>
            <a:cxnSpLocks/>
          </p:cNvCxnSpPr>
          <p:nvPr/>
        </p:nvCxnSpPr>
        <p:spPr>
          <a:xfrm>
            <a:off x="8901404" y="2486704"/>
            <a:ext cx="0" cy="1031313"/>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60" name="Straight Arrow Connector 59">
            <a:extLst>
              <a:ext uri="{FF2B5EF4-FFF2-40B4-BE49-F238E27FC236}">
                <a16:creationId xmlns:a16="http://schemas.microsoft.com/office/drawing/2014/main" id="{48390EA0-4FB2-4B83-A615-0965EA0010A7}"/>
              </a:ext>
            </a:extLst>
          </p:cNvPr>
          <p:cNvCxnSpPr>
            <a:cxnSpLocks/>
          </p:cNvCxnSpPr>
          <p:nvPr/>
        </p:nvCxnSpPr>
        <p:spPr>
          <a:xfrm>
            <a:off x="8901404" y="3529658"/>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61" name="Can 14">
            <a:extLst>
              <a:ext uri="{FF2B5EF4-FFF2-40B4-BE49-F238E27FC236}">
                <a16:creationId xmlns:a16="http://schemas.microsoft.com/office/drawing/2014/main" id="{FB0B70BA-D138-46A1-94AE-9240484778EF}"/>
              </a:ext>
            </a:extLst>
          </p:cNvPr>
          <p:cNvSpPr/>
          <p:nvPr/>
        </p:nvSpPr>
        <p:spPr>
          <a:xfrm>
            <a:off x="9175985" y="3056368"/>
            <a:ext cx="824456" cy="824427"/>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Summary Table </a:t>
            </a:r>
          </a:p>
        </p:txBody>
      </p:sp>
      <p:sp>
        <p:nvSpPr>
          <p:cNvPr id="65" name="Can 14">
            <a:extLst>
              <a:ext uri="{FF2B5EF4-FFF2-40B4-BE49-F238E27FC236}">
                <a16:creationId xmlns:a16="http://schemas.microsoft.com/office/drawing/2014/main" id="{A65D9E53-8DE6-4429-943D-256959EA7B6D}"/>
              </a:ext>
            </a:extLst>
          </p:cNvPr>
          <p:cNvSpPr/>
          <p:nvPr/>
        </p:nvSpPr>
        <p:spPr>
          <a:xfrm>
            <a:off x="10378232" y="225751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L3 (Drilldown)</a:t>
            </a:r>
            <a:endParaRPr kumimoji="0" lang="en-US" sz="1100" b="0" i="0" u="none" strike="noStrike" kern="0" cap="none" spc="0" normalizeH="0" baseline="0" noProof="0" dirty="0">
              <a:ln>
                <a:noFill/>
              </a:ln>
              <a:solidFill>
                <a:srgbClr val="000000"/>
              </a:solidFill>
              <a:effectLst/>
              <a:uLnTx/>
              <a:uFillTx/>
              <a:ea typeface="+mn-ea"/>
              <a:cs typeface="+mn-cs"/>
            </a:endParaRPr>
          </a:p>
        </p:txBody>
      </p:sp>
      <p:sp>
        <p:nvSpPr>
          <p:cNvPr id="66" name="Can 14">
            <a:extLst>
              <a:ext uri="{FF2B5EF4-FFF2-40B4-BE49-F238E27FC236}">
                <a16:creationId xmlns:a16="http://schemas.microsoft.com/office/drawing/2014/main" id="{79EDD87F-DA12-4F56-A72D-7C9013CA8C0A}"/>
              </a:ext>
            </a:extLst>
          </p:cNvPr>
          <p:cNvSpPr/>
          <p:nvPr/>
        </p:nvSpPr>
        <p:spPr>
          <a:xfrm>
            <a:off x="10378231" y="404531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L3</a:t>
            </a:r>
          </a:p>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(C-SCOR)</a:t>
            </a: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68" name="Straight Arrow Connector 67">
            <a:extLst>
              <a:ext uri="{FF2B5EF4-FFF2-40B4-BE49-F238E27FC236}">
                <a16:creationId xmlns:a16="http://schemas.microsoft.com/office/drawing/2014/main" id="{57D799FE-85A0-476D-925B-6277070FD130}"/>
              </a:ext>
            </a:extLst>
          </p:cNvPr>
          <p:cNvCxnSpPr>
            <a:cxnSpLocks/>
            <a:endCxn id="65" idx="2"/>
          </p:cNvCxnSpPr>
          <p:nvPr/>
        </p:nvCxnSpPr>
        <p:spPr>
          <a:xfrm flipV="1">
            <a:off x="10021935" y="2639486"/>
            <a:ext cx="356297" cy="816672"/>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78CF4AF3-5F0E-4F6E-810B-9B705F9B1DEF}"/>
              </a:ext>
            </a:extLst>
          </p:cNvPr>
          <p:cNvCxnSpPr>
            <a:cxnSpLocks/>
            <a:stCxn id="61" idx="4"/>
            <a:endCxn id="66" idx="2"/>
          </p:cNvCxnSpPr>
          <p:nvPr/>
        </p:nvCxnSpPr>
        <p:spPr>
          <a:xfrm>
            <a:off x="10000441" y="3468582"/>
            <a:ext cx="377790" cy="958704"/>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22" name="Left Brace 21">
            <a:extLst>
              <a:ext uri="{FF2B5EF4-FFF2-40B4-BE49-F238E27FC236}">
                <a16:creationId xmlns:a16="http://schemas.microsoft.com/office/drawing/2014/main" id="{95EB68D0-D991-479B-B561-003D691655E0}"/>
              </a:ext>
            </a:extLst>
          </p:cNvPr>
          <p:cNvSpPr/>
          <p:nvPr/>
        </p:nvSpPr>
        <p:spPr>
          <a:xfrm>
            <a:off x="1375229" y="2486704"/>
            <a:ext cx="329016" cy="1246983"/>
          </a:xfrm>
          <a:prstGeom prst="leftBrace">
            <a:avLst/>
          </a:prstGeo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B411D966-6678-4D43-BD99-84257F648BD4}"/>
              </a:ext>
            </a:extLst>
          </p:cNvPr>
          <p:cNvSpPr txBox="1"/>
          <p:nvPr/>
        </p:nvSpPr>
        <p:spPr>
          <a:xfrm>
            <a:off x="242239" y="3013196"/>
            <a:ext cx="1171550" cy="686434"/>
          </a:xfrm>
          <a:prstGeom prst="rect">
            <a:avLst/>
          </a:prstGeom>
          <a:noFill/>
        </p:spPr>
        <p:txBody>
          <a:bodyPr wrap="square" lIns="0" tIns="0" rIns="0" bIns="0" rtlCol="0">
            <a:noAutofit/>
          </a:bodyPr>
          <a:lstStyle/>
          <a:p>
            <a:pPr>
              <a:lnSpc>
                <a:spcPct val="100000"/>
              </a:lnSpc>
              <a:spcBef>
                <a:spcPts val="1200"/>
              </a:spcBef>
              <a:buSzPct val="100000"/>
            </a:pPr>
            <a:r>
              <a:rPr lang="en-US" sz="1200" dirty="0"/>
              <a:t>New Patients and Potential Patients</a:t>
            </a:r>
          </a:p>
        </p:txBody>
      </p:sp>
      <p:sp>
        <p:nvSpPr>
          <p:cNvPr id="70" name="Rectangle: Rounded Corners 69">
            <a:extLst>
              <a:ext uri="{FF2B5EF4-FFF2-40B4-BE49-F238E27FC236}">
                <a16:creationId xmlns:a16="http://schemas.microsoft.com/office/drawing/2014/main" id="{014E54AA-15B5-48F2-8FA8-3E29233439ED}"/>
              </a:ext>
            </a:extLst>
          </p:cNvPr>
          <p:cNvSpPr/>
          <p:nvPr/>
        </p:nvSpPr>
        <p:spPr>
          <a:xfrm>
            <a:off x="1843355" y="4225251"/>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sp>
        <p:nvSpPr>
          <p:cNvPr id="75" name="Rectangle 74">
            <a:extLst>
              <a:ext uri="{FF2B5EF4-FFF2-40B4-BE49-F238E27FC236}">
                <a16:creationId xmlns:a16="http://schemas.microsoft.com/office/drawing/2014/main" id="{7074D6B0-D74B-43F9-92AE-FB2392C805EF}"/>
              </a:ext>
            </a:extLst>
          </p:cNvPr>
          <p:cNvSpPr/>
          <p:nvPr/>
        </p:nvSpPr>
        <p:spPr>
          <a:xfrm>
            <a:off x="3007742" y="4201867"/>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Product Metric Object</a:t>
            </a:r>
          </a:p>
        </p:txBody>
      </p:sp>
      <p:sp>
        <p:nvSpPr>
          <p:cNvPr id="76" name="Can 10">
            <a:extLst>
              <a:ext uri="{FF2B5EF4-FFF2-40B4-BE49-F238E27FC236}">
                <a16:creationId xmlns:a16="http://schemas.microsoft.com/office/drawing/2014/main" id="{EDB2393A-7568-4C98-B2A7-86CD5AE7880F}"/>
              </a:ext>
            </a:extLst>
          </p:cNvPr>
          <p:cNvSpPr/>
          <p:nvPr/>
        </p:nvSpPr>
        <p:spPr>
          <a:xfrm>
            <a:off x="4142052" y="4198483"/>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78" name="Rectangle 77">
            <a:extLst>
              <a:ext uri="{FF2B5EF4-FFF2-40B4-BE49-F238E27FC236}">
                <a16:creationId xmlns:a16="http://schemas.microsoft.com/office/drawing/2014/main" id="{3A14D7EA-C613-48C5-AE02-B5C3088F54A8}"/>
              </a:ext>
            </a:extLst>
          </p:cNvPr>
          <p:cNvSpPr/>
          <p:nvPr/>
        </p:nvSpPr>
        <p:spPr>
          <a:xfrm>
            <a:off x="5028021" y="4324666"/>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sp>
        <p:nvSpPr>
          <p:cNvPr id="79" name="Can 14">
            <a:extLst>
              <a:ext uri="{FF2B5EF4-FFF2-40B4-BE49-F238E27FC236}">
                <a16:creationId xmlns:a16="http://schemas.microsoft.com/office/drawing/2014/main" id="{8CD63F3D-6F48-4FD7-BA9A-B054C3C84A86}"/>
              </a:ext>
            </a:extLst>
          </p:cNvPr>
          <p:cNvSpPr/>
          <p:nvPr/>
        </p:nvSpPr>
        <p:spPr>
          <a:xfrm>
            <a:off x="5931677" y="4198483"/>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82" name="Straight Connector 81">
            <a:extLst>
              <a:ext uri="{FF2B5EF4-FFF2-40B4-BE49-F238E27FC236}">
                <a16:creationId xmlns:a16="http://schemas.microsoft.com/office/drawing/2014/main" id="{F43B9FB7-323E-4FFE-B15D-D403781F113D}"/>
              </a:ext>
            </a:extLst>
          </p:cNvPr>
          <p:cNvCxnSpPr>
            <a:cxnSpLocks/>
          </p:cNvCxnSpPr>
          <p:nvPr/>
        </p:nvCxnSpPr>
        <p:spPr>
          <a:xfrm>
            <a:off x="8901404" y="3529658"/>
            <a:ext cx="0" cy="1031313"/>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84" name="Straight Connector 83">
            <a:extLst>
              <a:ext uri="{FF2B5EF4-FFF2-40B4-BE49-F238E27FC236}">
                <a16:creationId xmlns:a16="http://schemas.microsoft.com/office/drawing/2014/main" id="{DF135D66-6A62-42EF-9DB0-3687AE44FCD7}"/>
              </a:ext>
            </a:extLst>
          </p:cNvPr>
          <p:cNvCxnSpPr>
            <a:cxnSpLocks/>
            <a:stCxn id="91" idx="3"/>
          </p:cNvCxnSpPr>
          <p:nvPr/>
        </p:nvCxnSpPr>
        <p:spPr>
          <a:xfrm>
            <a:off x="8391478" y="4580454"/>
            <a:ext cx="509926" cy="784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85" name="Straight Arrow Connector 84">
            <a:extLst>
              <a:ext uri="{FF2B5EF4-FFF2-40B4-BE49-F238E27FC236}">
                <a16:creationId xmlns:a16="http://schemas.microsoft.com/office/drawing/2014/main" id="{F6F9C56B-E069-4892-BBA5-ACFC17581D89}"/>
              </a:ext>
            </a:extLst>
          </p:cNvPr>
          <p:cNvCxnSpPr>
            <a:cxnSpLocks/>
          </p:cNvCxnSpPr>
          <p:nvPr/>
        </p:nvCxnSpPr>
        <p:spPr>
          <a:xfrm flipV="1">
            <a:off x="2728695" y="462028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072524D9-6949-48C2-9D13-09159A2DF80C}"/>
              </a:ext>
            </a:extLst>
          </p:cNvPr>
          <p:cNvCxnSpPr>
            <a:cxnSpLocks/>
          </p:cNvCxnSpPr>
          <p:nvPr/>
        </p:nvCxnSpPr>
        <p:spPr>
          <a:xfrm flipV="1">
            <a:off x="3860498" y="4607223"/>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7" name="Left Brace 86">
            <a:extLst>
              <a:ext uri="{FF2B5EF4-FFF2-40B4-BE49-F238E27FC236}">
                <a16:creationId xmlns:a16="http://schemas.microsoft.com/office/drawing/2014/main" id="{9FE6BA63-F292-40D1-B860-2BBC89C3F6A4}"/>
              </a:ext>
            </a:extLst>
          </p:cNvPr>
          <p:cNvSpPr/>
          <p:nvPr/>
        </p:nvSpPr>
        <p:spPr>
          <a:xfrm>
            <a:off x="1386724" y="4427285"/>
            <a:ext cx="329016" cy="412573"/>
          </a:xfrm>
          <a:prstGeom prst="leftBrace">
            <a:avLst/>
          </a:prstGeo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30" name="TextBox 29">
            <a:extLst>
              <a:ext uri="{FF2B5EF4-FFF2-40B4-BE49-F238E27FC236}">
                <a16:creationId xmlns:a16="http://schemas.microsoft.com/office/drawing/2014/main" id="{4394AC7C-D949-4DF7-8F4F-3FCF51D3271B}"/>
              </a:ext>
            </a:extLst>
          </p:cNvPr>
          <p:cNvSpPr txBox="1"/>
          <p:nvPr/>
        </p:nvSpPr>
        <p:spPr>
          <a:xfrm>
            <a:off x="251760" y="4434221"/>
            <a:ext cx="1079512" cy="535142"/>
          </a:xfrm>
          <a:prstGeom prst="rect">
            <a:avLst/>
          </a:prstGeom>
          <a:noFill/>
        </p:spPr>
        <p:txBody>
          <a:bodyPr wrap="square" lIns="0" tIns="0" rIns="0" bIns="0" rtlCol="0">
            <a:noAutofit/>
          </a:bodyPr>
          <a:lstStyle/>
          <a:p>
            <a:pPr>
              <a:lnSpc>
                <a:spcPct val="100000"/>
              </a:lnSpc>
              <a:spcBef>
                <a:spcPts val="1200"/>
              </a:spcBef>
              <a:buSzPct val="100000"/>
            </a:pPr>
            <a:r>
              <a:rPr lang="en-US" sz="1200" dirty="0"/>
              <a:t>Target Patients</a:t>
            </a:r>
          </a:p>
        </p:txBody>
      </p:sp>
      <p:cxnSp>
        <p:nvCxnSpPr>
          <p:cNvPr id="88" name="Straight Arrow Connector 87">
            <a:extLst>
              <a:ext uri="{FF2B5EF4-FFF2-40B4-BE49-F238E27FC236}">
                <a16:creationId xmlns:a16="http://schemas.microsoft.com/office/drawing/2014/main" id="{B13019B1-A529-4E15-B1B3-C4BF52E63D88}"/>
              </a:ext>
            </a:extLst>
          </p:cNvPr>
          <p:cNvCxnSpPr>
            <a:cxnSpLocks/>
          </p:cNvCxnSpPr>
          <p:nvPr/>
        </p:nvCxnSpPr>
        <p:spPr>
          <a:xfrm>
            <a:off x="5691584" y="4598794"/>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9" name="Straight Arrow Connector 88">
            <a:extLst>
              <a:ext uri="{FF2B5EF4-FFF2-40B4-BE49-F238E27FC236}">
                <a16:creationId xmlns:a16="http://schemas.microsoft.com/office/drawing/2014/main" id="{A8CECF29-490F-4C82-86E9-81BB08D8B8E4}"/>
              </a:ext>
            </a:extLst>
          </p:cNvPr>
          <p:cNvCxnSpPr>
            <a:cxnSpLocks/>
          </p:cNvCxnSpPr>
          <p:nvPr/>
        </p:nvCxnSpPr>
        <p:spPr>
          <a:xfrm>
            <a:off x="6535008" y="4588294"/>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90" name="Rectangle 89">
            <a:extLst>
              <a:ext uri="{FF2B5EF4-FFF2-40B4-BE49-F238E27FC236}">
                <a16:creationId xmlns:a16="http://schemas.microsoft.com/office/drawing/2014/main" id="{F6B15CBB-8207-4343-858C-5B6F0FBF77CD}"/>
              </a:ext>
            </a:extLst>
          </p:cNvPr>
          <p:cNvSpPr/>
          <p:nvPr/>
        </p:nvSpPr>
        <p:spPr>
          <a:xfrm>
            <a:off x="6730569" y="3182020"/>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count(</a:t>
            </a:r>
            <a:r>
              <a:rPr lang="en-US" sz="1100" kern="0" dirty="0" err="1">
                <a:solidFill>
                  <a:srgbClr val="000000"/>
                </a:solidFill>
              </a:rPr>
              <a:t>bp_prd_rx_id</a:t>
            </a:r>
            <a:r>
              <a:rPr lang="en-US" sz="1100" kern="0" dirty="0">
                <a:solidFill>
                  <a:srgbClr val="000000"/>
                </a:solidFill>
              </a:rPr>
              <a:t>) as Patient Count </a:t>
            </a:r>
          </a:p>
        </p:txBody>
      </p:sp>
      <p:sp>
        <p:nvSpPr>
          <p:cNvPr id="91" name="Rectangle 90">
            <a:extLst>
              <a:ext uri="{FF2B5EF4-FFF2-40B4-BE49-F238E27FC236}">
                <a16:creationId xmlns:a16="http://schemas.microsoft.com/office/drawing/2014/main" id="{7E13127B-ADE3-460C-884C-AA0F9DB94B68}"/>
              </a:ext>
            </a:extLst>
          </p:cNvPr>
          <p:cNvSpPr/>
          <p:nvPr/>
        </p:nvSpPr>
        <p:spPr>
          <a:xfrm>
            <a:off x="6809991" y="4183526"/>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Sum(</a:t>
            </a:r>
            <a:r>
              <a:rPr lang="en-US" sz="1100" kern="0" dirty="0" err="1">
                <a:solidFill>
                  <a:srgbClr val="000000"/>
                </a:solidFill>
              </a:rPr>
              <a:t>pat_num</a:t>
            </a:r>
            <a:r>
              <a:rPr lang="en-US" sz="1100" kern="0" dirty="0">
                <a:solidFill>
                  <a:srgbClr val="000000"/>
                </a:solidFill>
              </a:rPr>
              <a:t>) as Patient Count </a:t>
            </a:r>
          </a:p>
        </p:txBody>
      </p:sp>
      <p:cxnSp>
        <p:nvCxnSpPr>
          <p:cNvPr id="94" name="Straight Arrow Connector 93">
            <a:extLst>
              <a:ext uri="{FF2B5EF4-FFF2-40B4-BE49-F238E27FC236}">
                <a16:creationId xmlns:a16="http://schemas.microsoft.com/office/drawing/2014/main" id="{1961512F-6C12-4C24-B43C-5504FD07A35D}"/>
              </a:ext>
            </a:extLst>
          </p:cNvPr>
          <p:cNvCxnSpPr>
            <a:cxnSpLocks/>
          </p:cNvCxnSpPr>
          <p:nvPr/>
        </p:nvCxnSpPr>
        <p:spPr>
          <a:xfrm>
            <a:off x="4739827" y="3651797"/>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95" name="Speech Bubble: Rectangle with Corners Rounded 94">
            <a:extLst>
              <a:ext uri="{FF2B5EF4-FFF2-40B4-BE49-F238E27FC236}">
                <a16:creationId xmlns:a16="http://schemas.microsoft.com/office/drawing/2014/main" id="{27CD8593-F396-459F-99DF-9F61F80484E0}"/>
              </a:ext>
            </a:extLst>
          </p:cNvPr>
          <p:cNvSpPr/>
          <p:nvPr/>
        </p:nvSpPr>
        <p:spPr>
          <a:xfrm>
            <a:off x="8312056" y="5047368"/>
            <a:ext cx="1812974" cy="1143676"/>
          </a:xfrm>
          <a:prstGeom prst="wedgeRoundRectCallout">
            <a:avLst>
              <a:gd name="adj1" fmla="val 48985"/>
              <a:gd name="adj2" fmla="val -162635"/>
              <a:gd name="adj3" fmla="val 16667"/>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000" kern="0" dirty="0">
                <a:solidFill>
                  <a:schemeClr val="bg1"/>
                </a:solidFill>
              </a:rPr>
              <a:t>Consecutive Patients are calculated here , which are </a:t>
            </a:r>
            <a:r>
              <a:rPr lang="en-US" sz="1000" dirty="0"/>
              <a:t>Total number of new patients over </a:t>
            </a:r>
            <a:r>
              <a:rPr lang="en-US" sz="1000" kern="0" dirty="0">
                <a:solidFill>
                  <a:schemeClr val="bg1"/>
                </a:solidFill>
              </a:rPr>
              <a:t> </a:t>
            </a:r>
            <a:r>
              <a:rPr lang="en-US" sz="1000" dirty="0"/>
              <a:t>the past 7 months, including the selected month </a:t>
            </a:r>
            <a:endParaRPr lang="en-US" sz="1000" kern="0" dirty="0">
              <a:solidFill>
                <a:schemeClr val="bg1"/>
              </a:solidFill>
            </a:endParaRPr>
          </a:p>
        </p:txBody>
      </p:sp>
      <p:sp>
        <p:nvSpPr>
          <p:cNvPr id="63" name="Rectangle 62">
            <a:extLst>
              <a:ext uri="{FF2B5EF4-FFF2-40B4-BE49-F238E27FC236}">
                <a16:creationId xmlns:a16="http://schemas.microsoft.com/office/drawing/2014/main" id="{DA1D364B-2138-46B0-8700-F17D502629DF}"/>
              </a:ext>
            </a:extLst>
          </p:cNvPr>
          <p:cNvSpPr/>
          <p:nvPr/>
        </p:nvSpPr>
        <p:spPr>
          <a:xfrm>
            <a:off x="-2243" y="41475"/>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ctr"/>
            <a:r>
              <a:rPr lang="en-US" sz="2000" dirty="0">
                <a:solidFill>
                  <a:schemeClr val="accent2">
                    <a:lumMod val="75000"/>
                  </a:schemeClr>
                </a:solidFill>
              </a:rPr>
              <a:t>Prescription Follow-up and Patient Tracking Report Integration Approach </a:t>
            </a:r>
          </a:p>
          <a:p>
            <a:pPr algn="ctr">
              <a:lnSpc>
                <a:spcPct val="100000"/>
              </a:lnSpc>
            </a:pPr>
            <a:endParaRPr lang="en-US" sz="2000" dirty="0"/>
          </a:p>
        </p:txBody>
      </p:sp>
      <p:sp>
        <p:nvSpPr>
          <p:cNvPr id="2" name="Slide Number Placeholder 1">
            <a:extLst>
              <a:ext uri="{FF2B5EF4-FFF2-40B4-BE49-F238E27FC236}">
                <a16:creationId xmlns:a16="http://schemas.microsoft.com/office/drawing/2014/main" id="{19E5CDE6-2188-42C1-AC13-E4F206616D58}"/>
              </a:ext>
            </a:extLst>
          </p:cNvPr>
          <p:cNvSpPr>
            <a:spLocks noGrp="1"/>
          </p:cNvSpPr>
          <p:nvPr>
            <p:ph type="sldNum" sz="quarter" idx="12"/>
          </p:nvPr>
        </p:nvSpPr>
        <p:spPr/>
        <p:txBody>
          <a:bodyPr/>
          <a:lstStyle/>
          <a:p>
            <a:fld id="{B58DE5F1-E0F9-4CCA-92B7-7A6FC4DFEE14}" type="slidenum">
              <a:rPr lang="en-US" smtClean="0"/>
              <a:t>5</a:t>
            </a:fld>
            <a:endParaRPr lang="en-US" dirty="0"/>
          </a:p>
        </p:txBody>
      </p:sp>
    </p:spTree>
    <p:extLst>
      <p:ext uri="{BB962C8B-B14F-4D97-AF65-F5344CB8AC3E}">
        <p14:creationId xmlns:p14="http://schemas.microsoft.com/office/powerpoint/2010/main" val="2573192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Patient Tracking Drilldown and C-SCOR Reports:</a:t>
            </a:r>
          </a:p>
        </p:txBody>
      </p:sp>
      <p:sp>
        <p:nvSpPr>
          <p:cNvPr id="58" name="TextBox 57">
            <a:extLst>
              <a:ext uri="{FF2B5EF4-FFF2-40B4-BE49-F238E27FC236}">
                <a16:creationId xmlns:a16="http://schemas.microsoft.com/office/drawing/2014/main" id="{91A91DD6-FB20-461C-AED1-3E6F4A1D7B63}"/>
              </a:ext>
            </a:extLst>
          </p:cNvPr>
          <p:cNvSpPr txBox="1"/>
          <p:nvPr/>
        </p:nvSpPr>
        <p:spPr>
          <a:xfrm>
            <a:off x="4389648" y="1682241"/>
            <a:ext cx="2766931" cy="366424"/>
          </a:xfrm>
          <a:prstGeom prst="rect">
            <a:avLst/>
          </a:prstGeom>
          <a:noFill/>
        </p:spPr>
        <p:txBody>
          <a:bodyPr wrap="square" tIns="90000" bIns="90000" rtlCol="0" anchor="t">
            <a:spAutoFit/>
          </a:bodyPr>
          <a:lstStyle/>
          <a:p>
            <a:pPr algn="ctr"/>
            <a:r>
              <a:rPr lang="en-US" sz="1200" b="1" dirty="0"/>
              <a:t>Process after Batch-2 Changes </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35" name="Rectangle: Rounded Corners 34">
            <a:extLst>
              <a:ext uri="{FF2B5EF4-FFF2-40B4-BE49-F238E27FC236}">
                <a16:creationId xmlns:a16="http://schemas.microsoft.com/office/drawing/2014/main" id="{7F17C245-E22C-4761-A151-57597D003CB7}"/>
              </a:ext>
            </a:extLst>
          </p:cNvPr>
          <p:cNvSpPr/>
          <p:nvPr/>
        </p:nvSpPr>
        <p:spPr>
          <a:xfrm>
            <a:off x="1749992" y="2292424"/>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cxnSp>
        <p:nvCxnSpPr>
          <p:cNvPr id="36" name="Straight Arrow Connector 35">
            <a:extLst>
              <a:ext uri="{FF2B5EF4-FFF2-40B4-BE49-F238E27FC236}">
                <a16:creationId xmlns:a16="http://schemas.microsoft.com/office/drawing/2014/main" id="{14EBA857-ECC1-421A-8EA4-4AF014071B89}"/>
              </a:ext>
            </a:extLst>
          </p:cNvPr>
          <p:cNvCxnSpPr>
            <a:cxnSpLocks/>
          </p:cNvCxnSpPr>
          <p:nvPr/>
        </p:nvCxnSpPr>
        <p:spPr>
          <a:xfrm flipV="1">
            <a:off x="2643750" y="2708087"/>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2" name="Rectangle 51">
            <a:extLst>
              <a:ext uri="{FF2B5EF4-FFF2-40B4-BE49-F238E27FC236}">
                <a16:creationId xmlns:a16="http://schemas.microsoft.com/office/drawing/2014/main" id="{80D2BE66-DDB8-42EB-9897-4D22B7646021}"/>
              </a:ext>
            </a:extLst>
          </p:cNvPr>
          <p:cNvSpPr/>
          <p:nvPr/>
        </p:nvSpPr>
        <p:spPr>
          <a:xfrm>
            <a:off x="2960964" y="2270021"/>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Prescription Follow Up Object  </a:t>
            </a:r>
          </a:p>
        </p:txBody>
      </p:sp>
      <p:sp>
        <p:nvSpPr>
          <p:cNvPr id="53" name="Can 10">
            <a:extLst>
              <a:ext uri="{FF2B5EF4-FFF2-40B4-BE49-F238E27FC236}">
                <a16:creationId xmlns:a16="http://schemas.microsoft.com/office/drawing/2014/main" id="{4023E4AB-1A32-4EAD-A369-39DC9BBDC708}"/>
              </a:ext>
            </a:extLst>
          </p:cNvPr>
          <p:cNvSpPr/>
          <p:nvPr/>
        </p:nvSpPr>
        <p:spPr>
          <a:xfrm>
            <a:off x="4153976" y="229242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cxnSp>
        <p:nvCxnSpPr>
          <p:cNvPr id="54" name="Straight Arrow Connector 53">
            <a:extLst>
              <a:ext uri="{FF2B5EF4-FFF2-40B4-BE49-F238E27FC236}">
                <a16:creationId xmlns:a16="http://schemas.microsoft.com/office/drawing/2014/main" id="{E6F63D43-B81F-44EB-8B47-CBEB118D15AF}"/>
              </a:ext>
            </a:extLst>
          </p:cNvPr>
          <p:cNvCxnSpPr>
            <a:cxnSpLocks/>
          </p:cNvCxnSpPr>
          <p:nvPr/>
        </p:nvCxnSpPr>
        <p:spPr>
          <a:xfrm flipV="1">
            <a:off x="3781869" y="2707655"/>
            <a:ext cx="313809"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5F478BFF-BA3B-48E6-8BD3-F14EC9E96C74}"/>
              </a:ext>
            </a:extLst>
          </p:cNvPr>
          <p:cNvCxnSpPr>
            <a:cxnSpLocks/>
          </p:cNvCxnSpPr>
          <p:nvPr/>
        </p:nvCxnSpPr>
        <p:spPr>
          <a:xfrm flipV="1">
            <a:off x="4766245" y="4603522"/>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9" name="Rectangle 58">
            <a:extLst>
              <a:ext uri="{FF2B5EF4-FFF2-40B4-BE49-F238E27FC236}">
                <a16:creationId xmlns:a16="http://schemas.microsoft.com/office/drawing/2014/main" id="{CF2B1283-90ED-4684-87A6-A15DE60A99BD}"/>
              </a:ext>
            </a:extLst>
          </p:cNvPr>
          <p:cNvSpPr/>
          <p:nvPr/>
        </p:nvSpPr>
        <p:spPr>
          <a:xfrm>
            <a:off x="5012061" y="2436959"/>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sp>
        <p:nvSpPr>
          <p:cNvPr id="4" name="TextBox 3">
            <a:extLst>
              <a:ext uri="{FF2B5EF4-FFF2-40B4-BE49-F238E27FC236}">
                <a16:creationId xmlns:a16="http://schemas.microsoft.com/office/drawing/2014/main" id="{03878B09-5A76-4A59-BD92-146B55C383FA}"/>
              </a:ext>
            </a:extLst>
          </p:cNvPr>
          <p:cNvSpPr txBox="1"/>
          <p:nvPr/>
        </p:nvSpPr>
        <p:spPr>
          <a:xfrm>
            <a:off x="1278384" y="2348880"/>
            <a:ext cx="489297" cy="288032"/>
          </a:xfrm>
          <a:prstGeom prst="rect">
            <a:avLst/>
          </a:prstGeom>
          <a:noFill/>
        </p:spPr>
        <p:txBody>
          <a:bodyPr wrap="square" lIns="0" tIns="0" rIns="0" bIns="0" rtlCol="0">
            <a:noAutofit/>
          </a:bodyPr>
          <a:lstStyle/>
          <a:p>
            <a:pPr>
              <a:lnSpc>
                <a:spcPct val="100000"/>
              </a:lnSpc>
              <a:spcBef>
                <a:spcPts val="1200"/>
              </a:spcBef>
              <a:buSzPct val="100000"/>
            </a:pPr>
            <a:endParaRPr lang="en-US" sz="1000" dirty="0"/>
          </a:p>
        </p:txBody>
      </p:sp>
      <p:sp>
        <p:nvSpPr>
          <p:cNvPr id="62" name="Can 14">
            <a:extLst>
              <a:ext uri="{FF2B5EF4-FFF2-40B4-BE49-F238E27FC236}">
                <a16:creationId xmlns:a16="http://schemas.microsoft.com/office/drawing/2014/main" id="{90BF65E8-8FC0-40BE-88A2-774F34FA06C1}"/>
              </a:ext>
            </a:extLst>
          </p:cNvPr>
          <p:cNvSpPr/>
          <p:nvPr/>
        </p:nvSpPr>
        <p:spPr>
          <a:xfrm>
            <a:off x="5921880" y="2309242"/>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sp>
        <p:nvSpPr>
          <p:cNvPr id="5" name="TextBox 4">
            <a:extLst>
              <a:ext uri="{FF2B5EF4-FFF2-40B4-BE49-F238E27FC236}">
                <a16:creationId xmlns:a16="http://schemas.microsoft.com/office/drawing/2014/main" id="{A5E3CC25-9EFC-46BD-A852-916B51F7DA51}"/>
              </a:ext>
            </a:extLst>
          </p:cNvPr>
          <p:cNvSpPr txBox="1"/>
          <p:nvPr/>
        </p:nvSpPr>
        <p:spPr>
          <a:xfrm>
            <a:off x="1214947" y="3367263"/>
            <a:ext cx="489297" cy="366424"/>
          </a:xfrm>
          <a:prstGeom prst="rect">
            <a:avLst/>
          </a:prstGeom>
          <a:noFill/>
        </p:spPr>
        <p:txBody>
          <a:bodyPr wrap="square" lIns="0" tIns="0" rIns="0" bIns="0" rtlCol="0">
            <a:noAutofit/>
          </a:bodyPr>
          <a:lstStyle/>
          <a:p>
            <a:pPr>
              <a:lnSpc>
                <a:spcPct val="100000"/>
              </a:lnSpc>
              <a:spcBef>
                <a:spcPts val="1200"/>
              </a:spcBef>
              <a:buSzPct val="100000"/>
            </a:pPr>
            <a:endParaRPr lang="en-US" sz="1000" dirty="0"/>
          </a:p>
        </p:txBody>
      </p:sp>
      <p:cxnSp>
        <p:nvCxnSpPr>
          <p:cNvPr id="71" name="Straight Arrow Connector 70">
            <a:extLst>
              <a:ext uri="{FF2B5EF4-FFF2-40B4-BE49-F238E27FC236}">
                <a16:creationId xmlns:a16="http://schemas.microsoft.com/office/drawing/2014/main" id="{DBFD570B-A782-41BC-88FD-D2A9D43F3C78}"/>
              </a:ext>
            </a:extLst>
          </p:cNvPr>
          <p:cNvCxnSpPr>
            <a:cxnSpLocks/>
          </p:cNvCxnSpPr>
          <p:nvPr/>
        </p:nvCxnSpPr>
        <p:spPr>
          <a:xfrm>
            <a:off x="4766245" y="2729655"/>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79E4119B-5770-485F-B899-A01871A6CC06}"/>
              </a:ext>
            </a:extLst>
          </p:cNvPr>
          <p:cNvCxnSpPr>
            <a:cxnSpLocks/>
          </p:cNvCxnSpPr>
          <p:nvPr/>
        </p:nvCxnSpPr>
        <p:spPr>
          <a:xfrm>
            <a:off x="6492556" y="2729655"/>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EC2B07D-913F-4A02-9243-B25B434EB4D1}"/>
              </a:ext>
            </a:extLst>
          </p:cNvPr>
          <p:cNvCxnSpPr>
            <a:cxnSpLocks/>
          </p:cNvCxnSpPr>
          <p:nvPr/>
        </p:nvCxnSpPr>
        <p:spPr>
          <a:xfrm>
            <a:off x="8901404" y="2729655"/>
            <a:ext cx="0" cy="788362"/>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60" name="Straight Arrow Connector 59">
            <a:extLst>
              <a:ext uri="{FF2B5EF4-FFF2-40B4-BE49-F238E27FC236}">
                <a16:creationId xmlns:a16="http://schemas.microsoft.com/office/drawing/2014/main" id="{48390EA0-4FB2-4B83-A615-0965EA0010A7}"/>
              </a:ext>
            </a:extLst>
          </p:cNvPr>
          <p:cNvCxnSpPr>
            <a:cxnSpLocks/>
          </p:cNvCxnSpPr>
          <p:nvPr/>
        </p:nvCxnSpPr>
        <p:spPr>
          <a:xfrm>
            <a:off x="8950960" y="3529658"/>
            <a:ext cx="217540"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61" name="Can 14">
            <a:extLst>
              <a:ext uri="{FF2B5EF4-FFF2-40B4-BE49-F238E27FC236}">
                <a16:creationId xmlns:a16="http://schemas.microsoft.com/office/drawing/2014/main" id="{FB0B70BA-D138-46A1-94AE-9240484778EF}"/>
              </a:ext>
            </a:extLst>
          </p:cNvPr>
          <p:cNvSpPr/>
          <p:nvPr/>
        </p:nvSpPr>
        <p:spPr>
          <a:xfrm>
            <a:off x="9175985" y="3056368"/>
            <a:ext cx="824456" cy="824427"/>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Summary Table </a:t>
            </a:r>
          </a:p>
        </p:txBody>
      </p:sp>
      <p:sp>
        <p:nvSpPr>
          <p:cNvPr id="65" name="Can 14">
            <a:extLst>
              <a:ext uri="{FF2B5EF4-FFF2-40B4-BE49-F238E27FC236}">
                <a16:creationId xmlns:a16="http://schemas.microsoft.com/office/drawing/2014/main" id="{A65D9E53-8DE6-4429-943D-256959EA7B6D}"/>
              </a:ext>
            </a:extLst>
          </p:cNvPr>
          <p:cNvSpPr/>
          <p:nvPr/>
        </p:nvSpPr>
        <p:spPr>
          <a:xfrm>
            <a:off x="10378232" y="225751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L3 (Drilldown)</a:t>
            </a:r>
            <a:endParaRPr kumimoji="0" lang="en-US" sz="1100" b="0" i="0" u="none" strike="noStrike" kern="0" cap="none" spc="0" normalizeH="0" baseline="0" noProof="0" dirty="0">
              <a:ln>
                <a:noFill/>
              </a:ln>
              <a:solidFill>
                <a:srgbClr val="000000"/>
              </a:solidFill>
              <a:effectLst/>
              <a:uLnTx/>
              <a:uFillTx/>
              <a:ea typeface="+mn-ea"/>
              <a:cs typeface="+mn-cs"/>
            </a:endParaRPr>
          </a:p>
        </p:txBody>
      </p:sp>
      <p:sp>
        <p:nvSpPr>
          <p:cNvPr id="66" name="Can 14">
            <a:extLst>
              <a:ext uri="{FF2B5EF4-FFF2-40B4-BE49-F238E27FC236}">
                <a16:creationId xmlns:a16="http://schemas.microsoft.com/office/drawing/2014/main" id="{79EDD87F-DA12-4F56-A72D-7C9013CA8C0A}"/>
              </a:ext>
            </a:extLst>
          </p:cNvPr>
          <p:cNvSpPr/>
          <p:nvPr/>
        </p:nvSpPr>
        <p:spPr>
          <a:xfrm>
            <a:off x="10378231" y="404531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L3</a:t>
            </a:r>
          </a:p>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(C-SCOR)</a:t>
            </a: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68" name="Straight Arrow Connector 67">
            <a:extLst>
              <a:ext uri="{FF2B5EF4-FFF2-40B4-BE49-F238E27FC236}">
                <a16:creationId xmlns:a16="http://schemas.microsoft.com/office/drawing/2014/main" id="{57D799FE-85A0-476D-925B-6277070FD130}"/>
              </a:ext>
            </a:extLst>
          </p:cNvPr>
          <p:cNvCxnSpPr>
            <a:cxnSpLocks/>
            <a:stCxn id="61" idx="4"/>
            <a:endCxn id="65" idx="2"/>
          </p:cNvCxnSpPr>
          <p:nvPr/>
        </p:nvCxnSpPr>
        <p:spPr>
          <a:xfrm flipV="1">
            <a:off x="10000441" y="2639486"/>
            <a:ext cx="377791" cy="829096"/>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78CF4AF3-5F0E-4F6E-810B-9B705F9B1DEF}"/>
              </a:ext>
            </a:extLst>
          </p:cNvPr>
          <p:cNvCxnSpPr>
            <a:cxnSpLocks/>
            <a:stCxn id="61" idx="4"/>
            <a:endCxn id="66" idx="2"/>
          </p:cNvCxnSpPr>
          <p:nvPr/>
        </p:nvCxnSpPr>
        <p:spPr>
          <a:xfrm>
            <a:off x="10000441" y="3468582"/>
            <a:ext cx="377790" cy="958704"/>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22" name="Left Brace 21">
            <a:extLst>
              <a:ext uri="{FF2B5EF4-FFF2-40B4-BE49-F238E27FC236}">
                <a16:creationId xmlns:a16="http://schemas.microsoft.com/office/drawing/2014/main" id="{95EB68D0-D991-479B-B561-003D691655E0}"/>
              </a:ext>
            </a:extLst>
          </p:cNvPr>
          <p:cNvSpPr/>
          <p:nvPr/>
        </p:nvSpPr>
        <p:spPr>
          <a:xfrm>
            <a:off x="1375229" y="2486705"/>
            <a:ext cx="329016" cy="461832"/>
          </a:xfrm>
          <a:prstGeom prst="leftBrace">
            <a:avLst/>
          </a:prstGeo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B411D966-6678-4D43-BD99-84257F648BD4}"/>
              </a:ext>
            </a:extLst>
          </p:cNvPr>
          <p:cNvSpPr txBox="1"/>
          <p:nvPr/>
        </p:nvSpPr>
        <p:spPr>
          <a:xfrm>
            <a:off x="204825" y="2377442"/>
            <a:ext cx="1171550" cy="686434"/>
          </a:xfrm>
          <a:prstGeom prst="rect">
            <a:avLst/>
          </a:prstGeom>
          <a:noFill/>
        </p:spPr>
        <p:txBody>
          <a:bodyPr wrap="square" lIns="0" tIns="0" rIns="0" bIns="0" rtlCol="0">
            <a:noAutofit/>
          </a:bodyPr>
          <a:lstStyle/>
          <a:p>
            <a:pPr>
              <a:lnSpc>
                <a:spcPct val="100000"/>
              </a:lnSpc>
              <a:spcBef>
                <a:spcPts val="1200"/>
              </a:spcBef>
              <a:buSzPct val="100000"/>
            </a:pPr>
            <a:r>
              <a:rPr lang="en-US" sz="1200" dirty="0"/>
              <a:t>New Patients and Potential Patients</a:t>
            </a:r>
          </a:p>
        </p:txBody>
      </p:sp>
      <p:sp>
        <p:nvSpPr>
          <p:cNvPr id="70" name="Rectangle: Rounded Corners 69">
            <a:extLst>
              <a:ext uri="{FF2B5EF4-FFF2-40B4-BE49-F238E27FC236}">
                <a16:creationId xmlns:a16="http://schemas.microsoft.com/office/drawing/2014/main" id="{014E54AA-15B5-48F2-8FA8-3E29233439ED}"/>
              </a:ext>
            </a:extLst>
          </p:cNvPr>
          <p:cNvSpPr/>
          <p:nvPr/>
        </p:nvSpPr>
        <p:spPr>
          <a:xfrm>
            <a:off x="1749992" y="4225251"/>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sp>
        <p:nvSpPr>
          <p:cNvPr id="75" name="Rectangle 74">
            <a:extLst>
              <a:ext uri="{FF2B5EF4-FFF2-40B4-BE49-F238E27FC236}">
                <a16:creationId xmlns:a16="http://schemas.microsoft.com/office/drawing/2014/main" id="{7074D6B0-D74B-43F9-92AE-FB2392C805EF}"/>
              </a:ext>
            </a:extLst>
          </p:cNvPr>
          <p:cNvSpPr/>
          <p:nvPr/>
        </p:nvSpPr>
        <p:spPr>
          <a:xfrm>
            <a:off x="2994759" y="4210295"/>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Product Metric Object</a:t>
            </a:r>
          </a:p>
        </p:txBody>
      </p:sp>
      <p:sp>
        <p:nvSpPr>
          <p:cNvPr id="76" name="Can 10">
            <a:extLst>
              <a:ext uri="{FF2B5EF4-FFF2-40B4-BE49-F238E27FC236}">
                <a16:creationId xmlns:a16="http://schemas.microsoft.com/office/drawing/2014/main" id="{EDB2393A-7568-4C98-B2A7-86CD5AE7880F}"/>
              </a:ext>
            </a:extLst>
          </p:cNvPr>
          <p:cNvSpPr/>
          <p:nvPr/>
        </p:nvSpPr>
        <p:spPr>
          <a:xfrm>
            <a:off x="4142052" y="4198483"/>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78" name="Rectangle 77">
            <a:extLst>
              <a:ext uri="{FF2B5EF4-FFF2-40B4-BE49-F238E27FC236}">
                <a16:creationId xmlns:a16="http://schemas.microsoft.com/office/drawing/2014/main" id="{3A14D7EA-C613-48C5-AE02-B5C3088F54A8}"/>
              </a:ext>
            </a:extLst>
          </p:cNvPr>
          <p:cNvSpPr/>
          <p:nvPr/>
        </p:nvSpPr>
        <p:spPr>
          <a:xfrm>
            <a:off x="5028021" y="4324666"/>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sp>
        <p:nvSpPr>
          <p:cNvPr id="79" name="Can 14">
            <a:extLst>
              <a:ext uri="{FF2B5EF4-FFF2-40B4-BE49-F238E27FC236}">
                <a16:creationId xmlns:a16="http://schemas.microsoft.com/office/drawing/2014/main" id="{8CD63F3D-6F48-4FD7-BA9A-B054C3C84A86}"/>
              </a:ext>
            </a:extLst>
          </p:cNvPr>
          <p:cNvSpPr/>
          <p:nvPr/>
        </p:nvSpPr>
        <p:spPr>
          <a:xfrm>
            <a:off x="5931677" y="4198483"/>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82" name="Straight Connector 81">
            <a:extLst>
              <a:ext uri="{FF2B5EF4-FFF2-40B4-BE49-F238E27FC236}">
                <a16:creationId xmlns:a16="http://schemas.microsoft.com/office/drawing/2014/main" id="{F43B9FB7-323E-4FFE-B15D-D403781F113D}"/>
              </a:ext>
            </a:extLst>
          </p:cNvPr>
          <p:cNvCxnSpPr>
            <a:cxnSpLocks/>
          </p:cNvCxnSpPr>
          <p:nvPr/>
        </p:nvCxnSpPr>
        <p:spPr>
          <a:xfrm>
            <a:off x="8901404" y="3529658"/>
            <a:ext cx="0" cy="1031313"/>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84" name="Straight Connector 83">
            <a:extLst>
              <a:ext uri="{FF2B5EF4-FFF2-40B4-BE49-F238E27FC236}">
                <a16:creationId xmlns:a16="http://schemas.microsoft.com/office/drawing/2014/main" id="{DF135D66-6A62-42EF-9DB0-3687AE44FCD7}"/>
              </a:ext>
            </a:extLst>
          </p:cNvPr>
          <p:cNvCxnSpPr>
            <a:cxnSpLocks/>
            <a:stCxn id="91" idx="3"/>
          </p:cNvCxnSpPr>
          <p:nvPr/>
        </p:nvCxnSpPr>
        <p:spPr>
          <a:xfrm flipV="1">
            <a:off x="8391478" y="4574960"/>
            <a:ext cx="509824" cy="5494"/>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85" name="Straight Arrow Connector 84">
            <a:extLst>
              <a:ext uri="{FF2B5EF4-FFF2-40B4-BE49-F238E27FC236}">
                <a16:creationId xmlns:a16="http://schemas.microsoft.com/office/drawing/2014/main" id="{F6F9C56B-E069-4892-BBA5-ACFC17581D89}"/>
              </a:ext>
            </a:extLst>
          </p:cNvPr>
          <p:cNvCxnSpPr>
            <a:cxnSpLocks/>
          </p:cNvCxnSpPr>
          <p:nvPr/>
        </p:nvCxnSpPr>
        <p:spPr>
          <a:xfrm flipV="1">
            <a:off x="2682577" y="4618942"/>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072524D9-6949-48C2-9D13-09159A2DF80C}"/>
              </a:ext>
            </a:extLst>
          </p:cNvPr>
          <p:cNvCxnSpPr>
            <a:cxnSpLocks/>
          </p:cNvCxnSpPr>
          <p:nvPr/>
        </p:nvCxnSpPr>
        <p:spPr>
          <a:xfrm flipV="1">
            <a:off x="3860498" y="4607223"/>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7" name="Left Brace 86">
            <a:extLst>
              <a:ext uri="{FF2B5EF4-FFF2-40B4-BE49-F238E27FC236}">
                <a16:creationId xmlns:a16="http://schemas.microsoft.com/office/drawing/2014/main" id="{9FE6BA63-F292-40D1-B860-2BBC89C3F6A4}"/>
              </a:ext>
            </a:extLst>
          </p:cNvPr>
          <p:cNvSpPr/>
          <p:nvPr/>
        </p:nvSpPr>
        <p:spPr>
          <a:xfrm>
            <a:off x="1386724" y="4427285"/>
            <a:ext cx="329016" cy="412573"/>
          </a:xfrm>
          <a:prstGeom prst="leftBrace">
            <a:avLst/>
          </a:prstGeom>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30" name="TextBox 29">
            <a:extLst>
              <a:ext uri="{FF2B5EF4-FFF2-40B4-BE49-F238E27FC236}">
                <a16:creationId xmlns:a16="http://schemas.microsoft.com/office/drawing/2014/main" id="{4394AC7C-D949-4DF7-8F4F-3FCF51D3271B}"/>
              </a:ext>
            </a:extLst>
          </p:cNvPr>
          <p:cNvSpPr txBox="1"/>
          <p:nvPr/>
        </p:nvSpPr>
        <p:spPr>
          <a:xfrm>
            <a:off x="251760" y="4434221"/>
            <a:ext cx="1079512" cy="535142"/>
          </a:xfrm>
          <a:prstGeom prst="rect">
            <a:avLst/>
          </a:prstGeom>
          <a:noFill/>
        </p:spPr>
        <p:txBody>
          <a:bodyPr wrap="square" lIns="0" tIns="0" rIns="0" bIns="0" rtlCol="0">
            <a:noAutofit/>
          </a:bodyPr>
          <a:lstStyle/>
          <a:p>
            <a:pPr>
              <a:lnSpc>
                <a:spcPct val="100000"/>
              </a:lnSpc>
              <a:spcBef>
                <a:spcPts val="1200"/>
              </a:spcBef>
              <a:buSzPct val="100000"/>
            </a:pPr>
            <a:r>
              <a:rPr lang="en-US" sz="1200" dirty="0"/>
              <a:t>Target Patients</a:t>
            </a:r>
          </a:p>
        </p:txBody>
      </p:sp>
      <p:cxnSp>
        <p:nvCxnSpPr>
          <p:cNvPr id="88" name="Straight Arrow Connector 87">
            <a:extLst>
              <a:ext uri="{FF2B5EF4-FFF2-40B4-BE49-F238E27FC236}">
                <a16:creationId xmlns:a16="http://schemas.microsoft.com/office/drawing/2014/main" id="{B13019B1-A529-4E15-B1B3-C4BF52E63D88}"/>
              </a:ext>
            </a:extLst>
          </p:cNvPr>
          <p:cNvCxnSpPr>
            <a:cxnSpLocks/>
          </p:cNvCxnSpPr>
          <p:nvPr/>
        </p:nvCxnSpPr>
        <p:spPr>
          <a:xfrm>
            <a:off x="5691584" y="4598794"/>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89" name="Straight Arrow Connector 88">
            <a:extLst>
              <a:ext uri="{FF2B5EF4-FFF2-40B4-BE49-F238E27FC236}">
                <a16:creationId xmlns:a16="http://schemas.microsoft.com/office/drawing/2014/main" id="{A8CECF29-490F-4C82-86E9-81BB08D8B8E4}"/>
              </a:ext>
            </a:extLst>
          </p:cNvPr>
          <p:cNvCxnSpPr>
            <a:cxnSpLocks/>
          </p:cNvCxnSpPr>
          <p:nvPr/>
        </p:nvCxnSpPr>
        <p:spPr>
          <a:xfrm>
            <a:off x="6535008" y="4588294"/>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90" name="Rectangle 89">
            <a:extLst>
              <a:ext uri="{FF2B5EF4-FFF2-40B4-BE49-F238E27FC236}">
                <a16:creationId xmlns:a16="http://schemas.microsoft.com/office/drawing/2014/main" id="{F6B15CBB-8207-4343-858C-5B6F0FBF77CD}"/>
              </a:ext>
            </a:extLst>
          </p:cNvPr>
          <p:cNvSpPr/>
          <p:nvPr/>
        </p:nvSpPr>
        <p:spPr>
          <a:xfrm>
            <a:off x="6759652" y="2332728"/>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count(</a:t>
            </a:r>
            <a:r>
              <a:rPr lang="en-US" sz="1100" kern="0" dirty="0" err="1">
                <a:solidFill>
                  <a:srgbClr val="000000"/>
                </a:solidFill>
              </a:rPr>
              <a:t>bp_prd_rx_id</a:t>
            </a:r>
            <a:r>
              <a:rPr lang="en-US" sz="1100" kern="0" dirty="0">
                <a:solidFill>
                  <a:srgbClr val="000000"/>
                </a:solidFill>
              </a:rPr>
              <a:t>) as Patient Count </a:t>
            </a:r>
          </a:p>
        </p:txBody>
      </p:sp>
      <p:sp>
        <p:nvSpPr>
          <p:cNvPr id="91" name="Rectangle 90">
            <a:extLst>
              <a:ext uri="{FF2B5EF4-FFF2-40B4-BE49-F238E27FC236}">
                <a16:creationId xmlns:a16="http://schemas.microsoft.com/office/drawing/2014/main" id="{7E13127B-ADE3-460C-884C-AA0F9DB94B68}"/>
              </a:ext>
            </a:extLst>
          </p:cNvPr>
          <p:cNvSpPr/>
          <p:nvPr/>
        </p:nvSpPr>
        <p:spPr>
          <a:xfrm>
            <a:off x="6809991" y="4183526"/>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Sum(</a:t>
            </a:r>
            <a:r>
              <a:rPr lang="en-US" sz="1100" kern="0" dirty="0" err="1">
                <a:solidFill>
                  <a:srgbClr val="000000"/>
                </a:solidFill>
              </a:rPr>
              <a:t>pat_num</a:t>
            </a:r>
            <a:r>
              <a:rPr lang="en-US" sz="1100" kern="0" dirty="0">
                <a:solidFill>
                  <a:srgbClr val="000000"/>
                </a:solidFill>
              </a:rPr>
              <a:t>) as Patient Count </a:t>
            </a:r>
          </a:p>
        </p:txBody>
      </p:sp>
      <p:cxnSp>
        <p:nvCxnSpPr>
          <p:cNvPr id="63" name="Straight Connector 62">
            <a:extLst>
              <a:ext uri="{FF2B5EF4-FFF2-40B4-BE49-F238E27FC236}">
                <a16:creationId xmlns:a16="http://schemas.microsoft.com/office/drawing/2014/main" id="{34313C11-F72F-4FD1-86E3-E88A60E8F314}"/>
              </a:ext>
            </a:extLst>
          </p:cNvPr>
          <p:cNvCxnSpPr>
            <a:cxnSpLocks/>
            <a:stCxn id="90" idx="3"/>
          </p:cNvCxnSpPr>
          <p:nvPr/>
        </p:nvCxnSpPr>
        <p:spPr>
          <a:xfrm>
            <a:off x="8341139" y="2729656"/>
            <a:ext cx="560163" cy="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64" name="Straight Arrow Connector 63">
            <a:extLst>
              <a:ext uri="{FF2B5EF4-FFF2-40B4-BE49-F238E27FC236}">
                <a16:creationId xmlns:a16="http://schemas.microsoft.com/office/drawing/2014/main" id="{E19C0991-33CA-4284-822A-5FEBCEF23C08}"/>
              </a:ext>
            </a:extLst>
          </p:cNvPr>
          <p:cNvCxnSpPr>
            <a:cxnSpLocks/>
          </p:cNvCxnSpPr>
          <p:nvPr/>
        </p:nvCxnSpPr>
        <p:spPr>
          <a:xfrm>
            <a:off x="5697029" y="2740494"/>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72" name="Speech Bubble: Rectangle with Corners Rounded 71">
            <a:extLst>
              <a:ext uri="{FF2B5EF4-FFF2-40B4-BE49-F238E27FC236}">
                <a16:creationId xmlns:a16="http://schemas.microsoft.com/office/drawing/2014/main" id="{502DD3EF-1A2B-436C-9718-03ECD8CF3428}"/>
              </a:ext>
            </a:extLst>
          </p:cNvPr>
          <p:cNvSpPr/>
          <p:nvPr/>
        </p:nvSpPr>
        <p:spPr>
          <a:xfrm>
            <a:off x="8312056" y="5047368"/>
            <a:ext cx="1812974" cy="1143676"/>
          </a:xfrm>
          <a:prstGeom prst="wedgeRoundRectCallout">
            <a:avLst>
              <a:gd name="adj1" fmla="val 48985"/>
              <a:gd name="adj2" fmla="val -162635"/>
              <a:gd name="adj3" fmla="val 16667"/>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000" kern="0" dirty="0">
                <a:solidFill>
                  <a:schemeClr val="bg1"/>
                </a:solidFill>
              </a:rPr>
              <a:t>Consecutive Patients are calculated here , which are </a:t>
            </a:r>
            <a:r>
              <a:rPr lang="en-US" sz="1000" dirty="0"/>
              <a:t>Total number of new patients over </a:t>
            </a:r>
            <a:r>
              <a:rPr lang="en-US" sz="1000" kern="0" dirty="0">
                <a:solidFill>
                  <a:schemeClr val="bg1"/>
                </a:solidFill>
              </a:rPr>
              <a:t> </a:t>
            </a:r>
            <a:r>
              <a:rPr lang="en-US" sz="1000" dirty="0"/>
              <a:t>the past 7 months, including the selected month </a:t>
            </a:r>
            <a:endParaRPr lang="en-US" sz="1000" kern="0" dirty="0">
              <a:solidFill>
                <a:schemeClr val="bg1"/>
              </a:solidFill>
            </a:endParaRPr>
          </a:p>
        </p:txBody>
      </p:sp>
      <p:sp>
        <p:nvSpPr>
          <p:cNvPr id="46" name="Rectangle 45">
            <a:extLst>
              <a:ext uri="{FF2B5EF4-FFF2-40B4-BE49-F238E27FC236}">
                <a16:creationId xmlns:a16="http://schemas.microsoft.com/office/drawing/2014/main" id="{34AD1F2A-BE08-4B04-A303-43DD51BB114A}"/>
              </a:ext>
            </a:extLst>
          </p:cNvPr>
          <p:cNvSpPr/>
          <p:nvPr/>
        </p:nvSpPr>
        <p:spPr>
          <a:xfrm>
            <a:off x="-2243" y="41475"/>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ctr"/>
            <a:r>
              <a:rPr lang="en-US" sz="2000" dirty="0">
                <a:solidFill>
                  <a:schemeClr val="accent2">
                    <a:lumMod val="75000"/>
                  </a:schemeClr>
                </a:solidFill>
              </a:rPr>
              <a:t>Prescription Follow-up and Patient Tracking Report Integration Approach </a:t>
            </a:r>
          </a:p>
          <a:p>
            <a:pPr algn="ctr">
              <a:lnSpc>
                <a:spcPct val="100000"/>
              </a:lnSpc>
            </a:pPr>
            <a:endParaRPr lang="en-US" sz="2000" dirty="0"/>
          </a:p>
        </p:txBody>
      </p:sp>
      <p:sp>
        <p:nvSpPr>
          <p:cNvPr id="2" name="Slide Number Placeholder 1">
            <a:extLst>
              <a:ext uri="{FF2B5EF4-FFF2-40B4-BE49-F238E27FC236}">
                <a16:creationId xmlns:a16="http://schemas.microsoft.com/office/drawing/2014/main" id="{FA9294D8-14B7-4B63-8AA9-50F441A26078}"/>
              </a:ext>
            </a:extLst>
          </p:cNvPr>
          <p:cNvSpPr>
            <a:spLocks noGrp="1"/>
          </p:cNvSpPr>
          <p:nvPr>
            <p:ph type="sldNum" sz="quarter" idx="12"/>
          </p:nvPr>
        </p:nvSpPr>
        <p:spPr/>
        <p:txBody>
          <a:bodyPr/>
          <a:lstStyle/>
          <a:p>
            <a:fld id="{B58DE5F1-E0F9-4CCA-92B7-7A6FC4DFEE14}" type="slidenum">
              <a:rPr lang="en-US" smtClean="0"/>
              <a:t>6</a:t>
            </a:fld>
            <a:endParaRPr lang="en-US" dirty="0"/>
          </a:p>
        </p:txBody>
      </p:sp>
    </p:spTree>
    <p:extLst>
      <p:ext uri="{BB962C8B-B14F-4D97-AF65-F5344CB8AC3E}">
        <p14:creationId xmlns:p14="http://schemas.microsoft.com/office/powerpoint/2010/main" val="3053806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Patient Tracking Drilldown and C-SCOR Reports: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2" name="TextBox 1">
            <a:extLst>
              <a:ext uri="{FF2B5EF4-FFF2-40B4-BE49-F238E27FC236}">
                <a16:creationId xmlns:a16="http://schemas.microsoft.com/office/drawing/2014/main" id="{27E36F4B-402F-4A06-93F9-9C0901CC7DE3}"/>
              </a:ext>
            </a:extLst>
          </p:cNvPr>
          <p:cNvSpPr txBox="1"/>
          <p:nvPr/>
        </p:nvSpPr>
        <p:spPr>
          <a:xfrm>
            <a:off x="670560" y="1821180"/>
            <a:ext cx="10256520" cy="3246120"/>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r>
              <a:rPr lang="en-US" sz="2000" dirty="0"/>
              <a:t>Metrics Used in Patient Tracking Drilldown and C-SCOR report:</a:t>
            </a:r>
          </a:p>
        </p:txBody>
      </p:sp>
      <p:graphicFrame>
        <p:nvGraphicFramePr>
          <p:cNvPr id="6" name="Table 5">
            <a:extLst>
              <a:ext uri="{FF2B5EF4-FFF2-40B4-BE49-F238E27FC236}">
                <a16:creationId xmlns:a16="http://schemas.microsoft.com/office/drawing/2014/main" id="{E600D32A-112E-409D-9264-5A4886D1A9C6}"/>
              </a:ext>
            </a:extLst>
          </p:cNvPr>
          <p:cNvGraphicFramePr>
            <a:graphicFrameLocks noGrp="1"/>
          </p:cNvGraphicFramePr>
          <p:nvPr>
            <p:extLst>
              <p:ext uri="{D42A27DB-BD31-4B8C-83A1-F6EECF244321}">
                <p14:modId xmlns:p14="http://schemas.microsoft.com/office/powerpoint/2010/main" val="3246492375"/>
              </p:ext>
            </p:extLst>
          </p:nvPr>
        </p:nvGraphicFramePr>
        <p:xfrm>
          <a:off x="773040" y="2540249"/>
          <a:ext cx="9985157" cy="3123434"/>
        </p:xfrm>
        <a:graphic>
          <a:graphicData uri="http://schemas.openxmlformats.org/drawingml/2006/table">
            <a:tbl>
              <a:tblPr firstRow="1" firstCol="1" bandRow="1">
                <a:tableStyleId>{0660B408-B3CF-4A94-85FC-2B1E0A45F4A2}</a:tableStyleId>
              </a:tblPr>
              <a:tblGrid>
                <a:gridCol w="2316773">
                  <a:extLst>
                    <a:ext uri="{9D8B030D-6E8A-4147-A177-3AD203B41FA5}">
                      <a16:colId xmlns:a16="http://schemas.microsoft.com/office/drawing/2014/main" val="2770815369"/>
                    </a:ext>
                  </a:extLst>
                </a:gridCol>
                <a:gridCol w="2974947">
                  <a:extLst>
                    <a:ext uri="{9D8B030D-6E8A-4147-A177-3AD203B41FA5}">
                      <a16:colId xmlns:a16="http://schemas.microsoft.com/office/drawing/2014/main" val="2166181175"/>
                    </a:ext>
                  </a:extLst>
                </a:gridCol>
                <a:gridCol w="4693437">
                  <a:extLst>
                    <a:ext uri="{9D8B030D-6E8A-4147-A177-3AD203B41FA5}">
                      <a16:colId xmlns:a16="http://schemas.microsoft.com/office/drawing/2014/main" val="2019771834"/>
                    </a:ext>
                  </a:extLst>
                </a:gridCol>
              </a:tblGrid>
              <a:tr h="278216">
                <a:tc>
                  <a:txBody>
                    <a:bodyPr/>
                    <a:lstStyle/>
                    <a:p>
                      <a:pPr marL="0" marR="0" algn="l">
                        <a:spcBef>
                          <a:spcPts val="0"/>
                        </a:spcBef>
                        <a:spcAft>
                          <a:spcPts val="0"/>
                        </a:spcAft>
                      </a:pPr>
                      <a:r>
                        <a:rPr lang="en-US" sz="1000" dirty="0">
                          <a:effectLst/>
                        </a:rPr>
                        <a:t>Report</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a:effectLst/>
                        </a:rPr>
                        <a:t>Metric</a:t>
                      </a:r>
                      <a:endParaRPr lang="en-US" sz="10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a:effectLst/>
                        </a:rPr>
                        <a:t>Formula</a:t>
                      </a:r>
                      <a:endParaRPr lang="en-US" sz="10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8140624"/>
                  </a:ext>
                </a:extLst>
              </a:tr>
              <a:tr h="412412">
                <a:tc rowSpan="4">
                  <a:txBody>
                    <a:bodyPr/>
                    <a:lstStyle/>
                    <a:p>
                      <a:pPr marL="0" marR="0" algn="l">
                        <a:spcBef>
                          <a:spcPts val="0"/>
                        </a:spcBef>
                        <a:spcAft>
                          <a:spcPts val="0"/>
                        </a:spcAft>
                      </a:pPr>
                      <a:r>
                        <a:rPr lang="en-US" sz="1000" dirty="0">
                          <a:effectLst/>
                        </a:rPr>
                        <a:t>Patient Tracking (Dashboard)</a:t>
                      </a:r>
                    </a:p>
                    <a:p>
                      <a:pPr marL="0" marR="0" algn="l">
                        <a:spcBef>
                          <a:spcPts val="0"/>
                        </a:spcBef>
                        <a:spcAft>
                          <a:spcPts val="0"/>
                        </a:spcAft>
                      </a:pPr>
                      <a:r>
                        <a:rPr lang="ja-JP" sz="1000" dirty="0">
                          <a:effectLst/>
                        </a:rPr>
                        <a:t>　</a:t>
                      </a:r>
                      <a:endParaRPr lang="en-US" sz="1000" dirty="0">
                        <a:effectLst/>
                      </a:endParaRPr>
                    </a:p>
                    <a:p>
                      <a:pPr marL="0" marR="0" algn="l">
                        <a:spcBef>
                          <a:spcPts val="0"/>
                        </a:spcBef>
                        <a:spcAft>
                          <a:spcPts val="0"/>
                        </a:spcAft>
                      </a:pPr>
                      <a:r>
                        <a:rPr lang="ja-JP" sz="1000" dirty="0">
                          <a:effectLst/>
                        </a:rPr>
                        <a:t>　</a:t>
                      </a:r>
                      <a:endParaRPr lang="en-US" sz="1000" dirty="0">
                        <a:effectLst/>
                      </a:endParaRPr>
                    </a:p>
                    <a:p>
                      <a:pPr marL="0" marR="0" algn="l">
                        <a:spcBef>
                          <a:spcPts val="0"/>
                        </a:spcBef>
                        <a:spcAft>
                          <a:spcPts val="0"/>
                        </a:spcAft>
                      </a:pPr>
                      <a:r>
                        <a:rPr lang="ja-JP" sz="1000" dirty="0">
                          <a:effectLst/>
                        </a:rPr>
                        <a:t>　</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a:effectLst/>
                        </a:rPr>
                        <a:t>potential patients (</a:t>
                      </a:r>
                      <a:r>
                        <a:rPr lang="ja-JP" sz="1000">
                          <a:effectLst/>
                        </a:rPr>
                        <a:t>候補症例</a:t>
                      </a:r>
                      <a:r>
                        <a:rPr lang="en-US" sz="1000">
                          <a:effectLst/>
                        </a:rPr>
                        <a:t>) </a:t>
                      </a:r>
                      <a:endParaRPr lang="en-US" sz="10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dirty="0">
                          <a:effectLst/>
                        </a:rPr>
                        <a:t>Patients for whom there is a Plan Delivery Date (</a:t>
                      </a:r>
                      <a:r>
                        <a:rPr lang="ja-JP" sz="1000" dirty="0">
                          <a:effectLst/>
                        </a:rPr>
                        <a:t>処方開始予定日</a:t>
                      </a:r>
                      <a:r>
                        <a:rPr lang="en-US" sz="1000" dirty="0">
                          <a:effectLst/>
                        </a:rPr>
                        <a:t>) entered but no Treatment Start Date (</a:t>
                      </a:r>
                      <a:r>
                        <a:rPr lang="ja-JP" sz="1000" dirty="0">
                          <a:effectLst/>
                        </a:rPr>
                        <a:t>処方開始日</a:t>
                      </a:r>
                      <a:r>
                        <a:rPr lang="en-US" sz="1000" dirty="0">
                          <a:effectLst/>
                        </a:rPr>
                        <a:t>)</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6323239"/>
                  </a:ext>
                </a:extLst>
              </a:tr>
              <a:tr h="412412">
                <a:tc vMerge="1">
                  <a:txBody>
                    <a:bodyPr/>
                    <a:lstStyle/>
                    <a:p>
                      <a:pPr marL="0" marR="0" algn="l">
                        <a:spcBef>
                          <a:spcPts val="0"/>
                        </a:spcBef>
                        <a:spcAft>
                          <a:spcPts val="0"/>
                        </a:spcAft>
                      </a:pPr>
                      <a:endParaRPr lang="en-US" sz="9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tc>
                <a:tc>
                  <a:txBody>
                    <a:bodyPr/>
                    <a:lstStyle/>
                    <a:p>
                      <a:pPr marL="0" marR="0" algn="l">
                        <a:spcBef>
                          <a:spcPts val="0"/>
                        </a:spcBef>
                        <a:spcAft>
                          <a:spcPts val="0"/>
                        </a:spcAft>
                      </a:pPr>
                      <a:r>
                        <a:rPr lang="en-US" sz="1000">
                          <a:effectLst/>
                        </a:rPr>
                        <a:t>new patients (</a:t>
                      </a:r>
                      <a:r>
                        <a:rPr lang="ja-JP" sz="1000">
                          <a:effectLst/>
                        </a:rPr>
                        <a:t>新規患者数</a:t>
                      </a:r>
                      <a:r>
                        <a:rPr lang="en-US" sz="1000">
                          <a:effectLst/>
                        </a:rPr>
                        <a:t>)</a:t>
                      </a:r>
                      <a:endParaRPr lang="en-US" sz="10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dirty="0">
                          <a:effectLst/>
                        </a:rPr>
                        <a:t>Total number of patients who started a new treatment line in the selected month (Treatment Start Date  is current month)</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2867769"/>
                  </a:ext>
                </a:extLst>
              </a:tr>
              <a:tr h="412412">
                <a:tc vMerge="1">
                  <a:txBody>
                    <a:bodyPr/>
                    <a:lstStyle/>
                    <a:p>
                      <a:pPr marL="0" marR="0" algn="l">
                        <a:spcBef>
                          <a:spcPts val="0"/>
                        </a:spcBef>
                        <a:spcAft>
                          <a:spcPts val="0"/>
                        </a:spcAft>
                      </a:pPr>
                      <a:endParaRPr lang="en-US" sz="9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tc>
                <a:tc>
                  <a:txBody>
                    <a:bodyPr/>
                    <a:lstStyle/>
                    <a:p>
                      <a:pPr marL="0" marR="0" algn="l">
                        <a:spcBef>
                          <a:spcPts val="0"/>
                        </a:spcBef>
                        <a:spcAft>
                          <a:spcPts val="0"/>
                        </a:spcAft>
                      </a:pPr>
                      <a:r>
                        <a:rPr lang="en-US" sz="1000" dirty="0">
                          <a:effectLst/>
                        </a:rPr>
                        <a:t>consecutive patients (</a:t>
                      </a:r>
                      <a:r>
                        <a:rPr lang="ja-JP" sz="1000" dirty="0">
                          <a:effectLst/>
                        </a:rPr>
                        <a:t>累積患者数</a:t>
                      </a:r>
                      <a:r>
                        <a:rPr lang="en-US" sz="1000" dirty="0">
                          <a:effectLst/>
                        </a:rPr>
                        <a:t>)</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dirty="0">
                          <a:effectLst/>
                        </a:rPr>
                        <a:t>Total number of new patients over the past 7 months, including the selected month </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5649662"/>
                  </a:ext>
                </a:extLst>
              </a:tr>
              <a:tr h="412412">
                <a:tc vMerge="1">
                  <a:txBody>
                    <a:bodyPr/>
                    <a:lstStyle/>
                    <a:p>
                      <a:pPr marL="0" marR="0" algn="l">
                        <a:spcBef>
                          <a:spcPts val="0"/>
                        </a:spcBef>
                        <a:spcAft>
                          <a:spcPts val="0"/>
                        </a:spcAft>
                      </a:pPr>
                      <a:endParaRPr lang="en-US" sz="9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tc>
                <a:tc>
                  <a:txBody>
                    <a:bodyPr/>
                    <a:lstStyle/>
                    <a:p>
                      <a:pPr marL="0" marR="0" algn="l">
                        <a:spcBef>
                          <a:spcPts val="0"/>
                        </a:spcBef>
                        <a:spcAft>
                          <a:spcPts val="0"/>
                        </a:spcAft>
                      </a:pPr>
                      <a:r>
                        <a:rPr lang="en-US" sz="1000" dirty="0">
                          <a:effectLst/>
                        </a:rPr>
                        <a:t>target patients(</a:t>
                      </a:r>
                      <a:r>
                        <a:rPr lang="ja-JP" sz="1000" dirty="0">
                          <a:effectLst/>
                        </a:rPr>
                        <a:t>対象患者数</a:t>
                      </a:r>
                      <a:r>
                        <a:rPr lang="en-US" sz="1000" dirty="0">
                          <a:effectLst/>
                        </a:rPr>
                        <a:t>)</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a:effectLst/>
                        </a:rPr>
                        <a:t>Total number of Doctor's patients which is entered in Veeva Account information </a:t>
                      </a:r>
                      <a:endParaRPr lang="en-US" sz="10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4453121"/>
                  </a:ext>
                </a:extLst>
              </a:tr>
              <a:tr h="412412">
                <a:tc rowSpan="3">
                  <a:txBody>
                    <a:bodyPr/>
                    <a:lstStyle/>
                    <a:p>
                      <a:pPr marL="0" marR="0" algn="l">
                        <a:spcBef>
                          <a:spcPts val="0"/>
                        </a:spcBef>
                        <a:spcAft>
                          <a:spcPts val="0"/>
                        </a:spcAft>
                      </a:pPr>
                      <a:r>
                        <a:rPr lang="en-US" sz="1000" dirty="0">
                          <a:effectLst/>
                        </a:rPr>
                        <a:t>Patient Tracking (Drilldown)</a:t>
                      </a:r>
                    </a:p>
                    <a:p>
                      <a:pPr marL="0" marR="0" algn="l">
                        <a:spcBef>
                          <a:spcPts val="0"/>
                        </a:spcBef>
                        <a:spcAft>
                          <a:spcPts val="0"/>
                        </a:spcAft>
                      </a:pPr>
                      <a:r>
                        <a:rPr lang="ja-JP" sz="1000" dirty="0">
                          <a:effectLst/>
                        </a:rPr>
                        <a:t>　</a:t>
                      </a:r>
                      <a:endParaRPr lang="en-US" sz="1000" dirty="0">
                        <a:effectLst/>
                      </a:endParaRPr>
                    </a:p>
                    <a:p>
                      <a:pPr marL="0" marR="0" algn="l">
                        <a:spcBef>
                          <a:spcPts val="0"/>
                        </a:spcBef>
                        <a:spcAft>
                          <a:spcPts val="0"/>
                        </a:spcAft>
                      </a:pPr>
                      <a:r>
                        <a:rPr lang="ja-JP" sz="1000" dirty="0">
                          <a:effectLst/>
                        </a:rPr>
                        <a:t>　</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dirty="0">
                          <a:effectLst/>
                        </a:rPr>
                        <a:t>target patients(</a:t>
                      </a:r>
                      <a:r>
                        <a:rPr lang="ja-JP" sz="1000" dirty="0">
                          <a:effectLst/>
                        </a:rPr>
                        <a:t>対象患者数</a:t>
                      </a:r>
                      <a:r>
                        <a:rPr lang="en-US" sz="1000" dirty="0">
                          <a:effectLst/>
                        </a:rPr>
                        <a:t>)</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a:effectLst/>
                        </a:rPr>
                        <a:t>Total number of Doctor's patients which is entered in Veeva Account information </a:t>
                      </a:r>
                      <a:endParaRPr lang="en-US" sz="10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7200566"/>
                  </a:ext>
                </a:extLst>
              </a:tr>
              <a:tr h="391579">
                <a:tc vMerge="1">
                  <a:txBody>
                    <a:bodyPr/>
                    <a:lstStyle/>
                    <a:p>
                      <a:pPr marL="0" marR="0" algn="l">
                        <a:spcBef>
                          <a:spcPts val="0"/>
                        </a:spcBef>
                        <a:spcAft>
                          <a:spcPts val="0"/>
                        </a:spcAft>
                      </a:pPr>
                      <a:endParaRPr lang="en-US" sz="9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tc>
                <a:tc>
                  <a:txBody>
                    <a:bodyPr/>
                    <a:lstStyle/>
                    <a:p>
                      <a:pPr marL="0" marR="0" algn="l">
                        <a:spcBef>
                          <a:spcPts val="0"/>
                        </a:spcBef>
                        <a:spcAft>
                          <a:spcPts val="0"/>
                        </a:spcAft>
                      </a:pPr>
                      <a:r>
                        <a:rPr lang="en-US" sz="1000">
                          <a:effectLst/>
                        </a:rPr>
                        <a:t>potential patients (</a:t>
                      </a:r>
                      <a:r>
                        <a:rPr lang="ja-JP" sz="1000">
                          <a:effectLst/>
                        </a:rPr>
                        <a:t>候補症例数</a:t>
                      </a:r>
                      <a:r>
                        <a:rPr lang="en-US" sz="1000">
                          <a:effectLst/>
                        </a:rPr>
                        <a:t>) </a:t>
                      </a:r>
                      <a:endParaRPr lang="en-US" sz="100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dirty="0">
                          <a:effectLst/>
                        </a:rPr>
                        <a:t>Patients for whom there is a Plan Delivery Date (</a:t>
                      </a:r>
                      <a:r>
                        <a:rPr lang="ja-JP" altLang="en-US" sz="1000" dirty="0">
                          <a:effectLst/>
                        </a:rPr>
                        <a:t>処方開始予定日</a:t>
                      </a:r>
                      <a:r>
                        <a:rPr lang="en-US" sz="1000" dirty="0">
                          <a:effectLst/>
                        </a:rPr>
                        <a:t>) entered but no Treatment Start Date (</a:t>
                      </a:r>
                      <a:r>
                        <a:rPr lang="ja-JP" altLang="en-US" sz="1000" dirty="0">
                          <a:effectLst/>
                        </a:rPr>
                        <a:t>処方開始日</a:t>
                      </a:r>
                      <a:r>
                        <a:rPr lang="en-US" sz="1000" dirty="0">
                          <a:effectLst/>
                        </a:rPr>
                        <a:t>)</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1836453"/>
                  </a:ext>
                </a:extLst>
              </a:tr>
              <a:tr h="391579">
                <a:tc vMerge="1">
                  <a:txBody>
                    <a:bodyPr/>
                    <a:lstStyle/>
                    <a:p>
                      <a:pPr marL="0" marR="0" algn="l">
                        <a:spcBef>
                          <a:spcPts val="0"/>
                        </a:spcBef>
                        <a:spcAft>
                          <a:spcPts val="0"/>
                        </a:spcAft>
                      </a:pPr>
                      <a:endParaRPr lang="en-US" sz="9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tc>
                <a:tc>
                  <a:txBody>
                    <a:bodyPr/>
                    <a:lstStyle/>
                    <a:p>
                      <a:pPr marL="0" marR="0" algn="l">
                        <a:spcBef>
                          <a:spcPts val="0"/>
                        </a:spcBef>
                        <a:spcAft>
                          <a:spcPts val="0"/>
                        </a:spcAft>
                      </a:pPr>
                      <a:r>
                        <a:rPr lang="en-US" sz="1000" dirty="0">
                          <a:effectLst/>
                        </a:rPr>
                        <a:t>new patients (</a:t>
                      </a:r>
                      <a:r>
                        <a:rPr lang="ja-JP" sz="1000" dirty="0">
                          <a:effectLst/>
                        </a:rPr>
                        <a:t>新規患者数</a:t>
                      </a:r>
                      <a:r>
                        <a:rPr lang="en-US" sz="1000" dirty="0">
                          <a:effectLst/>
                        </a:rPr>
                        <a:t>)</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1000" dirty="0">
                          <a:effectLst/>
                        </a:rPr>
                        <a:t>Total number of patients who started a new treatment line in the selected month (Treatment Start Date  is current month)</a:t>
                      </a:r>
                      <a:endParaRPr lang="en-US" sz="1000" dirty="0">
                        <a:effectLst/>
                        <a:latin typeface="Yu Gothic" panose="020B0400000000000000" pitchFamily="34" charset="-128"/>
                        <a:ea typeface="Yu Gothic" panose="020B0400000000000000" pitchFamily="34" charset="-128"/>
                        <a:cs typeface="MS PGothic" panose="020B0600070205080204" pitchFamily="34" charset="-128"/>
                      </a:endParaRPr>
                    </a:p>
                  </a:txBody>
                  <a:tcPr marL="50891" marR="50891"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6405374"/>
                  </a:ext>
                </a:extLst>
              </a:tr>
            </a:tbl>
          </a:graphicData>
        </a:graphic>
      </p:graphicFrame>
      <p:sp>
        <p:nvSpPr>
          <p:cNvPr id="8" name="Rectangle 7">
            <a:extLst>
              <a:ext uri="{FF2B5EF4-FFF2-40B4-BE49-F238E27FC236}">
                <a16:creationId xmlns:a16="http://schemas.microsoft.com/office/drawing/2014/main" id="{FBE80F61-CFCB-400F-95D4-BE5AAF069C62}"/>
              </a:ext>
            </a:extLst>
          </p:cNvPr>
          <p:cNvSpPr/>
          <p:nvPr/>
        </p:nvSpPr>
        <p:spPr>
          <a:xfrm>
            <a:off x="-2243" y="41475"/>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ctr"/>
            <a:r>
              <a:rPr lang="en-US" sz="2000" dirty="0">
                <a:solidFill>
                  <a:schemeClr val="accent2">
                    <a:lumMod val="75000"/>
                  </a:schemeClr>
                </a:solidFill>
              </a:rPr>
              <a:t>Prescription Follow-up and Patient Tracking Report Integration Approach </a:t>
            </a:r>
          </a:p>
          <a:p>
            <a:pPr algn="ctr">
              <a:lnSpc>
                <a:spcPct val="100000"/>
              </a:lnSpc>
            </a:pPr>
            <a:endParaRPr lang="en-US" sz="2000" dirty="0"/>
          </a:p>
        </p:txBody>
      </p:sp>
      <p:sp>
        <p:nvSpPr>
          <p:cNvPr id="3" name="Slide Number Placeholder 2">
            <a:extLst>
              <a:ext uri="{FF2B5EF4-FFF2-40B4-BE49-F238E27FC236}">
                <a16:creationId xmlns:a16="http://schemas.microsoft.com/office/drawing/2014/main" id="{1083939F-5994-4E17-8FB7-C26FCDE2ADA7}"/>
              </a:ext>
            </a:extLst>
          </p:cNvPr>
          <p:cNvSpPr>
            <a:spLocks noGrp="1"/>
          </p:cNvSpPr>
          <p:nvPr>
            <p:ph type="sldNum" sz="quarter" idx="12"/>
          </p:nvPr>
        </p:nvSpPr>
        <p:spPr/>
        <p:txBody>
          <a:bodyPr/>
          <a:lstStyle/>
          <a:p>
            <a:fld id="{B58DE5F1-E0F9-4CCA-92B7-7A6FC4DFEE14}" type="slidenum">
              <a:rPr lang="en-US" smtClean="0"/>
              <a:t>7</a:t>
            </a:fld>
            <a:endParaRPr lang="en-US" dirty="0"/>
          </a:p>
        </p:txBody>
      </p:sp>
    </p:spTree>
    <p:extLst>
      <p:ext uri="{BB962C8B-B14F-4D97-AF65-F5344CB8AC3E}">
        <p14:creationId xmlns:p14="http://schemas.microsoft.com/office/powerpoint/2010/main" val="387559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add new Celgene Products in Patient Tracking Drilldown and C-SCOR Reports: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2" name="TextBox 1">
            <a:extLst>
              <a:ext uri="{FF2B5EF4-FFF2-40B4-BE49-F238E27FC236}">
                <a16:creationId xmlns:a16="http://schemas.microsoft.com/office/drawing/2014/main" id="{27E36F4B-402F-4A06-93F9-9C0901CC7DE3}"/>
              </a:ext>
            </a:extLst>
          </p:cNvPr>
          <p:cNvSpPr txBox="1"/>
          <p:nvPr/>
        </p:nvSpPr>
        <p:spPr>
          <a:xfrm>
            <a:off x="670560" y="1821180"/>
            <a:ext cx="10256520" cy="3246120"/>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r>
              <a:rPr lang="en-US" sz="2000" dirty="0"/>
              <a:t>Assumptions:</a:t>
            </a:r>
          </a:p>
          <a:p>
            <a:pPr marL="685800" lvl="1" indent="-228600">
              <a:spcBef>
                <a:spcPts val="1200"/>
              </a:spcBef>
              <a:buSzPct val="100000"/>
              <a:buFont typeface="Trebuchet MS"/>
              <a:buChar char="•"/>
            </a:pPr>
            <a:r>
              <a:rPr lang="en-US" altLang="ja-JP" sz="2000" dirty="0"/>
              <a:t>Survey historical data will not be migrated by CRM to prescription follow up object.</a:t>
            </a:r>
          </a:p>
          <a:p>
            <a:pPr marL="685800" lvl="1" indent="-228600">
              <a:spcBef>
                <a:spcPts val="1200"/>
              </a:spcBef>
              <a:buSzPct val="100000"/>
              <a:buFont typeface="Trebuchet MS"/>
              <a:buChar char="•"/>
            </a:pPr>
            <a:endParaRPr lang="en-US" altLang="ja-JP" sz="2000" dirty="0"/>
          </a:p>
          <a:p>
            <a:pPr marL="685800" lvl="1" indent="-228600">
              <a:spcBef>
                <a:spcPts val="1200"/>
              </a:spcBef>
              <a:buSzPct val="100000"/>
              <a:buFont typeface="Trebuchet MS"/>
              <a:buChar char="•"/>
            </a:pPr>
            <a:endParaRPr lang="en-US" sz="2000" dirty="0"/>
          </a:p>
        </p:txBody>
      </p:sp>
      <p:sp>
        <p:nvSpPr>
          <p:cNvPr id="7" name="Rectangle 6">
            <a:extLst>
              <a:ext uri="{FF2B5EF4-FFF2-40B4-BE49-F238E27FC236}">
                <a16:creationId xmlns:a16="http://schemas.microsoft.com/office/drawing/2014/main" id="{2513E2F6-1C27-47D2-851D-963C25EF88D5}"/>
              </a:ext>
            </a:extLst>
          </p:cNvPr>
          <p:cNvSpPr/>
          <p:nvPr/>
        </p:nvSpPr>
        <p:spPr>
          <a:xfrm>
            <a:off x="-2243" y="41475"/>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ctr"/>
            <a:r>
              <a:rPr lang="en-US" sz="2000" dirty="0">
                <a:solidFill>
                  <a:schemeClr val="accent2">
                    <a:lumMod val="75000"/>
                  </a:schemeClr>
                </a:solidFill>
              </a:rPr>
              <a:t>Prescription Follow-up and Patient Tracking Report Integration Approach </a:t>
            </a:r>
          </a:p>
          <a:p>
            <a:pPr algn="ctr">
              <a:lnSpc>
                <a:spcPct val="100000"/>
              </a:lnSpc>
            </a:pPr>
            <a:endParaRPr lang="en-US" sz="2000" dirty="0"/>
          </a:p>
        </p:txBody>
      </p:sp>
      <p:sp>
        <p:nvSpPr>
          <p:cNvPr id="3" name="Slide Number Placeholder 2">
            <a:extLst>
              <a:ext uri="{FF2B5EF4-FFF2-40B4-BE49-F238E27FC236}">
                <a16:creationId xmlns:a16="http://schemas.microsoft.com/office/drawing/2014/main" id="{F565A243-BEBA-42D1-8DCF-F0ACF00B3832}"/>
              </a:ext>
            </a:extLst>
          </p:cNvPr>
          <p:cNvSpPr>
            <a:spLocks noGrp="1"/>
          </p:cNvSpPr>
          <p:nvPr>
            <p:ph type="sldNum" sz="quarter" idx="12"/>
          </p:nvPr>
        </p:nvSpPr>
        <p:spPr/>
        <p:txBody>
          <a:bodyPr/>
          <a:lstStyle/>
          <a:p>
            <a:fld id="{B58DE5F1-E0F9-4CCA-92B7-7A6FC4DFEE14}" type="slidenum">
              <a:rPr lang="en-US" smtClean="0"/>
              <a:t>8</a:t>
            </a:fld>
            <a:endParaRPr lang="en-US" dirty="0"/>
          </a:p>
        </p:txBody>
      </p:sp>
    </p:spTree>
    <p:extLst>
      <p:ext uri="{BB962C8B-B14F-4D97-AF65-F5344CB8AC3E}">
        <p14:creationId xmlns:p14="http://schemas.microsoft.com/office/powerpoint/2010/main" val="495580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Rectangle 81">
            <a:extLst>
              <a:ext uri="{FF2B5EF4-FFF2-40B4-BE49-F238E27FC236}">
                <a16:creationId xmlns:a16="http://schemas.microsoft.com/office/drawing/2014/main" id="{36B44B74-3A95-4892-87F1-984F7BAAEF70}"/>
              </a:ext>
            </a:extLst>
          </p:cNvPr>
          <p:cNvSpPr/>
          <p:nvPr/>
        </p:nvSpPr>
        <p:spPr>
          <a:xfrm>
            <a:off x="4799856" y="3425157"/>
            <a:ext cx="4392489" cy="2092076"/>
          </a:xfrm>
          <a:prstGeom prst="rect">
            <a:avLst/>
          </a:prstGeom>
          <a:ln>
            <a:solidFill>
              <a:schemeClr val="accent3"/>
            </a:solidFill>
          </a:ln>
        </p:spPr>
        <p:style>
          <a:lnRef idx="2">
            <a:schemeClr val="accent2"/>
          </a:lnRef>
          <a:fillRef idx="1">
            <a:schemeClr val="lt1"/>
          </a:fillRef>
          <a:effectRef idx="0">
            <a:schemeClr val="accent2"/>
          </a:effectRef>
          <a:fontRef idx="minor">
            <a:schemeClr val="dk1"/>
          </a:fontRef>
        </p:style>
        <p:txBody>
          <a:bodyPr tIns="90000" bIns="90000" rtlCol="0" anchor="ctr" anchorCtr="0"/>
          <a:lstStyle/>
          <a:p>
            <a:pPr algn="ctr"/>
            <a:endParaRPr lang="en-US" sz="1400" dirty="0" err="1">
              <a:solidFill>
                <a:schemeClr val="tx1"/>
              </a:solidFill>
            </a:endParaRPr>
          </a:p>
        </p:txBody>
      </p:sp>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9"/>
            <a:ext cx="11068061" cy="523220"/>
          </a:xfrm>
        </p:spPr>
        <p:txBody>
          <a:bodyPr/>
          <a:lstStyle/>
          <a:p>
            <a:r>
              <a:rPr lang="en-US" sz="2800" dirty="0"/>
              <a:t>Provide ES Amount on the basis of NHI Price</a:t>
            </a:r>
          </a:p>
        </p:txBody>
      </p:sp>
      <p:sp>
        <p:nvSpPr>
          <p:cNvPr id="38" name="Rectangle 37">
            <a:extLst>
              <a:ext uri="{FF2B5EF4-FFF2-40B4-BE49-F238E27FC236}">
                <a16:creationId xmlns:a16="http://schemas.microsoft.com/office/drawing/2014/main" id="{5C75A6E9-080B-4754-A651-24B68B926C3D}"/>
              </a:ext>
            </a:extLst>
          </p:cNvPr>
          <p:cNvSpPr/>
          <p:nvPr/>
        </p:nvSpPr>
        <p:spPr>
          <a:xfrm>
            <a:off x="2851888" y="1730622"/>
            <a:ext cx="8654311" cy="1512168"/>
          </a:xfrm>
          <a:prstGeom prst="rect">
            <a:avLst/>
          </a:prstGeom>
          <a:ln/>
        </p:spPr>
        <p:style>
          <a:lnRef idx="2">
            <a:schemeClr val="accent2"/>
          </a:lnRef>
          <a:fillRef idx="1">
            <a:schemeClr val="lt1"/>
          </a:fillRef>
          <a:effectRef idx="0">
            <a:schemeClr val="accent2"/>
          </a:effectRef>
          <a:fontRef idx="minor">
            <a:schemeClr val="dk1"/>
          </a:fontRef>
        </p:style>
        <p:txBody>
          <a:bodyPr tIns="90000" bIns="90000" rtlCol="0" anchor="ctr" anchorCtr="0"/>
          <a:lstStyle/>
          <a:p>
            <a:pPr algn="ctr"/>
            <a:endParaRPr lang="en-US" sz="1400" dirty="0" err="1">
              <a:solidFill>
                <a:schemeClr val="tx1"/>
              </a:solidFill>
            </a:endParaRPr>
          </a:p>
        </p:txBody>
      </p:sp>
      <p:sp>
        <p:nvSpPr>
          <p:cNvPr id="39" name="Rectangle: Rounded Corners 38">
            <a:extLst>
              <a:ext uri="{FF2B5EF4-FFF2-40B4-BE49-F238E27FC236}">
                <a16:creationId xmlns:a16="http://schemas.microsoft.com/office/drawing/2014/main" id="{77FAEFAA-4DAB-4442-AC00-B2971EC058CC}"/>
              </a:ext>
            </a:extLst>
          </p:cNvPr>
          <p:cNvSpPr/>
          <p:nvPr/>
        </p:nvSpPr>
        <p:spPr>
          <a:xfrm>
            <a:off x="1513472" y="1933591"/>
            <a:ext cx="1172706" cy="1027076"/>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Bridge</a:t>
            </a:r>
          </a:p>
        </p:txBody>
      </p:sp>
      <p:sp>
        <p:nvSpPr>
          <p:cNvPr id="40" name="Rectangle 39">
            <a:extLst>
              <a:ext uri="{FF2B5EF4-FFF2-40B4-BE49-F238E27FC236}">
                <a16:creationId xmlns:a16="http://schemas.microsoft.com/office/drawing/2014/main" id="{3BF85409-5F63-4C9E-9C7C-08E38C69F4B9}"/>
              </a:ext>
            </a:extLst>
          </p:cNvPr>
          <p:cNvSpPr/>
          <p:nvPr/>
        </p:nvSpPr>
        <p:spPr>
          <a:xfrm>
            <a:off x="2999656" y="2089779"/>
            <a:ext cx="79941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ES Data</a:t>
            </a:r>
            <a:endParaRPr lang="en-US" sz="1100" dirty="0">
              <a:solidFill>
                <a:srgbClr val="FF0000"/>
              </a:solidFill>
              <a:cs typeface="Arial" panose="020B0604020202020204" pitchFamily="34" charset="0"/>
            </a:endParaRPr>
          </a:p>
        </p:txBody>
      </p:sp>
      <p:sp>
        <p:nvSpPr>
          <p:cNvPr id="41" name="Can 10">
            <a:extLst>
              <a:ext uri="{FF2B5EF4-FFF2-40B4-BE49-F238E27FC236}">
                <a16:creationId xmlns:a16="http://schemas.microsoft.com/office/drawing/2014/main" id="{C629F661-E28E-4531-B28A-AE30702CD583}"/>
              </a:ext>
            </a:extLst>
          </p:cNvPr>
          <p:cNvSpPr/>
          <p:nvPr/>
        </p:nvSpPr>
        <p:spPr>
          <a:xfrm>
            <a:off x="4105279"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42" name="Rectangle 41">
            <a:extLst>
              <a:ext uri="{FF2B5EF4-FFF2-40B4-BE49-F238E27FC236}">
                <a16:creationId xmlns:a16="http://schemas.microsoft.com/office/drawing/2014/main" id="{F1C14EE0-31CC-426B-B8C3-9A5595FB8288}"/>
              </a:ext>
            </a:extLst>
          </p:cNvPr>
          <p:cNvSpPr/>
          <p:nvPr/>
        </p:nvSpPr>
        <p:spPr>
          <a:xfrm>
            <a:off x="4969375" y="2230918"/>
            <a:ext cx="663563" cy="511577"/>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cxnSp>
        <p:nvCxnSpPr>
          <p:cNvPr id="43" name="Straight Arrow Connector 42">
            <a:extLst>
              <a:ext uri="{FF2B5EF4-FFF2-40B4-BE49-F238E27FC236}">
                <a16:creationId xmlns:a16="http://schemas.microsoft.com/office/drawing/2014/main" id="{30D59DDA-B95F-441B-A738-1D83A8E3BF16}"/>
              </a:ext>
            </a:extLst>
          </p:cNvPr>
          <p:cNvCxnSpPr>
            <a:cxnSpLocks/>
          </p:cNvCxnSpPr>
          <p:nvPr/>
        </p:nvCxnSpPr>
        <p:spPr>
          <a:xfrm>
            <a:off x="4674020" y="2486706"/>
            <a:ext cx="295355"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4" name="Can 14">
            <a:extLst>
              <a:ext uri="{FF2B5EF4-FFF2-40B4-BE49-F238E27FC236}">
                <a16:creationId xmlns:a16="http://schemas.microsoft.com/office/drawing/2014/main" id="{750B2520-044F-4908-BF06-504523C4AFFD}"/>
              </a:ext>
            </a:extLst>
          </p:cNvPr>
          <p:cNvSpPr/>
          <p:nvPr/>
        </p:nvSpPr>
        <p:spPr>
          <a:xfrm>
            <a:off x="5905479"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45" name="Straight Arrow Connector 44">
            <a:extLst>
              <a:ext uri="{FF2B5EF4-FFF2-40B4-BE49-F238E27FC236}">
                <a16:creationId xmlns:a16="http://schemas.microsoft.com/office/drawing/2014/main" id="{96EDD63D-E40B-43DE-838B-E58A7657979C}"/>
              </a:ext>
            </a:extLst>
          </p:cNvPr>
          <p:cNvCxnSpPr>
            <a:cxnSpLocks/>
          </p:cNvCxnSpPr>
          <p:nvPr/>
        </p:nvCxnSpPr>
        <p:spPr>
          <a:xfrm flipV="1">
            <a:off x="5632938"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C83C2CC0-9EBD-419D-B45E-E76A4E6AE162}"/>
              </a:ext>
            </a:extLst>
          </p:cNvPr>
          <p:cNvCxnSpPr>
            <a:cxnSpLocks/>
            <a:stCxn id="42" idx="3"/>
          </p:cNvCxnSpPr>
          <p:nvPr/>
        </p:nvCxnSpPr>
        <p:spPr>
          <a:xfrm>
            <a:off x="5632938" y="2486707"/>
            <a:ext cx="272541"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EDAE4F9B-1979-4B47-978D-97CAAFF3D5D2}"/>
              </a:ext>
            </a:extLst>
          </p:cNvPr>
          <p:cNvCxnSpPr>
            <a:cxnSpLocks/>
          </p:cNvCxnSpPr>
          <p:nvPr/>
        </p:nvCxnSpPr>
        <p:spPr>
          <a:xfrm flipV="1">
            <a:off x="3832738"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7FED461F-D94F-4627-A709-895EB8204C14}"/>
              </a:ext>
            </a:extLst>
          </p:cNvPr>
          <p:cNvCxnSpPr>
            <a:cxnSpLocks/>
          </p:cNvCxnSpPr>
          <p:nvPr/>
        </p:nvCxnSpPr>
        <p:spPr>
          <a:xfrm flipV="1">
            <a:off x="2715619"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9" name="Rectangle 48">
            <a:extLst>
              <a:ext uri="{FF2B5EF4-FFF2-40B4-BE49-F238E27FC236}">
                <a16:creationId xmlns:a16="http://schemas.microsoft.com/office/drawing/2014/main" id="{B79931A1-6A7D-4978-8BD1-7E66C1B63BB3}"/>
              </a:ext>
            </a:extLst>
          </p:cNvPr>
          <p:cNvSpPr/>
          <p:nvPr/>
        </p:nvSpPr>
        <p:spPr>
          <a:xfrm>
            <a:off x="6741316" y="2089778"/>
            <a:ext cx="1581487" cy="793855"/>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ES Amount on the basis of NHI Price will flow into L3 from L2</a:t>
            </a:r>
          </a:p>
        </p:txBody>
      </p:sp>
      <p:cxnSp>
        <p:nvCxnSpPr>
          <p:cNvPr id="50" name="Straight Arrow Connector 49">
            <a:extLst>
              <a:ext uri="{FF2B5EF4-FFF2-40B4-BE49-F238E27FC236}">
                <a16:creationId xmlns:a16="http://schemas.microsoft.com/office/drawing/2014/main" id="{C7088030-EF57-4833-B403-BB1FDA665A70}"/>
              </a:ext>
            </a:extLst>
          </p:cNvPr>
          <p:cNvCxnSpPr>
            <a:cxnSpLocks/>
            <a:stCxn id="44" idx="4"/>
            <a:endCxn id="49" idx="1"/>
          </p:cNvCxnSpPr>
          <p:nvPr/>
        </p:nvCxnSpPr>
        <p:spPr>
          <a:xfrm>
            <a:off x="6474220" y="2486706"/>
            <a:ext cx="26709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5" name="Can 14">
            <a:extLst>
              <a:ext uri="{FF2B5EF4-FFF2-40B4-BE49-F238E27FC236}">
                <a16:creationId xmlns:a16="http://schemas.microsoft.com/office/drawing/2014/main" id="{FCCC814E-7EC1-40C0-87CD-19D263E4B111}"/>
              </a:ext>
            </a:extLst>
          </p:cNvPr>
          <p:cNvSpPr/>
          <p:nvPr/>
        </p:nvSpPr>
        <p:spPr>
          <a:xfrm>
            <a:off x="8756695"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L3</a:t>
            </a:r>
          </a:p>
        </p:txBody>
      </p:sp>
      <p:cxnSp>
        <p:nvCxnSpPr>
          <p:cNvPr id="56" name="Straight Arrow Connector 55">
            <a:extLst>
              <a:ext uri="{FF2B5EF4-FFF2-40B4-BE49-F238E27FC236}">
                <a16:creationId xmlns:a16="http://schemas.microsoft.com/office/drawing/2014/main" id="{F61F9357-A553-4EB4-83DE-49E6B8C0423E}"/>
              </a:ext>
            </a:extLst>
          </p:cNvPr>
          <p:cNvCxnSpPr>
            <a:cxnSpLocks/>
            <a:endCxn id="55" idx="2"/>
          </p:cNvCxnSpPr>
          <p:nvPr/>
        </p:nvCxnSpPr>
        <p:spPr>
          <a:xfrm>
            <a:off x="8322803" y="2486705"/>
            <a:ext cx="433892"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91A91DD6-FB20-461C-AED1-3E6F4A1D7B63}"/>
              </a:ext>
            </a:extLst>
          </p:cNvPr>
          <p:cNvSpPr txBox="1"/>
          <p:nvPr/>
        </p:nvSpPr>
        <p:spPr>
          <a:xfrm>
            <a:off x="1430616" y="1337349"/>
            <a:ext cx="1338418" cy="366424"/>
          </a:xfrm>
          <a:prstGeom prst="rect">
            <a:avLst/>
          </a:prstGeom>
          <a:noFill/>
        </p:spPr>
        <p:txBody>
          <a:bodyPr wrap="square" tIns="90000" bIns="90000" rtlCol="0" anchor="t">
            <a:spAutoFit/>
          </a:bodyPr>
          <a:lstStyle/>
          <a:p>
            <a:r>
              <a:rPr lang="en-US" sz="1200" b="1" dirty="0"/>
              <a:t>Existing Process</a:t>
            </a:r>
          </a:p>
        </p:txBody>
      </p:sp>
      <p:sp>
        <p:nvSpPr>
          <p:cNvPr id="59" name="Rectangle 58">
            <a:extLst>
              <a:ext uri="{FF2B5EF4-FFF2-40B4-BE49-F238E27FC236}">
                <a16:creationId xmlns:a16="http://schemas.microsoft.com/office/drawing/2014/main" id="{C580014D-BAA3-470C-ABD8-1CD5B7121E32}"/>
              </a:ext>
            </a:extLst>
          </p:cNvPr>
          <p:cNvSpPr/>
          <p:nvPr/>
        </p:nvSpPr>
        <p:spPr>
          <a:xfrm>
            <a:off x="5110049" y="3827544"/>
            <a:ext cx="1437404" cy="955311"/>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Currently ES Amount is calculated as (Dealer Price X Quantity)</a:t>
            </a:r>
          </a:p>
        </p:txBody>
      </p:sp>
      <p:sp>
        <p:nvSpPr>
          <p:cNvPr id="61" name="Rectangle 60">
            <a:extLst>
              <a:ext uri="{FF2B5EF4-FFF2-40B4-BE49-F238E27FC236}">
                <a16:creationId xmlns:a16="http://schemas.microsoft.com/office/drawing/2014/main" id="{F1E9987D-A7AC-40B5-9F09-11C3577F0F84}"/>
              </a:ext>
            </a:extLst>
          </p:cNvPr>
          <p:cNvSpPr/>
          <p:nvPr/>
        </p:nvSpPr>
        <p:spPr>
          <a:xfrm>
            <a:off x="6994721" y="3849982"/>
            <a:ext cx="1074675" cy="955311"/>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 Merge Group Calls</a:t>
            </a:r>
          </a:p>
        </p:txBody>
      </p:sp>
      <p:cxnSp>
        <p:nvCxnSpPr>
          <p:cNvPr id="67" name="Straight Arrow Connector 66">
            <a:extLst>
              <a:ext uri="{FF2B5EF4-FFF2-40B4-BE49-F238E27FC236}">
                <a16:creationId xmlns:a16="http://schemas.microsoft.com/office/drawing/2014/main" id="{2EA92FFB-475F-431D-A556-3AED67926C89}"/>
              </a:ext>
            </a:extLst>
          </p:cNvPr>
          <p:cNvCxnSpPr>
            <a:cxnSpLocks/>
            <a:stCxn id="44" idx="3"/>
          </p:cNvCxnSpPr>
          <p:nvPr/>
        </p:nvCxnSpPr>
        <p:spPr>
          <a:xfrm>
            <a:off x="6189850" y="2868678"/>
            <a:ext cx="0" cy="958866"/>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70" name="Straight Arrow Connector 69">
            <a:extLst>
              <a:ext uri="{FF2B5EF4-FFF2-40B4-BE49-F238E27FC236}">
                <a16:creationId xmlns:a16="http://schemas.microsoft.com/office/drawing/2014/main" id="{F8AB1075-C6EB-4680-8702-2C889C3FA3D4}"/>
              </a:ext>
            </a:extLst>
          </p:cNvPr>
          <p:cNvCxnSpPr>
            <a:cxnSpLocks/>
          </p:cNvCxnSpPr>
          <p:nvPr/>
        </p:nvCxnSpPr>
        <p:spPr>
          <a:xfrm>
            <a:off x="7392144" y="2891116"/>
            <a:ext cx="0" cy="958866"/>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78" name="Straight Arrow Connector 77">
            <a:extLst>
              <a:ext uri="{FF2B5EF4-FFF2-40B4-BE49-F238E27FC236}">
                <a16:creationId xmlns:a16="http://schemas.microsoft.com/office/drawing/2014/main" id="{59C562D7-052F-4005-9A5C-C17652D1196F}"/>
              </a:ext>
            </a:extLst>
          </p:cNvPr>
          <p:cNvCxnSpPr>
            <a:cxnSpLocks/>
            <a:endCxn id="61" idx="1"/>
          </p:cNvCxnSpPr>
          <p:nvPr/>
        </p:nvCxnSpPr>
        <p:spPr>
          <a:xfrm>
            <a:off x="6547453" y="4325393"/>
            <a:ext cx="447268" cy="2245"/>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1" name="Speech Bubble: Rectangle with Corners Rounded 80">
            <a:extLst>
              <a:ext uri="{FF2B5EF4-FFF2-40B4-BE49-F238E27FC236}">
                <a16:creationId xmlns:a16="http://schemas.microsoft.com/office/drawing/2014/main" id="{FB070003-3CCC-422A-A49C-69B92487123D}"/>
              </a:ext>
            </a:extLst>
          </p:cNvPr>
          <p:cNvSpPr/>
          <p:nvPr/>
        </p:nvSpPr>
        <p:spPr>
          <a:xfrm>
            <a:off x="2851889" y="3389349"/>
            <a:ext cx="1689962" cy="1080120"/>
          </a:xfrm>
          <a:prstGeom prst="wedgeRoundRectCallout">
            <a:avLst>
              <a:gd name="adj1" fmla="val 127004"/>
              <a:gd name="adj2" fmla="val -116152"/>
              <a:gd name="adj3" fmla="val 16667"/>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000" kern="0" dirty="0">
                <a:solidFill>
                  <a:schemeClr val="bg1"/>
                </a:solidFill>
              </a:rPr>
              <a:t>ES Amount will now be calculated as (NHI Price * Unit Price) by using NHI Price master from Bridge</a:t>
            </a:r>
          </a:p>
        </p:txBody>
      </p:sp>
      <p:cxnSp>
        <p:nvCxnSpPr>
          <p:cNvPr id="72" name="Connector: Elbow 71">
            <a:extLst>
              <a:ext uri="{FF2B5EF4-FFF2-40B4-BE49-F238E27FC236}">
                <a16:creationId xmlns:a16="http://schemas.microsoft.com/office/drawing/2014/main" id="{9151430C-B001-40FE-B28A-3F9B637876FE}"/>
              </a:ext>
            </a:extLst>
          </p:cNvPr>
          <p:cNvCxnSpPr>
            <a:cxnSpLocks/>
            <a:stCxn id="61" idx="3"/>
            <a:endCxn id="55" idx="3"/>
          </p:cNvCxnSpPr>
          <p:nvPr/>
        </p:nvCxnSpPr>
        <p:spPr>
          <a:xfrm flipV="1">
            <a:off x="8069396" y="2868678"/>
            <a:ext cx="971670" cy="1458960"/>
          </a:xfrm>
          <a:prstGeom prst="bentConnector2">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3" name="TextBox 82">
            <a:extLst>
              <a:ext uri="{FF2B5EF4-FFF2-40B4-BE49-F238E27FC236}">
                <a16:creationId xmlns:a16="http://schemas.microsoft.com/office/drawing/2014/main" id="{E84AD120-296B-4E82-BE7E-CC2F282702DB}"/>
              </a:ext>
            </a:extLst>
          </p:cNvPr>
          <p:cNvSpPr txBox="1"/>
          <p:nvPr/>
        </p:nvSpPr>
        <p:spPr>
          <a:xfrm>
            <a:off x="4799855" y="5542836"/>
            <a:ext cx="4392490" cy="366424"/>
          </a:xfrm>
          <a:prstGeom prst="rect">
            <a:avLst/>
          </a:prstGeom>
          <a:noFill/>
        </p:spPr>
        <p:txBody>
          <a:bodyPr wrap="square" tIns="90000" bIns="90000" rtlCol="0" anchor="t">
            <a:spAutoFit/>
          </a:bodyPr>
          <a:lstStyle/>
          <a:p>
            <a:pPr algn="ctr"/>
            <a:r>
              <a:rPr lang="en-US" sz="1200" b="1" dirty="0"/>
              <a:t>Process of calculation of ES Amount</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r>
              <a:rPr lang="en-US" sz="2000" dirty="0">
                <a:solidFill>
                  <a:schemeClr val="accent2">
                    <a:lumMod val="75000"/>
                  </a:schemeClr>
                </a:solidFill>
              </a:rPr>
              <a:t>Provide ES Amount with NHI Price and Dealer Price</a:t>
            </a:r>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cxnSp>
        <p:nvCxnSpPr>
          <p:cNvPr id="35" name="Straight Connector 34">
            <a:extLst>
              <a:ext uri="{FF2B5EF4-FFF2-40B4-BE49-F238E27FC236}">
                <a16:creationId xmlns:a16="http://schemas.microsoft.com/office/drawing/2014/main" id="{7E92C443-CADB-45C9-9A3E-78D96C5F0667}"/>
              </a:ext>
            </a:extLst>
          </p:cNvPr>
          <p:cNvCxnSpPr>
            <a:cxnSpLocks/>
          </p:cNvCxnSpPr>
          <p:nvPr/>
        </p:nvCxnSpPr>
        <p:spPr>
          <a:xfrm>
            <a:off x="5721570" y="2380183"/>
            <a:ext cx="115774" cy="288032"/>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36" name="Straight Arrow Connector 35">
            <a:extLst>
              <a:ext uri="{FF2B5EF4-FFF2-40B4-BE49-F238E27FC236}">
                <a16:creationId xmlns:a16="http://schemas.microsoft.com/office/drawing/2014/main" id="{DC47FBD7-43F9-4CE2-8D3D-B1EEDF4CCAE8}"/>
              </a:ext>
            </a:extLst>
          </p:cNvPr>
          <p:cNvCxnSpPr>
            <a:cxnSpLocks/>
          </p:cNvCxnSpPr>
          <p:nvPr/>
        </p:nvCxnSpPr>
        <p:spPr>
          <a:xfrm>
            <a:off x="9338758" y="2486705"/>
            <a:ext cx="433892"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1" name="Can 14">
            <a:extLst>
              <a:ext uri="{FF2B5EF4-FFF2-40B4-BE49-F238E27FC236}">
                <a16:creationId xmlns:a16="http://schemas.microsoft.com/office/drawing/2014/main" id="{F2096C5D-8ED8-45A3-AB49-F713140A6093}"/>
              </a:ext>
            </a:extLst>
          </p:cNvPr>
          <p:cNvSpPr/>
          <p:nvPr/>
        </p:nvSpPr>
        <p:spPr>
          <a:xfrm>
            <a:off x="9777791" y="2109262"/>
            <a:ext cx="1453591" cy="763944"/>
          </a:xfrm>
          <a:prstGeom prst="can">
            <a:avLst/>
          </a:prstGeom>
          <a:solidFill>
            <a:schemeClr val="accent6">
              <a:lumMod val="75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ea typeface="+mn-ea"/>
                <a:cs typeface="+mn-cs"/>
              </a:rPr>
              <a:t>CSCOR/CSTAR/DEL</a:t>
            </a:r>
          </a:p>
        </p:txBody>
      </p:sp>
      <p:sp>
        <p:nvSpPr>
          <p:cNvPr id="2" name="Slide Number Placeholder 1">
            <a:extLst>
              <a:ext uri="{FF2B5EF4-FFF2-40B4-BE49-F238E27FC236}">
                <a16:creationId xmlns:a16="http://schemas.microsoft.com/office/drawing/2014/main" id="{FBE00C64-3CBF-4C95-BB89-76B2C010566E}"/>
              </a:ext>
            </a:extLst>
          </p:cNvPr>
          <p:cNvSpPr>
            <a:spLocks noGrp="1"/>
          </p:cNvSpPr>
          <p:nvPr>
            <p:ph type="sldNum" sz="quarter" idx="12"/>
          </p:nvPr>
        </p:nvSpPr>
        <p:spPr/>
        <p:txBody>
          <a:bodyPr/>
          <a:lstStyle/>
          <a:p>
            <a:fld id="{B58DE5F1-E0F9-4CCA-92B7-7A6FC4DFEE14}" type="slidenum">
              <a:rPr lang="en-US" smtClean="0"/>
              <a:t>9</a:t>
            </a:fld>
            <a:endParaRPr lang="en-US" dirty="0"/>
          </a:p>
        </p:txBody>
      </p:sp>
    </p:spTree>
    <p:extLst>
      <p:ext uri="{BB962C8B-B14F-4D97-AF65-F5344CB8AC3E}">
        <p14:creationId xmlns:p14="http://schemas.microsoft.com/office/powerpoint/2010/main" val="2362352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9"/>
            <a:ext cx="11068061" cy="892418"/>
          </a:xfrm>
        </p:spPr>
        <p:txBody>
          <a:bodyPr/>
          <a:lstStyle/>
          <a:p>
            <a:r>
              <a:rPr lang="en-US" sz="2800" dirty="0"/>
              <a:t>Summary of NHI price-based ES display change in CIRRUS related system and its impact to end-users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endParaRPr kumimoji="0" lang="en-US" sz="1000" b="1" i="1" u="none" strike="noStrike" kern="1200" cap="none" spc="0" normalizeH="0" baseline="0" noProof="0" dirty="0">
              <a:ln>
                <a:noFill/>
              </a:ln>
              <a:effectLst/>
              <a:uLnTx/>
              <a:uFillTx/>
              <a:latin typeface="Tahoma"/>
              <a:ea typeface="+mn-ea"/>
              <a:cs typeface="+mn-cs"/>
            </a:endParaRPr>
          </a:p>
        </p:txBody>
      </p:sp>
      <p:sp>
        <p:nvSpPr>
          <p:cNvPr id="10" name="Rectangle 9">
            <a:extLst>
              <a:ext uri="{FF2B5EF4-FFF2-40B4-BE49-F238E27FC236}">
                <a16:creationId xmlns:a16="http://schemas.microsoft.com/office/drawing/2014/main" id="{E4588BB3-D4B1-4B30-A40D-DF58F1DFAC8A}"/>
              </a:ext>
            </a:extLst>
          </p:cNvPr>
          <p:cNvSpPr/>
          <p:nvPr/>
        </p:nvSpPr>
        <p:spPr>
          <a:xfrm>
            <a:off x="0" y="69007"/>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r>
              <a:rPr lang="en-US" sz="2000" dirty="0">
                <a:solidFill>
                  <a:schemeClr val="accent2">
                    <a:lumMod val="75000"/>
                  </a:schemeClr>
                </a:solidFill>
              </a:rPr>
              <a:t>Provide ES Amount with NHI Price and Dealer Price</a:t>
            </a:r>
          </a:p>
        </p:txBody>
      </p:sp>
      <p:sp>
        <p:nvSpPr>
          <p:cNvPr id="2" name="Slide Number Placeholder 1">
            <a:extLst>
              <a:ext uri="{FF2B5EF4-FFF2-40B4-BE49-F238E27FC236}">
                <a16:creationId xmlns:a16="http://schemas.microsoft.com/office/drawing/2014/main" id="{D1A504B7-9D89-4190-8D8E-931A50A265FD}"/>
              </a:ext>
            </a:extLst>
          </p:cNvPr>
          <p:cNvSpPr>
            <a:spLocks noGrp="1"/>
          </p:cNvSpPr>
          <p:nvPr>
            <p:ph type="sldNum" sz="quarter" idx="12"/>
          </p:nvPr>
        </p:nvSpPr>
        <p:spPr/>
        <p:txBody>
          <a:bodyPr/>
          <a:lstStyle/>
          <a:p>
            <a:fld id="{B58DE5F1-E0F9-4CCA-92B7-7A6FC4DFEE14}" type="slidenum">
              <a:rPr lang="en-US" smtClean="0"/>
              <a:t>10</a:t>
            </a:fld>
            <a:endParaRPr lang="en-US" dirty="0"/>
          </a:p>
        </p:txBody>
      </p:sp>
      <p:sp>
        <p:nvSpPr>
          <p:cNvPr id="4" name="Flowchart: Process 3">
            <a:extLst>
              <a:ext uri="{FF2B5EF4-FFF2-40B4-BE49-F238E27FC236}">
                <a16:creationId xmlns:a16="http://schemas.microsoft.com/office/drawing/2014/main" id="{6A924252-6B27-4F10-B0C3-D990D3F48C8D}"/>
              </a:ext>
            </a:extLst>
          </p:cNvPr>
          <p:cNvSpPr/>
          <p:nvPr/>
        </p:nvSpPr>
        <p:spPr>
          <a:xfrm>
            <a:off x="1268963" y="1968759"/>
            <a:ext cx="2659225" cy="1460241"/>
          </a:xfrm>
          <a:prstGeom prst="flowChartProcess">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scene3d>
              <a:camera prst="orthographicFront"/>
              <a:lightRig rig="threePt" dir="t"/>
            </a:scene3d>
            <a:sp3d extrusionH="57150">
              <a:bevelT w="38100" h="38100" prst="relaxedInset"/>
            </a:sp3d>
          </a:bodyPr>
          <a:lstStyle/>
          <a:p>
            <a:pPr marL="171450" indent="-171450">
              <a:lnSpc>
                <a:spcPct val="100000"/>
              </a:lnSpc>
              <a:buFont typeface="Wingdings" panose="05000000000000000000" pitchFamily="2" charset="2"/>
              <a:buChar char="Ø"/>
            </a:pPr>
            <a:endParaRPr lang="en-US" sz="1100" dirty="0"/>
          </a:p>
          <a:p>
            <a:pPr marL="171450" indent="-171450">
              <a:lnSpc>
                <a:spcPct val="100000"/>
              </a:lnSpc>
              <a:buFont typeface="Wingdings" panose="05000000000000000000" pitchFamily="2" charset="2"/>
              <a:buChar char="Ø"/>
            </a:pPr>
            <a:r>
              <a:rPr lang="en-US" sz="1100" dirty="0"/>
              <a:t>Switch all ES reports to NHI price based instead of distribution price based </a:t>
            </a:r>
          </a:p>
          <a:p>
            <a:pPr marL="171450" indent="-171450">
              <a:lnSpc>
                <a:spcPct val="100000"/>
              </a:lnSpc>
              <a:buFont typeface="Wingdings" panose="05000000000000000000" pitchFamily="2" charset="2"/>
              <a:buChar char="Ø"/>
            </a:pPr>
            <a:r>
              <a:rPr lang="en-US" sz="1100" dirty="0"/>
              <a:t>This will also require to set ES PLAN and ES EST at NHI price level</a:t>
            </a:r>
          </a:p>
        </p:txBody>
      </p:sp>
      <p:sp>
        <p:nvSpPr>
          <p:cNvPr id="11" name="Flowchart: Process 10">
            <a:extLst>
              <a:ext uri="{FF2B5EF4-FFF2-40B4-BE49-F238E27FC236}">
                <a16:creationId xmlns:a16="http://schemas.microsoft.com/office/drawing/2014/main" id="{CBC51BB9-30AF-403E-A463-C993ABB5AB23}"/>
              </a:ext>
            </a:extLst>
          </p:cNvPr>
          <p:cNvSpPr/>
          <p:nvPr/>
        </p:nvSpPr>
        <p:spPr>
          <a:xfrm>
            <a:off x="4232988" y="1968758"/>
            <a:ext cx="2659225" cy="1460241"/>
          </a:xfrm>
          <a:prstGeom prst="flowChartProcess">
            <a:avLst/>
          </a:prstGeom>
          <a:ln/>
        </p:spPr>
        <p:style>
          <a:lnRef idx="2">
            <a:schemeClr val="accent6"/>
          </a:lnRef>
          <a:fillRef idx="1">
            <a:schemeClr val="lt1"/>
          </a:fillRef>
          <a:effectRef idx="0">
            <a:schemeClr val="accent6"/>
          </a:effectRef>
          <a:fontRef idx="minor">
            <a:schemeClr val="dk1"/>
          </a:fontRef>
        </p:style>
        <p:txBody>
          <a:bodyPr rtlCol="0" anchor="ctr">
            <a:scene3d>
              <a:camera prst="orthographicFront"/>
              <a:lightRig rig="threePt" dir="t"/>
            </a:scene3d>
            <a:sp3d extrusionH="57150">
              <a:bevelT w="38100" h="38100" prst="relaxedInset"/>
            </a:sp3d>
          </a:bodyPr>
          <a:lstStyle/>
          <a:p>
            <a:pPr marL="171450" indent="-171450">
              <a:buFont typeface="Wingdings" panose="05000000000000000000" pitchFamily="2" charset="2"/>
              <a:buChar char="Ø"/>
            </a:pPr>
            <a:endParaRPr lang="en-US" sz="1100" dirty="0">
              <a:solidFill>
                <a:schemeClr val="accent6"/>
              </a:solidFill>
            </a:endParaRPr>
          </a:p>
          <a:p>
            <a:pPr marL="171450" indent="-171450">
              <a:buFont typeface="Wingdings" panose="05000000000000000000" pitchFamily="2" charset="2"/>
              <a:buChar char="Ø"/>
            </a:pPr>
            <a:r>
              <a:rPr lang="en-US" sz="1100" dirty="0">
                <a:solidFill>
                  <a:schemeClr val="accent6"/>
                </a:solidFill>
              </a:rPr>
              <a:t>Switch all ES reports to NHI price based instead of distribution price based </a:t>
            </a:r>
          </a:p>
          <a:p>
            <a:pPr marL="171450" indent="-171450">
              <a:buFont typeface="Wingdings" panose="05000000000000000000" pitchFamily="2" charset="2"/>
              <a:buChar char="Ø"/>
            </a:pPr>
            <a:r>
              <a:rPr lang="en-US" sz="1100" dirty="0">
                <a:solidFill>
                  <a:schemeClr val="accent6"/>
                </a:solidFill>
              </a:rPr>
              <a:t>This will also require to set ES PLAN and ES EST at NHI price level</a:t>
            </a:r>
          </a:p>
        </p:txBody>
      </p:sp>
      <p:sp>
        <p:nvSpPr>
          <p:cNvPr id="12" name="Flowchart: Process 11">
            <a:extLst>
              <a:ext uri="{FF2B5EF4-FFF2-40B4-BE49-F238E27FC236}">
                <a16:creationId xmlns:a16="http://schemas.microsoft.com/office/drawing/2014/main" id="{6DF5B0E4-4C6D-4BC2-8E23-8153B560638B}"/>
              </a:ext>
            </a:extLst>
          </p:cNvPr>
          <p:cNvSpPr/>
          <p:nvPr/>
        </p:nvSpPr>
        <p:spPr>
          <a:xfrm>
            <a:off x="7220159" y="1985115"/>
            <a:ext cx="2659225" cy="1460241"/>
          </a:xfrm>
          <a:prstGeom prst="flowChartProcess">
            <a:avLst/>
          </a:prstGeom>
          <a:ln/>
        </p:spPr>
        <p:style>
          <a:lnRef idx="2">
            <a:schemeClr val="accent6"/>
          </a:lnRef>
          <a:fillRef idx="1">
            <a:schemeClr val="lt1"/>
          </a:fillRef>
          <a:effectRef idx="0">
            <a:schemeClr val="accent6"/>
          </a:effectRef>
          <a:fontRef idx="minor">
            <a:schemeClr val="dk1"/>
          </a:fontRef>
        </p:style>
        <p:txBody>
          <a:bodyPr rtlCol="0" anchor="ctr">
            <a:scene3d>
              <a:camera prst="orthographicFront"/>
              <a:lightRig rig="threePt" dir="t"/>
            </a:scene3d>
            <a:sp3d extrusionH="57150">
              <a:bevelT w="38100" h="38100" prst="relaxedInset"/>
            </a:sp3d>
          </a:bodyPr>
          <a:lstStyle/>
          <a:p>
            <a:pPr marL="171450" indent="-171450">
              <a:lnSpc>
                <a:spcPct val="100000"/>
              </a:lnSpc>
              <a:buFont typeface="Wingdings" panose="05000000000000000000" pitchFamily="2" charset="2"/>
              <a:buChar char="Ø"/>
            </a:pPr>
            <a:r>
              <a:rPr lang="en-US" sz="1100" dirty="0">
                <a:solidFill>
                  <a:schemeClr val="accent6"/>
                </a:solidFill>
              </a:rPr>
              <a:t>Currently , we already have both attributes that show s ES at NHI price based and distribution price based.</a:t>
            </a:r>
          </a:p>
          <a:p>
            <a:pPr marL="171450" indent="-171450">
              <a:lnSpc>
                <a:spcPct val="100000"/>
              </a:lnSpc>
              <a:buFont typeface="Wingdings" panose="05000000000000000000" pitchFamily="2" charset="2"/>
              <a:buChar char="Ø"/>
            </a:pPr>
            <a:r>
              <a:rPr lang="en-US" sz="1100" dirty="0">
                <a:solidFill>
                  <a:schemeClr val="accent6"/>
                </a:solidFill>
              </a:rPr>
              <a:t>Therefore no change is required</a:t>
            </a:r>
          </a:p>
        </p:txBody>
      </p:sp>
      <p:sp>
        <p:nvSpPr>
          <p:cNvPr id="5" name="Isosceles Triangle 4">
            <a:extLst>
              <a:ext uri="{FF2B5EF4-FFF2-40B4-BE49-F238E27FC236}">
                <a16:creationId xmlns:a16="http://schemas.microsoft.com/office/drawing/2014/main" id="{6C9BA256-CDFC-4B9E-933D-DE94CEF1D6A0}"/>
              </a:ext>
            </a:extLst>
          </p:cNvPr>
          <p:cNvSpPr/>
          <p:nvPr/>
        </p:nvSpPr>
        <p:spPr>
          <a:xfrm rot="10800000">
            <a:off x="1716832" y="3564292"/>
            <a:ext cx="1763485" cy="349900"/>
          </a:xfrm>
          <a:prstGeom prst="triangle">
            <a:avLst>
              <a:gd name="adj" fmla="val 48508"/>
            </a:avLst>
          </a:prstGeom>
          <a:solidFill>
            <a:schemeClr val="accent2">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13" name="Isosceles Triangle 12">
            <a:extLst>
              <a:ext uri="{FF2B5EF4-FFF2-40B4-BE49-F238E27FC236}">
                <a16:creationId xmlns:a16="http://schemas.microsoft.com/office/drawing/2014/main" id="{B3BC4EB1-FD7D-407A-9106-D97EFE1E3DE0}"/>
              </a:ext>
            </a:extLst>
          </p:cNvPr>
          <p:cNvSpPr/>
          <p:nvPr/>
        </p:nvSpPr>
        <p:spPr>
          <a:xfrm rot="10800000">
            <a:off x="6096000" y="3545630"/>
            <a:ext cx="1763485" cy="349900"/>
          </a:xfrm>
          <a:prstGeom prst="triangle">
            <a:avLst>
              <a:gd name="adj" fmla="val 48508"/>
            </a:avLst>
          </a:prstGeom>
          <a:solidFill>
            <a:schemeClr val="accent2">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6" name="TextBox 5">
            <a:extLst>
              <a:ext uri="{FF2B5EF4-FFF2-40B4-BE49-F238E27FC236}">
                <a16:creationId xmlns:a16="http://schemas.microsoft.com/office/drawing/2014/main" id="{2E9DAB18-FD4D-4FD6-8CF2-F7AF2B1A7F64}"/>
              </a:ext>
            </a:extLst>
          </p:cNvPr>
          <p:cNvSpPr txBox="1"/>
          <p:nvPr/>
        </p:nvSpPr>
        <p:spPr>
          <a:xfrm>
            <a:off x="1996749" y="2004138"/>
            <a:ext cx="1203649" cy="186222"/>
          </a:xfrm>
          <a:prstGeom prst="rect">
            <a:avLst/>
          </a:prstGeom>
          <a:noFill/>
        </p:spPr>
        <p:txBody>
          <a:bodyPr wrap="square" lIns="0" tIns="0" rIns="0" bIns="0" rtlCol="0">
            <a:noAutofit/>
          </a:bodyPr>
          <a:lstStyle/>
          <a:p>
            <a:pPr>
              <a:lnSpc>
                <a:spcPct val="100000"/>
              </a:lnSpc>
              <a:spcBef>
                <a:spcPts val="1200"/>
              </a:spcBef>
              <a:buSzPct val="100000"/>
            </a:pPr>
            <a:r>
              <a:rPr lang="en-US" sz="2000" dirty="0"/>
              <a:t>  C-SCOR</a:t>
            </a:r>
          </a:p>
        </p:txBody>
      </p:sp>
      <p:sp>
        <p:nvSpPr>
          <p:cNvPr id="16" name="TextBox 15">
            <a:extLst>
              <a:ext uri="{FF2B5EF4-FFF2-40B4-BE49-F238E27FC236}">
                <a16:creationId xmlns:a16="http://schemas.microsoft.com/office/drawing/2014/main" id="{CA9B9B12-2A5A-4589-8537-9EF71B56344C}"/>
              </a:ext>
            </a:extLst>
          </p:cNvPr>
          <p:cNvSpPr txBox="1"/>
          <p:nvPr/>
        </p:nvSpPr>
        <p:spPr>
          <a:xfrm>
            <a:off x="4960774" y="2015384"/>
            <a:ext cx="1203649" cy="186222"/>
          </a:xfrm>
          <a:prstGeom prst="rect">
            <a:avLst/>
          </a:prstGeom>
          <a:noFill/>
        </p:spPr>
        <p:txBody>
          <a:bodyPr wrap="square" lIns="0" tIns="0" rIns="0" bIns="0" rtlCol="0">
            <a:noAutofit/>
          </a:bodyPr>
          <a:lstStyle/>
          <a:p>
            <a:pPr>
              <a:lnSpc>
                <a:spcPct val="100000"/>
              </a:lnSpc>
              <a:spcBef>
                <a:spcPts val="1200"/>
              </a:spcBef>
              <a:buSzPct val="100000"/>
            </a:pPr>
            <a:r>
              <a:rPr lang="en-US" sz="2000" dirty="0"/>
              <a:t>  C-STAR</a:t>
            </a:r>
          </a:p>
        </p:txBody>
      </p:sp>
      <p:sp>
        <p:nvSpPr>
          <p:cNvPr id="17" name="TextBox 16">
            <a:extLst>
              <a:ext uri="{FF2B5EF4-FFF2-40B4-BE49-F238E27FC236}">
                <a16:creationId xmlns:a16="http://schemas.microsoft.com/office/drawing/2014/main" id="{DF662A81-670C-471A-9BD2-F28394EF5B4C}"/>
              </a:ext>
            </a:extLst>
          </p:cNvPr>
          <p:cNvSpPr txBox="1"/>
          <p:nvPr/>
        </p:nvSpPr>
        <p:spPr>
          <a:xfrm>
            <a:off x="7947946" y="2015384"/>
            <a:ext cx="1203649" cy="186222"/>
          </a:xfrm>
          <a:prstGeom prst="rect">
            <a:avLst/>
          </a:prstGeom>
          <a:noFill/>
        </p:spPr>
        <p:txBody>
          <a:bodyPr wrap="square" lIns="0" tIns="0" rIns="0" bIns="0" rtlCol="0">
            <a:noAutofit/>
          </a:bodyPr>
          <a:lstStyle/>
          <a:p>
            <a:pPr>
              <a:lnSpc>
                <a:spcPct val="100000"/>
              </a:lnSpc>
              <a:spcBef>
                <a:spcPts val="1200"/>
              </a:spcBef>
              <a:buSzPct val="100000"/>
            </a:pPr>
            <a:r>
              <a:rPr lang="en-US" sz="2000" dirty="0"/>
              <a:t>     DEL</a:t>
            </a:r>
          </a:p>
        </p:txBody>
      </p:sp>
      <p:sp>
        <p:nvSpPr>
          <p:cNvPr id="7" name="Rectangle 6">
            <a:extLst>
              <a:ext uri="{FF2B5EF4-FFF2-40B4-BE49-F238E27FC236}">
                <a16:creationId xmlns:a16="http://schemas.microsoft.com/office/drawing/2014/main" id="{39E7389F-D32E-4D82-A06E-34B592D18C9D}"/>
              </a:ext>
            </a:extLst>
          </p:cNvPr>
          <p:cNvSpPr/>
          <p:nvPr/>
        </p:nvSpPr>
        <p:spPr>
          <a:xfrm>
            <a:off x="1268963" y="4170783"/>
            <a:ext cx="2659225" cy="1483567"/>
          </a:xfrm>
          <a:prstGeom prst="rect">
            <a:avLst/>
          </a:prstGeom>
          <a:solidFill>
            <a:srgbClr val="F66F00">
              <a:alpha val="49804"/>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nSpc>
                <a:spcPct val="100000"/>
              </a:lnSpc>
            </a:pPr>
            <a:r>
              <a:rPr lang="en-US" sz="1400" dirty="0"/>
              <a:t>Field users will be restricted to see sales only at NHI price based, which is aligned with the industry standard practices.</a:t>
            </a:r>
          </a:p>
        </p:txBody>
      </p:sp>
      <p:sp>
        <p:nvSpPr>
          <p:cNvPr id="20" name="Rectangle 19">
            <a:extLst>
              <a:ext uri="{FF2B5EF4-FFF2-40B4-BE49-F238E27FC236}">
                <a16:creationId xmlns:a16="http://schemas.microsoft.com/office/drawing/2014/main" id="{47907E91-8C93-45E6-88A2-41072BEE863E}"/>
              </a:ext>
            </a:extLst>
          </p:cNvPr>
          <p:cNvSpPr/>
          <p:nvPr/>
        </p:nvSpPr>
        <p:spPr>
          <a:xfrm>
            <a:off x="4163689" y="4165729"/>
            <a:ext cx="5715695" cy="1483567"/>
          </a:xfrm>
          <a:prstGeom prst="rect">
            <a:avLst/>
          </a:prstGeom>
          <a:solidFill>
            <a:srgbClr val="F66F0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nSpc>
                <a:spcPct val="100000"/>
              </a:lnSpc>
            </a:pPr>
            <a:r>
              <a:rPr lang="en-US" sz="1400" dirty="0"/>
              <a:t>For Home Office users, we will allow them to access sales data in both NHI price based and distribution price based, to meet the need of people with different business needs .(e.g. wholesaler team will continue to work with distribution price –based sales)</a:t>
            </a:r>
          </a:p>
        </p:txBody>
      </p:sp>
    </p:spTree>
    <p:extLst>
      <p:ext uri="{BB962C8B-B14F-4D97-AF65-F5344CB8AC3E}">
        <p14:creationId xmlns:p14="http://schemas.microsoft.com/office/powerpoint/2010/main" val="3395009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9"/>
            <a:ext cx="11068061" cy="523220"/>
          </a:xfrm>
        </p:spPr>
        <p:txBody>
          <a:bodyPr/>
          <a:lstStyle/>
          <a:p>
            <a:r>
              <a:rPr lang="en-US" sz="2800" dirty="0"/>
              <a:t>ES Amount Calculation in C-SCOR Reports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endParaRPr kumimoji="0" lang="en-US" sz="1000" b="1" i="1" u="none" strike="noStrike" kern="1200" cap="none" spc="0" normalizeH="0" baseline="0" noProof="0" dirty="0">
              <a:ln>
                <a:noFill/>
              </a:ln>
              <a:effectLst/>
              <a:uLnTx/>
              <a:uFillTx/>
              <a:latin typeface="Tahoma"/>
              <a:ea typeface="+mn-ea"/>
              <a:cs typeface="+mn-cs"/>
            </a:endParaRPr>
          </a:p>
        </p:txBody>
      </p:sp>
      <p:graphicFrame>
        <p:nvGraphicFramePr>
          <p:cNvPr id="2" name="Table 1">
            <a:extLst>
              <a:ext uri="{FF2B5EF4-FFF2-40B4-BE49-F238E27FC236}">
                <a16:creationId xmlns:a16="http://schemas.microsoft.com/office/drawing/2014/main" id="{BAADE480-C50D-41C5-9447-0A7F546F9DBD}"/>
              </a:ext>
            </a:extLst>
          </p:cNvPr>
          <p:cNvGraphicFramePr>
            <a:graphicFrameLocks noGrp="1"/>
          </p:cNvGraphicFramePr>
          <p:nvPr>
            <p:extLst>
              <p:ext uri="{D42A27DB-BD31-4B8C-83A1-F6EECF244321}">
                <p14:modId xmlns:p14="http://schemas.microsoft.com/office/powerpoint/2010/main" val="986728767"/>
              </p:ext>
            </p:extLst>
          </p:nvPr>
        </p:nvGraphicFramePr>
        <p:xfrm>
          <a:off x="561230" y="1114369"/>
          <a:ext cx="10992596" cy="5059680"/>
        </p:xfrm>
        <a:graphic>
          <a:graphicData uri="http://schemas.openxmlformats.org/drawingml/2006/table">
            <a:tbl>
              <a:tblPr firstRow="1" bandRow="1">
                <a:tableStyleId>{616DA210-FB5B-4158-B5E0-FEB733F419BA}</a:tableStyleId>
              </a:tblPr>
              <a:tblGrid>
                <a:gridCol w="3563095">
                  <a:extLst>
                    <a:ext uri="{9D8B030D-6E8A-4147-A177-3AD203B41FA5}">
                      <a16:colId xmlns:a16="http://schemas.microsoft.com/office/drawing/2014/main" val="2253227332"/>
                    </a:ext>
                  </a:extLst>
                </a:gridCol>
                <a:gridCol w="7429501">
                  <a:extLst>
                    <a:ext uri="{9D8B030D-6E8A-4147-A177-3AD203B41FA5}">
                      <a16:colId xmlns:a16="http://schemas.microsoft.com/office/drawing/2014/main" val="2229600190"/>
                    </a:ext>
                  </a:extLst>
                </a:gridCol>
              </a:tblGrid>
              <a:tr h="370840">
                <a:tc>
                  <a:txBody>
                    <a:bodyPr/>
                    <a:lstStyle/>
                    <a:p>
                      <a:r>
                        <a:rPr lang="en-US" dirty="0"/>
                        <a:t>Report Name</a:t>
                      </a:r>
                    </a:p>
                  </a:txBody>
                  <a:tcPr/>
                </a:tc>
                <a:tc>
                  <a:txBody>
                    <a:bodyPr/>
                    <a:lstStyle/>
                    <a:p>
                      <a:r>
                        <a:rPr lang="en-US" dirty="0"/>
                        <a:t>Calculation of ES Amount</a:t>
                      </a:r>
                    </a:p>
                  </a:txBody>
                  <a:tcPr/>
                </a:tc>
                <a:extLst>
                  <a:ext uri="{0D108BD9-81ED-4DB2-BD59-A6C34878D82A}">
                    <a16:rowId xmlns:a16="http://schemas.microsoft.com/office/drawing/2014/main" val="1315903116"/>
                  </a:ext>
                </a:extLst>
              </a:tr>
              <a:tr h="370840">
                <a:tc>
                  <a:txBody>
                    <a:bodyPr/>
                    <a:lstStyle/>
                    <a:p>
                      <a:r>
                        <a:rPr lang="en-US" dirty="0"/>
                        <a:t>My Performance</a:t>
                      </a:r>
                    </a:p>
                  </a:txBody>
                  <a:tcPr/>
                </a:tc>
                <a:tc>
                  <a:txBody>
                    <a:bodyPr/>
                    <a:lstStyle/>
                    <a:p>
                      <a:r>
                        <a:rPr lang="en-US" dirty="0"/>
                        <a:t>ES Amount calculated on the basis Point-in-Time NHI Price</a:t>
                      </a:r>
                    </a:p>
                  </a:txBody>
                  <a:tcPr/>
                </a:tc>
                <a:extLst>
                  <a:ext uri="{0D108BD9-81ED-4DB2-BD59-A6C34878D82A}">
                    <a16:rowId xmlns:a16="http://schemas.microsoft.com/office/drawing/2014/main" val="3042790080"/>
                  </a:ext>
                </a:extLst>
              </a:tr>
              <a:tr h="370840">
                <a:tc rowSpan="2">
                  <a:txBody>
                    <a:bodyPr/>
                    <a:lstStyle/>
                    <a:p>
                      <a:r>
                        <a:rPr lang="en-US" dirty="0"/>
                        <a:t>My Geography</a:t>
                      </a:r>
                    </a:p>
                    <a:p>
                      <a:endParaRPr lang="en-US" dirty="0"/>
                    </a:p>
                  </a:txBody>
                  <a:tcPr/>
                </a:tc>
                <a:tc>
                  <a:txBody>
                    <a:bodyPr/>
                    <a:lstStyle/>
                    <a:p>
                      <a:r>
                        <a:rPr lang="en-US" dirty="0"/>
                        <a:t>ES Amount calculated on the basis Point-in-Time NHI Price</a:t>
                      </a:r>
                    </a:p>
                  </a:txBody>
                  <a:tcPr/>
                </a:tc>
                <a:extLst>
                  <a:ext uri="{0D108BD9-81ED-4DB2-BD59-A6C34878D82A}">
                    <a16:rowId xmlns:a16="http://schemas.microsoft.com/office/drawing/2014/main" val="1657800917"/>
                  </a:ext>
                </a:extLst>
              </a:tr>
              <a:tr h="370840">
                <a:tc vMerge="1">
                  <a:txBody>
                    <a:bodyPr/>
                    <a:lstStyle/>
                    <a:p>
                      <a:endParaRPr lang="en-US" dirty="0"/>
                    </a:p>
                  </a:txBody>
                  <a:tcPr/>
                </a:tc>
                <a:tc>
                  <a:txBody>
                    <a:bodyPr/>
                    <a:lstStyle/>
                    <a:p>
                      <a:r>
                        <a:rPr lang="en-US" dirty="0"/>
                        <a:t>ES Amount calculated on the basis Latest NHI Price</a:t>
                      </a:r>
                    </a:p>
                  </a:txBody>
                  <a:tcPr/>
                </a:tc>
                <a:extLst>
                  <a:ext uri="{0D108BD9-81ED-4DB2-BD59-A6C34878D82A}">
                    <a16:rowId xmlns:a16="http://schemas.microsoft.com/office/drawing/2014/main" val="3954105294"/>
                  </a:ext>
                </a:extLst>
              </a:tr>
              <a:tr h="370840">
                <a:tc rowSpan="2">
                  <a:txBody>
                    <a:bodyPr/>
                    <a:lstStyle/>
                    <a:p>
                      <a:r>
                        <a:rPr lang="en-US" dirty="0"/>
                        <a:t>Customer 360 Institution</a:t>
                      </a:r>
                    </a:p>
                  </a:txBody>
                  <a:tcPr/>
                </a:tc>
                <a:tc>
                  <a:txBody>
                    <a:bodyPr/>
                    <a:lstStyle/>
                    <a:p>
                      <a:r>
                        <a:rPr lang="en-US" dirty="0"/>
                        <a:t>ES Amount calculated on the basis Point-in-Time NHI Price</a:t>
                      </a:r>
                    </a:p>
                  </a:txBody>
                  <a:tcPr/>
                </a:tc>
                <a:extLst>
                  <a:ext uri="{0D108BD9-81ED-4DB2-BD59-A6C34878D82A}">
                    <a16:rowId xmlns:a16="http://schemas.microsoft.com/office/drawing/2014/main" val="2119840126"/>
                  </a:ext>
                </a:extLst>
              </a:tr>
              <a:tr h="370840">
                <a:tc vMerge="1">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ES Amount calculated on the basis Latest NHI Price</a:t>
                      </a:r>
                    </a:p>
                  </a:txBody>
                  <a:tcPr/>
                </a:tc>
                <a:extLst>
                  <a:ext uri="{0D108BD9-81ED-4DB2-BD59-A6C34878D82A}">
                    <a16:rowId xmlns:a16="http://schemas.microsoft.com/office/drawing/2014/main" val="6024960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My Customer Institution List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ES Amount calculated on the basis Point-in-Time NHI Price</a:t>
                      </a:r>
                    </a:p>
                  </a:txBody>
                  <a:tcPr/>
                </a:tc>
                <a:extLst>
                  <a:ext uri="{0D108BD9-81ED-4DB2-BD59-A6C34878D82A}">
                    <a16:rowId xmlns:a16="http://schemas.microsoft.com/office/drawing/2014/main" val="3647095022"/>
                  </a:ext>
                </a:extLst>
              </a:tr>
              <a:tr h="370840">
                <a:tc>
                  <a:txBody>
                    <a:bodyPr/>
                    <a:lstStyle/>
                    <a:p>
                      <a:r>
                        <a:rPr lang="en-US" dirty="0"/>
                        <a:t>ES KPI</a:t>
                      </a:r>
                    </a:p>
                  </a:txBody>
                  <a:tcPr/>
                </a:tc>
                <a:tc>
                  <a:txBody>
                    <a:bodyPr/>
                    <a:lstStyle/>
                    <a:p>
                      <a:r>
                        <a:rPr lang="en-US" dirty="0"/>
                        <a:t>ES Amount calculated on the basis Point-in-Time NHI Price</a:t>
                      </a:r>
                    </a:p>
                  </a:txBody>
                  <a:tcPr/>
                </a:tc>
                <a:extLst>
                  <a:ext uri="{0D108BD9-81ED-4DB2-BD59-A6C34878D82A}">
                    <a16:rowId xmlns:a16="http://schemas.microsoft.com/office/drawing/2014/main" val="2968763276"/>
                  </a:ext>
                </a:extLst>
              </a:tr>
              <a:tr h="370840">
                <a:tc rowSpan="2">
                  <a:txBody>
                    <a:bodyPr/>
                    <a:lstStyle/>
                    <a:p>
                      <a:r>
                        <a:rPr lang="en-US" dirty="0"/>
                        <a:t>ES Trend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ES Amount calculated on the basis Point-in-Time NHI Price</a:t>
                      </a:r>
                    </a:p>
                  </a:txBody>
                  <a:tcPr/>
                </a:tc>
                <a:extLst>
                  <a:ext uri="{0D108BD9-81ED-4DB2-BD59-A6C34878D82A}">
                    <a16:rowId xmlns:a16="http://schemas.microsoft.com/office/drawing/2014/main" val="3048032223"/>
                  </a:ext>
                </a:extLst>
              </a:tr>
              <a:tr h="370840">
                <a:tc vMerge="1">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ES Amount calculated on the basis Latest NHI Price</a:t>
                      </a:r>
                    </a:p>
                  </a:txBody>
                  <a:tcPr/>
                </a:tc>
                <a:extLst>
                  <a:ext uri="{0D108BD9-81ED-4DB2-BD59-A6C34878D82A}">
                    <a16:rowId xmlns:a16="http://schemas.microsoft.com/office/drawing/2014/main" val="4259821122"/>
                  </a:ext>
                </a:extLst>
              </a:tr>
              <a:tr h="370840">
                <a:tc>
                  <a:txBody>
                    <a:bodyPr/>
                    <a:lstStyle/>
                    <a:p>
                      <a:r>
                        <a:rPr lang="en-US" dirty="0"/>
                        <a:t>JD Net Detail &amp; Summary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ES Amount calculated on the basis Point-in-Time NHI Price</a:t>
                      </a:r>
                    </a:p>
                  </a:txBody>
                  <a:tcPr/>
                </a:tc>
                <a:extLst>
                  <a:ext uri="{0D108BD9-81ED-4DB2-BD59-A6C34878D82A}">
                    <a16:rowId xmlns:a16="http://schemas.microsoft.com/office/drawing/2014/main" val="2774676513"/>
                  </a:ext>
                </a:extLst>
              </a:tr>
              <a:tr h="370840">
                <a:tc>
                  <a:txBody>
                    <a:bodyPr/>
                    <a:lstStyle/>
                    <a:p>
                      <a:r>
                        <a:rPr lang="en-US" dirty="0"/>
                        <a:t>ES Ranking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ES Amount calculated on the basis Point-in-Time NHI Price from 2021 onwards. ES Amount to remain same until 2020.</a:t>
                      </a:r>
                    </a:p>
                  </a:txBody>
                  <a:tcPr/>
                </a:tc>
                <a:extLst>
                  <a:ext uri="{0D108BD9-81ED-4DB2-BD59-A6C34878D82A}">
                    <a16:rowId xmlns:a16="http://schemas.microsoft.com/office/drawing/2014/main" val="4062167644"/>
                  </a:ext>
                </a:extLst>
              </a:tr>
            </a:tbl>
          </a:graphicData>
        </a:graphic>
      </p:graphicFrame>
      <p:sp>
        <p:nvSpPr>
          <p:cNvPr id="9" name="Rectangle 8">
            <a:extLst>
              <a:ext uri="{FF2B5EF4-FFF2-40B4-BE49-F238E27FC236}">
                <a16:creationId xmlns:a16="http://schemas.microsoft.com/office/drawing/2014/main" id="{6DF60B22-7B69-4C5D-8044-25CA963EDAEF}"/>
              </a:ext>
            </a:extLst>
          </p:cNvPr>
          <p:cNvSpPr/>
          <p:nvPr/>
        </p:nvSpPr>
        <p:spPr>
          <a:xfrm>
            <a:off x="0" y="36016"/>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r>
              <a:rPr lang="en-US" sz="2000" dirty="0">
                <a:solidFill>
                  <a:schemeClr val="accent2">
                    <a:lumMod val="75000"/>
                  </a:schemeClr>
                </a:solidFill>
              </a:rPr>
              <a:t>Provide ES Amount with NHI Price and Dealer Price</a:t>
            </a:r>
          </a:p>
        </p:txBody>
      </p:sp>
      <p:sp>
        <p:nvSpPr>
          <p:cNvPr id="3" name="Slide Number Placeholder 2">
            <a:extLst>
              <a:ext uri="{FF2B5EF4-FFF2-40B4-BE49-F238E27FC236}">
                <a16:creationId xmlns:a16="http://schemas.microsoft.com/office/drawing/2014/main" id="{F81B32A8-8E2D-492D-B676-0A5CD7EAC156}"/>
              </a:ext>
            </a:extLst>
          </p:cNvPr>
          <p:cNvSpPr>
            <a:spLocks noGrp="1"/>
          </p:cNvSpPr>
          <p:nvPr>
            <p:ph type="sldNum" sz="quarter" idx="12"/>
          </p:nvPr>
        </p:nvSpPr>
        <p:spPr/>
        <p:txBody>
          <a:bodyPr/>
          <a:lstStyle/>
          <a:p>
            <a:fld id="{B58DE5F1-E0F9-4CCA-92B7-7A6FC4DFEE14}" type="slidenum">
              <a:rPr lang="en-US" smtClean="0"/>
              <a:t>11</a:t>
            </a:fld>
            <a:endParaRPr lang="en-US" dirty="0"/>
          </a:p>
        </p:txBody>
      </p:sp>
    </p:spTree>
    <p:extLst>
      <p:ext uri="{BB962C8B-B14F-4D97-AF65-F5344CB8AC3E}">
        <p14:creationId xmlns:p14="http://schemas.microsoft.com/office/powerpoint/2010/main" val="937281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9"/>
            <a:ext cx="11068061" cy="523220"/>
          </a:xfrm>
        </p:spPr>
        <p:txBody>
          <a:bodyPr/>
          <a:lstStyle/>
          <a:p>
            <a:r>
              <a:rPr lang="en-US" sz="2800" dirty="0"/>
              <a:t>Calculation of EST and PLAN Sales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endParaRPr kumimoji="0" lang="en-US" sz="1000" b="1" i="1" u="none" strike="noStrike" kern="1200" cap="none" spc="0" normalizeH="0" baseline="0" noProof="0" dirty="0">
              <a:ln>
                <a:noFill/>
              </a:ln>
              <a:effectLst/>
              <a:uLnTx/>
              <a:uFillTx/>
              <a:latin typeface="Tahoma"/>
              <a:ea typeface="+mn-ea"/>
              <a:cs typeface="+mn-cs"/>
            </a:endParaRPr>
          </a:p>
        </p:txBody>
      </p:sp>
      <p:graphicFrame>
        <p:nvGraphicFramePr>
          <p:cNvPr id="2" name="Table 1">
            <a:extLst>
              <a:ext uri="{FF2B5EF4-FFF2-40B4-BE49-F238E27FC236}">
                <a16:creationId xmlns:a16="http://schemas.microsoft.com/office/drawing/2014/main" id="{BAADE480-C50D-41C5-9447-0A7F546F9DBD}"/>
              </a:ext>
            </a:extLst>
          </p:cNvPr>
          <p:cNvGraphicFramePr>
            <a:graphicFrameLocks noGrp="1"/>
          </p:cNvGraphicFramePr>
          <p:nvPr>
            <p:extLst>
              <p:ext uri="{D42A27DB-BD31-4B8C-83A1-F6EECF244321}">
                <p14:modId xmlns:p14="http://schemas.microsoft.com/office/powerpoint/2010/main" val="1330670055"/>
              </p:ext>
            </p:extLst>
          </p:nvPr>
        </p:nvGraphicFramePr>
        <p:xfrm>
          <a:off x="561230" y="1114369"/>
          <a:ext cx="10992596" cy="3200400"/>
        </p:xfrm>
        <a:graphic>
          <a:graphicData uri="http://schemas.openxmlformats.org/drawingml/2006/table">
            <a:tbl>
              <a:tblPr firstRow="1" bandRow="1">
                <a:tableStyleId>{616DA210-FB5B-4158-B5E0-FEB733F419BA}</a:tableStyleId>
              </a:tblPr>
              <a:tblGrid>
                <a:gridCol w="3563095">
                  <a:extLst>
                    <a:ext uri="{9D8B030D-6E8A-4147-A177-3AD203B41FA5}">
                      <a16:colId xmlns:a16="http://schemas.microsoft.com/office/drawing/2014/main" val="2253227332"/>
                    </a:ext>
                  </a:extLst>
                </a:gridCol>
                <a:gridCol w="7429501">
                  <a:extLst>
                    <a:ext uri="{9D8B030D-6E8A-4147-A177-3AD203B41FA5}">
                      <a16:colId xmlns:a16="http://schemas.microsoft.com/office/drawing/2014/main" val="2229600190"/>
                    </a:ext>
                  </a:extLst>
                </a:gridCol>
              </a:tblGrid>
              <a:tr h="370840">
                <a:tc>
                  <a:txBody>
                    <a:bodyPr/>
                    <a:lstStyle/>
                    <a:p>
                      <a:r>
                        <a:rPr lang="en-US" dirty="0"/>
                        <a:t>Metric Name</a:t>
                      </a:r>
                    </a:p>
                  </a:txBody>
                  <a:tcPr/>
                </a:tc>
                <a:tc>
                  <a:txBody>
                    <a:bodyPr/>
                    <a:lstStyle/>
                    <a:p>
                      <a:r>
                        <a:rPr lang="en-US" dirty="0"/>
                        <a:t>Calculation of ES Amount</a:t>
                      </a:r>
                    </a:p>
                  </a:txBody>
                  <a:tcPr/>
                </a:tc>
                <a:extLst>
                  <a:ext uri="{0D108BD9-81ED-4DB2-BD59-A6C34878D82A}">
                    <a16:rowId xmlns:a16="http://schemas.microsoft.com/office/drawing/2014/main" val="1315903116"/>
                  </a:ext>
                </a:extLst>
              </a:tr>
              <a:tr h="370840">
                <a:tc>
                  <a:txBody>
                    <a:bodyPr/>
                    <a:lstStyle/>
                    <a:p>
                      <a:r>
                        <a:rPr lang="en-US" dirty="0"/>
                        <a:t>Historical EST Sales(until 2020)</a:t>
                      </a:r>
                    </a:p>
                  </a:txBody>
                  <a:tcPr/>
                </a:tc>
                <a:tc>
                  <a:txBody>
                    <a:bodyPr/>
                    <a:lstStyle/>
                    <a:p>
                      <a:r>
                        <a:rPr lang="en-US" dirty="0"/>
                        <a:t>Sales won’t be updated with NHI Price</a:t>
                      </a:r>
                    </a:p>
                  </a:txBody>
                  <a:tcPr/>
                </a:tc>
                <a:extLst>
                  <a:ext uri="{0D108BD9-81ED-4DB2-BD59-A6C34878D82A}">
                    <a16:rowId xmlns:a16="http://schemas.microsoft.com/office/drawing/2014/main" val="3042790080"/>
                  </a:ext>
                </a:extLst>
              </a:tr>
              <a:tr h="370840">
                <a:tc>
                  <a:txBody>
                    <a:bodyPr/>
                    <a:lstStyle/>
                    <a:p>
                      <a:r>
                        <a:rPr lang="en-US" dirty="0"/>
                        <a:t>EST Sales – 2021 onwards</a:t>
                      </a:r>
                    </a:p>
                  </a:txBody>
                  <a:tcPr/>
                </a:tc>
                <a:tc>
                  <a:txBody>
                    <a:bodyPr/>
                    <a:lstStyle/>
                    <a:p>
                      <a:r>
                        <a:rPr lang="en-US" dirty="0"/>
                        <a:t>To be received from 2021 onwards and the same will flow in all C-SCAN layers. No logic to be applied in C-SCAN</a:t>
                      </a:r>
                    </a:p>
                  </a:txBody>
                  <a:tcPr/>
                </a:tc>
                <a:extLst>
                  <a:ext uri="{0D108BD9-81ED-4DB2-BD59-A6C34878D82A}">
                    <a16:rowId xmlns:a16="http://schemas.microsoft.com/office/drawing/2014/main" val="1657800917"/>
                  </a:ext>
                </a:extLst>
              </a:tr>
              <a:tr h="370840">
                <a:tc>
                  <a:txBody>
                    <a:bodyPr/>
                    <a:lstStyle/>
                    <a:p>
                      <a:r>
                        <a:rPr lang="en-US" dirty="0"/>
                        <a:t>Historical PLAN Sales</a:t>
                      </a:r>
                    </a:p>
                  </a:txBody>
                  <a:tcPr/>
                </a:tc>
                <a:tc>
                  <a:txBody>
                    <a:bodyPr/>
                    <a:lstStyle/>
                    <a:p>
                      <a:r>
                        <a:rPr lang="en-US" dirty="0"/>
                        <a:t>Bridge team will update(for 3 years; to be confirmed with business) and send ES Plan sales data</a:t>
                      </a:r>
                    </a:p>
                  </a:txBody>
                  <a:tcPr/>
                </a:tc>
                <a:extLst>
                  <a:ext uri="{0D108BD9-81ED-4DB2-BD59-A6C34878D82A}">
                    <a16:rowId xmlns:a16="http://schemas.microsoft.com/office/drawing/2014/main" val="3954105294"/>
                  </a:ext>
                </a:extLst>
              </a:tr>
              <a:tr h="370840">
                <a:tc>
                  <a:txBody>
                    <a:bodyPr/>
                    <a:lstStyle/>
                    <a:p>
                      <a:r>
                        <a:rPr lang="en-US" dirty="0"/>
                        <a:t>PLAN Sales – 2021 onwards</a:t>
                      </a:r>
                    </a:p>
                  </a:txBody>
                  <a:tcPr/>
                </a:tc>
                <a:tc>
                  <a:txBody>
                    <a:bodyPr/>
                    <a:lstStyle/>
                    <a:p>
                      <a:r>
                        <a:rPr lang="en-US" dirty="0"/>
                        <a:t>To be received from 2021 onwards and the same will flow in all C-SCAN layers. No logic to be applied in C-SCAN</a:t>
                      </a:r>
                    </a:p>
                  </a:txBody>
                  <a:tcPr/>
                </a:tc>
                <a:extLst>
                  <a:ext uri="{0D108BD9-81ED-4DB2-BD59-A6C34878D82A}">
                    <a16:rowId xmlns:a16="http://schemas.microsoft.com/office/drawing/2014/main" val="2119840126"/>
                  </a:ext>
                </a:extLst>
              </a:tr>
            </a:tbl>
          </a:graphicData>
        </a:graphic>
      </p:graphicFrame>
      <p:sp>
        <p:nvSpPr>
          <p:cNvPr id="3" name="TextBox 2">
            <a:extLst>
              <a:ext uri="{FF2B5EF4-FFF2-40B4-BE49-F238E27FC236}">
                <a16:creationId xmlns:a16="http://schemas.microsoft.com/office/drawing/2014/main" id="{2CCF1778-6398-4B91-AD5B-A50005C69059}"/>
              </a:ext>
            </a:extLst>
          </p:cNvPr>
          <p:cNvSpPr txBox="1"/>
          <p:nvPr/>
        </p:nvSpPr>
        <p:spPr>
          <a:xfrm>
            <a:off x="561230" y="4477140"/>
            <a:ext cx="10992596" cy="1606420"/>
          </a:xfrm>
          <a:prstGeom prst="rect">
            <a:avLst/>
          </a:prstGeom>
          <a:noFill/>
        </p:spPr>
        <p:txBody>
          <a:bodyPr wrap="square" lIns="0" tIns="0" rIns="0" bIns="0" rtlCol="0">
            <a:noAutofit/>
          </a:bodyPr>
          <a:lstStyle/>
          <a:p>
            <a:pPr>
              <a:lnSpc>
                <a:spcPct val="100000"/>
              </a:lnSpc>
              <a:spcBef>
                <a:spcPts val="1200"/>
              </a:spcBef>
              <a:buSzPct val="100000"/>
            </a:pPr>
            <a:r>
              <a:rPr lang="en-US" sz="2000" dirty="0"/>
              <a:t>Note:</a:t>
            </a:r>
          </a:p>
          <a:p>
            <a:pPr marL="457200" indent="-457200">
              <a:lnSpc>
                <a:spcPct val="100000"/>
              </a:lnSpc>
              <a:spcBef>
                <a:spcPts val="1200"/>
              </a:spcBef>
              <a:buSzPct val="100000"/>
              <a:buAutoNum type="arabicPeriod"/>
            </a:pPr>
            <a:r>
              <a:rPr lang="en-US" sz="2000" dirty="0"/>
              <a:t>In ES Ranking report, ES won’t be changed until 2020 which means historical ES data to be preserved. However to calculate %G for 2021, team would calculate ES for 2020 on the basis of PIT NHI price by using a temporary solution.</a:t>
            </a:r>
          </a:p>
        </p:txBody>
      </p:sp>
      <p:sp>
        <p:nvSpPr>
          <p:cNvPr id="9" name="Rectangle 8">
            <a:extLst>
              <a:ext uri="{FF2B5EF4-FFF2-40B4-BE49-F238E27FC236}">
                <a16:creationId xmlns:a16="http://schemas.microsoft.com/office/drawing/2014/main" id="{46591E97-82A1-4EFC-9EF0-30D38FE3A500}"/>
              </a:ext>
            </a:extLst>
          </p:cNvPr>
          <p:cNvSpPr/>
          <p:nvPr/>
        </p:nvSpPr>
        <p:spPr>
          <a:xfrm>
            <a:off x="0" y="26729"/>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r>
              <a:rPr lang="en-US" sz="2000" dirty="0">
                <a:solidFill>
                  <a:schemeClr val="accent2">
                    <a:lumMod val="75000"/>
                  </a:schemeClr>
                </a:solidFill>
              </a:rPr>
              <a:t>Provide ES Amount with NHI Price and Dealer Price</a:t>
            </a:r>
          </a:p>
        </p:txBody>
      </p:sp>
      <p:sp>
        <p:nvSpPr>
          <p:cNvPr id="5" name="Slide Number Placeholder 4">
            <a:extLst>
              <a:ext uri="{FF2B5EF4-FFF2-40B4-BE49-F238E27FC236}">
                <a16:creationId xmlns:a16="http://schemas.microsoft.com/office/drawing/2014/main" id="{23D4D493-A571-4507-8B99-ADC2B9B99A80}"/>
              </a:ext>
            </a:extLst>
          </p:cNvPr>
          <p:cNvSpPr>
            <a:spLocks noGrp="1"/>
          </p:cNvSpPr>
          <p:nvPr>
            <p:ph type="sldNum" sz="quarter" idx="12"/>
          </p:nvPr>
        </p:nvSpPr>
        <p:spPr/>
        <p:txBody>
          <a:bodyPr/>
          <a:lstStyle/>
          <a:p>
            <a:fld id="{B58DE5F1-E0F9-4CCA-92B7-7A6FC4DFEE14}" type="slidenum">
              <a:rPr lang="en-US" smtClean="0"/>
              <a:t>12</a:t>
            </a:fld>
            <a:endParaRPr lang="en-US" dirty="0"/>
          </a:p>
        </p:txBody>
      </p:sp>
    </p:spTree>
    <p:extLst>
      <p:ext uri="{BB962C8B-B14F-4D97-AF65-F5344CB8AC3E}">
        <p14:creationId xmlns:p14="http://schemas.microsoft.com/office/powerpoint/2010/main" val="1712691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Approach to show daily level activity aggregation:</a:t>
            </a:r>
          </a:p>
        </p:txBody>
      </p:sp>
      <p:sp>
        <p:nvSpPr>
          <p:cNvPr id="39" name="Rectangle: Rounded Corners 38">
            <a:extLst>
              <a:ext uri="{FF2B5EF4-FFF2-40B4-BE49-F238E27FC236}">
                <a16:creationId xmlns:a16="http://schemas.microsoft.com/office/drawing/2014/main" id="{77FAEFAA-4DAB-4442-AC00-B2971EC058CC}"/>
              </a:ext>
            </a:extLst>
          </p:cNvPr>
          <p:cNvSpPr/>
          <p:nvPr/>
        </p:nvSpPr>
        <p:spPr>
          <a:xfrm>
            <a:off x="1232984" y="2085736"/>
            <a:ext cx="872264" cy="763944"/>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Veeva </a:t>
            </a:r>
          </a:p>
        </p:txBody>
      </p:sp>
      <p:sp>
        <p:nvSpPr>
          <p:cNvPr id="41" name="Can 10">
            <a:extLst>
              <a:ext uri="{FF2B5EF4-FFF2-40B4-BE49-F238E27FC236}">
                <a16:creationId xmlns:a16="http://schemas.microsoft.com/office/drawing/2014/main" id="{C629F661-E28E-4531-B28A-AE30702CD583}"/>
              </a:ext>
            </a:extLst>
          </p:cNvPr>
          <p:cNvSpPr/>
          <p:nvPr/>
        </p:nvSpPr>
        <p:spPr>
          <a:xfrm>
            <a:off x="2562031" y="2085736"/>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sp>
        <p:nvSpPr>
          <p:cNvPr id="42" name="Rectangle 41">
            <a:extLst>
              <a:ext uri="{FF2B5EF4-FFF2-40B4-BE49-F238E27FC236}">
                <a16:creationId xmlns:a16="http://schemas.microsoft.com/office/drawing/2014/main" id="{F1C14EE0-31CC-426B-B8C3-9A5595FB8288}"/>
              </a:ext>
            </a:extLst>
          </p:cNvPr>
          <p:cNvSpPr/>
          <p:nvPr/>
        </p:nvSpPr>
        <p:spPr>
          <a:xfrm>
            <a:off x="3696565" y="2230917"/>
            <a:ext cx="665914" cy="521609"/>
          </a:xfrm>
          <a:prstGeom prst="rect">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ETL Process</a:t>
            </a:r>
          </a:p>
        </p:txBody>
      </p:sp>
      <p:cxnSp>
        <p:nvCxnSpPr>
          <p:cNvPr id="43" name="Straight Arrow Connector 42">
            <a:extLst>
              <a:ext uri="{FF2B5EF4-FFF2-40B4-BE49-F238E27FC236}">
                <a16:creationId xmlns:a16="http://schemas.microsoft.com/office/drawing/2014/main" id="{30D59DDA-B95F-441B-A738-1D83A8E3BF16}"/>
              </a:ext>
            </a:extLst>
          </p:cNvPr>
          <p:cNvCxnSpPr>
            <a:cxnSpLocks/>
            <a:stCxn id="41" idx="4"/>
          </p:cNvCxnSpPr>
          <p:nvPr/>
        </p:nvCxnSpPr>
        <p:spPr>
          <a:xfrm>
            <a:off x="3130772" y="2467708"/>
            <a:ext cx="565793"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4" name="Can 14">
            <a:extLst>
              <a:ext uri="{FF2B5EF4-FFF2-40B4-BE49-F238E27FC236}">
                <a16:creationId xmlns:a16="http://schemas.microsoft.com/office/drawing/2014/main" id="{750B2520-044F-4908-BF06-504523C4AFFD}"/>
              </a:ext>
            </a:extLst>
          </p:cNvPr>
          <p:cNvSpPr/>
          <p:nvPr/>
        </p:nvSpPr>
        <p:spPr>
          <a:xfrm>
            <a:off x="4637948" y="2093846"/>
            <a:ext cx="592417"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a:t>
            </a:r>
          </a:p>
        </p:txBody>
      </p:sp>
      <p:cxnSp>
        <p:nvCxnSpPr>
          <p:cNvPr id="46" name="Straight Arrow Connector 45">
            <a:extLst>
              <a:ext uri="{FF2B5EF4-FFF2-40B4-BE49-F238E27FC236}">
                <a16:creationId xmlns:a16="http://schemas.microsoft.com/office/drawing/2014/main" id="{C83C2CC0-9EBD-419D-B45E-E76A4E6AE162}"/>
              </a:ext>
            </a:extLst>
          </p:cNvPr>
          <p:cNvCxnSpPr>
            <a:cxnSpLocks/>
            <a:stCxn id="42" idx="3"/>
          </p:cNvCxnSpPr>
          <p:nvPr/>
        </p:nvCxnSpPr>
        <p:spPr>
          <a:xfrm flipV="1">
            <a:off x="4362479" y="2486706"/>
            <a:ext cx="270190" cy="5016"/>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9" name="Rectangle 48">
            <a:extLst>
              <a:ext uri="{FF2B5EF4-FFF2-40B4-BE49-F238E27FC236}">
                <a16:creationId xmlns:a16="http://schemas.microsoft.com/office/drawing/2014/main" id="{B79931A1-6A7D-4978-8BD1-7E66C1B63BB3}"/>
              </a:ext>
            </a:extLst>
          </p:cNvPr>
          <p:cNvSpPr/>
          <p:nvPr/>
        </p:nvSpPr>
        <p:spPr>
          <a:xfrm>
            <a:off x="5623570" y="1600816"/>
            <a:ext cx="2093007" cy="1733784"/>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a:r>
              <a:rPr lang="en-US" sz="1100" kern="0" dirty="0">
                <a:solidFill>
                  <a:srgbClr val="000000"/>
                </a:solidFill>
              </a:rPr>
              <a:t>Activity for the below Channels are calculated:</a:t>
            </a:r>
          </a:p>
          <a:p>
            <a:pPr algn="ctr"/>
            <a:r>
              <a:rPr lang="en-US" sz="1100" kern="0" dirty="0">
                <a:solidFill>
                  <a:srgbClr val="000000"/>
                </a:solidFill>
              </a:rPr>
              <a:t>WEB</a:t>
            </a:r>
            <a:r>
              <a:rPr lang="ja-JP" altLang="en-US" sz="1100" kern="0" dirty="0">
                <a:solidFill>
                  <a:srgbClr val="000000"/>
                </a:solidFill>
              </a:rPr>
              <a:t>セミナー</a:t>
            </a:r>
            <a:endParaRPr lang="en-US" altLang="ja-JP" sz="1100" kern="0" dirty="0">
              <a:solidFill>
                <a:srgbClr val="000000"/>
              </a:solidFill>
            </a:endParaRPr>
          </a:p>
          <a:p>
            <a:pPr algn="ctr"/>
            <a:r>
              <a:rPr lang="en-US" sz="1100" kern="0" dirty="0">
                <a:solidFill>
                  <a:srgbClr val="000000"/>
                </a:solidFill>
              </a:rPr>
              <a:t>IVA</a:t>
            </a:r>
          </a:p>
          <a:p>
            <a:pPr algn="ctr"/>
            <a:r>
              <a:rPr lang="en-US" sz="1100" kern="0" dirty="0">
                <a:solidFill>
                  <a:srgbClr val="000000"/>
                </a:solidFill>
              </a:rPr>
              <a:t>APPROVED E-MAIL</a:t>
            </a:r>
          </a:p>
          <a:p>
            <a:pPr algn="ctr"/>
            <a:r>
              <a:rPr lang="en-US" sz="1100" kern="0" dirty="0">
                <a:solidFill>
                  <a:srgbClr val="000000"/>
                </a:solidFill>
              </a:rPr>
              <a:t>CO-VISITS WITH SUPERVISOR</a:t>
            </a:r>
          </a:p>
          <a:p>
            <a:pPr algn="ctr"/>
            <a:r>
              <a:rPr lang="en-US" sz="1100" kern="0" dirty="0">
                <a:solidFill>
                  <a:srgbClr val="000000"/>
                </a:solidFill>
              </a:rPr>
              <a:t>DETAIL</a:t>
            </a:r>
          </a:p>
          <a:p>
            <a:pPr algn="ctr"/>
            <a:r>
              <a:rPr lang="en-US" sz="1100" kern="0" dirty="0">
                <a:solidFill>
                  <a:srgbClr val="000000"/>
                </a:solidFill>
              </a:rPr>
              <a:t>APPOINTMENT DETAIL </a:t>
            </a:r>
          </a:p>
        </p:txBody>
      </p:sp>
      <p:sp>
        <p:nvSpPr>
          <p:cNvPr id="55" name="Can 14">
            <a:extLst>
              <a:ext uri="{FF2B5EF4-FFF2-40B4-BE49-F238E27FC236}">
                <a16:creationId xmlns:a16="http://schemas.microsoft.com/office/drawing/2014/main" id="{FCCC814E-7EC1-40C0-87CD-19D263E4B111}"/>
              </a:ext>
            </a:extLst>
          </p:cNvPr>
          <p:cNvSpPr/>
          <p:nvPr/>
        </p:nvSpPr>
        <p:spPr>
          <a:xfrm>
            <a:off x="8538918" y="2104244"/>
            <a:ext cx="860112" cy="786689"/>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endParaRPr lang="en-US" sz="1100" kern="0" dirty="0">
              <a:solidFill>
                <a:srgbClr val="000000"/>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lang="en-US" sz="1100" kern="0" dirty="0">
              <a:solidFill>
                <a:srgbClr val="000000"/>
              </a:solidFill>
            </a:endParaRPr>
          </a:p>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L3 Summary</a:t>
            </a:r>
          </a:p>
          <a:p>
            <a:pPr marL="0" marR="0" lvl="0" indent="0" defTabSz="914400" eaLnBrk="1" fontAlgn="auto" latinLnBrk="0" hangingPunct="1">
              <a:lnSpc>
                <a:spcPct val="100000"/>
              </a:lnSpc>
              <a:spcBef>
                <a:spcPts val="0"/>
              </a:spcBef>
              <a:spcAft>
                <a:spcPts val="0"/>
              </a:spcAft>
              <a:buClrTx/>
              <a:buSzTx/>
              <a:buFontTx/>
              <a:buNone/>
              <a:tabLst/>
              <a:defRPr/>
            </a:pPr>
            <a:endParaRPr lang="en-US" sz="1100" kern="0" dirty="0">
              <a:solidFill>
                <a:srgbClr val="000000"/>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56" name="Straight Arrow Connector 55">
            <a:extLst>
              <a:ext uri="{FF2B5EF4-FFF2-40B4-BE49-F238E27FC236}">
                <a16:creationId xmlns:a16="http://schemas.microsoft.com/office/drawing/2014/main" id="{F61F9357-A553-4EB4-83DE-49E6B8C0423E}"/>
              </a:ext>
            </a:extLst>
          </p:cNvPr>
          <p:cNvCxnSpPr>
            <a:cxnSpLocks/>
          </p:cNvCxnSpPr>
          <p:nvPr/>
        </p:nvCxnSpPr>
        <p:spPr>
          <a:xfrm flipV="1">
            <a:off x="7736653" y="2470374"/>
            <a:ext cx="815398" cy="10888"/>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81" name="Speech Bubble: Rectangle with Corners Rounded 80">
            <a:extLst>
              <a:ext uri="{FF2B5EF4-FFF2-40B4-BE49-F238E27FC236}">
                <a16:creationId xmlns:a16="http://schemas.microsoft.com/office/drawing/2014/main" id="{FB070003-3CCC-422A-A49C-69B92487123D}"/>
              </a:ext>
            </a:extLst>
          </p:cNvPr>
          <p:cNvSpPr/>
          <p:nvPr/>
        </p:nvSpPr>
        <p:spPr>
          <a:xfrm>
            <a:off x="8109782" y="1099730"/>
            <a:ext cx="1197811" cy="681139"/>
          </a:xfrm>
          <a:prstGeom prst="wedgeRoundRectCallout">
            <a:avLst>
              <a:gd name="adj1" fmla="val -61389"/>
              <a:gd name="adj2" fmla="val 157240"/>
              <a:gd name="adj3" fmla="val 16667"/>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000" kern="0" dirty="0">
                <a:solidFill>
                  <a:schemeClr val="bg1"/>
                </a:solidFill>
              </a:rPr>
              <a:t>Monthly level data is flown to the summary table </a:t>
            </a:r>
          </a:p>
        </p:txBody>
      </p:sp>
      <p:sp>
        <p:nvSpPr>
          <p:cNvPr id="31" name="Rectangle 30">
            <a:extLst>
              <a:ext uri="{FF2B5EF4-FFF2-40B4-BE49-F238E27FC236}">
                <a16:creationId xmlns:a16="http://schemas.microsoft.com/office/drawing/2014/main" id="{FABDBC01-FB5C-4A2A-8939-DF8C10E85F32}"/>
              </a:ext>
            </a:extLst>
          </p:cNvPr>
          <p:cNvSpPr/>
          <p:nvPr/>
        </p:nvSpPr>
        <p:spPr>
          <a:xfrm>
            <a:off x="0" y="-511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ctr"/>
            <a:r>
              <a:rPr lang="en-US" sz="2000" dirty="0">
                <a:solidFill>
                  <a:schemeClr val="accent2">
                    <a:lumMod val="75000"/>
                  </a:schemeClr>
                </a:solidFill>
              </a:rPr>
              <a:t>Daily activity aggregation to show up in DEL- C-SCAN Approach</a:t>
            </a:r>
          </a:p>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4" name="TextBox 3">
            <a:extLst>
              <a:ext uri="{FF2B5EF4-FFF2-40B4-BE49-F238E27FC236}">
                <a16:creationId xmlns:a16="http://schemas.microsoft.com/office/drawing/2014/main" id="{03878B09-5A76-4A59-BD92-146B55C383FA}"/>
              </a:ext>
            </a:extLst>
          </p:cNvPr>
          <p:cNvSpPr txBox="1"/>
          <p:nvPr/>
        </p:nvSpPr>
        <p:spPr>
          <a:xfrm>
            <a:off x="1278384" y="2348880"/>
            <a:ext cx="489297" cy="288032"/>
          </a:xfrm>
          <a:prstGeom prst="rect">
            <a:avLst/>
          </a:prstGeom>
          <a:noFill/>
        </p:spPr>
        <p:txBody>
          <a:bodyPr wrap="square" lIns="0" tIns="0" rIns="0" bIns="0" rtlCol="0">
            <a:noAutofit/>
          </a:bodyPr>
          <a:lstStyle/>
          <a:p>
            <a:pPr>
              <a:lnSpc>
                <a:spcPct val="100000"/>
              </a:lnSpc>
              <a:spcBef>
                <a:spcPts val="1200"/>
              </a:spcBef>
              <a:buSzPct val="100000"/>
            </a:pPr>
            <a:endParaRPr lang="en-US" sz="1000" dirty="0"/>
          </a:p>
        </p:txBody>
      </p:sp>
      <p:sp>
        <p:nvSpPr>
          <p:cNvPr id="9" name="TextBox 8">
            <a:extLst>
              <a:ext uri="{FF2B5EF4-FFF2-40B4-BE49-F238E27FC236}">
                <a16:creationId xmlns:a16="http://schemas.microsoft.com/office/drawing/2014/main" id="{F9D4D9CC-D718-4673-BF2F-6A6F2E129C28}"/>
              </a:ext>
            </a:extLst>
          </p:cNvPr>
          <p:cNvSpPr txBox="1"/>
          <p:nvPr/>
        </p:nvSpPr>
        <p:spPr>
          <a:xfrm>
            <a:off x="9759820" y="3367264"/>
            <a:ext cx="2432180" cy="81490"/>
          </a:xfrm>
          <a:prstGeom prst="rect">
            <a:avLst/>
          </a:prstGeom>
          <a:noFill/>
        </p:spPr>
        <p:txBody>
          <a:bodyPr wrap="square" lIns="0" tIns="0" rIns="0" bIns="0" rtlCol="0">
            <a:noAutofit/>
          </a:bodyPr>
          <a:lstStyle/>
          <a:p>
            <a:pPr>
              <a:lnSpc>
                <a:spcPct val="100000"/>
              </a:lnSpc>
              <a:spcBef>
                <a:spcPts val="1200"/>
              </a:spcBef>
              <a:buSzPct val="100000"/>
            </a:pPr>
            <a:endParaRPr lang="en-US" sz="800" dirty="0"/>
          </a:p>
        </p:txBody>
      </p:sp>
      <p:cxnSp>
        <p:nvCxnSpPr>
          <p:cNvPr id="51" name="Straight Arrow Connector 50">
            <a:extLst>
              <a:ext uri="{FF2B5EF4-FFF2-40B4-BE49-F238E27FC236}">
                <a16:creationId xmlns:a16="http://schemas.microsoft.com/office/drawing/2014/main" id="{6CBC48ED-974B-4828-B1E2-A5DB0E070DD7}"/>
              </a:ext>
            </a:extLst>
          </p:cNvPr>
          <p:cNvCxnSpPr>
            <a:cxnSpLocks/>
            <a:stCxn id="44" idx="4"/>
          </p:cNvCxnSpPr>
          <p:nvPr/>
        </p:nvCxnSpPr>
        <p:spPr>
          <a:xfrm flipV="1">
            <a:off x="5230365" y="2470356"/>
            <a:ext cx="388725" cy="5462"/>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2E40AB70-BF46-4155-AF64-4A3E48B9CF07}"/>
              </a:ext>
            </a:extLst>
          </p:cNvPr>
          <p:cNvCxnSpPr>
            <a:cxnSpLocks/>
          </p:cNvCxnSpPr>
          <p:nvPr/>
        </p:nvCxnSpPr>
        <p:spPr>
          <a:xfrm>
            <a:off x="6670073" y="3367264"/>
            <a:ext cx="0" cy="80352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65" name="Can 14">
            <a:extLst>
              <a:ext uri="{FF2B5EF4-FFF2-40B4-BE49-F238E27FC236}">
                <a16:creationId xmlns:a16="http://schemas.microsoft.com/office/drawing/2014/main" id="{2278A9E0-4B94-4E49-890B-76CEDDA409D1}"/>
              </a:ext>
            </a:extLst>
          </p:cNvPr>
          <p:cNvSpPr/>
          <p:nvPr/>
        </p:nvSpPr>
        <p:spPr>
          <a:xfrm>
            <a:off x="10228314" y="2085578"/>
            <a:ext cx="1099112" cy="797577"/>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DEL Monthly level activity data view </a:t>
            </a: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66" name="Straight Arrow Connector 65">
            <a:extLst>
              <a:ext uri="{FF2B5EF4-FFF2-40B4-BE49-F238E27FC236}">
                <a16:creationId xmlns:a16="http://schemas.microsoft.com/office/drawing/2014/main" id="{E8844661-ED41-4E09-A4A8-7C0EA75223AF}"/>
              </a:ext>
            </a:extLst>
          </p:cNvPr>
          <p:cNvCxnSpPr>
            <a:cxnSpLocks/>
          </p:cNvCxnSpPr>
          <p:nvPr/>
        </p:nvCxnSpPr>
        <p:spPr>
          <a:xfrm flipV="1">
            <a:off x="9405973" y="2465029"/>
            <a:ext cx="815398" cy="10888"/>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68" name="Can 14">
            <a:extLst>
              <a:ext uri="{FF2B5EF4-FFF2-40B4-BE49-F238E27FC236}">
                <a16:creationId xmlns:a16="http://schemas.microsoft.com/office/drawing/2014/main" id="{31E6EED4-7E9C-41F9-9C26-414B551B3AEC}"/>
              </a:ext>
            </a:extLst>
          </p:cNvPr>
          <p:cNvSpPr/>
          <p:nvPr/>
        </p:nvSpPr>
        <p:spPr>
          <a:xfrm>
            <a:off x="6096000" y="4170784"/>
            <a:ext cx="1198998" cy="803515"/>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endParaRPr lang="en-US" sz="1100" kern="0" dirty="0">
              <a:solidFill>
                <a:srgbClr val="000000"/>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lang="en-US" sz="1100" kern="0" dirty="0">
              <a:solidFill>
                <a:srgbClr val="000000"/>
              </a:solidFill>
            </a:endParaRPr>
          </a:p>
          <a:p>
            <a:pPr marL="0" marR="0" lvl="0" indent="0" defTabSz="914400" eaLnBrk="1" fontAlgn="auto" latinLnBrk="0" hangingPunct="1">
              <a:lnSpc>
                <a:spcPct val="100000"/>
              </a:lnSpc>
              <a:spcBef>
                <a:spcPts val="0"/>
              </a:spcBef>
              <a:spcAft>
                <a:spcPts val="0"/>
              </a:spcAft>
              <a:buClrTx/>
              <a:buSzTx/>
              <a:buFontTx/>
              <a:buNone/>
              <a:tabLst/>
              <a:defRPr/>
            </a:pPr>
            <a:r>
              <a:rPr lang="en-US" sz="1100" kern="0" dirty="0">
                <a:solidFill>
                  <a:srgbClr val="000000"/>
                </a:solidFill>
              </a:rPr>
              <a:t>DEL View with daily level activity data</a:t>
            </a:r>
          </a:p>
          <a:p>
            <a:pPr marL="0" marR="0" lvl="0" indent="0" defTabSz="914400" eaLnBrk="1" fontAlgn="auto" latinLnBrk="0" hangingPunct="1">
              <a:lnSpc>
                <a:spcPct val="100000"/>
              </a:lnSpc>
              <a:spcBef>
                <a:spcPts val="0"/>
              </a:spcBef>
              <a:spcAft>
                <a:spcPts val="0"/>
              </a:spcAft>
              <a:buClrTx/>
              <a:buSzTx/>
              <a:buFontTx/>
              <a:buNone/>
              <a:tabLst/>
              <a:defRPr/>
            </a:pPr>
            <a:endParaRPr lang="en-US" sz="1100" kern="0" dirty="0">
              <a:solidFill>
                <a:srgbClr val="000000"/>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rgbClr val="000000"/>
              </a:solidFill>
              <a:effectLst/>
              <a:uLnTx/>
              <a:uFillTx/>
              <a:ea typeface="+mn-ea"/>
              <a:cs typeface="+mn-cs"/>
            </a:endParaRPr>
          </a:p>
        </p:txBody>
      </p:sp>
      <p:sp>
        <p:nvSpPr>
          <p:cNvPr id="69" name="Speech Bubble: Rectangle with Corners Rounded 68">
            <a:extLst>
              <a:ext uri="{FF2B5EF4-FFF2-40B4-BE49-F238E27FC236}">
                <a16:creationId xmlns:a16="http://schemas.microsoft.com/office/drawing/2014/main" id="{8540C5B1-D605-40B9-9911-B8026BC74136}"/>
              </a:ext>
            </a:extLst>
          </p:cNvPr>
          <p:cNvSpPr/>
          <p:nvPr/>
        </p:nvSpPr>
        <p:spPr>
          <a:xfrm>
            <a:off x="3470456" y="3296856"/>
            <a:ext cx="1403608" cy="1175728"/>
          </a:xfrm>
          <a:prstGeom prst="wedgeRoundRectCallout">
            <a:avLst>
              <a:gd name="adj1" fmla="val 177143"/>
              <a:gd name="adj2" fmla="val -4584"/>
              <a:gd name="adj3" fmla="val 16667"/>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1000" kern="0" dirty="0">
                <a:solidFill>
                  <a:schemeClr val="bg1"/>
                </a:solidFill>
              </a:rPr>
              <a:t>Daily level activity data will be included in and will be shown at new DEL view daily activity metrics</a:t>
            </a:r>
          </a:p>
        </p:txBody>
      </p:sp>
      <p:cxnSp>
        <p:nvCxnSpPr>
          <p:cNvPr id="70" name="Straight Arrow Connector 69">
            <a:extLst>
              <a:ext uri="{FF2B5EF4-FFF2-40B4-BE49-F238E27FC236}">
                <a16:creationId xmlns:a16="http://schemas.microsoft.com/office/drawing/2014/main" id="{AB67687B-F7B4-48DF-A31B-7A0737354CAA}"/>
              </a:ext>
            </a:extLst>
          </p:cNvPr>
          <p:cNvCxnSpPr>
            <a:cxnSpLocks/>
            <a:stCxn id="39" idx="3"/>
            <a:endCxn id="41" idx="2"/>
          </p:cNvCxnSpPr>
          <p:nvPr/>
        </p:nvCxnSpPr>
        <p:spPr>
          <a:xfrm>
            <a:off x="2105248" y="2467708"/>
            <a:ext cx="456783"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203C6D14-E7AA-4C62-9C32-B48E7AD575BA}"/>
              </a:ext>
            </a:extLst>
          </p:cNvPr>
          <p:cNvSpPr txBox="1"/>
          <p:nvPr/>
        </p:nvSpPr>
        <p:spPr>
          <a:xfrm>
            <a:off x="5230365" y="1099730"/>
            <a:ext cx="2872474" cy="4545290"/>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endParaRPr lang="en-US" sz="2000" dirty="0"/>
          </a:p>
        </p:txBody>
      </p:sp>
      <p:sp>
        <p:nvSpPr>
          <p:cNvPr id="34" name="Flowchart: Process 33">
            <a:extLst>
              <a:ext uri="{FF2B5EF4-FFF2-40B4-BE49-F238E27FC236}">
                <a16:creationId xmlns:a16="http://schemas.microsoft.com/office/drawing/2014/main" id="{9B7B9198-2001-4850-8F44-2F240B2280C3}"/>
              </a:ext>
            </a:extLst>
          </p:cNvPr>
          <p:cNvSpPr/>
          <p:nvPr/>
        </p:nvSpPr>
        <p:spPr>
          <a:xfrm>
            <a:off x="5430416" y="1099730"/>
            <a:ext cx="2500604" cy="4658540"/>
          </a:xfrm>
          <a:prstGeom prst="flowChartProcess">
            <a:avLst/>
          </a:prstGeom>
          <a:noFill/>
          <a:ln>
            <a:solidFill>
              <a:schemeClr val="accent2">
                <a:lumMod val="75000"/>
              </a:schemeClr>
            </a:solid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a:p>
        </p:txBody>
      </p:sp>
      <p:sp>
        <p:nvSpPr>
          <p:cNvPr id="75" name="TextBox 74">
            <a:extLst>
              <a:ext uri="{FF2B5EF4-FFF2-40B4-BE49-F238E27FC236}">
                <a16:creationId xmlns:a16="http://schemas.microsoft.com/office/drawing/2014/main" id="{07009D4E-5EE6-4469-A0FE-7C8755FA832B}"/>
              </a:ext>
            </a:extLst>
          </p:cNvPr>
          <p:cNvSpPr txBox="1"/>
          <p:nvPr/>
        </p:nvSpPr>
        <p:spPr>
          <a:xfrm>
            <a:off x="562708" y="1250302"/>
            <a:ext cx="1667308" cy="453456"/>
          </a:xfrm>
          <a:prstGeom prst="rect">
            <a:avLst/>
          </a:prstGeom>
          <a:noFill/>
        </p:spPr>
        <p:txBody>
          <a:bodyPr wrap="square" lIns="0" tIns="0" rIns="0" bIns="0" rtlCol="0">
            <a:noAutofit/>
          </a:bodyPr>
          <a:lstStyle/>
          <a:p>
            <a:pPr>
              <a:lnSpc>
                <a:spcPct val="100000"/>
              </a:lnSpc>
              <a:spcBef>
                <a:spcPts val="1200"/>
              </a:spcBef>
              <a:buSzPct val="100000"/>
            </a:pPr>
            <a:r>
              <a:rPr lang="en-US" sz="1400" dirty="0"/>
              <a:t>:</a:t>
            </a:r>
            <a:endParaRPr lang="en-US" sz="2000" dirty="0"/>
          </a:p>
        </p:txBody>
      </p:sp>
      <p:sp>
        <p:nvSpPr>
          <p:cNvPr id="2" name="TextBox 1">
            <a:extLst>
              <a:ext uri="{FF2B5EF4-FFF2-40B4-BE49-F238E27FC236}">
                <a16:creationId xmlns:a16="http://schemas.microsoft.com/office/drawing/2014/main" id="{4D90A930-8124-4468-BB9B-C923E24F23A2}"/>
              </a:ext>
            </a:extLst>
          </p:cNvPr>
          <p:cNvSpPr txBox="1"/>
          <p:nvPr/>
        </p:nvSpPr>
        <p:spPr>
          <a:xfrm>
            <a:off x="5383047" y="5871699"/>
            <a:ext cx="3083604" cy="299662"/>
          </a:xfrm>
          <a:prstGeom prst="rect">
            <a:avLst/>
          </a:prstGeom>
          <a:noFill/>
        </p:spPr>
        <p:txBody>
          <a:bodyPr wrap="square" lIns="0" tIns="0" rIns="0" bIns="0" rtlCol="0">
            <a:noAutofit/>
          </a:bodyPr>
          <a:lstStyle/>
          <a:p>
            <a:pPr>
              <a:lnSpc>
                <a:spcPct val="100000"/>
              </a:lnSpc>
              <a:spcBef>
                <a:spcPts val="1200"/>
              </a:spcBef>
              <a:buSzPct val="100000"/>
            </a:pPr>
            <a:r>
              <a:rPr lang="en-US" sz="1400" dirty="0"/>
              <a:t>Daily activity aggregation process</a:t>
            </a:r>
          </a:p>
        </p:txBody>
      </p:sp>
      <p:sp>
        <p:nvSpPr>
          <p:cNvPr id="5" name="Slide Number Placeholder 4">
            <a:extLst>
              <a:ext uri="{FF2B5EF4-FFF2-40B4-BE49-F238E27FC236}">
                <a16:creationId xmlns:a16="http://schemas.microsoft.com/office/drawing/2014/main" id="{FBAAB0E2-F43A-440B-AB20-1E21F0EB2141}"/>
              </a:ext>
            </a:extLst>
          </p:cNvPr>
          <p:cNvSpPr>
            <a:spLocks noGrp="1"/>
          </p:cNvSpPr>
          <p:nvPr>
            <p:ph type="sldNum" sz="quarter" idx="12"/>
          </p:nvPr>
        </p:nvSpPr>
        <p:spPr/>
        <p:txBody>
          <a:bodyPr/>
          <a:lstStyle/>
          <a:p>
            <a:fld id="{B58DE5F1-E0F9-4CCA-92B7-7A6FC4DFEE14}" type="slidenum">
              <a:rPr lang="en-US" smtClean="0"/>
              <a:t>13</a:t>
            </a:fld>
            <a:endParaRPr lang="en-US" dirty="0"/>
          </a:p>
        </p:txBody>
      </p:sp>
    </p:spTree>
    <p:extLst>
      <p:ext uri="{BB962C8B-B14F-4D97-AF65-F5344CB8AC3E}">
        <p14:creationId xmlns:p14="http://schemas.microsoft.com/office/powerpoint/2010/main" val="3533809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Rectangle 81">
            <a:extLst>
              <a:ext uri="{FF2B5EF4-FFF2-40B4-BE49-F238E27FC236}">
                <a16:creationId xmlns:a16="http://schemas.microsoft.com/office/drawing/2014/main" id="{36B44B74-3A95-4892-87F1-984F7BAAEF70}"/>
              </a:ext>
            </a:extLst>
          </p:cNvPr>
          <p:cNvSpPr/>
          <p:nvPr/>
        </p:nvSpPr>
        <p:spPr>
          <a:xfrm>
            <a:off x="4799856" y="3425157"/>
            <a:ext cx="6706344" cy="2092076"/>
          </a:xfrm>
          <a:prstGeom prst="rect">
            <a:avLst/>
          </a:prstGeom>
          <a:ln>
            <a:solidFill>
              <a:schemeClr val="accent3"/>
            </a:solidFill>
          </a:ln>
        </p:spPr>
        <p:style>
          <a:lnRef idx="2">
            <a:schemeClr val="accent2"/>
          </a:lnRef>
          <a:fillRef idx="1">
            <a:schemeClr val="lt1"/>
          </a:fillRef>
          <a:effectRef idx="0">
            <a:schemeClr val="accent2"/>
          </a:effectRef>
          <a:fontRef idx="minor">
            <a:schemeClr val="dk1"/>
          </a:fontRef>
        </p:style>
        <p:txBody>
          <a:bodyPr tIns="90000" bIns="90000" rtlCol="0" anchor="ctr" anchorCtr="0"/>
          <a:lstStyle/>
          <a:p>
            <a:pPr algn="ctr"/>
            <a:endParaRPr lang="en-US" sz="1400" dirty="0" err="1">
              <a:solidFill>
                <a:schemeClr val="tx1"/>
              </a:solidFill>
            </a:endParaRPr>
          </a:p>
        </p:txBody>
      </p:sp>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9"/>
            <a:ext cx="11068061" cy="523220"/>
          </a:xfrm>
        </p:spPr>
        <p:txBody>
          <a:bodyPr/>
          <a:lstStyle/>
          <a:p>
            <a:r>
              <a:rPr lang="en-US" sz="2800" dirty="0"/>
              <a:t>C-SCAN Approach: Calculation of detail per call</a:t>
            </a:r>
          </a:p>
        </p:txBody>
      </p:sp>
      <p:sp>
        <p:nvSpPr>
          <p:cNvPr id="38" name="Rectangle 37">
            <a:extLst>
              <a:ext uri="{FF2B5EF4-FFF2-40B4-BE49-F238E27FC236}">
                <a16:creationId xmlns:a16="http://schemas.microsoft.com/office/drawing/2014/main" id="{5C75A6E9-080B-4754-A651-24B68B926C3D}"/>
              </a:ext>
            </a:extLst>
          </p:cNvPr>
          <p:cNvSpPr/>
          <p:nvPr/>
        </p:nvSpPr>
        <p:spPr>
          <a:xfrm>
            <a:off x="1940768" y="1730622"/>
            <a:ext cx="9565432" cy="1512168"/>
          </a:xfrm>
          <a:prstGeom prst="rect">
            <a:avLst/>
          </a:prstGeom>
          <a:ln/>
        </p:spPr>
        <p:style>
          <a:lnRef idx="2">
            <a:schemeClr val="accent2"/>
          </a:lnRef>
          <a:fillRef idx="1">
            <a:schemeClr val="lt1"/>
          </a:fillRef>
          <a:effectRef idx="0">
            <a:schemeClr val="accent2"/>
          </a:effectRef>
          <a:fontRef idx="minor">
            <a:schemeClr val="dk1"/>
          </a:fontRef>
        </p:style>
        <p:txBody>
          <a:bodyPr tIns="90000" bIns="90000" rtlCol="0" anchor="ctr" anchorCtr="0"/>
          <a:lstStyle/>
          <a:p>
            <a:pPr algn="ctr"/>
            <a:endParaRPr lang="en-US" sz="1400" dirty="0" err="1">
              <a:solidFill>
                <a:schemeClr val="tx1"/>
              </a:solidFill>
            </a:endParaRPr>
          </a:p>
        </p:txBody>
      </p:sp>
      <p:sp>
        <p:nvSpPr>
          <p:cNvPr id="39" name="Rectangle: Rounded Corners 38">
            <a:extLst>
              <a:ext uri="{FF2B5EF4-FFF2-40B4-BE49-F238E27FC236}">
                <a16:creationId xmlns:a16="http://schemas.microsoft.com/office/drawing/2014/main" id="{77FAEFAA-4DAB-4442-AC00-B2971EC058CC}"/>
              </a:ext>
            </a:extLst>
          </p:cNvPr>
          <p:cNvSpPr/>
          <p:nvPr/>
        </p:nvSpPr>
        <p:spPr>
          <a:xfrm>
            <a:off x="428789" y="1973167"/>
            <a:ext cx="1172706" cy="1027076"/>
          </a:xfrm>
          <a:prstGeom prst="roundRect">
            <a:avLst/>
          </a:prstGeom>
          <a:solidFill>
            <a:schemeClr val="tx2">
              <a:lumMod val="20000"/>
              <a:lumOff val="8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algn="ctr" fontAlgn="auto">
              <a:lnSpc>
                <a:spcPct val="100000"/>
              </a:lnSpc>
              <a:spcBef>
                <a:spcPts val="0"/>
              </a:spcBef>
              <a:spcAft>
                <a:spcPts val="0"/>
              </a:spcAft>
            </a:pPr>
            <a:r>
              <a:rPr lang="en-US" sz="1100" b="0" kern="0" dirty="0">
                <a:solidFill>
                  <a:srgbClr val="000000"/>
                </a:solidFill>
                <a:effectLst/>
              </a:rPr>
              <a:t>CRM</a:t>
            </a:r>
          </a:p>
        </p:txBody>
      </p:sp>
      <p:sp>
        <p:nvSpPr>
          <p:cNvPr id="40" name="Rectangle 39">
            <a:extLst>
              <a:ext uri="{FF2B5EF4-FFF2-40B4-BE49-F238E27FC236}">
                <a16:creationId xmlns:a16="http://schemas.microsoft.com/office/drawing/2014/main" id="{3BF85409-5F63-4C9E-9C7C-08E38C69F4B9}"/>
              </a:ext>
            </a:extLst>
          </p:cNvPr>
          <p:cNvSpPr/>
          <p:nvPr/>
        </p:nvSpPr>
        <p:spPr>
          <a:xfrm>
            <a:off x="2278746" y="2089779"/>
            <a:ext cx="1520321" cy="793855"/>
          </a:xfrm>
          <a:prstGeom prst="rect">
            <a:avLst/>
          </a:prstGeom>
          <a:solidFill>
            <a:schemeClr val="tx2">
              <a:lumMod val="75000"/>
            </a:schemeClr>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r>
              <a:rPr lang="en-US" sz="1100" dirty="0">
                <a:solidFill>
                  <a:schemeClr val="bg1"/>
                </a:solidFill>
                <a:cs typeface="Arial" panose="020B0604020202020204" pitchFamily="34" charset="0"/>
              </a:rPr>
              <a:t>Call2_vod__c</a:t>
            </a:r>
          </a:p>
          <a:p>
            <a:pPr algn="ctr"/>
            <a:r>
              <a:rPr lang="en-US" sz="1100" dirty="0">
                <a:solidFill>
                  <a:schemeClr val="bg1"/>
                </a:solidFill>
                <a:cs typeface="Arial" panose="020B0604020202020204" pitchFamily="34" charset="0"/>
              </a:rPr>
              <a:t>Call2_dtl_vod__c</a:t>
            </a:r>
          </a:p>
        </p:txBody>
      </p:sp>
      <p:sp>
        <p:nvSpPr>
          <p:cNvPr id="41" name="Can 10">
            <a:extLst>
              <a:ext uri="{FF2B5EF4-FFF2-40B4-BE49-F238E27FC236}">
                <a16:creationId xmlns:a16="http://schemas.microsoft.com/office/drawing/2014/main" id="{C629F661-E28E-4531-B28A-AE30702CD583}"/>
              </a:ext>
            </a:extLst>
          </p:cNvPr>
          <p:cNvSpPr/>
          <p:nvPr/>
        </p:nvSpPr>
        <p:spPr>
          <a:xfrm>
            <a:off x="4105279" y="2104734"/>
            <a:ext cx="568741"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L1</a:t>
            </a:r>
          </a:p>
        </p:txBody>
      </p:sp>
      <p:cxnSp>
        <p:nvCxnSpPr>
          <p:cNvPr id="43" name="Straight Arrow Connector 42">
            <a:extLst>
              <a:ext uri="{FF2B5EF4-FFF2-40B4-BE49-F238E27FC236}">
                <a16:creationId xmlns:a16="http://schemas.microsoft.com/office/drawing/2014/main" id="{30D59DDA-B95F-441B-A738-1D83A8E3BF16}"/>
              </a:ext>
            </a:extLst>
          </p:cNvPr>
          <p:cNvCxnSpPr>
            <a:cxnSpLocks/>
          </p:cNvCxnSpPr>
          <p:nvPr/>
        </p:nvCxnSpPr>
        <p:spPr>
          <a:xfrm>
            <a:off x="4674020" y="2486706"/>
            <a:ext cx="295355"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4" name="Can 14">
            <a:extLst>
              <a:ext uri="{FF2B5EF4-FFF2-40B4-BE49-F238E27FC236}">
                <a16:creationId xmlns:a16="http://schemas.microsoft.com/office/drawing/2014/main" id="{750B2520-044F-4908-BF06-504523C4AFFD}"/>
              </a:ext>
            </a:extLst>
          </p:cNvPr>
          <p:cNvSpPr/>
          <p:nvPr/>
        </p:nvSpPr>
        <p:spPr>
          <a:xfrm>
            <a:off x="4946561" y="2104734"/>
            <a:ext cx="1221875"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L2 – </a:t>
            </a:r>
            <a:r>
              <a:rPr kumimoji="0" lang="en-US" sz="1100" b="0" i="0" u="none" strike="noStrike" kern="0" cap="none" spc="0" normalizeH="0" baseline="0" noProof="0" dirty="0" err="1">
                <a:ln>
                  <a:noFill/>
                </a:ln>
                <a:solidFill>
                  <a:srgbClr val="000000"/>
                </a:solidFill>
                <a:effectLst/>
                <a:uLnTx/>
                <a:uFillTx/>
                <a:ea typeface="+mn-ea"/>
                <a:cs typeface="+mn-cs"/>
              </a:rPr>
              <a:t>f_presn</a:t>
            </a:r>
            <a:r>
              <a:rPr kumimoji="0" lang="en-US" sz="1100" b="0" i="0" u="none" strike="noStrike" kern="0" cap="none" spc="0" normalizeH="0" baseline="0" noProof="0" dirty="0">
                <a:ln>
                  <a:noFill/>
                </a:ln>
                <a:solidFill>
                  <a:srgbClr val="000000"/>
                </a:solidFill>
                <a:effectLst/>
                <a:uLnTx/>
                <a:uFillTx/>
                <a:ea typeface="+mn-ea"/>
                <a:cs typeface="+mn-cs"/>
              </a:rPr>
              <a:t> &amp; </a:t>
            </a:r>
            <a:r>
              <a:rPr kumimoji="0" lang="en-US" sz="1100" b="0" i="0" u="none" strike="noStrike" kern="0" cap="none" spc="0" normalizeH="0" baseline="0" noProof="0" dirty="0" err="1">
                <a:ln>
                  <a:noFill/>
                </a:ln>
                <a:solidFill>
                  <a:srgbClr val="000000"/>
                </a:solidFill>
                <a:effectLst/>
                <a:uLnTx/>
                <a:uFillTx/>
                <a:ea typeface="+mn-ea"/>
                <a:cs typeface="+mn-cs"/>
              </a:rPr>
              <a:t>f_presn_dtl</a:t>
            </a: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47" name="Straight Arrow Connector 46">
            <a:extLst>
              <a:ext uri="{FF2B5EF4-FFF2-40B4-BE49-F238E27FC236}">
                <a16:creationId xmlns:a16="http://schemas.microsoft.com/office/drawing/2014/main" id="{EDAE4F9B-1979-4B47-978D-97CAAFF3D5D2}"/>
              </a:ext>
            </a:extLst>
          </p:cNvPr>
          <p:cNvCxnSpPr>
            <a:cxnSpLocks/>
          </p:cNvCxnSpPr>
          <p:nvPr/>
        </p:nvCxnSpPr>
        <p:spPr>
          <a:xfrm flipV="1">
            <a:off x="3832738" y="2486706"/>
            <a:ext cx="272541"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7FED461F-D94F-4627-A709-895EB8204C14}"/>
              </a:ext>
            </a:extLst>
          </p:cNvPr>
          <p:cNvCxnSpPr>
            <a:cxnSpLocks/>
            <a:stCxn id="39" idx="3"/>
          </p:cNvCxnSpPr>
          <p:nvPr/>
        </p:nvCxnSpPr>
        <p:spPr>
          <a:xfrm>
            <a:off x="1601495" y="2486705"/>
            <a:ext cx="687735"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5" name="Can 14">
            <a:extLst>
              <a:ext uri="{FF2B5EF4-FFF2-40B4-BE49-F238E27FC236}">
                <a16:creationId xmlns:a16="http://schemas.microsoft.com/office/drawing/2014/main" id="{FCCC814E-7EC1-40C0-87CD-19D263E4B111}"/>
              </a:ext>
            </a:extLst>
          </p:cNvPr>
          <p:cNvSpPr/>
          <p:nvPr/>
        </p:nvSpPr>
        <p:spPr>
          <a:xfrm>
            <a:off x="8452921" y="2104734"/>
            <a:ext cx="872515"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L3 Reporting Table</a:t>
            </a:r>
          </a:p>
        </p:txBody>
      </p:sp>
      <p:cxnSp>
        <p:nvCxnSpPr>
          <p:cNvPr id="56" name="Straight Arrow Connector 55">
            <a:extLst>
              <a:ext uri="{FF2B5EF4-FFF2-40B4-BE49-F238E27FC236}">
                <a16:creationId xmlns:a16="http://schemas.microsoft.com/office/drawing/2014/main" id="{F61F9357-A553-4EB4-83DE-49E6B8C0423E}"/>
              </a:ext>
            </a:extLst>
          </p:cNvPr>
          <p:cNvCxnSpPr>
            <a:cxnSpLocks/>
          </p:cNvCxnSpPr>
          <p:nvPr/>
        </p:nvCxnSpPr>
        <p:spPr>
          <a:xfrm>
            <a:off x="8000566" y="2478175"/>
            <a:ext cx="433892"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91A91DD6-FB20-461C-AED1-3E6F4A1D7B63}"/>
              </a:ext>
            </a:extLst>
          </p:cNvPr>
          <p:cNvSpPr txBox="1"/>
          <p:nvPr/>
        </p:nvSpPr>
        <p:spPr>
          <a:xfrm>
            <a:off x="1430616" y="1337349"/>
            <a:ext cx="3962478" cy="366424"/>
          </a:xfrm>
          <a:prstGeom prst="rect">
            <a:avLst/>
          </a:prstGeom>
          <a:noFill/>
        </p:spPr>
        <p:txBody>
          <a:bodyPr wrap="square" tIns="90000" bIns="90000" rtlCol="0" anchor="t">
            <a:spAutoFit/>
          </a:bodyPr>
          <a:lstStyle/>
          <a:p>
            <a:r>
              <a:rPr lang="en-US" sz="1200" b="1" dirty="0"/>
              <a:t>New Reporting Table added in C-SCAN</a:t>
            </a:r>
          </a:p>
        </p:txBody>
      </p:sp>
      <p:sp>
        <p:nvSpPr>
          <p:cNvPr id="61" name="Rectangle 60">
            <a:extLst>
              <a:ext uri="{FF2B5EF4-FFF2-40B4-BE49-F238E27FC236}">
                <a16:creationId xmlns:a16="http://schemas.microsoft.com/office/drawing/2014/main" id="{F1E9987D-A7AC-40B5-9F09-11C3577F0F84}"/>
              </a:ext>
            </a:extLst>
          </p:cNvPr>
          <p:cNvSpPr/>
          <p:nvPr/>
        </p:nvSpPr>
        <p:spPr>
          <a:xfrm>
            <a:off x="5075853" y="3663943"/>
            <a:ext cx="2993543" cy="1635846"/>
          </a:xfrm>
          <a:prstGeom prst="rect">
            <a:avLst/>
          </a:prstGeom>
          <a:solidFill>
            <a:schemeClr val="accent3">
              <a:lumMod val="40000"/>
              <a:lumOff val="60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ea typeface="+mn-ea"/>
                <a:cs typeface="+mn-cs"/>
              </a:rPr>
              <a:t>Filters Applied:</a:t>
            </a:r>
          </a:p>
          <a:p>
            <a:pPr marL="0" marR="0" lvl="0" indent="0" algn="ctr" defTabSz="914400" eaLnBrk="1" fontAlgn="auto" latinLnBrk="0" hangingPunct="1">
              <a:lnSpc>
                <a:spcPct val="100000"/>
              </a:lnSpc>
              <a:spcBef>
                <a:spcPts val="0"/>
              </a:spcBef>
              <a:spcAft>
                <a:spcPts val="0"/>
              </a:spcAft>
              <a:buClrTx/>
              <a:buSzTx/>
              <a:buFontTx/>
              <a:buNone/>
              <a:tabLst/>
              <a:defRPr/>
            </a:pPr>
            <a:r>
              <a:rPr lang="en-US" sz="1100" b="1" kern="0" dirty="0">
                <a:solidFill>
                  <a:srgbClr val="000000"/>
                </a:solidFill>
              </a:rPr>
              <a:t>Only BMS calls</a:t>
            </a:r>
            <a:endParaRPr kumimoji="0" lang="en-US" sz="1100" b="1" i="0" u="none" strike="noStrike" kern="0" cap="none" spc="0" normalizeH="0" baseline="0" noProof="0" dirty="0">
              <a:ln>
                <a:noFill/>
              </a:ln>
              <a:solidFill>
                <a:srgbClr val="000000"/>
              </a:solidFill>
              <a:effectLst/>
              <a:uLnTx/>
              <a:uFillTx/>
              <a:ea typeface="+mn-ea"/>
              <a:cs typeface="+mn-cs"/>
            </a:endParaRPr>
          </a:p>
          <a:p>
            <a:pPr lvl="0" algn="ctr">
              <a:defRPr/>
            </a:pPr>
            <a:r>
              <a:rPr lang="en-US" sz="1100" b="1" kern="0" dirty="0">
                <a:solidFill>
                  <a:srgbClr val="000000"/>
                </a:solidFill>
              </a:rPr>
              <a:t>Status</a:t>
            </a:r>
            <a:r>
              <a:rPr lang="en-US" sz="1100" kern="0" dirty="0">
                <a:solidFill>
                  <a:srgbClr val="000000"/>
                </a:solidFill>
              </a:rPr>
              <a:t> = 'Submitted’</a:t>
            </a:r>
          </a:p>
          <a:p>
            <a:pPr lvl="0" algn="ctr">
              <a:defRPr/>
            </a:pPr>
            <a:r>
              <a:rPr lang="en-US" sz="1100" b="1" kern="0" dirty="0">
                <a:solidFill>
                  <a:srgbClr val="000000"/>
                </a:solidFill>
              </a:rPr>
              <a:t>Record Type</a:t>
            </a:r>
            <a:r>
              <a:rPr lang="en-US" sz="1100" kern="0" dirty="0">
                <a:solidFill>
                  <a:srgbClr val="000000"/>
                </a:solidFill>
              </a:rPr>
              <a:t> 'BMS - JP Sales Interaction’</a:t>
            </a:r>
            <a:endParaRPr lang="en-US" altLang="ja-JP" sz="1100" kern="0" dirty="0">
              <a:solidFill>
                <a:srgbClr val="000000"/>
              </a:solidFill>
            </a:endParaRPr>
          </a:p>
          <a:p>
            <a:pPr lvl="0" algn="ctr">
              <a:defRPr/>
            </a:pPr>
            <a:r>
              <a:rPr lang="en-US" altLang="ja-JP" sz="1100" kern="0" dirty="0">
                <a:solidFill>
                  <a:srgbClr val="000000"/>
                </a:solidFill>
              </a:rPr>
              <a:t> '</a:t>
            </a:r>
            <a:r>
              <a:rPr lang="en-US" sz="1100" kern="0" dirty="0">
                <a:solidFill>
                  <a:srgbClr val="000000"/>
                </a:solidFill>
              </a:rPr>
              <a:t>BMS - JP Sales Group Interaction’</a:t>
            </a:r>
            <a:endParaRPr lang="en-US" altLang="ja-JP" sz="1100" kern="0" dirty="0">
              <a:solidFill>
                <a:srgbClr val="000000"/>
              </a:solidFill>
            </a:endParaRPr>
          </a:p>
          <a:p>
            <a:pPr lvl="0" algn="ctr">
              <a:defRPr/>
            </a:pPr>
            <a:r>
              <a:rPr lang="en-US" altLang="ja-JP" sz="1100" kern="0" dirty="0">
                <a:solidFill>
                  <a:srgbClr val="000000"/>
                </a:solidFill>
              </a:rPr>
              <a:t> '</a:t>
            </a:r>
            <a:r>
              <a:rPr lang="en-US" sz="1100" kern="0" dirty="0">
                <a:solidFill>
                  <a:srgbClr val="000000"/>
                </a:solidFill>
              </a:rPr>
              <a:t>BMS - CORE - Sales Remote Interaction’</a:t>
            </a:r>
          </a:p>
          <a:p>
            <a:pPr lvl="0" algn="ctr">
              <a:defRPr/>
            </a:pPr>
            <a:r>
              <a:rPr kumimoji="0" lang="en-US" sz="1100" b="1" i="0" u="none" strike="noStrike" kern="0" cap="none" spc="0" normalizeH="0" baseline="0" noProof="0" dirty="0">
                <a:ln>
                  <a:noFill/>
                </a:ln>
                <a:solidFill>
                  <a:srgbClr val="000000"/>
                </a:solidFill>
                <a:effectLst/>
                <a:uLnTx/>
                <a:uFillTx/>
                <a:ea typeface="+mn-ea"/>
                <a:cs typeface="+mn-cs"/>
              </a:rPr>
              <a:t>Objective exclude</a:t>
            </a:r>
            <a:r>
              <a:rPr lang="ja-JP" altLang="en-US" sz="1100" b="1" kern="0" dirty="0">
                <a:solidFill>
                  <a:srgbClr val="000000"/>
                </a:solidFill>
              </a:rPr>
              <a:t> </a:t>
            </a:r>
            <a:r>
              <a:rPr lang="en-US" altLang="ja-JP" sz="1100" kern="0" dirty="0">
                <a:solidFill>
                  <a:srgbClr val="000000"/>
                </a:solidFill>
              </a:rPr>
              <a:t>"</a:t>
            </a:r>
            <a:r>
              <a:rPr lang="ja-JP" altLang="en-US" sz="1100" kern="0" dirty="0">
                <a:solidFill>
                  <a:srgbClr val="000000"/>
                </a:solidFill>
              </a:rPr>
              <a:t>リモートディテール</a:t>
            </a:r>
            <a:r>
              <a:rPr lang="en-US" altLang="ja-JP" sz="1100" kern="0" dirty="0">
                <a:solidFill>
                  <a:srgbClr val="000000"/>
                </a:solidFill>
              </a:rPr>
              <a:t>_</a:t>
            </a:r>
            <a:r>
              <a:rPr lang="ja-JP" altLang="en-US" sz="1100" kern="0" dirty="0">
                <a:solidFill>
                  <a:srgbClr val="000000"/>
                </a:solidFill>
              </a:rPr>
              <a:t>メール</a:t>
            </a:r>
            <a:r>
              <a:rPr lang="en-US" altLang="ja-JP" sz="1100" kern="0" dirty="0">
                <a:solidFill>
                  <a:srgbClr val="000000"/>
                </a:solidFill>
              </a:rPr>
              <a:t>“,   "</a:t>
            </a:r>
            <a:r>
              <a:rPr lang="ja-JP" altLang="en-US" sz="1100" kern="0" dirty="0">
                <a:solidFill>
                  <a:srgbClr val="000000"/>
                </a:solidFill>
              </a:rPr>
              <a:t>リモートディテール</a:t>
            </a:r>
            <a:r>
              <a:rPr lang="en-US" altLang="ja-JP" sz="1100" kern="0" dirty="0">
                <a:solidFill>
                  <a:srgbClr val="000000"/>
                </a:solidFill>
              </a:rPr>
              <a:t>_</a:t>
            </a:r>
            <a:r>
              <a:rPr lang="ja-JP" altLang="en-US" sz="1100" kern="0" dirty="0">
                <a:solidFill>
                  <a:srgbClr val="000000"/>
                </a:solidFill>
              </a:rPr>
              <a:t>郵送</a:t>
            </a:r>
            <a:r>
              <a:rPr lang="en-US" altLang="ja-JP" sz="1100" kern="0" dirty="0">
                <a:solidFill>
                  <a:srgbClr val="000000"/>
                </a:solidFill>
              </a:rPr>
              <a:t>"</a:t>
            </a:r>
            <a:endParaRPr kumimoji="0" lang="en-US" sz="1100" i="0" u="none" strike="noStrike" kern="0" cap="none" spc="0" normalizeH="0" baseline="0" noProof="0" dirty="0">
              <a:ln>
                <a:noFill/>
              </a:ln>
              <a:solidFill>
                <a:srgbClr val="000000"/>
              </a:solidFill>
              <a:effectLst/>
              <a:uLnTx/>
              <a:uFillTx/>
              <a:ea typeface="+mn-ea"/>
              <a:cs typeface="+mn-cs"/>
            </a:endParaRPr>
          </a:p>
        </p:txBody>
      </p:sp>
      <p:cxnSp>
        <p:nvCxnSpPr>
          <p:cNvPr id="70" name="Straight Arrow Connector 69">
            <a:extLst>
              <a:ext uri="{FF2B5EF4-FFF2-40B4-BE49-F238E27FC236}">
                <a16:creationId xmlns:a16="http://schemas.microsoft.com/office/drawing/2014/main" id="{F8AB1075-C6EB-4680-8702-2C889C3FA3D4}"/>
              </a:ext>
            </a:extLst>
          </p:cNvPr>
          <p:cNvCxnSpPr>
            <a:cxnSpLocks/>
          </p:cNvCxnSpPr>
          <p:nvPr/>
        </p:nvCxnSpPr>
        <p:spPr>
          <a:xfrm>
            <a:off x="7392144" y="2891116"/>
            <a:ext cx="0" cy="772827"/>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72" name="Connector: Elbow 71">
            <a:extLst>
              <a:ext uri="{FF2B5EF4-FFF2-40B4-BE49-F238E27FC236}">
                <a16:creationId xmlns:a16="http://schemas.microsoft.com/office/drawing/2014/main" id="{9151430C-B001-40FE-B28A-3F9B637876FE}"/>
              </a:ext>
            </a:extLst>
          </p:cNvPr>
          <p:cNvCxnSpPr>
            <a:cxnSpLocks/>
            <a:stCxn id="18" idx="0"/>
            <a:endCxn id="55" idx="3"/>
          </p:cNvCxnSpPr>
          <p:nvPr/>
        </p:nvCxnSpPr>
        <p:spPr>
          <a:xfrm rot="16200000" flipV="1">
            <a:off x="8653270" y="3104588"/>
            <a:ext cx="1333831" cy="862012"/>
          </a:xfrm>
          <a:prstGeom prst="bentConnector3">
            <a:avLst>
              <a:gd name="adj1" fmla="val 50000"/>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ctr"/>
            <a:r>
              <a:rPr lang="en-US" sz="2000" dirty="0">
                <a:solidFill>
                  <a:schemeClr val="accent2">
                    <a:lumMod val="75000"/>
                  </a:schemeClr>
                </a:solidFill>
              </a:rPr>
              <a:t>C-SCAN Detail/Call calculation and shows up in report for each product and product group for all BU</a:t>
            </a:r>
          </a:p>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endParaRPr kumimoji="0" lang="en-US" sz="1000" b="1" i="1" u="none" strike="noStrike" kern="1200" cap="none" spc="0" normalizeH="0" baseline="0" noProof="0" dirty="0">
              <a:ln>
                <a:noFill/>
              </a:ln>
              <a:effectLst/>
              <a:uLnTx/>
              <a:uFillTx/>
              <a:latin typeface="Tahoma"/>
              <a:ea typeface="+mn-ea"/>
              <a:cs typeface="+mn-cs"/>
            </a:endParaRPr>
          </a:p>
        </p:txBody>
      </p:sp>
      <p:cxnSp>
        <p:nvCxnSpPr>
          <p:cNvPr id="36" name="Straight Arrow Connector 35">
            <a:extLst>
              <a:ext uri="{FF2B5EF4-FFF2-40B4-BE49-F238E27FC236}">
                <a16:creationId xmlns:a16="http://schemas.microsoft.com/office/drawing/2014/main" id="{DC47FBD7-43F9-4CE2-8D3D-B1EEDF4CCAE8}"/>
              </a:ext>
            </a:extLst>
          </p:cNvPr>
          <p:cNvCxnSpPr>
            <a:cxnSpLocks/>
          </p:cNvCxnSpPr>
          <p:nvPr/>
        </p:nvCxnSpPr>
        <p:spPr>
          <a:xfrm>
            <a:off x="9338758" y="2486705"/>
            <a:ext cx="433892" cy="1"/>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51" name="Can 14">
            <a:extLst>
              <a:ext uri="{FF2B5EF4-FFF2-40B4-BE49-F238E27FC236}">
                <a16:creationId xmlns:a16="http://schemas.microsoft.com/office/drawing/2014/main" id="{F2096C5D-8ED8-45A3-AB49-F713140A6093}"/>
              </a:ext>
            </a:extLst>
          </p:cNvPr>
          <p:cNvSpPr/>
          <p:nvPr/>
        </p:nvSpPr>
        <p:spPr>
          <a:xfrm>
            <a:off x="9777791" y="2109262"/>
            <a:ext cx="1453591" cy="763944"/>
          </a:xfrm>
          <a:prstGeom prst="can">
            <a:avLst/>
          </a:prstGeom>
          <a:solidFill>
            <a:schemeClr val="accent6">
              <a:lumMod val="75000"/>
            </a:schemeClr>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ea typeface="+mn-ea"/>
                <a:cs typeface="+mn-cs"/>
              </a:rPr>
              <a:t>C-STAR</a:t>
            </a:r>
          </a:p>
        </p:txBody>
      </p:sp>
      <p:sp>
        <p:nvSpPr>
          <p:cNvPr id="52" name="Can 14">
            <a:extLst>
              <a:ext uri="{FF2B5EF4-FFF2-40B4-BE49-F238E27FC236}">
                <a16:creationId xmlns:a16="http://schemas.microsoft.com/office/drawing/2014/main" id="{94236D19-87D4-4F52-81E1-44BC87566DEB}"/>
              </a:ext>
            </a:extLst>
          </p:cNvPr>
          <p:cNvSpPr/>
          <p:nvPr/>
        </p:nvSpPr>
        <p:spPr>
          <a:xfrm>
            <a:off x="6510051" y="2101291"/>
            <a:ext cx="1472052" cy="763944"/>
          </a:xfrm>
          <a:prstGeom prst="can">
            <a:avLst/>
          </a:prstGeom>
          <a:solidFill>
            <a:srgbClr val="B2A0CA"/>
          </a:solidFill>
          <a:ln w="9525" cap="flat" cmpd="sng" algn="ctr">
            <a:solidFill>
              <a:srgbClr val="004B7E"/>
            </a:solidFill>
            <a:prstDash val="solid"/>
          </a:ln>
          <a:effectLst>
            <a:outerShdw blurRad="50800" dist="38100" dir="2700000" algn="tl" rotWithShape="0">
              <a:prstClr val="black">
                <a:alpha val="40000"/>
              </a:prstClr>
            </a:outerShdw>
          </a:effectLst>
        </p:spPr>
        <p:txBody>
          <a:bodyPr tIns="90000" bIns="9000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ea typeface="+mn-ea"/>
                <a:cs typeface="+mn-cs"/>
              </a:rPr>
              <a:t>L3 –Summary </a:t>
            </a:r>
            <a:r>
              <a:rPr kumimoji="0" lang="en-US" sz="1100" b="0" i="0" u="none" strike="noStrike" kern="0" cap="none" spc="0" normalizeH="0" baseline="0" noProof="0" dirty="0" err="1">
                <a:ln>
                  <a:noFill/>
                </a:ln>
                <a:solidFill>
                  <a:srgbClr val="000000"/>
                </a:solidFill>
                <a:effectLst/>
                <a:uLnTx/>
                <a:uFillTx/>
                <a:ea typeface="+mn-ea"/>
                <a:cs typeface="+mn-cs"/>
              </a:rPr>
              <a:t>s_insn_bp_presn_dtl</a:t>
            </a:r>
            <a:endParaRPr kumimoji="0" lang="en-US" sz="1100" b="0" i="0" u="none" strike="noStrike" kern="0" cap="none" spc="0" normalizeH="0" baseline="0" noProof="0" dirty="0">
              <a:ln>
                <a:noFill/>
              </a:ln>
              <a:solidFill>
                <a:srgbClr val="000000"/>
              </a:solidFill>
              <a:effectLst/>
              <a:uLnTx/>
              <a:uFillTx/>
              <a:ea typeface="+mn-ea"/>
              <a:cs typeface="+mn-cs"/>
            </a:endParaRPr>
          </a:p>
        </p:txBody>
      </p:sp>
      <p:cxnSp>
        <p:nvCxnSpPr>
          <p:cNvPr id="53" name="Straight Arrow Connector 52">
            <a:extLst>
              <a:ext uri="{FF2B5EF4-FFF2-40B4-BE49-F238E27FC236}">
                <a16:creationId xmlns:a16="http://schemas.microsoft.com/office/drawing/2014/main" id="{DAAC001F-FD82-4D3B-8228-CB61A62451DD}"/>
              </a:ext>
            </a:extLst>
          </p:cNvPr>
          <p:cNvCxnSpPr>
            <a:cxnSpLocks/>
          </p:cNvCxnSpPr>
          <p:nvPr/>
        </p:nvCxnSpPr>
        <p:spPr>
          <a:xfrm>
            <a:off x="6167673" y="2522443"/>
            <a:ext cx="340036" cy="0"/>
          </a:xfrm>
          <a:prstGeom prst="straightConnector1">
            <a:avLst/>
          </a:prstGeom>
          <a:ln w="28575">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graphicFrame>
        <p:nvGraphicFramePr>
          <p:cNvPr id="18" name="Table 17">
            <a:extLst>
              <a:ext uri="{FF2B5EF4-FFF2-40B4-BE49-F238E27FC236}">
                <a16:creationId xmlns:a16="http://schemas.microsoft.com/office/drawing/2014/main" id="{8366A649-6363-4C59-A558-7DF4EFFDCC11}"/>
              </a:ext>
            </a:extLst>
          </p:cNvPr>
          <p:cNvGraphicFramePr>
            <a:graphicFrameLocks noGrp="1"/>
          </p:cNvGraphicFramePr>
          <p:nvPr>
            <p:extLst/>
          </p:nvPr>
        </p:nvGraphicFramePr>
        <p:xfrm>
          <a:off x="8434458" y="4202509"/>
          <a:ext cx="2633467" cy="1097280"/>
        </p:xfrm>
        <a:graphic>
          <a:graphicData uri="http://schemas.openxmlformats.org/drawingml/2006/table">
            <a:tbl>
              <a:tblPr>
                <a:tableStyleId>{7AFD8959-9B3F-4D47-BAAB-44C6AA61CEA2}</a:tableStyleId>
              </a:tblPr>
              <a:tblGrid>
                <a:gridCol w="2633467">
                  <a:extLst>
                    <a:ext uri="{9D8B030D-6E8A-4147-A177-3AD203B41FA5}">
                      <a16:colId xmlns:a16="http://schemas.microsoft.com/office/drawing/2014/main" val="2411656966"/>
                    </a:ext>
                  </a:extLst>
                </a:gridCol>
              </a:tblGrid>
              <a:tr h="182880">
                <a:tc>
                  <a:txBody>
                    <a:bodyPr/>
                    <a:lstStyle/>
                    <a:p>
                      <a:pPr algn="l" fontAlgn="b"/>
                      <a:r>
                        <a:rPr lang="en-US" sz="1100" u="none" strike="noStrike" dirty="0">
                          <a:effectLst/>
                        </a:rPr>
                        <a:t>No of Therapeutic Area Per Call </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25643964"/>
                  </a:ext>
                </a:extLst>
              </a:tr>
              <a:tr h="182880">
                <a:tc>
                  <a:txBody>
                    <a:bodyPr/>
                    <a:lstStyle/>
                    <a:p>
                      <a:pPr algn="l" fontAlgn="b"/>
                      <a:r>
                        <a:rPr lang="en-US" sz="1100" u="none" strike="noStrike">
                          <a:effectLst/>
                        </a:rPr>
                        <a:t>No of Products Per Call</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43318008"/>
                  </a:ext>
                </a:extLst>
              </a:tr>
              <a:tr h="182880">
                <a:tc>
                  <a:txBody>
                    <a:bodyPr/>
                    <a:lstStyle/>
                    <a:p>
                      <a:pPr algn="l" fontAlgn="b"/>
                      <a:r>
                        <a:rPr lang="en-US" sz="1100" u="none" strike="noStrike" dirty="0">
                          <a:effectLst/>
                        </a:rPr>
                        <a:t>No of Therapeutic Area Per Call F2F</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658740"/>
                  </a:ext>
                </a:extLst>
              </a:tr>
              <a:tr h="182880">
                <a:tc>
                  <a:txBody>
                    <a:bodyPr/>
                    <a:lstStyle/>
                    <a:p>
                      <a:pPr algn="l" fontAlgn="b"/>
                      <a:r>
                        <a:rPr lang="en-US" sz="1100" u="none" strike="noStrike">
                          <a:effectLst/>
                        </a:rPr>
                        <a:t>No of Therapeutic Area Per Call Remote</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16017657"/>
                  </a:ext>
                </a:extLst>
              </a:tr>
              <a:tr h="182880">
                <a:tc>
                  <a:txBody>
                    <a:bodyPr/>
                    <a:lstStyle/>
                    <a:p>
                      <a:pPr algn="l" fontAlgn="b"/>
                      <a:r>
                        <a:rPr lang="en-US" sz="1100" u="none" strike="noStrike">
                          <a:effectLst/>
                        </a:rPr>
                        <a:t>No of Products Per Call F2F</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39077258"/>
                  </a:ext>
                </a:extLst>
              </a:tr>
              <a:tr h="182880">
                <a:tc>
                  <a:txBody>
                    <a:bodyPr/>
                    <a:lstStyle/>
                    <a:p>
                      <a:pPr algn="l" fontAlgn="b"/>
                      <a:r>
                        <a:rPr lang="en-US" sz="1100" u="none" strike="noStrike" dirty="0">
                          <a:effectLst/>
                        </a:rPr>
                        <a:t>No of Products Per Call Remote</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47390613"/>
                  </a:ext>
                </a:extLst>
              </a:tr>
            </a:tbl>
          </a:graphicData>
        </a:graphic>
      </p:graphicFrame>
      <p:sp>
        <p:nvSpPr>
          <p:cNvPr id="22" name="TextBox 21">
            <a:extLst>
              <a:ext uri="{FF2B5EF4-FFF2-40B4-BE49-F238E27FC236}">
                <a16:creationId xmlns:a16="http://schemas.microsoft.com/office/drawing/2014/main" id="{74A3C4BA-5E47-4295-86C0-AA52D6A0809C}"/>
              </a:ext>
            </a:extLst>
          </p:cNvPr>
          <p:cNvSpPr txBox="1"/>
          <p:nvPr/>
        </p:nvSpPr>
        <p:spPr>
          <a:xfrm>
            <a:off x="8452921" y="3802590"/>
            <a:ext cx="1204263" cy="508642"/>
          </a:xfrm>
          <a:prstGeom prst="rect">
            <a:avLst/>
          </a:prstGeom>
          <a:noFill/>
        </p:spPr>
        <p:txBody>
          <a:bodyPr wrap="square" lIns="0" tIns="0" rIns="0" bIns="0" rtlCol="0">
            <a:noAutofit/>
          </a:bodyPr>
          <a:lstStyle/>
          <a:p>
            <a:pPr>
              <a:lnSpc>
                <a:spcPct val="100000"/>
              </a:lnSpc>
              <a:spcBef>
                <a:spcPts val="1200"/>
              </a:spcBef>
              <a:buSzPct val="100000"/>
            </a:pPr>
            <a:r>
              <a:rPr lang="en-US" sz="2000" dirty="0"/>
              <a:t>Metrics:</a:t>
            </a:r>
          </a:p>
        </p:txBody>
      </p:sp>
      <p:sp>
        <p:nvSpPr>
          <p:cNvPr id="2" name="Slide Number Placeholder 1">
            <a:extLst>
              <a:ext uri="{FF2B5EF4-FFF2-40B4-BE49-F238E27FC236}">
                <a16:creationId xmlns:a16="http://schemas.microsoft.com/office/drawing/2014/main" id="{E051227D-CA48-422A-A684-6F6F9588CFA0}"/>
              </a:ext>
            </a:extLst>
          </p:cNvPr>
          <p:cNvSpPr>
            <a:spLocks noGrp="1"/>
          </p:cNvSpPr>
          <p:nvPr>
            <p:ph type="sldNum" sz="quarter" idx="12"/>
          </p:nvPr>
        </p:nvSpPr>
        <p:spPr/>
        <p:txBody>
          <a:bodyPr/>
          <a:lstStyle/>
          <a:p>
            <a:fld id="{B58DE5F1-E0F9-4CCA-92B7-7A6FC4DFEE14}" type="slidenum">
              <a:rPr lang="en-US" smtClean="0"/>
              <a:t>14</a:t>
            </a:fld>
            <a:endParaRPr lang="en-US" dirty="0"/>
          </a:p>
        </p:txBody>
      </p:sp>
    </p:spTree>
    <p:extLst>
      <p:ext uri="{BB962C8B-B14F-4D97-AF65-F5344CB8AC3E}">
        <p14:creationId xmlns:p14="http://schemas.microsoft.com/office/powerpoint/2010/main" val="517451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Add new items and logic for counting Myeloma and Lymphoma detail activities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ctr"/>
            <a:r>
              <a:rPr lang="en-US" sz="2000" dirty="0">
                <a:solidFill>
                  <a:schemeClr val="accent2">
                    <a:lumMod val="75000"/>
                  </a:schemeClr>
                </a:solidFill>
              </a:rPr>
              <a:t>Add new items and logic for counting Myeloma and Lymphoma detail activities </a:t>
            </a:r>
          </a:p>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2" name="TextBox 1">
            <a:extLst>
              <a:ext uri="{FF2B5EF4-FFF2-40B4-BE49-F238E27FC236}">
                <a16:creationId xmlns:a16="http://schemas.microsoft.com/office/drawing/2014/main" id="{27E36F4B-402F-4A06-93F9-9C0901CC7DE3}"/>
              </a:ext>
            </a:extLst>
          </p:cNvPr>
          <p:cNvSpPr txBox="1"/>
          <p:nvPr/>
        </p:nvSpPr>
        <p:spPr>
          <a:xfrm>
            <a:off x="670560" y="1821180"/>
            <a:ext cx="10256520" cy="3246120"/>
          </a:xfrm>
          <a:prstGeom prst="rect">
            <a:avLst/>
          </a:prstGeom>
          <a:noFill/>
        </p:spPr>
        <p:txBody>
          <a:bodyPr wrap="square" lIns="0" tIns="0" rIns="0" bIns="0" rtlCol="0">
            <a:noAutofit/>
          </a:bodyPr>
          <a:lstStyle/>
          <a:p>
            <a:pPr marL="685800" lvl="1" indent="-228600">
              <a:spcBef>
                <a:spcPts val="1200"/>
              </a:spcBef>
              <a:buSzPct val="100000"/>
              <a:buFont typeface="Trebuchet MS"/>
              <a:buChar char="•"/>
            </a:pPr>
            <a:endParaRPr lang="en-US" sz="2000" dirty="0"/>
          </a:p>
        </p:txBody>
      </p:sp>
      <p:graphicFrame>
        <p:nvGraphicFramePr>
          <p:cNvPr id="3" name="Table 2">
            <a:extLst>
              <a:ext uri="{FF2B5EF4-FFF2-40B4-BE49-F238E27FC236}">
                <a16:creationId xmlns:a16="http://schemas.microsoft.com/office/drawing/2014/main" id="{FF439363-5FE5-4E4D-9417-BB298D1E9FA3}"/>
              </a:ext>
            </a:extLst>
          </p:cNvPr>
          <p:cNvGraphicFramePr>
            <a:graphicFrameLocks noGrp="1"/>
          </p:cNvGraphicFramePr>
          <p:nvPr>
            <p:extLst/>
          </p:nvPr>
        </p:nvGraphicFramePr>
        <p:xfrm>
          <a:off x="933061" y="2285482"/>
          <a:ext cx="10743117" cy="3124200"/>
        </p:xfrm>
        <a:graphic>
          <a:graphicData uri="http://schemas.openxmlformats.org/drawingml/2006/table">
            <a:tbl>
              <a:tblPr>
                <a:tableStyleId>{D7AC3CCA-C797-4891-BE02-D94E43425B78}</a:tableStyleId>
              </a:tblPr>
              <a:tblGrid>
                <a:gridCol w="4374233">
                  <a:extLst>
                    <a:ext uri="{9D8B030D-6E8A-4147-A177-3AD203B41FA5}">
                      <a16:colId xmlns:a16="http://schemas.microsoft.com/office/drawing/2014/main" val="641963053"/>
                    </a:ext>
                  </a:extLst>
                </a:gridCol>
                <a:gridCol w="3989301">
                  <a:extLst>
                    <a:ext uri="{9D8B030D-6E8A-4147-A177-3AD203B41FA5}">
                      <a16:colId xmlns:a16="http://schemas.microsoft.com/office/drawing/2014/main" val="2897162434"/>
                    </a:ext>
                  </a:extLst>
                </a:gridCol>
                <a:gridCol w="2379583">
                  <a:extLst>
                    <a:ext uri="{9D8B030D-6E8A-4147-A177-3AD203B41FA5}">
                      <a16:colId xmlns:a16="http://schemas.microsoft.com/office/drawing/2014/main" val="3491900271"/>
                    </a:ext>
                  </a:extLst>
                </a:gridCol>
              </a:tblGrid>
              <a:tr h="0">
                <a:tc>
                  <a:txBody>
                    <a:bodyPr/>
                    <a:lstStyle/>
                    <a:p>
                      <a:pPr algn="l" fontAlgn="b"/>
                      <a:r>
                        <a:rPr lang="ja-JP" altLang="en-US" sz="2000" b="1" kern="1200" dirty="0"/>
                        <a:t>集計品目</a:t>
                      </a:r>
                      <a:r>
                        <a:rPr lang="en-US" altLang="ja-JP" sz="2000" b="1" kern="1200" dirty="0"/>
                        <a:t>(</a:t>
                      </a:r>
                      <a:r>
                        <a:rPr lang="en-US" sz="2000" b="1" kern="1200" dirty="0"/>
                        <a:t>Group)</a:t>
                      </a:r>
                      <a:endParaRPr lang="en-US" sz="2000" b="1" kern="1200" dirty="0">
                        <a:solidFill>
                          <a:schemeClr val="tx1"/>
                        </a:solidFill>
                        <a:latin typeface="+mj-lt"/>
                        <a:ea typeface="+mj-ea"/>
                        <a:cs typeface="+mj-cs"/>
                      </a:endParaRPr>
                    </a:p>
                  </a:txBody>
                  <a:tcPr marL="7620" marR="7620" marT="7620" marB="0" anchor="b"/>
                </a:tc>
                <a:tc>
                  <a:txBody>
                    <a:bodyPr/>
                    <a:lstStyle/>
                    <a:p>
                      <a:pPr algn="l" fontAlgn="ctr"/>
                      <a:r>
                        <a:rPr lang="ja-JP" altLang="en-US" sz="2000" b="1" kern="1200"/>
                        <a:t>製品</a:t>
                      </a:r>
                      <a:r>
                        <a:rPr lang="en-US" altLang="ja-JP" sz="2000" b="1" kern="1200"/>
                        <a:t>(</a:t>
                      </a:r>
                      <a:r>
                        <a:rPr lang="en-US" sz="2000" b="1" kern="1200"/>
                        <a:t>Product)</a:t>
                      </a:r>
                      <a:endParaRPr lang="en-US" sz="2000" b="1" kern="1200">
                        <a:solidFill>
                          <a:schemeClr val="tx1"/>
                        </a:solidFill>
                        <a:latin typeface="+mj-lt"/>
                        <a:ea typeface="+mj-ea"/>
                        <a:cs typeface="+mj-cs"/>
                      </a:endParaRPr>
                    </a:p>
                  </a:txBody>
                  <a:tcPr marL="7620" marR="7620" marT="7620" marB="0" anchor="ctr"/>
                </a:tc>
                <a:tc>
                  <a:txBody>
                    <a:bodyPr/>
                    <a:lstStyle/>
                    <a:p>
                      <a:pPr algn="l" fontAlgn="ctr"/>
                      <a:r>
                        <a:rPr lang="en-US" sz="2000" b="1" kern="1200" dirty="0"/>
                        <a:t>Abbreviation</a:t>
                      </a:r>
                      <a:endParaRPr lang="en-US" sz="2000" b="1" kern="1200" dirty="0">
                        <a:solidFill>
                          <a:schemeClr val="tx1"/>
                        </a:solidFill>
                        <a:latin typeface="+mj-lt"/>
                        <a:ea typeface="+mj-ea"/>
                        <a:cs typeface="+mj-cs"/>
                      </a:endParaRPr>
                    </a:p>
                  </a:txBody>
                  <a:tcPr marL="7620" marR="7620" marT="7620" marB="0" anchor="ctr"/>
                </a:tc>
                <a:extLst>
                  <a:ext uri="{0D108BD9-81ED-4DB2-BD59-A6C34878D82A}">
                    <a16:rowId xmlns:a16="http://schemas.microsoft.com/office/drawing/2014/main" val="3554163173"/>
                  </a:ext>
                </a:extLst>
              </a:tr>
              <a:tr h="269655">
                <a:tc rowSpan="3">
                  <a:txBody>
                    <a:bodyPr/>
                    <a:lstStyle/>
                    <a:p>
                      <a:pPr algn="l" fontAlgn="ctr"/>
                      <a:r>
                        <a:rPr lang="en-US" sz="2000" kern="1200" dirty="0"/>
                        <a:t>HEMA MM</a:t>
                      </a:r>
                      <a:endParaRPr lang="en-US" sz="2000" b="1" kern="1200" dirty="0">
                        <a:solidFill>
                          <a:schemeClr val="tx1"/>
                        </a:solidFill>
                        <a:latin typeface="+mj-lt"/>
                        <a:ea typeface="+mj-ea"/>
                        <a:cs typeface="+mj-cs"/>
                      </a:endParaRPr>
                    </a:p>
                  </a:txBody>
                  <a:tcPr marL="7620" marR="7620" marT="7620" marB="0" anchor="ctr"/>
                </a:tc>
                <a:tc>
                  <a:txBody>
                    <a:bodyPr/>
                    <a:lstStyle/>
                    <a:p>
                      <a:pPr algn="l" fontAlgn="b"/>
                      <a:r>
                        <a:rPr lang="en-US" sz="2000" kern="1200" dirty="0"/>
                        <a:t>REVLIMID MM</a:t>
                      </a:r>
                      <a:endParaRPr lang="en-US" sz="2000" b="1" kern="1200" dirty="0">
                        <a:solidFill>
                          <a:schemeClr val="tx1"/>
                        </a:solidFill>
                        <a:latin typeface="+mj-lt"/>
                        <a:ea typeface="+mj-ea"/>
                        <a:cs typeface="+mj-cs"/>
                      </a:endParaRPr>
                    </a:p>
                  </a:txBody>
                  <a:tcPr marL="7620" marR="7620" marT="7620" marB="0" anchor="b"/>
                </a:tc>
                <a:tc>
                  <a:txBody>
                    <a:bodyPr/>
                    <a:lstStyle/>
                    <a:p>
                      <a:pPr algn="l" fontAlgn="b"/>
                      <a:r>
                        <a:rPr lang="en-US" sz="2000" kern="1200"/>
                        <a:t>REV MM</a:t>
                      </a:r>
                      <a:endParaRPr lang="en-US" sz="2000" b="1" kern="1200">
                        <a:solidFill>
                          <a:schemeClr val="tx1"/>
                        </a:solidFill>
                        <a:latin typeface="+mj-lt"/>
                        <a:ea typeface="+mj-ea"/>
                        <a:cs typeface="+mj-cs"/>
                      </a:endParaRPr>
                    </a:p>
                  </a:txBody>
                  <a:tcPr marL="7620" marR="7620" marT="7620" marB="0" anchor="b"/>
                </a:tc>
                <a:extLst>
                  <a:ext uri="{0D108BD9-81ED-4DB2-BD59-A6C34878D82A}">
                    <a16:rowId xmlns:a16="http://schemas.microsoft.com/office/drawing/2014/main" val="3547980004"/>
                  </a:ext>
                </a:extLst>
              </a:tr>
              <a:tr h="269655">
                <a:tc vMerge="1">
                  <a:txBody>
                    <a:bodyPr/>
                    <a:lstStyle/>
                    <a:p>
                      <a:endParaRPr lang="en-US"/>
                    </a:p>
                  </a:txBody>
                  <a:tcPr/>
                </a:tc>
                <a:tc>
                  <a:txBody>
                    <a:bodyPr/>
                    <a:lstStyle/>
                    <a:p>
                      <a:pPr algn="l" fontAlgn="b"/>
                      <a:r>
                        <a:rPr lang="en-US" sz="2000" kern="1200"/>
                        <a:t>POMALYST</a:t>
                      </a:r>
                      <a:endParaRPr lang="en-US" sz="2000" b="1" kern="1200">
                        <a:solidFill>
                          <a:schemeClr val="tx1"/>
                        </a:solidFill>
                        <a:latin typeface="+mj-lt"/>
                        <a:ea typeface="+mj-ea"/>
                        <a:cs typeface="+mj-cs"/>
                      </a:endParaRPr>
                    </a:p>
                  </a:txBody>
                  <a:tcPr marL="7620" marR="7620" marT="7620" marB="0" anchor="b"/>
                </a:tc>
                <a:tc>
                  <a:txBody>
                    <a:bodyPr/>
                    <a:lstStyle/>
                    <a:p>
                      <a:pPr algn="l" fontAlgn="b"/>
                      <a:r>
                        <a:rPr lang="en-US" sz="2000" kern="1200"/>
                        <a:t>POM</a:t>
                      </a:r>
                      <a:endParaRPr lang="en-US" sz="2000" b="1" kern="1200">
                        <a:solidFill>
                          <a:schemeClr val="tx1"/>
                        </a:solidFill>
                        <a:latin typeface="+mj-lt"/>
                        <a:ea typeface="+mj-ea"/>
                        <a:cs typeface="+mj-cs"/>
                      </a:endParaRPr>
                    </a:p>
                  </a:txBody>
                  <a:tcPr marL="7620" marR="7620" marT="7620" marB="0" anchor="b"/>
                </a:tc>
                <a:extLst>
                  <a:ext uri="{0D108BD9-81ED-4DB2-BD59-A6C34878D82A}">
                    <a16:rowId xmlns:a16="http://schemas.microsoft.com/office/drawing/2014/main" val="3584253816"/>
                  </a:ext>
                </a:extLst>
              </a:tr>
              <a:tr h="269655">
                <a:tc vMerge="1">
                  <a:txBody>
                    <a:bodyPr/>
                    <a:lstStyle/>
                    <a:p>
                      <a:endParaRPr lang="en-US"/>
                    </a:p>
                  </a:txBody>
                  <a:tcPr/>
                </a:tc>
                <a:tc>
                  <a:txBody>
                    <a:bodyPr/>
                    <a:lstStyle/>
                    <a:p>
                      <a:pPr algn="l" fontAlgn="b"/>
                      <a:r>
                        <a:rPr lang="en-US" sz="2000" kern="1200"/>
                        <a:t>EMPLICITI</a:t>
                      </a:r>
                      <a:endParaRPr lang="en-US" sz="2000" b="1" kern="1200">
                        <a:solidFill>
                          <a:schemeClr val="tx1"/>
                        </a:solidFill>
                        <a:latin typeface="+mj-lt"/>
                        <a:ea typeface="+mj-ea"/>
                        <a:cs typeface="+mj-cs"/>
                      </a:endParaRPr>
                    </a:p>
                  </a:txBody>
                  <a:tcPr marL="7620" marR="7620" marT="7620" marB="0" anchor="b"/>
                </a:tc>
                <a:tc>
                  <a:txBody>
                    <a:bodyPr/>
                    <a:lstStyle/>
                    <a:p>
                      <a:pPr algn="l" fontAlgn="b"/>
                      <a:r>
                        <a:rPr lang="en-US" sz="2000" kern="1200"/>
                        <a:t>EM</a:t>
                      </a:r>
                      <a:endParaRPr lang="en-US" sz="2000" b="1" kern="1200">
                        <a:solidFill>
                          <a:schemeClr val="tx1"/>
                        </a:solidFill>
                        <a:latin typeface="+mj-lt"/>
                        <a:ea typeface="+mj-ea"/>
                        <a:cs typeface="+mj-cs"/>
                      </a:endParaRPr>
                    </a:p>
                  </a:txBody>
                  <a:tcPr marL="7620" marR="7620" marT="7620" marB="0" anchor="b"/>
                </a:tc>
                <a:extLst>
                  <a:ext uri="{0D108BD9-81ED-4DB2-BD59-A6C34878D82A}">
                    <a16:rowId xmlns:a16="http://schemas.microsoft.com/office/drawing/2014/main" val="2005780821"/>
                  </a:ext>
                </a:extLst>
              </a:tr>
              <a:tr h="269655">
                <a:tc rowSpan="2">
                  <a:txBody>
                    <a:bodyPr/>
                    <a:lstStyle/>
                    <a:p>
                      <a:pPr algn="l" fontAlgn="ctr"/>
                      <a:r>
                        <a:rPr lang="en-US" sz="2000" kern="1200" dirty="0"/>
                        <a:t>HEMA LYM</a:t>
                      </a:r>
                      <a:endParaRPr lang="en-US" sz="2000" b="1" kern="1200" dirty="0">
                        <a:solidFill>
                          <a:schemeClr val="tx1"/>
                        </a:solidFill>
                        <a:latin typeface="+mj-lt"/>
                        <a:ea typeface="+mj-ea"/>
                        <a:cs typeface="+mj-cs"/>
                      </a:endParaRPr>
                    </a:p>
                  </a:txBody>
                  <a:tcPr marL="7620" marR="7620" marT="7620" marB="0" anchor="ctr"/>
                </a:tc>
                <a:tc>
                  <a:txBody>
                    <a:bodyPr/>
                    <a:lstStyle/>
                    <a:p>
                      <a:pPr algn="l" fontAlgn="ctr"/>
                      <a:r>
                        <a:rPr lang="en-US" sz="2000" kern="1200"/>
                        <a:t>REVLIMID LYMPHOMA</a:t>
                      </a:r>
                      <a:endParaRPr lang="en-US" sz="2000" b="1" kern="1200">
                        <a:solidFill>
                          <a:schemeClr val="tx1"/>
                        </a:solidFill>
                        <a:latin typeface="+mj-lt"/>
                        <a:ea typeface="+mj-ea"/>
                        <a:cs typeface="+mj-cs"/>
                      </a:endParaRPr>
                    </a:p>
                  </a:txBody>
                  <a:tcPr marL="7620" marR="7620" marT="7620" marB="0" anchor="ctr"/>
                </a:tc>
                <a:tc>
                  <a:txBody>
                    <a:bodyPr/>
                    <a:lstStyle/>
                    <a:p>
                      <a:pPr algn="l" fontAlgn="ctr"/>
                      <a:r>
                        <a:rPr lang="en-US" sz="2000" kern="1200"/>
                        <a:t>REV FL</a:t>
                      </a:r>
                      <a:endParaRPr lang="en-US" sz="2000" b="1" kern="1200">
                        <a:solidFill>
                          <a:schemeClr val="tx1"/>
                        </a:solidFill>
                        <a:latin typeface="+mj-lt"/>
                        <a:ea typeface="+mj-ea"/>
                        <a:cs typeface="+mj-cs"/>
                      </a:endParaRPr>
                    </a:p>
                  </a:txBody>
                  <a:tcPr marL="7620" marR="7620" marT="7620" marB="0" anchor="ctr"/>
                </a:tc>
                <a:extLst>
                  <a:ext uri="{0D108BD9-81ED-4DB2-BD59-A6C34878D82A}">
                    <a16:rowId xmlns:a16="http://schemas.microsoft.com/office/drawing/2014/main" val="209576492"/>
                  </a:ext>
                </a:extLst>
              </a:tr>
              <a:tr h="269655">
                <a:tc vMerge="1">
                  <a:txBody>
                    <a:bodyPr/>
                    <a:lstStyle/>
                    <a:p>
                      <a:endParaRPr lang="en-US"/>
                    </a:p>
                  </a:txBody>
                  <a:tcPr/>
                </a:tc>
                <a:tc>
                  <a:txBody>
                    <a:bodyPr/>
                    <a:lstStyle/>
                    <a:p>
                      <a:pPr algn="l" fontAlgn="ctr"/>
                      <a:r>
                        <a:rPr lang="en-US" sz="2000" kern="1200"/>
                        <a:t>ISTODAX</a:t>
                      </a:r>
                      <a:endParaRPr lang="en-US" sz="2000" b="1" kern="1200">
                        <a:solidFill>
                          <a:schemeClr val="tx1"/>
                        </a:solidFill>
                        <a:latin typeface="+mj-lt"/>
                        <a:ea typeface="+mj-ea"/>
                        <a:cs typeface="+mj-cs"/>
                      </a:endParaRPr>
                    </a:p>
                  </a:txBody>
                  <a:tcPr marL="7620" marR="7620" marT="7620" marB="0" anchor="ctr"/>
                </a:tc>
                <a:tc>
                  <a:txBody>
                    <a:bodyPr/>
                    <a:lstStyle/>
                    <a:p>
                      <a:pPr algn="l" fontAlgn="ctr"/>
                      <a:r>
                        <a:rPr lang="en-US" sz="2000" kern="1200"/>
                        <a:t>IST</a:t>
                      </a:r>
                      <a:endParaRPr lang="en-US" sz="2000" b="1" kern="1200">
                        <a:solidFill>
                          <a:schemeClr val="tx1"/>
                        </a:solidFill>
                        <a:latin typeface="+mj-lt"/>
                        <a:ea typeface="+mj-ea"/>
                        <a:cs typeface="+mj-cs"/>
                      </a:endParaRPr>
                    </a:p>
                  </a:txBody>
                  <a:tcPr marL="7620" marR="7620" marT="7620" marB="0" anchor="ctr"/>
                </a:tc>
                <a:extLst>
                  <a:ext uri="{0D108BD9-81ED-4DB2-BD59-A6C34878D82A}">
                    <a16:rowId xmlns:a16="http://schemas.microsoft.com/office/drawing/2014/main" val="2407328642"/>
                  </a:ext>
                </a:extLst>
              </a:tr>
              <a:tr h="269655">
                <a:tc>
                  <a:txBody>
                    <a:bodyPr/>
                    <a:lstStyle/>
                    <a:p>
                      <a:pPr algn="l" fontAlgn="b"/>
                      <a:r>
                        <a:rPr lang="en-US" sz="2000" kern="1200" dirty="0"/>
                        <a:t>HEMA MDS</a:t>
                      </a:r>
                      <a:endParaRPr lang="en-US" sz="2000" b="1" kern="1200" dirty="0">
                        <a:solidFill>
                          <a:schemeClr val="tx1"/>
                        </a:solidFill>
                        <a:latin typeface="+mj-lt"/>
                        <a:ea typeface="+mj-ea"/>
                        <a:cs typeface="+mj-cs"/>
                      </a:endParaRPr>
                    </a:p>
                  </a:txBody>
                  <a:tcPr marL="7620" marR="7620" marT="7620" marB="0" anchor="b"/>
                </a:tc>
                <a:tc>
                  <a:txBody>
                    <a:bodyPr/>
                    <a:lstStyle/>
                    <a:p>
                      <a:pPr algn="l" fontAlgn="b"/>
                      <a:r>
                        <a:rPr lang="en-US" sz="2000" kern="1200"/>
                        <a:t>REVLIMID MDS</a:t>
                      </a:r>
                      <a:endParaRPr lang="en-US" sz="2000" b="1" kern="1200">
                        <a:solidFill>
                          <a:schemeClr val="tx1"/>
                        </a:solidFill>
                        <a:latin typeface="+mj-lt"/>
                        <a:ea typeface="+mj-ea"/>
                        <a:cs typeface="+mj-cs"/>
                      </a:endParaRPr>
                    </a:p>
                  </a:txBody>
                  <a:tcPr marL="7620" marR="7620" marT="7620" marB="0" anchor="b"/>
                </a:tc>
                <a:tc>
                  <a:txBody>
                    <a:bodyPr/>
                    <a:lstStyle/>
                    <a:p>
                      <a:pPr algn="l" fontAlgn="b"/>
                      <a:r>
                        <a:rPr lang="en-US" sz="2000" kern="1200"/>
                        <a:t>REV MDS</a:t>
                      </a:r>
                      <a:endParaRPr lang="en-US" sz="2000" b="1" kern="1200">
                        <a:solidFill>
                          <a:schemeClr val="tx1"/>
                        </a:solidFill>
                        <a:latin typeface="+mj-lt"/>
                        <a:ea typeface="+mj-ea"/>
                        <a:cs typeface="+mj-cs"/>
                      </a:endParaRPr>
                    </a:p>
                  </a:txBody>
                  <a:tcPr marL="7620" marR="7620" marT="7620" marB="0" anchor="b"/>
                </a:tc>
                <a:extLst>
                  <a:ext uri="{0D108BD9-81ED-4DB2-BD59-A6C34878D82A}">
                    <a16:rowId xmlns:a16="http://schemas.microsoft.com/office/drawing/2014/main" val="3727011293"/>
                  </a:ext>
                </a:extLst>
              </a:tr>
              <a:tr h="269655">
                <a:tc>
                  <a:txBody>
                    <a:bodyPr/>
                    <a:lstStyle/>
                    <a:p>
                      <a:pPr algn="l" fontAlgn="ctr"/>
                      <a:r>
                        <a:rPr lang="en-US" sz="2000" kern="1200" dirty="0"/>
                        <a:t>HEMA ATL</a:t>
                      </a:r>
                      <a:endParaRPr lang="en-US" sz="2000" b="1" kern="1200" dirty="0">
                        <a:solidFill>
                          <a:schemeClr val="tx1"/>
                        </a:solidFill>
                        <a:latin typeface="+mj-lt"/>
                        <a:ea typeface="+mj-ea"/>
                        <a:cs typeface="+mj-cs"/>
                      </a:endParaRPr>
                    </a:p>
                  </a:txBody>
                  <a:tcPr marL="7620" marR="7620" marT="7620" marB="0" anchor="ctr"/>
                </a:tc>
                <a:tc>
                  <a:txBody>
                    <a:bodyPr/>
                    <a:lstStyle/>
                    <a:p>
                      <a:pPr algn="l" fontAlgn="ctr"/>
                      <a:r>
                        <a:rPr lang="en-US" sz="2000" kern="1200" dirty="0"/>
                        <a:t>REVLIMID ATLL</a:t>
                      </a:r>
                      <a:endParaRPr lang="en-US" sz="2000" b="1" kern="1200" dirty="0">
                        <a:solidFill>
                          <a:schemeClr val="tx1"/>
                        </a:solidFill>
                        <a:latin typeface="+mj-lt"/>
                        <a:ea typeface="+mj-ea"/>
                        <a:cs typeface="+mj-cs"/>
                      </a:endParaRPr>
                    </a:p>
                  </a:txBody>
                  <a:tcPr marL="7620" marR="7620" marT="7620" marB="0" anchor="ctr"/>
                </a:tc>
                <a:tc>
                  <a:txBody>
                    <a:bodyPr/>
                    <a:lstStyle/>
                    <a:p>
                      <a:pPr algn="l" fontAlgn="ctr"/>
                      <a:r>
                        <a:rPr lang="en-US" sz="2000" kern="1200" dirty="0"/>
                        <a:t>REV ATL</a:t>
                      </a:r>
                      <a:endParaRPr lang="en-US" sz="2000" b="1" kern="1200" dirty="0">
                        <a:solidFill>
                          <a:schemeClr val="tx1"/>
                        </a:solidFill>
                        <a:latin typeface="+mj-lt"/>
                        <a:ea typeface="+mj-ea"/>
                        <a:cs typeface="+mj-cs"/>
                      </a:endParaRPr>
                    </a:p>
                  </a:txBody>
                  <a:tcPr marL="7620" marR="7620" marT="7620" marB="0" anchor="ctr"/>
                </a:tc>
                <a:extLst>
                  <a:ext uri="{0D108BD9-81ED-4DB2-BD59-A6C34878D82A}">
                    <a16:rowId xmlns:a16="http://schemas.microsoft.com/office/drawing/2014/main" val="2902006295"/>
                  </a:ext>
                </a:extLst>
              </a:tr>
              <a:tr h="269655">
                <a:tc>
                  <a:txBody>
                    <a:bodyPr/>
                    <a:lstStyle/>
                    <a:p>
                      <a:pPr algn="l" fontAlgn="ctr"/>
                      <a:r>
                        <a:rPr lang="en-US" sz="2000" kern="1200"/>
                        <a:t>HEMA CML</a:t>
                      </a:r>
                      <a:endParaRPr lang="en-US" sz="2000" b="1" kern="1200">
                        <a:solidFill>
                          <a:schemeClr val="tx1"/>
                        </a:solidFill>
                        <a:latin typeface="+mj-lt"/>
                        <a:ea typeface="+mj-ea"/>
                        <a:cs typeface="+mj-cs"/>
                      </a:endParaRPr>
                    </a:p>
                  </a:txBody>
                  <a:tcPr marL="7620" marR="7620" marT="7620" marB="0" anchor="ctr"/>
                </a:tc>
                <a:tc>
                  <a:txBody>
                    <a:bodyPr/>
                    <a:lstStyle/>
                    <a:p>
                      <a:pPr algn="l" fontAlgn="ctr"/>
                      <a:r>
                        <a:rPr lang="en-US" sz="2000" kern="1200" dirty="0"/>
                        <a:t>SPRYCEL</a:t>
                      </a:r>
                      <a:endParaRPr lang="en-US" sz="2000" b="1" kern="1200" dirty="0">
                        <a:solidFill>
                          <a:schemeClr val="tx1"/>
                        </a:solidFill>
                        <a:latin typeface="+mj-lt"/>
                        <a:ea typeface="+mj-ea"/>
                        <a:cs typeface="+mj-cs"/>
                      </a:endParaRPr>
                    </a:p>
                  </a:txBody>
                  <a:tcPr marL="7620" marR="7620" marT="7620" marB="0" anchor="ctr"/>
                </a:tc>
                <a:tc>
                  <a:txBody>
                    <a:bodyPr/>
                    <a:lstStyle/>
                    <a:p>
                      <a:pPr algn="l" fontAlgn="ctr"/>
                      <a:r>
                        <a:rPr lang="en-US" sz="2000" kern="1200"/>
                        <a:t>SP</a:t>
                      </a:r>
                      <a:endParaRPr lang="en-US" sz="2000" b="1" kern="1200">
                        <a:solidFill>
                          <a:schemeClr val="tx1"/>
                        </a:solidFill>
                        <a:latin typeface="+mj-lt"/>
                        <a:ea typeface="+mj-ea"/>
                        <a:cs typeface="+mj-cs"/>
                      </a:endParaRPr>
                    </a:p>
                  </a:txBody>
                  <a:tcPr marL="7620" marR="7620" marT="7620" marB="0" anchor="ctr"/>
                </a:tc>
                <a:extLst>
                  <a:ext uri="{0D108BD9-81ED-4DB2-BD59-A6C34878D82A}">
                    <a16:rowId xmlns:a16="http://schemas.microsoft.com/office/drawing/2014/main" val="1596980797"/>
                  </a:ext>
                </a:extLst>
              </a:tr>
              <a:tr h="269655">
                <a:tc>
                  <a:txBody>
                    <a:bodyPr/>
                    <a:lstStyle/>
                    <a:p>
                      <a:pPr algn="l" fontAlgn="ctr"/>
                      <a:r>
                        <a:rPr lang="en-US" sz="2000" kern="1200"/>
                        <a:t>HEMA HL</a:t>
                      </a:r>
                      <a:endParaRPr lang="en-US" sz="2000" b="1" kern="1200">
                        <a:solidFill>
                          <a:schemeClr val="tx1"/>
                        </a:solidFill>
                        <a:latin typeface="+mj-lt"/>
                        <a:ea typeface="+mj-ea"/>
                        <a:cs typeface="+mj-cs"/>
                      </a:endParaRPr>
                    </a:p>
                  </a:txBody>
                  <a:tcPr marL="7620" marR="7620" marT="7620" marB="0" anchor="ctr"/>
                </a:tc>
                <a:tc>
                  <a:txBody>
                    <a:bodyPr/>
                    <a:lstStyle/>
                    <a:p>
                      <a:pPr algn="l" fontAlgn="ctr"/>
                      <a:r>
                        <a:rPr lang="en-US" sz="2000" kern="1200" dirty="0"/>
                        <a:t>OPDIVO HL</a:t>
                      </a:r>
                      <a:endParaRPr lang="en-US" sz="2000" b="1" kern="1200" dirty="0">
                        <a:solidFill>
                          <a:schemeClr val="tx1"/>
                        </a:solidFill>
                        <a:latin typeface="+mj-lt"/>
                        <a:ea typeface="+mj-ea"/>
                        <a:cs typeface="+mj-cs"/>
                      </a:endParaRPr>
                    </a:p>
                  </a:txBody>
                  <a:tcPr marL="7620" marR="7620" marT="7620" marB="0" anchor="ctr"/>
                </a:tc>
                <a:tc>
                  <a:txBody>
                    <a:bodyPr/>
                    <a:lstStyle/>
                    <a:p>
                      <a:pPr algn="l" fontAlgn="ctr"/>
                      <a:r>
                        <a:rPr lang="en-US" sz="2000" kern="1200" dirty="0"/>
                        <a:t>OP HL</a:t>
                      </a:r>
                      <a:endParaRPr lang="en-US" sz="2000" b="1" kern="1200" dirty="0">
                        <a:solidFill>
                          <a:schemeClr val="tx1"/>
                        </a:solidFill>
                        <a:latin typeface="+mj-lt"/>
                        <a:ea typeface="+mj-ea"/>
                        <a:cs typeface="+mj-cs"/>
                      </a:endParaRPr>
                    </a:p>
                  </a:txBody>
                  <a:tcPr marL="7620" marR="7620" marT="7620" marB="0" anchor="ctr"/>
                </a:tc>
                <a:extLst>
                  <a:ext uri="{0D108BD9-81ED-4DB2-BD59-A6C34878D82A}">
                    <a16:rowId xmlns:a16="http://schemas.microsoft.com/office/drawing/2014/main" val="593973837"/>
                  </a:ext>
                </a:extLst>
              </a:tr>
            </a:tbl>
          </a:graphicData>
        </a:graphic>
      </p:graphicFrame>
      <p:sp>
        <p:nvSpPr>
          <p:cNvPr id="4" name="TextBox 3">
            <a:extLst>
              <a:ext uri="{FF2B5EF4-FFF2-40B4-BE49-F238E27FC236}">
                <a16:creationId xmlns:a16="http://schemas.microsoft.com/office/drawing/2014/main" id="{0CC5E6F6-23AF-40C7-A4D4-DA43EEC0CA82}"/>
              </a:ext>
            </a:extLst>
          </p:cNvPr>
          <p:cNvSpPr txBox="1"/>
          <p:nvPr/>
        </p:nvSpPr>
        <p:spPr>
          <a:xfrm>
            <a:off x="1082351" y="1586204"/>
            <a:ext cx="3480318" cy="234976"/>
          </a:xfrm>
          <a:prstGeom prst="rect">
            <a:avLst/>
          </a:prstGeom>
          <a:noFill/>
        </p:spPr>
        <p:txBody>
          <a:bodyPr wrap="square" lIns="0" tIns="0" rIns="0" bIns="0" rtlCol="0">
            <a:noAutofit/>
          </a:bodyPr>
          <a:lstStyle/>
          <a:p>
            <a:pPr>
              <a:lnSpc>
                <a:spcPct val="100000"/>
              </a:lnSpc>
              <a:spcBef>
                <a:spcPts val="1200"/>
              </a:spcBef>
              <a:buSzPct val="100000"/>
            </a:pPr>
            <a:r>
              <a:rPr lang="en-US" sz="2000" b="1" u="sng" dirty="0"/>
              <a:t>Product Master</a:t>
            </a:r>
          </a:p>
        </p:txBody>
      </p:sp>
      <p:sp>
        <p:nvSpPr>
          <p:cNvPr id="5" name="TextBox 4">
            <a:extLst>
              <a:ext uri="{FF2B5EF4-FFF2-40B4-BE49-F238E27FC236}">
                <a16:creationId xmlns:a16="http://schemas.microsoft.com/office/drawing/2014/main" id="{D797AC18-8C54-4E6E-B296-7F5A89441DFF}"/>
              </a:ext>
            </a:extLst>
          </p:cNvPr>
          <p:cNvSpPr txBox="1"/>
          <p:nvPr/>
        </p:nvSpPr>
        <p:spPr>
          <a:xfrm>
            <a:off x="1082350" y="5691673"/>
            <a:ext cx="9032033" cy="466531"/>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r>
              <a:rPr lang="en-US" sz="1600" dirty="0"/>
              <a:t>Product Group entries are required in CPM system and will flow in C-SCAN from there </a:t>
            </a:r>
          </a:p>
        </p:txBody>
      </p:sp>
      <p:sp>
        <p:nvSpPr>
          <p:cNvPr id="6" name="Slide Number Placeholder 5">
            <a:extLst>
              <a:ext uri="{FF2B5EF4-FFF2-40B4-BE49-F238E27FC236}">
                <a16:creationId xmlns:a16="http://schemas.microsoft.com/office/drawing/2014/main" id="{B29AEC8B-CF8D-4CCF-80AE-E7D461846119}"/>
              </a:ext>
            </a:extLst>
          </p:cNvPr>
          <p:cNvSpPr>
            <a:spLocks noGrp="1"/>
          </p:cNvSpPr>
          <p:nvPr>
            <p:ph type="sldNum" sz="quarter" idx="12"/>
          </p:nvPr>
        </p:nvSpPr>
        <p:spPr/>
        <p:txBody>
          <a:bodyPr/>
          <a:lstStyle/>
          <a:p>
            <a:fld id="{B58DE5F1-E0F9-4CCA-92B7-7A6FC4DFEE14}" type="slidenum">
              <a:rPr lang="en-US" smtClean="0"/>
              <a:t>15</a:t>
            </a:fld>
            <a:endParaRPr lang="en-US" dirty="0"/>
          </a:p>
        </p:txBody>
      </p:sp>
    </p:spTree>
    <p:extLst>
      <p:ext uri="{BB962C8B-B14F-4D97-AF65-F5344CB8AC3E}">
        <p14:creationId xmlns:p14="http://schemas.microsoft.com/office/powerpoint/2010/main" val="3539877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Add new items and logic for counting Myeloma and Lymphoma detail activities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2" name="TextBox 1">
            <a:extLst>
              <a:ext uri="{FF2B5EF4-FFF2-40B4-BE49-F238E27FC236}">
                <a16:creationId xmlns:a16="http://schemas.microsoft.com/office/drawing/2014/main" id="{27E36F4B-402F-4A06-93F9-9C0901CC7DE3}"/>
              </a:ext>
            </a:extLst>
          </p:cNvPr>
          <p:cNvSpPr txBox="1"/>
          <p:nvPr/>
        </p:nvSpPr>
        <p:spPr>
          <a:xfrm>
            <a:off x="670560" y="1821180"/>
            <a:ext cx="10256520" cy="3246120"/>
          </a:xfrm>
          <a:prstGeom prst="rect">
            <a:avLst/>
          </a:prstGeom>
          <a:noFill/>
        </p:spPr>
        <p:txBody>
          <a:bodyPr wrap="square" lIns="0" tIns="0" rIns="0" bIns="0" rtlCol="0">
            <a:noAutofit/>
          </a:bodyPr>
          <a:lstStyle/>
          <a:p>
            <a:pPr marL="685800" lvl="1" indent="-228600">
              <a:spcBef>
                <a:spcPts val="1200"/>
              </a:spcBef>
              <a:buSzPct val="100000"/>
              <a:buFont typeface="Trebuchet MS"/>
              <a:buChar char="•"/>
            </a:pPr>
            <a:endParaRPr lang="en-US" sz="2000" dirty="0"/>
          </a:p>
        </p:txBody>
      </p:sp>
      <p:sp>
        <p:nvSpPr>
          <p:cNvPr id="4" name="TextBox 3">
            <a:extLst>
              <a:ext uri="{FF2B5EF4-FFF2-40B4-BE49-F238E27FC236}">
                <a16:creationId xmlns:a16="http://schemas.microsoft.com/office/drawing/2014/main" id="{0CC5E6F6-23AF-40C7-A4D4-DA43EEC0CA82}"/>
              </a:ext>
            </a:extLst>
          </p:cNvPr>
          <p:cNvSpPr txBox="1"/>
          <p:nvPr/>
        </p:nvSpPr>
        <p:spPr>
          <a:xfrm>
            <a:off x="1082350" y="1586204"/>
            <a:ext cx="6960637" cy="391886"/>
          </a:xfrm>
          <a:prstGeom prst="rect">
            <a:avLst/>
          </a:prstGeom>
          <a:noFill/>
        </p:spPr>
        <p:txBody>
          <a:bodyPr wrap="square" lIns="0" tIns="0" rIns="0" bIns="0" rtlCol="0">
            <a:noAutofit/>
          </a:bodyPr>
          <a:lstStyle/>
          <a:p>
            <a:pPr>
              <a:lnSpc>
                <a:spcPct val="100000"/>
              </a:lnSpc>
              <a:spcBef>
                <a:spcPts val="1200"/>
              </a:spcBef>
              <a:buSzPct val="100000"/>
            </a:pPr>
            <a:r>
              <a:rPr lang="en-US" sz="2000" b="1" u="sng" dirty="0"/>
              <a:t>Data Category-vise Product Groups</a:t>
            </a:r>
          </a:p>
        </p:txBody>
      </p:sp>
      <p:graphicFrame>
        <p:nvGraphicFramePr>
          <p:cNvPr id="5" name="Table 4">
            <a:extLst>
              <a:ext uri="{FF2B5EF4-FFF2-40B4-BE49-F238E27FC236}">
                <a16:creationId xmlns:a16="http://schemas.microsoft.com/office/drawing/2014/main" id="{2EDB7507-CA0C-41A2-B13A-2C9CF7A26E0B}"/>
              </a:ext>
            </a:extLst>
          </p:cNvPr>
          <p:cNvGraphicFramePr>
            <a:graphicFrameLocks noGrp="1"/>
          </p:cNvGraphicFramePr>
          <p:nvPr>
            <p:extLst>
              <p:ext uri="{D42A27DB-BD31-4B8C-83A1-F6EECF244321}">
                <p14:modId xmlns:p14="http://schemas.microsoft.com/office/powerpoint/2010/main" val="1977041246"/>
              </p:ext>
            </p:extLst>
          </p:nvPr>
        </p:nvGraphicFramePr>
        <p:xfrm>
          <a:off x="562708" y="2195788"/>
          <a:ext cx="11068061" cy="3137270"/>
        </p:xfrm>
        <a:graphic>
          <a:graphicData uri="http://schemas.openxmlformats.org/drawingml/2006/table">
            <a:tbl>
              <a:tblPr>
                <a:tableStyleId>{D7AC3CCA-C797-4891-BE02-D94E43425B78}</a:tableStyleId>
              </a:tblPr>
              <a:tblGrid>
                <a:gridCol w="2888325">
                  <a:extLst>
                    <a:ext uri="{9D8B030D-6E8A-4147-A177-3AD203B41FA5}">
                      <a16:colId xmlns:a16="http://schemas.microsoft.com/office/drawing/2014/main" val="2678392111"/>
                    </a:ext>
                  </a:extLst>
                </a:gridCol>
                <a:gridCol w="8179736">
                  <a:extLst>
                    <a:ext uri="{9D8B030D-6E8A-4147-A177-3AD203B41FA5}">
                      <a16:colId xmlns:a16="http://schemas.microsoft.com/office/drawing/2014/main" val="1036960744"/>
                    </a:ext>
                  </a:extLst>
                </a:gridCol>
              </a:tblGrid>
              <a:tr h="308130">
                <a:tc>
                  <a:txBody>
                    <a:bodyPr/>
                    <a:lstStyle/>
                    <a:p>
                      <a:pPr algn="l" fontAlgn="b"/>
                      <a:r>
                        <a:rPr lang="en-US" sz="2000" b="1" u="none" strike="noStrike">
                          <a:effectLst/>
                        </a:rPr>
                        <a:t>Data Category</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2000" b="1" u="none" strike="noStrike" dirty="0">
                          <a:effectLst/>
                        </a:rPr>
                        <a:t>Product/Area Drop down level</a:t>
                      </a:r>
                      <a:endParaRPr lang="en-US" sz="20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18086195"/>
                  </a:ext>
                </a:extLst>
              </a:tr>
              <a:tr h="308130">
                <a:tc>
                  <a:txBody>
                    <a:bodyPr/>
                    <a:lstStyle/>
                    <a:p>
                      <a:pPr algn="l" fontAlgn="b"/>
                      <a:r>
                        <a:rPr lang="en-US" sz="2000" u="none" strike="noStrike">
                          <a:effectLst/>
                        </a:rPr>
                        <a:t>Sales</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Only Product level , No Impact with this change</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23004640"/>
                  </a:ext>
                </a:extLst>
              </a:tr>
              <a:tr h="382050">
                <a:tc>
                  <a:txBody>
                    <a:bodyPr/>
                    <a:lstStyle/>
                    <a:p>
                      <a:pPr algn="l" fontAlgn="b"/>
                      <a:r>
                        <a:rPr lang="en-US" sz="2000" u="none" strike="noStrike" dirty="0">
                          <a:effectLst/>
                        </a:rPr>
                        <a:t>Activity</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Group/Product level, show only group when there's only 1 product</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3984463"/>
                  </a:ext>
                </a:extLst>
              </a:tr>
              <a:tr h="308130">
                <a:tc>
                  <a:txBody>
                    <a:bodyPr/>
                    <a:lstStyle/>
                    <a:p>
                      <a:pPr algn="l" fontAlgn="b"/>
                      <a:r>
                        <a:rPr lang="en-US" sz="2000" u="none" strike="noStrike">
                          <a:effectLst/>
                        </a:rPr>
                        <a:t>Market</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a:effectLst/>
                        </a:rPr>
                        <a:t>Only Product Group level</a:t>
                      </a:r>
                      <a:endParaRPr lang="en-US" sz="20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36242815"/>
                  </a:ext>
                </a:extLst>
              </a:tr>
              <a:tr h="398192">
                <a:tc>
                  <a:txBody>
                    <a:bodyPr/>
                    <a:lstStyle/>
                    <a:p>
                      <a:pPr algn="l" fontAlgn="b"/>
                      <a:r>
                        <a:rPr lang="en-US" sz="2000" u="none" strike="noStrike" dirty="0">
                          <a:effectLst/>
                        </a:rPr>
                        <a:t>Prescription</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a:effectLst/>
                        </a:rPr>
                        <a:t>Group/Product level, show only group when there's only 1 product</a:t>
                      </a:r>
                      <a:endParaRPr lang="en-US" sz="20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29633997"/>
                  </a:ext>
                </a:extLst>
              </a:tr>
              <a:tr h="308130">
                <a:tc>
                  <a:txBody>
                    <a:bodyPr/>
                    <a:lstStyle/>
                    <a:p>
                      <a:pPr algn="l" fontAlgn="b"/>
                      <a:r>
                        <a:rPr lang="en-US" sz="2000" u="none" strike="noStrike">
                          <a:effectLst/>
                        </a:rPr>
                        <a:t>Acount Trace</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No impact, no new launch in HEMA BU and only product level</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93858073"/>
                  </a:ext>
                </a:extLst>
              </a:tr>
              <a:tr h="308130">
                <a:tc>
                  <a:txBody>
                    <a:bodyPr/>
                    <a:lstStyle/>
                    <a:p>
                      <a:pPr algn="l" fontAlgn="b"/>
                      <a:r>
                        <a:rPr lang="en-US" sz="2000" u="none" strike="noStrike">
                          <a:effectLst/>
                        </a:rPr>
                        <a:t>MR Takeover</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No impact</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52112284"/>
                  </a:ext>
                </a:extLst>
              </a:tr>
              <a:tr h="349229">
                <a:tc>
                  <a:txBody>
                    <a:bodyPr/>
                    <a:lstStyle/>
                    <a:p>
                      <a:pPr algn="l" fontAlgn="b"/>
                      <a:r>
                        <a:rPr lang="en-US" sz="2000" u="none" strike="noStrike" dirty="0">
                          <a:effectLst/>
                        </a:rPr>
                        <a:t>C-STAR activity/market</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Only show at Product Group level, and not at detail product level </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49496655"/>
                  </a:ext>
                </a:extLst>
              </a:tr>
              <a:tr h="445699">
                <a:tc>
                  <a:txBody>
                    <a:bodyPr/>
                    <a:lstStyle/>
                    <a:p>
                      <a:pPr algn="l" fontAlgn="b"/>
                      <a:r>
                        <a:rPr lang="en-US" sz="2000" u="none" strike="noStrike">
                          <a:effectLst/>
                        </a:rPr>
                        <a:t>C-STAR alliance acitivy</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No impact, PDE report for Celgene Products is not required</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05102925"/>
                  </a:ext>
                </a:extLst>
              </a:tr>
            </a:tbl>
          </a:graphicData>
        </a:graphic>
      </p:graphicFrame>
      <p:sp>
        <p:nvSpPr>
          <p:cNvPr id="9" name="Rectangle 8">
            <a:extLst>
              <a:ext uri="{FF2B5EF4-FFF2-40B4-BE49-F238E27FC236}">
                <a16:creationId xmlns:a16="http://schemas.microsoft.com/office/drawing/2014/main" id="{921167CB-27C8-433F-BC81-8603F2E0CDC5}"/>
              </a:ext>
            </a:extLst>
          </p:cNvPr>
          <p:cNvSpPr/>
          <p:nvPr/>
        </p:nvSpPr>
        <p:spPr>
          <a:xfrm>
            <a:off x="0" y="4444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ctr"/>
            <a:r>
              <a:rPr lang="en-US" sz="2000" dirty="0">
                <a:solidFill>
                  <a:schemeClr val="accent2">
                    <a:lumMod val="75000"/>
                  </a:schemeClr>
                </a:solidFill>
              </a:rPr>
              <a:t>Add new items and logic for counting Myeloma and Lymphoma detail activities </a:t>
            </a:r>
          </a:p>
          <a:p>
            <a:pPr algn="ctr">
              <a:lnSpc>
                <a:spcPct val="100000"/>
              </a:lnSpc>
            </a:pPr>
            <a:endParaRPr lang="en-US" sz="2000" dirty="0"/>
          </a:p>
        </p:txBody>
      </p:sp>
      <p:sp>
        <p:nvSpPr>
          <p:cNvPr id="3" name="Slide Number Placeholder 2">
            <a:extLst>
              <a:ext uri="{FF2B5EF4-FFF2-40B4-BE49-F238E27FC236}">
                <a16:creationId xmlns:a16="http://schemas.microsoft.com/office/drawing/2014/main" id="{BC163861-42B6-48E0-B9B0-53D4665C494C}"/>
              </a:ext>
            </a:extLst>
          </p:cNvPr>
          <p:cNvSpPr>
            <a:spLocks noGrp="1"/>
          </p:cNvSpPr>
          <p:nvPr>
            <p:ph type="sldNum" sz="quarter" idx="12"/>
          </p:nvPr>
        </p:nvSpPr>
        <p:spPr/>
        <p:txBody>
          <a:bodyPr/>
          <a:lstStyle/>
          <a:p>
            <a:fld id="{B58DE5F1-E0F9-4CCA-92B7-7A6FC4DFEE14}" type="slidenum">
              <a:rPr lang="en-US" smtClean="0"/>
              <a:t>16</a:t>
            </a:fld>
            <a:endParaRPr lang="en-US" dirty="0"/>
          </a:p>
        </p:txBody>
      </p:sp>
    </p:spTree>
    <p:extLst>
      <p:ext uri="{BB962C8B-B14F-4D97-AF65-F5344CB8AC3E}">
        <p14:creationId xmlns:p14="http://schemas.microsoft.com/office/powerpoint/2010/main" val="2788673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Add new items and logic for counting Myeloma and Lymphoma detail activities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2" name="TextBox 1">
            <a:extLst>
              <a:ext uri="{FF2B5EF4-FFF2-40B4-BE49-F238E27FC236}">
                <a16:creationId xmlns:a16="http://schemas.microsoft.com/office/drawing/2014/main" id="{27E36F4B-402F-4A06-93F9-9C0901CC7DE3}"/>
              </a:ext>
            </a:extLst>
          </p:cNvPr>
          <p:cNvSpPr txBox="1"/>
          <p:nvPr/>
        </p:nvSpPr>
        <p:spPr>
          <a:xfrm>
            <a:off x="670560" y="1821180"/>
            <a:ext cx="10256520" cy="3246120"/>
          </a:xfrm>
          <a:prstGeom prst="rect">
            <a:avLst/>
          </a:prstGeom>
          <a:noFill/>
        </p:spPr>
        <p:txBody>
          <a:bodyPr wrap="square" lIns="0" tIns="0" rIns="0" bIns="0" rtlCol="0">
            <a:noAutofit/>
          </a:bodyPr>
          <a:lstStyle/>
          <a:p>
            <a:pPr marL="685800" lvl="1" indent="-228600">
              <a:spcBef>
                <a:spcPts val="1200"/>
              </a:spcBef>
              <a:buSzPct val="100000"/>
              <a:buFont typeface="Trebuchet MS"/>
              <a:buChar char="•"/>
            </a:pPr>
            <a:endParaRPr lang="en-US" sz="2000" dirty="0"/>
          </a:p>
        </p:txBody>
      </p:sp>
      <p:sp>
        <p:nvSpPr>
          <p:cNvPr id="4" name="TextBox 3">
            <a:extLst>
              <a:ext uri="{FF2B5EF4-FFF2-40B4-BE49-F238E27FC236}">
                <a16:creationId xmlns:a16="http://schemas.microsoft.com/office/drawing/2014/main" id="{0CC5E6F6-23AF-40C7-A4D4-DA43EEC0CA82}"/>
              </a:ext>
            </a:extLst>
          </p:cNvPr>
          <p:cNvSpPr txBox="1"/>
          <p:nvPr/>
        </p:nvSpPr>
        <p:spPr>
          <a:xfrm>
            <a:off x="1082350" y="1586204"/>
            <a:ext cx="6960637" cy="391886"/>
          </a:xfrm>
          <a:prstGeom prst="rect">
            <a:avLst/>
          </a:prstGeom>
          <a:noFill/>
        </p:spPr>
        <p:txBody>
          <a:bodyPr wrap="square" lIns="0" tIns="0" rIns="0" bIns="0" rtlCol="0">
            <a:noAutofit/>
          </a:bodyPr>
          <a:lstStyle/>
          <a:p>
            <a:pPr>
              <a:lnSpc>
                <a:spcPct val="100000"/>
              </a:lnSpc>
              <a:spcBef>
                <a:spcPts val="1200"/>
              </a:spcBef>
              <a:buSzPct val="100000"/>
            </a:pPr>
            <a:r>
              <a:rPr lang="en-US" sz="2000" b="1" u="sng" dirty="0"/>
              <a:t>Data Category-vise Product Groups</a:t>
            </a:r>
          </a:p>
        </p:txBody>
      </p:sp>
      <p:graphicFrame>
        <p:nvGraphicFramePr>
          <p:cNvPr id="5" name="Table 4">
            <a:extLst>
              <a:ext uri="{FF2B5EF4-FFF2-40B4-BE49-F238E27FC236}">
                <a16:creationId xmlns:a16="http://schemas.microsoft.com/office/drawing/2014/main" id="{2EDB7507-CA0C-41A2-B13A-2C9CF7A26E0B}"/>
              </a:ext>
            </a:extLst>
          </p:cNvPr>
          <p:cNvGraphicFramePr>
            <a:graphicFrameLocks noGrp="1"/>
          </p:cNvGraphicFramePr>
          <p:nvPr/>
        </p:nvGraphicFramePr>
        <p:xfrm>
          <a:off x="562708" y="2186457"/>
          <a:ext cx="11068061" cy="3204820"/>
        </p:xfrm>
        <a:graphic>
          <a:graphicData uri="http://schemas.openxmlformats.org/drawingml/2006/table">
            <a:tbl>
              <a:tblPr>
                <a:tableStyleId>{D7AC3CCA-C797-4891-BE02-D94E43425B78}</a:tableStyleId>
              </a:tblPr>
              <a:tblGrid>
                <a:gridCol w="2888325">
                  <a:extLst>
                    <a:ext uri="{9D8B030D-6E8A-4147-A177-3AD203B41FA5}">
                      <a16:colId xmlns:a16="http://schemas.microsoft.com/office/drawing/2014/main" val="2678392111"/>
                    </a:ext>
                  </a:extLst>
                </a:gridCol>
                <a:gridCol w="8179736">
                  <a:extLst>
                    <a:ext uri="{9D8B030D-6E8A-4147-A177-3AD203B41FA5}">
                      <a16:colId xmlns:a16="http://schemas.microsoft.com/office/drawing/2014/main" val="1036960744"/>
                    </a:ext>
                  </a:extLst>
                </a:gridCol>
              </a:tblGrid>
              <a:tr h="282016">
                <a:tc>
                  <a:txBody>
                    <a:bodyPr/>
                    <a:lstStyle/>
                    <a:p>
                      <a:pPr algn="l" fontAlgn="b"/>
                      <a:r>
                        <a:rPr lang="en-US" sz="2000" b="1" u="none" strike="noStrike">
                          <a:effectLst/>
                        </a:rPr>
                        <a:t>Data Category</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2000" b="1" u="none" strike="noStrike" dirty="0">
                          <a:effectLst/>
                        </a:rPr>
                        <a:t>Product/Area Drop down level</a:t>
                      </a:r>
                      <a:endParaRPr lang="en-US" sz="20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18086195"/>
                  </a:ext>
                </a:extLst>
              </a:tr>
              <a:tr h="282016">
                <a:tc>
                  <a:txBody>
                    <a:bodyPr/>
                    <a:lstStyle/>
                    <a:p>
                      <a:pPr algn="l" fontAlgn="b"/>
                      <a:r>
                        <a:rPr lang="en-US" sz="2000" u="none" strike="noStrike">
                          <a:effectLst/>
                        </a:rPr>
                        <a:t>Sales</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Only Product level , No Impact with this change</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23004640"/>
                  </a:ext>
                </a:extLst>
              </a:tr>
              <a:tr h="398434">
                <a:tc>
                  <a:txBody>
                    <a:bodyPr/>
                    <a:lstStyle/>
                    <a:p>
                      <a:pPr algn="l" fontAlgn="b"/>
                      <a:r>
                        <a:rPr lang="en-US" sz="2000" u="none" strike="noStrike" dirty="0">
                          <a:effectLst/>
                        </a:rPr>
                        <a:t>Activity</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Group/Product level, show only group when there's only 1 product</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23984463"/>
                  </a:ext>
                </a:extLst>
              </a:tr>
              <a:tr h="282016">
                <a:tc>
                  <a:txBody>
                    <a:bodyPr/>
                    <a:lstStyle/>
                    <a:p>
                      <a:pPr algn="l" fontAlgn="b"/>
                      <a:r>
                        <a:rPr lang="en-US" sz="2000" u="none" strike="noStrike">
                          <a:effectLst/>
                        </a:rPr>
                        <a:t>Market</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a:effectLst/>
                        </a:rPr>
                        <a:t>Only Product Group level</a:t>
                      </a:r>
                      <a:endParaRPr lang="en-US" sz="20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36242815"/>
                  </a:ext>
                </a:extLst>
              </a:tr>
              <a:tr h="415268">
                <a:tc>
                  <a:txBody>
                    <a:bodyPr/>
                    <a:lstStyle/>
                    <a:p>
                      <a:pPr algn="l" fontAlgn="b"/>
                      <a:r>
                        <a:rPr lang="en-US" sz="2000" u="none" strike="noStrike" dirty="0">
                          <a:effectLst/>
                        </a:rPr>
                        <a:t>Prescription</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a:effectLst/>
                        </a:rPr>
                        <a:t>Group/Product level, show only group when there's only 1 product</a:t>
                      </a:r>
                      <a:endParaRPr lang="en-US" sz="20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529633997"/>
                  </a:ext>
                </a:extLst>
              </a:tr>
              <a:tr h="269827">
                <a:tc>
                  <a:txBody>
                    <a:bodyPr/>
                    <a:lstStyle/>
                    <a:p>
                      <a:pPr algn="l" fontAlgn="b"/>
                      <a:r>
                        <a:rPr lang="en-US" sz="2000" u="none" strike="noStrike">
                          <a:effectLst/>
                        </a:rPr>
                        <a:t>Acount Trace</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No impact, no new launch in HEMA BU and only product level</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93858073"/>
                  </a:ext>
                </a:extLst>
              </a:tr>
              <a:tr h="282016">
                <a:tc>
                  <a:txBody>
                    <a:bodyPr/>
                    <a:lstStyle/>
                    <a:p>
                      <a:pPr algn="l" fontAlgn="b"/>
                      <a:r>
                        <a:rPr lang="en-US" sz="2000" u="none" strike="noStrike">
                          <a:effectLst/>
                        </a:rPr>
                        <a:t>MR Takeover</a:t>
                      </a:r>
                      <a:endParaRPr lang="en-US" sz="20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No impact</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52112284"/>
                  </a:ext>
                </a:extLst>
              </a:tr>
              <a:tr h="364205">
                <a:tc>
                  <a:txBody>
                    <a:bodyPr/>
                    <a:lstStyle/>
                    <a:p>
                      <a:pPr algn="l" fontAlgn="b"/>
                      <a:r>
                        <a:rPr lang="en-US" sz="2000" u="none" strike="noStrike" dirty="0">
                          <a:effectLst/>
                        </a:rPr>
                        <a:t>C-STAR activity/market</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Only show at Product Group level, and not at detail product level </a:t>
                      </a:r>
                      <a:endParaRPr lang="en-US" sz="2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49496655"/>
                  </a:ext>
                </a:extLst>
              </a:tr>
              <a:tr h="464813">
                <a:tc>
                  <a:txBody>
                    <a:bodyPr/>
                    <a:lstStyle/>
                    <a:p>
                      <a:pPr algn="l" fontAlgn="b"/>
                      <a:r>
                        <a:rPr lang="en-US" sz="2000" u="none" strike="noStrike" dirty="0">
                          <a:effectLst/>
                        </a:rPr>
                        <a:t>C-STAR alliance activity</a:t>
                      </a:r>
                      <a:endParaRPr lang="en-US" sz="2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2000" u="none" strike="noStrike" dirty="0">
                          <a:effectLst/>
                        </a:rPr>
                        <a:t>Impact on PDE report because of Agreed target doctor list</a:t>
                      </a:r>
                    </a:p>
                  </a:txBody>
                  <a:tcPr marL="7620" marR="7620" marT="7620" marB="0" anchor="b"/>
                </a:tc>
                <a:extLst>
                  <a:ext uri="{0D108BD9-81ED-4DB2-BD59-A6C34878D82A}">
                    <a16:rowId xmlns:a16="http://schemas.microsoft.com/office/drawing/2014/main" val="1905102925"/>
                  </a:ext>
                </a:extLst>
              </a:tr>
            </a:tbl>
          </a:graphicData>
        </a:graphic>
      </p:graphicFrame>
      <p:sp>
        <p:nvSpPr>
          <p:cNvPr id="9" name="Rectangle 8">
            <a:extLst>
              <a:ext uri="{FF2B5EF4-FFF2-40B4-BE49-F238E27FC236}">
                <a16:creationId xmlns:a16="http://schemas.microsoft.com/office/drawing/2014/main" id="{C7633B64-E777-4F92-8FCB-4AFAC9F8859A}"/>
              </a:ext>
            </a:extLst>
          </p:cNvPr>
          <p:cNvSpPr/>
          <p:nvPr/>
        </p:nvSpPr>
        <p:spPr>
          <a:xfrm>
            <a:off x="0" y="26728"/>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ctr"/>
            <a:r>
              <a:rPr lang="en-US" sz="2000" dirty="0">
                <a:solidFill>
                  <a:schemeClr val="accent2">
                    <a:lumMod val="75000"/>
                  </a:schemeClr>
                </a:solidFill>
              </a:rPr>
              <a:t>Add new items and logic for counting Myeloma and Lymphoma detail activities </a:t>
            </a:r>
          </a:p>
          <a:p>
            <a:pPr algn="ctr">
              <a:lnSpc>
                <a:spcPct val="100000"/>
              </a:lnSpc>
            </a:pPr>
            <a:endParaRPr lang="en-US" sz="2000" dirty="0"/>
          </a:p>
        </p:txBody>
      </p:sp>
      <p:sp>
        <p:nvSpPr>
          <p:cNvPr id="3" name="Slide Number Placeholder 2">
            <a:extLst>
              <a:ext uri="{FF2B5EF4-FFF2-40B4-BE49-F238E27FC236}">
                <a16:creationId xmlns:a16="http://schemas.microsoft.com/office/drawing/2014/main" id="{D384385E-529E-49D7-95AE-559332F6FD2C}"/>
              </a:ext>
            </a:extLst>
          </p:cNvPr>
          <p:cNvSpPr>
            <a:spLocks noGrp="1"/>
          </p:cNvSpPr>
          <p:nvPr>
            <p:ph type="sldNum" sz="quarter" idx="12"/>
          </p:nvPr>
        </p:nvSpPr>
        <p:spPr/>
        <p:txBody>
          <a:bodyPr/>
          <a:lstStyle/>
          <a:p>
            <a:fld id="{B58DE5F1-E0F9-4CCA-92B7-7A6FC4DFEE14}" type="slidenum">
              <a:rPr lang="en-US" smtClean="0"/>
              <a:t>17</a:t>
            </a:fld>
            <a:endParaRPr lang="en-US" dirty="0"/>
          </a:p>
        </p:txBody>
      </p:sp>
    </p:spTree>
    <p:extLst>
      <p:ext uri="{BB962C8B-B14F-4D97-AF65-F5344CB8AC3E}">
        <p14:creationId xmlns:p14="http://schemas.microsoft.com/office/powerpoint/2010/main" val="20070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Add new items and logic for counting Myeloma and Lymphoma detail activities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2" name="TextBox 1">
            <a:extLst>
              <a:ext uri="{FF2B5EF4-FFF2-40B4-BE49-F238E27FC236}">
                <a16:creationId xmlns:a16="http://schemas.microsoft.com/office/drawing/2014/main" id="{27E36F4B-402F-4A06-93F9-9C0901CC7DE3}"/>
              </a:ext>
            </a:extLst>
          </p:cNvPr>
          <p:cNvSpPr txBox="1"/>
          <p:nvPr/>
        </p:nvSpPr>
        <p:spPr>
          <a:xfrm>
            <a:off x="670560" y="1821180"/>
            <a:ext cx="10256520" cy="3246120"/>
          </a:xfrm>
          <a:prstGeom prst="rect">
            <a:avLst/>
          </a:prstGeom>
          <a:noFill/>
        </p:spPr>
        <p:txBody>
          <a:bodyPr wrap="square" lIns="0" tIns="0" rIns="0" bIns="0" rtlCol="0">
            <a:noAutofit/>
          </a:bodyPr>
          <a:lstStyle/>
          <a:p>
            <a:pPr marL="685800" lvl="1" indent="-228600">
              <a:spcBef>
                <a:spcPts val="1200"/>
              </a:spcBef>
              <a:buSzPct val="100000"/>
              <a:buFont typeface="Trebuchet MS"/>
              <a:buChar char="•"/>
            </a:pPr>
            <a:r>
              <a:rPr lang="en-US" sz="2000" dirty="0"/>
              <a:t>HEMA Product Groups:</a:t>
            </a:r>
          </a:p>
        </p:txBody>
      </p:sp>
      <p:sp>
        <p:nvSpPr>
          <p:cNvPr id="4" name="TextBox 3">
            <a:extLst>
              <a:ext uri="{FF2B5EF4-FFF2-40B4-BE49-F238E27FC236}">
                <a16:creationId xmlns:a16="http://schemas.microsoft.com/office/drawing/2014/main" id="{0CC5E6F6-23AF-40C7-A4D4-DA43EEC0CA82}"/>
              </a:ext>
            </a:extLst>
          </p:cNvPr>
          <p:cNvSpPr txBox="1"/>
          <p:nvPr/>
        </p:nvSpPr>
        <p:spPr>
          <a:xfrm>
            <a:off x="1082350" y="1573780"/>
            <a:ext cx="6960637" cy="391886"/>
          </a:xfrm>
          <a:prstGeom prst="rect">
            <a:avLst/>
          </a:prstGeom>
          <a:noFill/>
        </p:spPr>
        <p:txBody>
          <a:bodyPr wrap="square" lIns="0" tIns="0" rIns="0" bIns="0" rtlCol="0">
            <a:noAutofit/>
          </a:bodyPr>
          <a:lstStyle/>
          <a:p>
            <a:pPr>
              <a:lnSpc>
                <a:spcPct val="100000"/>
              </a:lnSpc>
              <a:spcBef>
                <a:spcPts val="1200"/>
              </a:spcBef>
              <a:buSzPct val="100000"/>
            </a:pPr>
            <a:r>
              <a:rPr lang="en-US" dirty="0"/>
              <a:t>Priority Target Institution List</a:t>
            </a:r>
            <a:r>
              <a:rPr lang="en-US" sz="2000" dirty="0"/>
              <a:t> </a:t>
            </a:r>
          </a:p>
          <a:p>
            <a:pPr>
              <a:lnSpc>
                <a:spcPct val="100000"/>
              </a:lnSpc>
              <a:spcBef>
                <a:spcPts val="1200"/>
              </a:spcBef>
              <a:buSzPct val="100000"/>
            </a:pPr>
            <a:endParaRPr lang="en-US" sz="2000" b="1" u="sng" dirty="0"/>
          </a:p>
        </p:txBody>
      </p:sp>
      <p:graphicFrame>
        <p:nvGraphicFramePr>
          <p:cNvPr id="3" name="Table 2">
            <a:extLst>
              <a:ext uri="{FF2B5EF4-FFF2-40B4-BE49-F238E27FC236}">
                <a16:creationId xmlns:a16="http://schemas.microsoft.com/office/drawing/2014/main" id="{F3191BFE-94E9-45CD-905E-CB9D95F23083}"/>
              </a:ext>
            </a:extLst>
          </p:cNvPr>
          <p:cNvGraphicFramePr>
            <a:graphicFrameLocks noGrp="1"/>
          </p:cNvGraphicFramePr>
          <p:nvPr>
            <p:extLst/>
          </p:nvPr>
        </p:nvGraphicFramePr>
        <p:xfrm>
          <a:off x="1082350" y="2213066"/>
          <a:ext cx="8795300" cy="1066800"/>
        </p:xfrm>
        <a:graphic>
          <a:graphicData uri="http://schemas.openxmlformats.org/drawingml/2006/table">
            <a:tbl>
              <a:tblPr>
                <a:tableStyleId>{69CF1AB2-1976-4502-BF36-3FF5EA218861}</a:tableStyleId>
              </a:tblPr>
              <a:tblGrid>
                <a:gridCol w="1419891">
                  <a:extLst>
                    <a:ext uri="{9D8B030D-6E8A-4147-A177-3AD203B41FA5}">
                      <a16:colId xmlns:a16="http://schemas.microsoft.com/office/drawing/2014/main" val="3144662200"/>
                    </a:ext>
                  </a:extLst>
                </a:gridCol>
                <a:gridCol w="1185414">
                  <a:extLst>
                    <a:ext uri="{9D8B030D-6E8A-4147-A177-3AD203B41FA5}">
                      <a16:colId xmlns:a16="http://schemas.microsoft.com/office/drawing/2014/main" val="2784578547"/>
                    </a:ext>
                  </a:extLst>
                </a:gridCol>
                <a:gridCol w="811368">
                  <a:extLst>
                    <a:ext uri="{9D8B030D-6E8A-4147-A177-3AD203B41FA5}">
                      <a16:colId xmlns:a16="http://schemas.microsoft.com/office/drawing/2014/main" val="1160702949"/>
                    </a:ext>
                  </a:extLst>
                </a:gridCol>
                <a:gridCol w="1819991">
                  <a:extLst>
                    <a:ext uri="{9D8B030D-6E8A-4147-A177-3AD203B41FA5}">
                      <a16:colId xmlns:a16="http://schemas.microsoft.com/office/drawing/2014/main" val="1791808984"/>
                    </a:ext>
                  </a:extLst>
                </a:gridCol>
                <a:gridCol w="677379">
                  <a:extLst>
                    <a:ext uri="{9D8B030D-6E8A-4147-A177-3AD203B41FA5}">
                      <a16:colId xmlns:a16="http://schemas.microsoft.com/office/drawing/2014/main" val="1802808131"/>
                    </a:ext>
                  </a:extLst>
                </a:gridCol>
                <a:gridCol w="2881257">
                  <a:extLst>
                    <a:ext uri="{9D8B030D-6E8A-4147-A177-3AD203B41FA5}">
                      <a16:colId xmlns:a16="http://schemas.microsoft.com/office/drawing/2014/main" val="2711507274"/>
                    </a:ext>
                  </a:extLst>
                </a:gridCol>
              </a:tblGrid>
              <a:tr h="182880">
                <a:tc gridSpan="3">
                  <a:txBody>
                    <a:bodyPr/>
                    <a:lstStyle/>
                    <a:p>
                      <a:pPr algn="l" fontAlgn="b"/>
                      <a:endParaRPr lang="en-US" sz="1100" b="1" i="0" u="none" strike="noStrike" dirty="0">
                        <a:solidFill>
                          <a:srgbClr val="000000"/>
                        </a:solidFill>
                        <a:effectLst/>
                        <a:latin typeface="Calibri" panose="020F0502020204030204" pitchFamily="34" charset="0"/>
                      </a:endParaRPr>
                    </a:p>
                  </a:txBody>
                  <a:tcPr marL="7620" marR="7620" marT="7620" marB="0" anchor="b"/>
                </a:tc>
                <a:tc hMerge="1">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tc hMerge="1">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tc>
                <a:tc gridSpan="3">
                  <a:txBody>
                    <a:bodyPr/>
                    <a:lstStyle/>
                    <a:p>
                      <a:pPr algn="l" fontAlgn="b"/>
                      <a:endParaRPr lang="en-US" sz="1100" b="1" i="0" u="none" strike="noStrike" dirty="0">
                        <a:solidFill>
                          <a:srgbClr val="000000"/>
                        </a:solidFill>
                        <a:effectLst/>
                        <a:latin typeface="Calibri" panose="020F0502020204030204" pitchFamily="34" charset="0"/>
                      </a:endParaRPr>
                    </a:p>
                  </a:txBody>
                  <a:tcPr marL="7620" marR="7620" marT="7620" marB="0" anchor="b"/>
                </a:tc>
                <a:tc hMerge="1">
                  <a:txBody>
                    <a:bodyPr/>
                    <a:lstStyle/>
                    <a:p>
                      <a:endParaRPr lang="en-US"/>
                    </a:p>
                  </a:txBody>
                  <a:tcPr/>
                </a:tc>
                <a:tc hMerge="1">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99476068"/>
                  </a:ext>
                </a:extLst>
              </a:tr>
              <a:tr h="190500">
                <a:tc gridSpan="3">
                  <a:txBody>
                    <a:bodyPr/>
                    <a:lstStyle/>
                    <a:p>
                      <a:pPr algn="l" fontAlgn="ctr"/>
                      <a:r>
                        <a:rPr lang="en-US" sz="1100" u="none" strike="noStrike" dirty="0">
                          <a:effectLst/>
                        </a:rPr>
                        <a:t>HEMA MM </a:t>
                      </a:r>
                      <a:endParaRPr lang="en-US" sz="1100" b="0" i="0" u="none" strike="noStrike" dirty="0">
                        <a:solidFill>
                          <a:srgbClr val="000000"/>
                        </a:solidFill>
                        <a:effectLst/>
                        <a:latin typeface="Calibri" panose="020F0502020204030204" pitchFamily="34" charset="0"/>
                      </a:endParaRPr>
                    </a:p>
                  </a:txBody>
                  <a:tcPr marL="7620" marR="7620" marT="7620" marB="0" anchor="ctr"/>
                </a:tc>
                <a:tc hMerge="1">
                  <a:txBody>
                    <a:bodyPr/>
                    <a:lstStyle/>
                    <a:p>
                      <a:pPr algn="l" fontAlgn="ctr"/>
                      <a:endParaRPr lang="en-US" sz="1100" b="0" i="0" u="none" strike="noStrike" dirty="0">
                        <a:solidFill>
                          <a:srgbClr val="000000"/>
                        </a:solidFill>
                        <a:effectLst/>
                        <a:latin typeface="Calibri" panose="020F0502020204030204" pitchFamily="34" charset="0"/>
                      </a:endParaRPr>
                    </a:p>
                  </a:txBody>
                  <a:tcPr marL="7620" marR="7620" marT="7620" marB="0" anchor="ctr"/>
                </a:tc>
                <a:tc hMerge="1">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tc>
                <a:tc gridSpan="3">
                  <a:txBody>
                    <a:bodyPr/>
                    <a:lstStyle/>
                    <a:p>
                      <a:pPr algn="l" fontAlgn="ctr"/>
                      <a:r>
                        <a:rPr lang="en-US" sz="1100" u="none" strike="noStrike" dirty="0">
                          <a:effectLst/>
                        </a:rPr>
                        <a:t>HEMA LYM</a:t>
                      </a:r>
                      <a:endParaRPr lang="en-US" sz="1100" b="0" i="0" u="none" strike="noStrike" dirty="0">
                        <a:solidFill>
                          <a:srgbClr val="000000"/>
                        </a:solidFill>
                        <a:effectLst/>
                        <a:latin typeface="Calibri" panose="020F0502020204030204" pitchFamily="34" charset="0"/>
                      </a:endParaRPr>
                    </a:p>
                  </a:txBody>
                  <a:tcPr marL="7620" marR="7620" marT="7620" marB="0" anchor="ctr"/>
                </a:tc>
                <a:tc hMerge="1">
                  <a:txBody>
                    <a:bodyPr/>
                    <a:lstStyle/>
                    <a:p>
                      <a:endParaRPr lang="en-US"/>
                    </a:p>
                  </a:txBody>
                  <a:tcPr/>
                </a:tc>
                <a:tc hMerge="1">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14865588"/>
                  </a:ext>
                </a:extLst>
              </a:tr>
              <a:tr h="182880">
                <a:tc>
                  <a:txBody>
                    <a:bodyPr/>
                    <a:lstStyle/>
                    <a:p>
                      <a:pPr algn="l" fontAlgn="b"/>
                      <a:r>
                        <a:rPr lang="en-US" sz="1100" u="none" strike="noStrike">
                          <a:effectLst/>
                        </a:rPr>
                        <a:t>Products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Flag</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Priority</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Products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Flag</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Priority</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86898521"/>
                  </a:ext>
                </a:extLst>
              </a:tr>
              <a:tr h="0">
                <a:tc>
                  <a:txBody>
                    <a:bodyPr/>
                    <a:lstStyle/>
                    <a:p>
                      <a:pPr algn="l" fontAlgn="auto"/>
                      <a:r>
                        <a:rPr lang="en-US" sz="1100" u="none" strike="noStrike" dirty="0">
                          <a:effectLst/>
                        </a:rPr>
                        <a:t>REV MM</a:t>
                      </a:r>
                      <a:br>
                        <a:rPr lang="en-US" sz="1100" u="none" strike="noStrike" dirty="0">
                          <a:effectLst/>
                        </a:rPr>
                      </a:br>
                      <a:r>
                        <a:rPr lang="en-US" sz="1100" u="none" strike="noStrike" dirty="0">
                          <a:effectLst/>
                        </a:rPr>
                        <a:t>POM</a:t>
                      </a:r>
                      <a:br>
                        <a:rPr lang="en-US" sz="1100" u="none" strike="noStrike" dirty="0">
                          <a:effectLst/>
                        </a:rPr>
                      </a:br>
                      <a:r>
                        <a:rPr lang="en-US" sz="1100" u="none" strike="noStrike" dirty="0">
                          <a:effectLst/>
                        </a:rPr>
                        <a:t>EM</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ctr"/>
                      <a:r>
                        <a:rPr lang="en-US" sz="1100" u="none" strike="noStrike">
                          <a:effectLst/>
                        </a:rPr>
                        <a:t>BMS Solo</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dirty="0">
                          <a:effectLst/>
                        </a:rPr>
                        <a:t>1</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dirty="0">
                          <a:effectLst/>
                        </a:rPr>
                        <a:t>REV FL</a:t>
                      </a:r>
                      <a:br>
                        <a:rPr lang="en-US" sz="1100" u="none" strike="noStrike" dirty="0">
                          <a:effectLst/>
                        </a:rPr>
                      </a:br>
                      <a:r>
                        <a:rPr lang="en-US" sz="1100" u="none" strike="noStrike" dirty="0">
                          <a:effectLst/>
                        </a:rPr>
                        <a:t>IST</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dirty="0">
                          <a:effectLst/>
                        </a:rPr>
                        <a:t>BMS Solo</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dirty="0">
                          <a:effectLst/>
                        </a:rPr>
                        <a:t>1</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809799787"/>
                  </a:ext>
                </a:extLst>
              </a:tr>
            </a:tbl>
          </a:graphicData>
        </a:graphic>
      </p:graphicFrame>
      <p:graphicFrame>
        <p:nvGraphicFramePr>
          <p:cNvPr id="7" name="Table 6">
            <a:extLst>
              <a:ext uri="{FF2B5EF4-FFF2-40B4-BE49-F238E27FC236}">
                <a16:creationId xmlns:a16="http://schemas.microsoft.com/office/drawing/2014/main" id="{791162AB-2334-489D-9681-E42FA7F40A37}"/>
              </a:ext>
            </a:extLst>
          </p:cNvPr>
          <p:cNvGraphicFramePr>
            <a:graphicFrameLocks noGrp="1"/>
          </p:cNvGraphicFramePr>
          <p:nvPr>
            <p:extLst/>
          </p:nvPr>
        </p:nvGraphicFramePr>
        <p:xfrm>
          <a:off x="1082350" y="4059742"/>
          <a:ext cx="8795299" cy="1108710"/>
        </p:xfrm>
        <a:graphic>
          <a:graphicData uri="http://schemas.openxmlformats.org/drawingml/2006/table">
            <a:tbl>
              <a:tblPr>
                <a:tableStyleId>{D7AC3CCA-C797-4891-BE02-D94E43425B78}</a:tableStyleId>
              </a:tblPr>
              <a:tblGrid>
                <a:gridCol w="1386075">
                  <a:extLst>
                    <a:ext uri="{9D8B030D-6E8A-4147-A177-3AD203B41FA5}">
                      <a16:colId xmlns:a16="http://schemas.microsoft.com/office/drawing/2014/main" val="2872815862"/>
                    </a:ext>
                  </a:extLst>
                </a:gridCol>
                <a:gridCol w="1181320">
                  <a:extLst>
                    <a:ext uri="{9D8B030D-6E8A-4147-A177-3AD203B41FA5}">
                      <a16:colId xmlns:a16="http://schemas.microsoft.com/office/drawing/2014/main" val="1510804790"/>
                    </a:ext>
                  </a:extLst>
                </a:gridCol>
                <a:gridCol w="812158">
                  <a:extLst>
                    <a:ext uri="{9D8B030D-6E8A-4147-A177-3AD203B41FA5}">
                      <a16:colId xmlns:a16="http://schemas.microsoft.com/office/drawing/2014/main" val="1080865580"/>
                    </a:ext>
                  </a:extLst>
                </a:gridCol>
                <a:gridCol w="1735064">
                  <a:extLst>
                    <a:ext uri="{9D8B030D-6E8A-4147-A177-3AD203B41FA5}">
                      <a16:colId xmlns:a16="http://schemas.microsoft.com/office/drawing/2014/main" val="1565334676"/>
                    </a:ext>
                  </a:extLst>
                </a:gridCol>
                <a:gridCol w="692180">
                  <a:extLst>
                    <a:ext uri="{9D8B030D-6E8A-4147-A177-3AD203B41FA5}">
                      <a16:colId xmlns:a16="http://schemas.microsoft.com/office/drawing/2014/main" val="2277367701"/>
                    </a:ext>
                  </a:extLst>
                </a:gridCol>
                <a:gridCol w="2988502">
                  <a:extLst>
                    <a:ext uri="{9D8B030D-6E8A-4147-A177-3AD203B41FA5}">
                      <a16:colId xmlns:a16="http://schemas.microsoft.com/office/drawing/2014/main" val="2235747985"/>
                    </a:ext>
                  </a:extLst>
                </a:gridCol>
              </a:tblGrid>
              <a:tr h="190500">
                <a:tc gridSpan="3">
                  <a:txBody>
                    <a:bodyPr/>
                    <a:lstStyle/>
                    <a:p>
                      <a:pPr algn="l" fontAlgn="ctr"/>
                      <a:r>
                        <a:rPr lang="en-US" sz="1100" u="none" strike="noStrike" dirty="0">
                          <a:effectLst/>
                        </a:rPr>
                        <a:t>IO MELA</a:t>
                      </a:r>
                      <a:endParaRPr lang="en-US" sz="1100" b="0" i="0" u="none" strike="noStrike" dirty="0">
                        <a:solidFill>
                          <a:srgbClr val="000000"/>
                        </a:solidFill>
                        <a:effectLst/>
                        <a:latin typeface="Calibri" panose="020F0502020204030204" pitchFamily="34" charset="0"/>
                      </a:endParaRPr>
                    </a:p>
                  </a:txBody>
                  <a:tcPr marL="7620" marR="7620" marT="7620" marB="0" anchor="ctr"/>
                </a:tc>
                <a:tc hMerge="1">
                  <a:txBody>
                    <a:bodyPr/>
                    <a:lstStyle/>
                    <a:p>
                      <a:pPr algn="l" fontAlgn="ctr"/>
                      <a:endParaRPr lang="en-US" sz="1100" b="0" i="0" u="none" strike="noStrike">
                        <a:solidFill>
                          <a:srgbClr val="000000"/>
                        </a:solidFill>
                        <a:effectLst/>
                        <a:latin typeface="Calibri" panose="020F0502020204030204" pitchFamily="34" charset="0"/>
                      </a:endParaRPr>
                    </a:p>
                  </a:txBody>
                  <a:tcPr marL="7620" marR="7620" marT="7620" marB="0" anchor="ctr"/>
                </a:tc>
                <a:tc hMerge="1">
                  <a:txBody>
                    <a:bodyPr/>
                    <a:lstStyle/>
                    <a:p>
                      <a:pPr algn="l" fontAlgn="ctr"/>
                      <a:endParaRPr lang="en-US" sz="900" b="0" i="0" u="none" strike="noStrike" dirty="0">
                        <a:solidFill>
                          <a:srgbClr val="000000"/>
                        </a:solidFill>
                        <a:effectLst/>
                        <a:latin typeface="Arial" panose="020B0604020202020204" pitchFamily="34" charset="0"/>
                      </a:endParaRPr>
                    </a:p>
                  </a:txBody>
                  <a:tcPr marL="7620" marR="7620" marT="7620" marB="0" anchor="ctr"/>
                </a:tc>
                <a:tc gridSpan="3">
                  <a:txBody>
                    <a:bodyPr/>
                    <a:lstStyle/>
                    <a:p>
                      <a:pPr algn="l" fontAlgn="ctr"/>
                      <a:r>
                        <a:rPr lang="en-US" sz="1100" u="none" strike="noStrike" dirty="0">
                          <a:effectLst/>
                        </a:rPr>
                        <a:t>IO LC</a:t>
                      </a:r>
                      <a:endParaRPr lang="en-US" sz="1100" b="0" i="0" u="none" strike="noStrike" dirty="0">
                        <a:solidFill>
                          <a:srgbClr val="000000"/>
                        </a:solidFill>
                        <a:effectLst/>
                        <a:latin typeface="Calibri" panose="020F0502020204030204" pitchFamily="34" charset="0"/>
                      </a:endParaRPr>
                    </a:p>
                  </a:txBody>
                  <a:tcPr marL="7620" marR="7620" marT="7620" marB="0" anchor="ctr"/>
                </a:tc>
                <a:tc hMerge="1">
                  <a:txBody>
                    <a:bodyPr/>
                    <a:lstStyle/>
                    <a:p>
                      <a:pPr algn="l" fontAlgn="ctr"/>
                      <a:endParaRPr lang="en-US" sz="1100" b="0" i="0" u="none" strike="noStrike">
                        <a:solidFill>
                          <a:srgbClr val="000000"/>
                        </a:solidFill>
                        <a:effectLst/>
                        <a:latin typeface="Calibri" panose="020F0502020204030204" pitchFamily="34" charset="0"/>
                      </a:endParaRPr>
                    </a:p>
                  </a:txBody>
                  <a:tcPr marL="7620" marR="7620" marT="7620" marB="0" anchor="ctr"/>
                </a:tc>
                <a:tc hMerge="1">
                  <a:txBody>
                    <a:bodyPr/>
                    <a:lstStyle/>
                    <a:p>
                      <a:pPr algn="l" fontAlgn="ctr"/>
                      <a:endParaRPr lang="en-US" sz="900" b="0" i="0" u="none" strike="noStrike" dirty="0">
                        <a:solidFill>
                          <a:srgbClr val="000000"/>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3071520951"/>
                  </a:ext>
                </a:extLst>
              </a:tr>
              <a:tr h="182880">
                <a:tc>
                  <a:txBody>
                    <a:bodyPr/>
                    <a:lstStyle/>
                    <a:p>
                      <a:pPr algn="l" fontAlgn="b"/>
                      <a:r>
                        <a:rPr lang="en-US" sz="1100" u="none" strike="noStrike">
                          <a:effectLst/>
                        </a:rPr>
                        <a:t>Products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Flag</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Priority</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Products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Flag</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Priority</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88437961"/>
                  </a:ext>
                </a:extLst>
              </a:tr>
              <a:tr h="180975">
                <a:tc rowSpan="3">
                  <a:txBody>
                    <a:bodyPr/>
                    <a:lstStyle/>
                    <a:p>
                      <a:pPr algn="l" fontAlgn="ctr"/>
                      <a:r>
                        <a:rPr lang="en-US" sz="1100" u="none" strike="noStrike">
                          <a:effectLst/>
                        </a:rPr>
                        <a:t>OP MELA</a:t>
                      </a:r>
                      <a:br>
                        <a:rPr lang="en-US" sz="1100" u="none" strike="noStrike">
                          <a:effectLst/>
                        </a:rPr>
                      </a:br>
                      <a:r>
                        <a:rPr lang="en-US" sz="1100" u="none" strike="noStrike">
                          <a:effectLst/>
                        </a:rPr>
                        <a:t>OPYV MELA</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BMS Solo</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7620" marR="7620" marT="7620" marB="0" anchor="ctr"/>
                </a:tc>
                <a:tc rowSpan="3">
                  <a:txBody>
                    <a:bodyPr/>
                    <a:lstStyle/>
                    <a:p>
                      <a:pPr algn="l" fontAlgn="ctr"/>
                      <a:r>
                        <a:rPr lang="en-US" sz="1100" u="none" strike="noStrike" dirty="0">
                          <a:effectLst/>
                        </a:rPr>
                        <a:t>OP LC</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dirty="0">
                          <a:effectLst/>
                        </a:rPr>
                        <a:t>BMS Solo</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001680911"/>
                  </a:ext>
                </a:extLst>
              </a:tr>
              <a:tr h="373380">
                <a:tc vMerge="1">
                  <a:txBody>
                    <a:bodyPr/>
                    <a:lstStyle/>
                    <a:p>
                      <a:endParaRPr lang="en-US"/>
                    </a:p>
                  </a:txBody>
                  <a:tcPr/>
                </a:tc>
                <a:tc>
                  <a:txBody>
                    <a:bodyPr/>
                    <a:lstStyle/>
                    <a:p>
                      <a:pPr algn="l" fontAlgn="t"/>
                      <a:r>
                        <a:rPr lang="en-US" sz="1100" u="none" strike="noStrike">
                          <a:effectLst/>
                        </a:rPr>
                        <a:t>Co-Pro Solo</a:t>
                      </a:r>
                      <a:endParaRPr lang="en-US" sz="1100" b="0" i="0" u="none" strike="noStrike">
                        <a:solidFill>
                          <a:srgbClr val="000000"/>
                        </a:solidFill>
                        <a:effectLst/>
                        <a:latin typeface="Calibri" panose="020F0502020204030204" pitchFamily="34" charset="0"/>
                      </a:endParaRPr>
                    </a:p>
                  </a:txBody>
                  <a:tcPr marL="7620" marR="7620" marT="7620" marB="0"/>
                </a:tc>
                <a:tc>
                  <a:txBody>
                    <a:bodyPr/>
                    <a:lstStyle/>
                    <a:p>
                      <a:pPr algn="l" fontAlgn="ctr"/>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7620" marR="7620" marT="7620" marB="0" anchor="ctr"/>
                </a:tc>
                <a:tc vMerge="1">
                  <a:txBody>
                    <a:bodyPr/>
                    <a:lstStyle/>
                    <a:p>
                      <a:endParaRPr lang="en-US"/>
                    </a:p>
                  </a:txBody>
                  <a:tcPr/>
                </a:tc>
                <a:tc>
                  <a:txBody>
                    <a:bodyPr/>
                    <a:lstStyle/>
                    <a:p>
                      <a:pPr algn="l" fontAlgn="t"/>
                      <a:r>
                        <a:rPr lang="en-US" sz="1100" u="none" strike="noStrike" dirty="0">
                          <a:effectLst/>
                        </a:rPr>
                        <a:t>Co-Pro Solo</a:t>
                      </a:r>
                      <a:endParaRPr lang="en-US" sz="1100" b="0" i="0" u="none" strike="noStrike" dirty="0">
                        <a:solidFill>
                          <a:srgbClr val="000000"/>
                        </a:solidFill>
                        <a:effectLst/>
                        <a:latin typeface="Calibri" panose="020F0502020204030204" pitchFamily="34" charset="0"/>
                      </a:endParaRPr>
                    </a:p>
                  </a:txBody>
                  <a:tcPr marL="7620" marR="7620" marT="7620" marB="0"/>
                </a:tc>
                <a:tc>
                  <a:txBody>
                    <a:bodyPr/>
                    <a:lstStyle/>
                    <a:p>
                      <a:pPr algn="l" fontAlgn="ctr"/>
                      <a:r>
                        <a:rPr lang="en-US" sz="1100" u="none" strike="noStrike" dirty="0">
                          <a:effectLst/>
                        </a:rPr>
                        <a:t>3</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208779285"/>
                  </a:ext>
                </a:extLst>
              </a:tr>
              <a:tr h="180975">
                <a:tc vMerge="1">
                  <a:txBody>
                    <a:bodyPr/>
                    <a:lstStyle/>
                    <a:p>
                      <a:endParaRPr lang="en-US"/>
                    </a:p>
                  </a:txBody>
                  <a:tcPr/>
                </a:tc>
                <a:tc>
                  <a:txBody>
                    <a:bodyPr/>
                    <a:lstStyle/>
                    <a:p>
                      <a:pPr algn="l" fontAlgn="b"/>
                      <a:r>
                        <a:rPr lang="en-US" sz="1100" u="none" strike="noStrike">
                          <a:effectLst/>
                        </a:rPr>
                        <a:t>Co-Visit</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ctr"/>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ctr"/>
                </a:tc>
                <a:tc vMerge="1">
                  <a:txBody>
                    <a:bodyPr/>
                    <a:lstStyle/>
                    <a:p>
                      <a:endParaRPr lang="en-US"/>
                    </a:p>
                  </a:txBody>
                  <a:tcPr/>
                </a:tc>
                <a:tc>
                  <a:txBody>
                    <a:bodyPr/>
                    <a:lstStyle/>
                    <a:p>
                      <a:pPr algn="l" fontAlgn="b"/>
                      <a:r>
                        <a:rPr lang="en-US" sz="1100" u="none" strike="noStrike">
                          <a:effectLst/>
                        </a:rPr>
                        <a:t>Co-Visit</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ctr"/>
                      <a:r>
                        <a:rPr lang="en-US" sz="1100" u="none" strike="noStrike" dirty="0">
                          <a:effectLst/>
                        </a:rPr>
                        <a:t>1</a:t>
                      </a:r>
                      <a:endParaRPr lang="en-US"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921953812"/>
                  </a:ext>
                </a:extLst>
              </a:tr>
            </a:tbl>
          </a:graphicData>
        </a:graphic>
      </p:graphicFrame>
      <p:sp>
        <p:nvSpPr>
          <p:cNvPr id="8" name="TextBox 7">
            <a:extLst>
              <a:ext uri="{FF2B5EF4-FFF2-40B4-BE49-F238E27FC236}">
                <a16:creationId xmlns:a16="http://schemas.microsoft.com/office/drawing/2014/main" id="{3AB469BC-E874-43D3-86E8-8E50510DD38A}"/>
              </a:ext>
            </a:extLst>
          </p:cNvPr>
          <p:cNvSpPr txBox="1"/>
          <p:nvPr/>
        </p:nvSpPr>
        <p:spPr>
          <a:xfrm>
            <a:off x="1082350" y="3536302"/>
            <a:ext cx="3750907" cy="317241"/>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r>
              <a:rPr lang="en-US" sz="2000" dirty="0"/>
              <a:t>ONC Product Groups</a:t>
            </a:r>
          </a:p>
        </p:txBody>
      </p:sp>
      <p:sp>
        <p:nvSpPr>
          <p:cNvPr id="11" name="Rectangle 10">
            <a:extLst>
              <a:ext uri="{FF2B5EF4-FFF2-40B4-BE49-F238E27FC236}">
                <a16:creationId xmlns:a16="http://schemas.microsoft.com/office/drawing/2014/main" id="{14446AB3-F3AC-4A9F-AA76-37E02D64A34A}"/>
              </a:ext>
            </a:extLst>
          </p:cNvPr>
          <p:cNvSpPr/>
          <p:nvPr/>
        </p:nvSpPr>
        <p:spPr>
          <a:xfrm>
            <a:off x="0" y="25946"/>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ctr"/>
            <a:r>
              <a:rPr lang="en-US" sz="2000" dirty="0">
                <a:solidFill>
                  <a:schemeClr val="accent2">
                    <a:lumMod val="75000"/>
                  </a:schemeClr>
                </a:solidFill>
              </a:rPr>
              <a:t>Add new items and logic for counting Myeloma and Lymphoma detail activities </a:t>
            </a:r>
          </a:p>
          <a:p>
            <a:pPr algn="ctr">
              <a:lnSpc>
                <a:spcPct val="100000"/>
              </a:lnSpc>
            </a:pPr>
            <a:endParaRPr lang="en-US" sz="2000" dirty="0"/>
          </a:p>
        </p:txBody>
      </p:sp>
      <p:sp>
        <p:nvSpPr>
          <p:cNvPr id="5" name="Slide Number Placeholder 4">
            <a:extLst>
              <a:ext uri="{FF2B5EF4-FFF2-40B4-BE49-F238E27FC236}">
                <a16:creationId xmlns:a16="http://schemas.microsoft.com/office/drawing/2014/main" id="{BE4C2B7A-DC57-4A7A-A773-B5C675BF2665}"/>
              </a:ext>
            </a:extLst>
          </p:cNvPr>
          <p:cNvSpPr>
            <a:spLocks noGrp="1"/>
          </p:cNvSpPr>
          <p:nvPr>
            <p:ph type="sldNum" sz="quarter" idx="12"/>
          </p:nvPr>
        </p:nvSpPr>
        <p:spPr/>
        <p:txBody>
          <a:bodyPr/>
          <a:lstStyle/>
          <a:p>
            <a:fld id="{B58DE5F1-E0F9-4CCA-92B7-7A6FC4DFEE14}" type="slidenum">
              <a:rPr lang="en-US" smtClean="0"/>
              <a:t>18</a:t>
            </a:fld>
            <a:endParaRPr lang="en-US" dirty="0"/>
          </a:p>
        </p:txBody>
      </p:sp>
    </p:spTree>
    <p:extLst>
      <p:ext uri="{BB962C8B-B14F-4D97-AF65-F5344CB8AC3E}">
        <p14:creationId xmlns:p14="http://schemas.microsoft.com/office/powerpoint/2010/main" val="236894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Add new items and logic for counting Myeloma and Lymphoma detail activities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2" name="TextBox 1">
            <a:extLst>
              <a:ext uri="{FF2B5EF4-FFF2-40B4-BE49-F238E27FC236}">
                <a16:creationId xmlns:a16="http://schemas.microsoft.com/office/drawing/2014/main" id="{27E36F4B-402F-4A06-93F9-9C0901CC7DE3}"/>
              </a:ext>
            </a:extLst>
          </p:cNvPr>
          <p:cNvSpPr txBox="1"/>
          <p:nvPr/>
        </p:nvSpPr>
        <p:spPr>
          <a:xfrm>
            <a:off x="670560" y="1821180"/>
            <a:ext cx="10256520" cy="3246120"/>
          </a:xfrm>
          <a:prstGeom prst="rect">
            <a:avLst/>
          </a:prstGeom>
          <a:noFill/>
        </p:spPr>
        <p:txBody>
          <a:bodyPr wrap="square" lIns="0" tIns="0" rIns="0" bIns="0" rtlCol="0">
            <a:noAutofit/>
          </a:bodyPr>
          <a:lstStyle/>
          <a:p>
            <a:pPr marL="685800" lvl="1" indent="-228600">
              <a:spcBef>
                <a:spcPts val="1200"/>
              </a:spcBef>
              <a:buSzPct val="100000"/>
              <a:buFont typeface="Trebuchet MS"/>
              <a:buChar char="•"/>
            </a:pPr>
            <a:r>
              <a:rPr lang="en-US" sz="2000" dirty="0"/>
              <a:t>HEMA Product Groups:</a:t>
            </a:r>
          </a:p>
        </p:txBody>
      </p:sp>
      <p:sp>
        <p:nvSpPr>
          <p:cNvPr id="4" name="TextBox 3">
            <a:extLst>
              <a:ext uri="{FF2B5EF4-FFF2-40B4-BE49-F238E27FC236}">
                <a16:creationId xmlns:a16="http://schemas.microsoft.com/office/drawing/2014/main" id="{0CC5E6F6-23AF-40C7-A4D4-DA43EEC0CA82}"/>
              </a:ext>
            </a:extLst>
          </p:cNvPr>
          <p:cNvSpPr txBox="1"/>
          <p:nvPr/>
        </p:nvSpPr>
        <p:spPr>
          <a:xfrm>
            <a:off x="1082350" y="1573780"/>
            <a:ext cx="6960637" cy="391886"/>
          </a:xfrm>
          <a:prstGeom prst="rect">
            <a:avLst/>
          </a:prstGeom>
          <a:noFill/>
        </p:spPr>
        <p:txBody>
          <a:bodyPr wrap="square" lIns="0" tIns="0" rIns="0" bIns="0" rtlCol="0">
            <a:noAutofit/>
          </a:bodyPr>
          <a:lstStyle/>
          <a:p>
            <a:pPr>
              <a:lnSpc>
                <a:spcPct val="100000"/>
              </a:lnSpc>
              <a:spcBef>
                <a:spcPts val="1200"/>
              </a:spcBef>
              <a:buSzPct val="100000"/>
            </a:pPr>
            <a:r>
              <a:rPr lang="en-US" dirty="0"/>
              <a:t>Priority Tier List</a:t>
            </a:r>
            <a:endParaRPr lang="en-US" sz="2000" dirty="0"/>
          </a:p>
          <a:p>
            <a:pPr>
              <a:lnSpc>
                <a:spcPct val="100000"/>
              </a:lnSpc>
              <a:spcBef>
                <a:spcPts val="1200"/>
              </a:spcBef>
              <a:buSzPct val="100000"/>
            </a:pPr>
            <a:endParaRPr lang="en-US" sz="2000" b="1" u="sng" dirty="0"/>
          </a:p>
        </p:txBody>
      </p:sp>
      <p:graphicFrame>
        <p:nvGraphicFramePr>
          <p:cNvPr id="5" name="Table 4">
            <a:extLst>
              <a:ext uri="{FF2B5EF4-FFF2-40B4-BE49-F238E27FC236}">
                <a16:creationId xmlns:a16="http://schemas.microsoft.com/office/drawing/2014/main" id="{9861848F-6ED1-4237-8BB8-1607CDFACEE0}"/>
              </a:ext>
            </a:extLst>
          </p:cNvPr>
          <p:cNvGraphicFramePr>
            <a:graphicFrameLocks noGrp="1"/>
          </p:cNvGraphicFramePr>
          <p:nvPr>
            <p:extLst/>
          </p:nvPr>
        </p:nvGraphicFramePr>
        <p:xfrm>
          <a:off x="1063690" y="2307664"/>
          <a:ext cx="8795298" cy="1308735"/>
        </p:xfrm>
        <a:graphic>
          <a:graphicData uri="http://schemas.openxmlformats.org/drawingml/2006/table">
            <a:tbl>
              <a:tblPr>
                <a:tableStyleId>{D7AC3CCA-C797-4891-BE02-D94E43425B78}</a:tableStyleId>
              </a:tblPr>
              <a:tblGrid>
                <a:gridCol w="1380930">
                  <a:extLst>
                    <a:ext uri="{9D8B030D-6E8A-4147-A177-3AD203B41FA5}">
                      <a16:colId xmlns:a16="http://schemas.microsoft.com/office/drawing/2014/main" val="3425682322"/>
                    </a:ext>
                  </a:extLst>
                </a:gridCol>
                <a:gridCol w="1129004">
                  <a:extLst>
                    <a:ext uri="{9D8B030D-6E8A-4147-A177-3AD203B41FA5}">
                      <a16:colId xmlns:a16="http://schemas.microsoft.com/office/drawing/2014/main" val="3082716593"/>
                    </a:ext>
                  </a:extLst>
                </a:gridCol>
                <a:gridCol w="1464907">
                  <a:extLst>
                    <a:ext uri="{9D8B030D-6E8A-4147-A177-3AD203B41FA5}">
                      <a16:colId xmlns:a16="http://schemas.microsoft.com/office/drawing/2014/main" val="1810188222"/>
                    </a:ext>
                  </a:extLst>
                </a:gridCol>
                <a:gridCol w="1623526">
                  <a:extLst>
                    <a:ext uri="{9D8B030D-6E8A-4147-A177-3AD203B41FA5}">
                      <a16:colId xmlns:a16="http://schemas.microsoft.com/office/drawing/2014/main" val="3831836145"/>
                    </a:ext>
                  </a:extLst>
                </a:gridCol>
                <a:gridCol w="1259633">
                  <a:extLst>
                    <a:ext uri="{9D8B030D-6E8A-4147-A177-3AD203B41FA5}">
                      <a16:colId xmlns:a16="http://schemas.microsoft.com/office/drawing/2014/main" val="2823816056"/>
                    </a:ext>
                  </a:extLst>
                </a:gridCol>
                <a:gridCol w="1937298">
                  <a:extLst>
                    <a:ext uri="{9D8B030D-6E8A-4147-A177-3AD203B41FA5}">
                      <a16:colId xmlns:a16="http://schemas.microsoft.com/office/drawing/2014/main" val="3375472328"/>
                    </a:ext>
                  </a:extLst>
                </a:gridCol>
              </a:tblGrid>
              <a:tr h="190500">
                <a:tc>
                  <a:txBody>
                    <a:bodyPr/>
                    <a:lstStyle/>
                    <a:p>
                      <a:pPr algn="l" fontAlgn="ctr"/>
                      <a:r>
                        <a:rPr lang="en-US" sz="1100" u="none" strike="noStrike" dirty="0">
                          <a:effectLst/>
                        </a:rPr>
                        <a:t>HEMA MM</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tc gridSpan="2">
                  <a:txBody>
                    <a:bodyPr/>
                    <a:lstStyle/>
                    <a:p>
                      <a:pPr algn="l" fontAlgn="ctr"/>
                      <a:r>
                        <a:rPr lang="en-US" sz="1100" u="none" strike="noStrike">
                          <a:effectLst/>
                        </a:rPr>
                        <a:t>HEMA LYM</a:t>
                      </a:r>
                      <a:endParaRPr lang="en-US" sz="1100" b="0" i="0" u="none" strike="noStrike">
                        <a:solidFill>
                          <a:srgbClr val="000000"/>
                        </a:solidFill>
                        <a:effectLst/>
                        <a:latin typeface="Calibri" panose="020F0502020204030204" pitchFamily="34" charset="0"/>
                      </a:endParaRPr>
                    </a:p>
                  </a:txBody>
                  <a:tcPr marL="7620" marR="7620" marT="7620" marB="0" anchor="ctr"/>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73352526"/>
                  </a:ext>
                </a:extLst>
              </a:tr>
              <a:tr h="182880">
                <a:tc>
                  <a:txBody>
                    <a:bodyPr/>
                    <a:lstStyle/>
                    <a:p>
                      <a:pPr algn="l" fontAlgn="b"/>
                      <a:r>
                        <a:rPr lang="en-US" sz="1100" u="none" strike="noStrike" dirty="0">
                          <a:effectLst/>
                        </a:rPr>
                        <a:t>Products</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Institution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Priority</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Products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Institution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Priority</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40273626"/>
                  </a:ext>
                </a:extLst>
              </a:tr>
              <a:tr h="180975">
                <a:tc rowSpan="5">
                  <a:txBody>
                    <a:bodyPr/>
                    <a:lstStyle/>
                    <a:p>
                      <a:pPr algn="l" fontAlgn="ctr"/>
                      <a:r>
                        <a:rPr lang="en-US" sz="1100" u="none" strike="noStrike" dirty="0">
                          <a:effectLst/>
                        </a:rPr>
                        <a:t>REV MM</a:t>
                      </a:r>
                      <a:br>
                        <a:rPr lang="en-US" sz="1100" u="none" strike="noStrike" dirty="0">
                          <a:effectLst/>
                        </a:rPr>
                      </a:br>
                      <a:r>
                        <a:rPr lang="en-US" sz="1100" u="none" strike="noStrike" dirty="0">
                          <a:effectLst/>
                        </a:rPr>
                        <a:t>POM</a:t>
                      </a:r>
                      <a:br>
                        <a:rPr lang="en-US" sz="1100" u="none" strike="noStrike" dirty="0">
                          <a:effectLst/>
                        </a:rPr>
                      </a:br>
                      <a:r>
                        <a:rPr lang="en-US" sz="1100" u="none" strike="noStrike" dirty="0">
                          <a:effectLst/>
                        </a:rPr>
                        <a:t>EM</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T1</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tc rowSpan="3">
                  <a:txBody>
                    <a:bodyPr/>
                    <a:lstStyle/>
                    <a:p>
                      <a:pPr algn="l" fontAlgn="ctr"/>
                      <a:r>
                        <a:rPr lang="en-US" sz="1100" u="none" strike="noStrike">
                          <a:effectLst/>
                        </a:rPr>
                        <a:t>REV FL</a:t>
                      </a:r>
                      <a:br>
                        <a:rPr lang="en-US" sz="1100" u="none" strike="noStrike">
                          <a:effectLst/>
                        </a:rPr>
                      </a:br>
                      <a:r>
                        <a:rPr lang="en-US" sz="1100" u="none" strike="noStrike">
                          <a:effectLst/>
                        </a:rPr>
                        <a:t>IST</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T1</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38233112"/>
                  </a:ext>
                </a:extLst>
              </a:tr>
              <a:tr h="182880">
                <a:tc vMerge="1">
                  <a:txBody>
                    <a:bodyPr/>
                    <a:lstStyle/>
                    <a:p>
                      <a:endParaRPr lang="en-US"/>
                    </a:p>
                  </a:txBody>
                  <a:tcPr/>
                </a:tc>
                <a:tc>
                  <a:txBody>
                    <a:bodyPr/>
                    <a:lstStyle/>
                    <a:p>
                      <a:pPr algn="l" fontAlgn="t"/>
                      <a:r>
                        <a:rPr lang="en-US" sz="1100" u="none" strike="noStrike">
                          <a:effectLst/>
                        </a:rPr>
                        <a:t>T2</a:t>
                      </a:r>
                      <a:endParaRPr lang="en-US" sz="1100" b="0" i="0" u="none" strike="noStrike">
                        <a:solidFill>
                          <a:srgbClr val="000000"/>
                        </a:solidFill>
                        <a:effectLst/>
                        <a:latin typeface="Calibri" panose="020F0502020204030204" pitchFamily="34" charset="0"/>
                      </a:endParaRPr>
                    </a:p>
                  </a:txBody>
                  <a:tcPr marL="7620" marR="7620" marT="7620" marB="0"/>
                </a:tc>
                <a:tc>
                  <a:txBody>
                    <a:bodyPr/>
                    <a:lstStyle/>
                    <a:p>
                      <a:pPr algn="l"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7620" marR="7620" marT="7620" marB="0" anchor="b"/>
                </a:tc>
                <a:tc vMerge="1">
                  <a:txBody>
                    <a:bodyPr/>
                    <a:lstStyle/>
                    <a:p>
                      <a:endParaRPr lang="en-US"/>
                    </a:p>
                  </a:txBody>
                  <a:tcPr/>
                </a:tc>
                <a:tc>
                  <a:txBody>
                    <a:bodyPr/>
                    <a:lstStyle/>
                    <a:p>
                      <a:pPr algn="l" fontAlgn="t"/>
                      <a:r>
                        <a:rPr lang="en-US" sz="1100" u="none" strike="noStrike">
                          <a:effectLst/>
                        </a:rPr>
                        <a:t>T2</a:t>
                      </a:r>
                      <a:endParaRPr lang="en-US" sz="1100" b="0" i="0" u="none" strike="noStrike">
                        <a:solidFill>
                          <a:srgbClr val="000000"/>
                        </a:solidFill>
                        <a:effectLst/>
                        <a:latin typeface="Calibri" panose="020F0502020204030204" pitchFamily="34" charset="0"/>
                      </a:endParaRPr>
                    </a:p>
                  </a:txBody>
                  <a:tcPr marL="7620" marR="7620" marT="7620" marB="0"/>
                </a:tc>
                <a:tc>
                  <a:txBody>
                    <a:bodyPr/>
                    <a:lstStyle/>
                    <a:p>
                      <a:pPr algn="l"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73047921"/>
                  </a:ext>
                </a:extLst>
              </a:tr>
              <a:tr h="190500">
                <a:tc vMerge="1">
                  <a:txBody>
                    <a:bodyPr/>
                    <a:lstStyle/>
                    <a:p>
                      <a:endParaRPr lang="en-US"/>
                    </a:p>
                  </a:txBody>
                  <a:tcPr/>
                </a:tc>
                <a:tc>
                  <a:txBody>
                    <a:bodyPr/>
                    <a:lstStyle/>
                    <a:p>
                      <a:pPr algn="l" fontAlgn="b"/>
                      <a:r>
                        <a:rPr lang="en-US" sz="1100" u="none" strike="noStrike" dirty="0">
                          <a:effectLst/>
                        </a:rPr>
                        <a:t>T3</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3</a:t>
                      </a:r>
                      <a:endParaRPr lang="en-US" sz="1100" b="0" i="0" u="none" strike="noStrike" dirty="0">
                        <a:solidFill>
                          <a:srgbClr val="000000"/>
                        </a:solidFill>
                        <a:effectLst/>
                        <a:latin typeface="Calibri" panose="020F0502020204030204" pitchFamily="34" charset="0"/>
                      </a:endParaRPr>
                    </a:p>
                  </a:txBody>
                  <a:tcPr marL="7620" marR="7620" marT="7620" marB="0" anchor="b"/>
                </a:tc>
                <a:tc vMerge="1">
                  <a:txBody>
                    <a:bodyPr/>
                    <a:lstStyle/>
                    <a:p>
                      <a:endParaRPr lang="en-US"/>
                    </a:p>
                  </a:txBody>
                  <a:tcPr/>
                </a:tc>
                <a:tc>
                  <a:txBody>
                    <a:bodyPr/>
                    <a:lstStyle/>
                    <a:p>
                      <a:pPr algn="l" fontAlgn="b"/>
                      <a:r>
                        <a:rPr lang="en-US" sz="1100" u="none" strike="noStrike">
                          <a:effectLst/>
                        </a:rPr>
                        <a:t>T3</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3</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11715476"/>
                  </a:ext>
                </a:extLst>
              </a:tr>
              <a:tr h="190500">
                <a:tc vMerge="1">
                  <a:txBody>
                    <a:bodyPr/>
                    <a:lstStyle/>
                    <a:p>
                      <a:endParaRPr lang="en-US"/>
                    </a:p>
                  </a:txBody>
                  <a:tcPr/>
                </a:tc>
                <a:tc>
                  <a:txBody>
                    <a:bodyPr/>
                    <a:lstStyle/>
                    <a:p>
                      <a:pPr algn="l" fontAlgn="b"/>
                      <a:r>
                        <a:rPr lang="en-US" sz="1100" u="none" strike="noStrike" dirty="0">
                          <a:effectLst/>
                        </a:rPr>
                        <a:t>T4</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4</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ct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96658087"/>
                  </a:ext>
                </a:extLst>
              </a:tr>
              <a:tr h="190500">
                <a:tc vMerge="1">
                  <a:txBody>
                    <a:bodyPr/>
                    <a:lstStyle/>
                    <a:p>
                      <a:endParaRPr lang="en-US"/>
                    </a:p>
                  </a:txBody>
                  <a:tcPr/>
                </a:tc>
                <a:tc>
                  <a:txBody>
                    <a:bodyPr/>
                    <a:lstStyle/>
                    <a:p>
                      <a:pPr algn="l" fontAlgn="b"/>
                      <a:r>
                        <a:rPr lang="en-US" sz="1100" u="none" strike="noStrike">
                          <a:effectLst/>
                        </a:rPr>
                        <a:t>T5</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5</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ct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53688792"/>
                  </a:ext>
                </a:extLst>
              </a:tr>
            </a:tbl>
          </a:graphicData>
        </a:graphic>
      </p:graphicFrame>
      <p:graphicFrame>
        <p:nvGraphicFramePr>
          <p:cNvPr id="6" name="Table 5">
            <a:extLst>
              <a:ext uri="{FF2B5EF4-FFF2-40B4-BE49-F238E27FC236}">
                <a16:creationId xmlns:a16="http://schemas.microsoft.com/office/drawing/2014/main" id="{71610DC7-7392-4411-9044-C992657DED78}"/>
              </a:ext>
            </a:extLst>
          </p:cNvPr>
          <p:cNvGraphicFramePr>
            <a:graphicFrameLocks noGrp="1"/>
          </p:cNvGraphicFramePr>
          <p:nvPr>
            <p:extLst/>
          </p:nvPr>
        </p:nvGraphicFramePr>
        <p:xfrm>
          <a:off x="1082350" y="4317682"/>
          <a:ext cx="3898900" cy="1499235"/>
        </p:xfrm>
        <a:graphic>
          <a:graphicData uri="http://schemas.openxmlformats.org/drawingml/2006/table">
            <a:tbl>
              <a:tblPr>
                <a:tableStyleId>{D7AC3CCA-C797-4891-BE02-D94E43425B78}</a:tableStyleId>
              </a:tblPr>
              <a:tblGrid>
                <a:gridCol w="1498600">
                  <a:extLst>
                    <a:ext uri="{9D8B030D-6E8A-4147-A177-3AD203B41FA5}">
                      <a16:colId xmlns:a16="http://schemas.microsoft.com/office/drawing/2014/main" val="2309820476"/>
                    </a:ext>
                  </a:extLst>
                </a:gridCol>
                <a:gridCol w="1257300">
                  <a:extLst>
                    <a:ext uri="{9D8B030D-6E8A-4147-A177-3AD203B41FA5}">
                      <a16:colId xmlns:a16="http://schemas.microsoft.com/office/drawing/2014/main" val="617079867"/>
                    </a:ext>
                  </a:extLst>
                </a:gridCol>
                <a:gridCol w="1143000">
                  <a:extLst>
                    <a:ext uri="{9D8B030D-6E8A-4147-A177-3AD203B41FA5}">
                      <a16:colId xmlns:a16="http://schemas.microsoft.com/office/drawing/2014/main" val="3526335761"/>
                    </a:ext>
                  </a:extLst>
                </a:gridCol>
              </a:tblGrid>
              <a:tr h="190500">
                <a:tc>
                  <a:txBody>
                    <a:bodyPr/>
                    <a:lstStyle/>
                    <a:p>
                      <a:pPr algn="l" fontAlgn="ctr"/>
                      <a:r>
                        <a:rPr lang="en-US" sz="1100" u="none" strike="noStrike">
                          <a:effectLst/>
                        </a:rPr>
                        <a:t>IO LC</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endParaRPr lang="en-US" sz="900" b="0" i="0" u="none" strike="noStrike">
                        <a:solidFill>
                          <a:srgbClr val="000000"/>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9905006"/>
                  </a:ext>
                </a:extLst>
              </a:tr>
              <a:tr h="182880">
                <a:tc>
                  <a:txBody>
                    <a:bodyPr/>
                    <a:lstStyle/>
                    <a:p>
                      <a:pPr algn="l" fontAlgn="b"/>
                      <a:r>
                        <a:rPr lang="en-US" sz="1100" u="none" strike="noStrike">
                          <a:effectLst/>
                        </a:rPr>
                        <a:t>Products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Institution</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Priority</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4206236"/>
                  </a:ext>
                </a:extLst>
              </a:tr>
              <a:tr h="180975">
                <a:tc rowSpan="6">
                  <a:txBody>
                    <a:bodyPr/>
                    <a:lstStyle/>
                    <a:p>
                      <a:pPr algn="l" fontAlgn="ctr"/>
                      <a:r>
                        <a:rPr lang="en-US" sz="1100" u="none" strike="noStrike">
                          <a:effectLst/>
                        </a:rPr>
                        <a:t>OP LC</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T1</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95588626"/>
                  </a:ext>
                </a:extLst>
              </a:tr>
              <a:tr h="182880">
                <a:tc vMerge="1">
                  <a:txBody>
                    <a:bodyPr/>
                    <a:lstStyle/>
                    <a:p>
                      <a:endParaRPr lang="en-US"/>
                    </a:p>
                  </a:txBody>
                  <a:tcPr/>
                </a:tc>
                <a:tc>
                  <a:txBody>
                    <a:bodyPr/>
                    <a:lstStyle/>
                    <a:p>
                      <a:pPr algn="l" fontAlgn="t"/>
                      <a:r>
                        <a:rPr lang="en-US" sz="1100" u="none" strike="noStrike">
                          <a:effectLst/>
                        </a:rPr>
                        <a:t>T2</a:t>
                      </a:r>
                      <a:endParaRPr lang="en-US" sz="1100" b="0" i="0" u="none" strike="noStrike">
                        <a:solidFill>
                          <a:srgbClr val="000000"/>
                        </a:solidFill>
                        <a:effectLst/>
                        <a:latin typeface="Calibri" panose="020F0502020204030204" pitchFamily="34" charset="0"/>
                      </a:endParaRPr>
                    </a:p>
                  </a:txBody>
                  <a:tcPr marL="7620" marR="7620" marT="7620" marB="0"/>
                </a:tc>
                <a:tc>
                  <a:txBody>
                    <a:bodyPr/>
                    <a:lstStyle/>
                    <a:p>
                      <a:pPr algn="r"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93611812"/>
                  </a:ext>
                </a:extLst>
              </a:tr>
              <a:tr h="190500">
                <a:tc vMerge="1">
                  <a:txBody>
                    <a:bodyPr/>
                    <a:lstStyle/>
                    <a:p>
                      <a:endParaRPr lang="en-US"/>
                    </a:p>
                  </a:txBody>
                  <a:tcPr/>
                </a:tc>
                <a:tc>
                  <a:txBody>
                    <a:bodyPr/>
                    <a:lstStyle/>
                    <a:p>
                      <a:pPr algn="l" fontAlgn="b"/>
                      <a:r>
                        <a:rPr lang="en-US" sz="1100" u="none" strike="noStrike">
                          <a:effectLst/>
                        </a:rPr>
                        <a:t>T3</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33158064"/>
                  </a:ext>
                </a:extLst>
              </a:tr>
              <a:tr h="190500">
                <a:tc vMerge="1">
                  <a:txBody>
                    <a:bodyPr/>
                    <a:lstStyle/>
                    <a:p>
                      <a:endParaRPr lang="en-US"/>
                    </a:p>
                  </a:txBody>
                  <a:tcPr/>
                </a:tc>
                <a:tc>
                  <a:txBody>
                    <a:bodyPr/>
                    <a:lstStyle/>
                    <a:p>
                      <a:pPr algn="l" fontAlgn="b"/>
                      <a:r>
                        <a:rPr lang="en-US" sz="1100" u="none" strike="noStrike">
                          <a:effectLst/>
                        </a:rPr>
                        <a:t>T4</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62436395"/>
                  </a:ext>
                </a:extLst>
              </a:tr>
              <a:tr h="190500">
                <a:tc vMerge="1">
                  <a:txBody>
                    <a:bodyPr/>
                    <a:lstStyle/>
                    <a:p>
                      <a:endParaRPr lang="en-US"/>
                    </a:p>
                  </a:txBody>
                  <a:tcPr/>
                </a:tc>
                <a:tc>
                  <a:txBody>
                    <a:bodyPr/>
                    <a:lstStyle/>
                    <a:p>
                      <a:pPr algn="l" fontAlgn="b"/>
                      <a:r>
                        <a:rPr lang="en-US" sz="1100" u="none" strike="noStrike">
                          <a:effectLst/>
                        </a:rPr>
                        <a:t>T5a</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17087608"/>
                  </a:ext>
                </a:extLst>
              </a:tr>
              <a:tr h="190500">
                <a:tc vMerge="1">
                  <a:txBody>
                    <a:bodyPr/>
                    <a:lstStyle/>
                    <a:p>
                      <a:endParaRPr lang="en-US"/>
                    </a:p>
                  </a:txBody>
                  <a:tcPr/>
                </a:tc>
                <a:tc>
                  <a:txBody>
                    <a:bodyPr/>
                    <a:lstStyle/>
                    <a:p>
                      <a:pPr algn="l" fontAlgn="b"/>
                      <a:r>
                        <a:rPr lang="en-US" sz="1100" u="none" strike="noStrike">
                          <a:effectLst/>
                        </a:rPr>
                        <a:t>T5b</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100" u="none" strike="noStrike" dirty="0">
                          <a:effectLst/>
                        </a:rPr>
                        <a:t>6</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83339147"/>
                  </a:ext>
                </a:extLst>
              </a:tr>
            </a:tbl>
          </a:graphicData>
        </a:graphic>
      </p:graphicFrame>
      <p:sp>
        <p:nvSpPr>
          <p:cNvPr id="8" name="TextBox 7">
            <a:extLst>
              <a:ext uri="{FF2B5EF4-FFF2-40B4-BE49-F238E27FC236}">
                <a16:creationId xmlns:a16="http://schemas.microsoft.com/office/drawing/2014/main" id="{06654CA6-1140-48E5-B38F-A00769B7D78E}"/>
              </a:ext>
            </a:extLst>
          </p:cNvPr>
          <p:cNvSpPr txBox="1"/>
          <p:nvPr/>
        </p:nvSpPr>
        <p:spPr>
          <a:xfrm>
            <a:off x="1082350" y="3797559"/>
            <a:ext cx="3889570" cy="160838"/>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r>
              <a:rPr lang="en-US" sz="2000" dirty="0"/>
              <a:t>ONC Product Groups</a:t>
            </a:r>
          </a:p>
        </p:txBody>
      </p:sp>
      <p:sp>
        <p:nvSpPr>
          <p:cNvPr id="11" name="Rectangle 10">
            <a:extLst>
              <a:ext uri="{FF2B5EF4-FFF2-40B4-BE49-F238E27FC236}">
                <a16:creationId xmlns:a16="http://schemas.microsoft.com/office/drawing/2014/main" id="{268755B3-F4C6-44FA-B146-875D9D867CE5}"/>
              </a:ext>
            </a:extLst>
          </p:cNvPr>
          <p:cNvSpPr/>
          <p:nvPr/>
        </p:nvSpPr>
        <p:spPr>
          <a:xfrm>
            <a:off x="66181" y="4101"/>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ctr"/>
            <a:r>
              <a:rPr lang="en-US" sz="2000" dirty="0">
                <a:solidFill>
                  <a:schemeClr val="accent2">
                    <a:lumMod val="75000"/>
                  </a:schemeClr>
                </a:solidFill>
              </a:rPr>
              <a:t>Add new items and logic for counting Myeloma and Lymphoma detail activities </a:t>
            </a:r>
          </a:p>
          <a:p>
            <a:pPr algn="ctr">
              <a:lnSpc>
                <a:spcPct val="100000"/>
              </a:lnSpc>
            </a:pPr>
            <a:endParaRPr lang="en-US" sz="2000" dirty="0"/>
          </a:p>
        </p:txBody>
      </p:sp>
      <p:sp>
        <p:nvSpPr>
          <p:cNvPr id="3" name="Slide Number Placeholder 2">
            <a:extLst>
              <a:ext uri="{FF2B5EF4-FFF2-40B4-BE49-F238E27FC236}">
                <a16:creationId xmlns:a16="http://schemas.microsoft.com/office/drawing/2014/main" id="{CBFD9A78-A4B2-4F65-AACC-2EF856B6E73C}"/>
              </a:ext>
            </a:extLst>
          </p:cNvPr>
          <p:cNvSpPr>
            <a:spLocks noGrp="1"/>
          </p:cNvSpPr>
          <p:nvPr>
            <p:ph type="sldNum" sz="quarter" idx="12"/>
          </p:nvPr>
        </p:nvSpPr>
        <p:spPr/>
        <p:txBody>
          <a:bodyPr/>
          <a:lstStyle/>
          <a:p>
            <a:fld id="{B58DE5F1-E0F9-4CCA-92B7-7A6FC4DFEE14}" type="slidenum">
              <a:rPr lang="en-US" smtClean="0"/>
              <a:t>19</a:t>
            </a:fld>
            <a:endParaRPr lang="en-US" dirty="0"/>
          </a:p>
        </p:txBody>
      </p:sp>
    </p:spTree>
    <p:extLst>
      <p:ext uri="{BB962C8B-B14F-4D97-AF65-F5344CB8AC3E}">
        <p14:creationId xmlns:p14="http://schemas.microsoft.com/office/powerpoint/2010/main" val="1381426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4">
            <a:extLst>
              <a:ext uri="{FF2B5EF4-FFF2-40B4-BE49-F238E27FC236}">
                <a16:creationId xmlns:a16="http://schemas.microsoft.com/office/drawing/2014/main" id="{FBCBA89C-CE08-466C-B530-ED65A466961C}"/>
              </a:ext>
            </a:extLst>
          </p:cNvPr>
          <p:cNvSpPr>
            <a:spLocks noGrp="1"/>
          </p:cNvSpPr>
          <p:nvPr>
            <p:ph type="title"/>
          </p:nvPr>
        </p:nvSpPr>
        <p:spPr>
          <a:xfrm>
            <a:off x="562708" y="591148"/>
            <a:ext cx="11068061" cy="786689"/>
          </a:xfrm>
        </p:spPr>
        <p:txBody>
          <a:bodyPr/>
          <a:lstStyle/>
          <a:p>
            <a:r>
              <a:rPr lang="en-US" sz="2800" dirty="0"/>
              <a:t>C-SCAN: Add new items and logic for counting Myeloma and Lymphoma detail activities</a:t>
            </a:r>
          </a:p>
        </p:txBody>
      </p:sp>
      <p:sp>
        <p:nvSpPr>
          <p:cNvPr id="31" name="Rectangle 30">
            <a:extLst>
              <a:ext uri="{FF2B5EF4-FFF2-40B4-BE49-F238E27FC236}">
                <a16:creationId xmlns:a16="http://schemas.microsoft.com/office/drawing/2014/main" id="{FABDBC01-FB5C-4A2A-8939-DF8C10E85F32}"/>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2000" dirty="0"/>
          </a:p>
        </p:txBody>
      </p:sp>
      <p:sp>
        <p:nvSpPr>
          <p:cNvPr id="32" name="Road Sign">
            <a:extLst>
              <a:ext uri="{FF2B5EF4-FFF2-40B4-BE49-F238E27FC236}">
                <a16:creationId xmlns:a16="http://schemas.microsoft.com/office/drawing/2014/main" id="{DA6AA068-A1BA-4C2A-9664-F4D401B6F3F9}"/>
              </a:ext>
            </a:extLst>
          </p:cNvPr>
          <p:cNvSpPr txBox="1"/>
          <p:nvPr/>
        </p:nvSpPr>
        <p:spPr bwMode="blackWhite">
          <a:xfrm rot="10800000" flipV="1">
            <a:off x="9879384" y="-111198"/>
            <a:ext cx="2330708" cy="572536"/>
          </a:xfrm>
          <a:prstGeom prst="rect">
            <a:avLst/>
          </a:prstGeom>
          <a:noFill/>
        </p:spPr>
        <p:txBody>
          <a:bodyPr vert="horz" wrap="none" lIns="91440" tIns="45720" rIns="91440" bIns="45720" rtlCol="0" anchor="ctr">
            <a:noAutofit/>
          </a:bodyPr>
          <a:lstStyle>
            <a:defPPr>
              <a:defRPr lang="fr-FR"/>
            </a:defPPr>
            <a:lvl1pPr algn="r">
              <a:defRPr sz="1000" b="1" i="1">
                <a:solidFill>
                  <a:schemeClr val="bg1"/>
                </a:solidFill>
                <a:latin typeface="Arial" panose="020B0604020202020204" pitchFamily="34" charset="0"/>
              </a:defRPr>
            </a:lvl1p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000" b="1" i="1" u="none" strike="noStrike" kern="1200" cap="none" spc="0" normalizeH="0" baseline="0" noProof="0" dirty="0">
                <a:ln>
                  <a:noFill/>
                </a:ln>
                <a:effectLst/>
                <a:uLnTx/>
                <a:uFillTx/>
                <a:latin typeface="Tahoma"/>
                <a:ea typeface="+mn-ea"/>
                <a:cs typeface="+mn-cs"/>
              </a:rPr>
              <a:t>Flow chart</a:t>
            </a:r>
          </a:p>
        </p:txBody>
      </p:sp>
      <p:sp>
        <p:nvSpPr>
          <p:cNvPr id="2" name="TextBox 1">
            <a:extLst>
              <a:ext uri="{FF2B5EF4-FFF2-40B4-BE49-F238E27FC236}">
                <a16:creationId xmlns:a16="http://schemas.microsoft.com/office/drawing/2014/main" id="{27E36F4B-402F-4A06-93F9-9C0901CC7DE3}"/>
              </a:ext>
            </a:extLst>
          </p:cNvPr>
          <p:cNvSpPr txBox="1"/>
          <p:nvPr/>
        </p:nvSpPr>
        <p:spPr>
          <a:xfrm>
            <a:off x="670560" y="1821180"/>
            <a:ext cx="10256520" cy="3246120"/>
          </a:xfrm>
          <a:prstGeom prst="rect">
            <a:avLst/>
          </a:prstGeom>
          <a:noFill/>
        </p:spPr>
        <p:txBody>
          <a:bodyPr wrap="square" lIns="0" tIns="0" rIns="0" bIns="0" rtlCol="0">
            <a:noAutofit/>
          </a:bodyPr>
          <a:lstStyle/>
          <a:p>
            <a:pPr marL="685800" lvl="1" indent="-228600">
              <a:spcBef>
                <a:spcPts val="1200"/>
              </a:spcBef>
              <a:buSzPct val="100000"/>
              <a:buFont typeface="Trebuchet MS"/>
              <a:buChar char="•"/>
            </a:pPr>
            <a:r>
              <a:rPr lang="en-US" sz="2000" dirty="0"/>
              <a:t>HEMA Product Groups:</a:t>
            </a:r>
          </a:p>
        </p:txBody>
      </p:sp>
      <p:sp>
        <p:nvSpPr>
          <p:cNvPr id="4" name="TextBox 3">
            <a:extLst>
              <a:ext uri="{FF2B5EF4-FFF2-40B4-BE49-F238E27FC236}">
                <a16:creationId xmlns:a16="http://schemas.microsoft.com/office/drawing/2014/main" id="{0CC5E6F6-23AF-40C7-A4D4-DA43EEC0CA82}"/>
              </a:ext>
            </a:extLst>
          </p:cNvPr>
          <p:cNvSpPr txBox="1"/>
          <p:nvPr/>
        </p:nvSpPr>
        <p:spPr>
          <a:xfrm>
            <a:off x="1082350" y="1573780"/>
            <a:ext cx="6960637" cy="391886"/>
          </a:xfrm>
          <a:prstGeom prst="rect">
            <a:avLst/>
          </a:prstGeom>
          <a:noFill/>
        </p:spPr>
        <p:txBody>
          <a:bodyPr wrap="square" lIns="0" tIns="0" rIns="0" bIns="0" rtlCol="0">
            <a:noAutofit/>
          </a:bodyPr>
          <a:lstStyle/>
          <a:p>
            <a:pPr>
              <a:lnSpc>
                <a:spcPct val="100000"/>
              </a:lnSpc>
              <a:spcBef>
                <a:spcPts val="1200"/>
              </a:spcBef>
              <a:buSzPct val="100000"/>
            </a:pPr>
            <a:r>
              <a:rPr lang="en-US" dirty="0"/>
              <a:t>Priority Doctor Segment List</a:t>
            </a:r>
            <a:r>
              <a:rPr lang="en-US" sz="2000" dirty="0"/>
              <a:t> </a:t>
            </a:r>
          </a:p>
          <a:p>
            <a:pPr>
              <a:lnSpc>
                <a:spcPct val="100000"/>
              </a:lnSpc>
              <a:spcBef>
                <a:spcPts val="1200"/>
              </a:spcBef>
              <a:buSzPct val="100000"/>
            </a:pPr>
            <a:endParaRPr lang="en-US" sz="2000" b="1" u="sng" dirty="0"/>
          </a:p>
        </p:txBody>
      </p:sp>
      <p:graphicFrame>
        <p:nvGraphicFramePr>
          <p:cNvPr id="5" name="Table 4">
            <a:extLst>
              <a:ext uri="{FF2B5EF4-FFF2-40B4-BE49-F238E27FC236}">
                <a16:creationId xmlns:a16="http://schemas.microsoft.com/office/drawing/2014/main" id="{9861848F-6ED1-4237-8BB8-1607CDFACEE0}"/>
              </a:ext>
            </a:extLst>
          </p:cNvPr>
          <p:cNvGraphicFramePr>
            <a:graphicFrameLocks noGrp="1"/>
          </p:cNvGraphicFramePr>
          <p:nvPr>
            <p:extLst/>
          </p:nvPr>
        </p:nvGraphicFramePr>
        <p:xfrm>
          <a:off x="1063690" y="2307664"/>
          <a:ext cx="8795298" cy="1308735"/>
        </p:xfrm>
        <a:graphic>
          <a:graphicData uri="http://schemas.openxmlformats.org/drawingml/2006/table">
            <a:tbl>
              <a:tblPr>
                <a:tableStyleId>{D7AC3CCA-C797-4891-BE02-D94E43425B78}</a:tableStyleId>
              </a:tblPr>
              <a:tblGrid>
                <a:gridCol w="1380930">
                  <a:extLst>
                    <a:ext uri="{9D8B030D-6E8A-4147-A177-3AD203B41FA5}">
                      <a16:colId xmlns:a16="http://schemas.microsoft.com/office/drawing/2014/main" val="3425682322"/>
                    </a:ext>
                  </a:extLst>
                </a:gridCol>
                <a:gridCol w="1129004">
                  <a:extLst>
                    <a:ext uri="{9D8B030D-6E8A-4147-A177-3AD203B41FA5}">
                      <a16:colId xmlns:a16="http://schemas.microsoft.com/office/drawing/2014/main" val="3082716593"/>
                    </a:ext>
                  </a:extLst>
                </a:gridCol>
                <a:gridCol w="1464907">
                  <a:extLst>
                    <a:ext uri="{9D8B030D-6E8A-4147-A177-3AD203B41FA5}">
                      <a16:colId xmlns:a16="http://schemas.microsoft.com/office/drawing/2014/main" val="1810188222"/>
                    </a:ext>
                  </a:extLst>
                </a:gridCol>
                <a:gridCol w="1623526">
                  <a:extLst>
                    <a:ext uri="{9D8B030D-6E8A-4147-A177-3AD203B41FA5}">
                      <a16:colId xmlns:a16="http://schemas.microsoft.com/office/drawing/2014/main" val="3831836145"/>
                    </a:ext>
                  </a:extLst>
                </a:gridCol>
                <a:gridCol w="1259633">
                  <a:extLst>
                    <a:ext uri="{9D8B030D-6E8A-4147-A177-3AD203B41FA5}">
                      <a16:colId xmlns:a16="http://schemas.microsoft.com/office/drawing/2014/main" val="2823816056"/>
                    </a:ext>
                  </a:extLst>
                </a:gridCol>
                <a:gridCol w="1937298">
                  <a:extLst>
                    <a:ext uri="{9D8B030D-6E8A-4147-A177-3AD203B41FA5}">
                      <a16:colId xmlns:a16="http://schemas.microsoft.com/office/drawing/2014/main" val="3375472328"/>
                    </a:ext>
                  </a:extLst>
                </a:gridCol>
              </a:tblGrid>
              <a:tr h="190500">
                <a:tc>
                  <a:txBody>
                    <a:bodyPr/>
                    <a:lstStyle/>
                    <a:p>
                      <a:pPr algn="l" fontAlgn="ctr"/>
                      <a:r>
                        <a:rPr lang="en-US" sz="1100" u="none" strike="noStrike" dirty="0">
                          <a:effectLst/>
                        </a:rPr>
                        <a:t>HEMA MM</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tc gridSpan="2">
                  <a:txBody>
                    <a:bodyPr/>
                    <a:lstStyle/>
                    <a:p>
                      <a:pPr algn="l" fontAlgn="ctr"/>
                      <a:r>
                        <a:rPr lang="en-US" sz="1100" u="none" strike="noStrike">
                          <a:effectLst/>
                        </a:rPr>
                        <a:t>HEMA LYM</a:t>
                      </a:r>
                      <a:endParaRPr lang="en-US" sz="1100" b="0" i="0" u="none" strike="noStrike">
                        <a:solidFill>
                          <a:srgbClr val="000000"/>
                        </a:solidFill>
                        <a:effectLst/>
                        <a:latin typeface="Calibri" panose="020F0502020204030204" pitchFamily="34" charset="0"/>
                      </a:endParaRPr>
                    </a:p>
                  </a:txBody>
                  <a:tcPr marL="7620" marR="7620" marT="7620" marB="0" anchor="ctr"/>
                </a:tc>
                <a:tc hMerge="1">
                  <a:txBody>
                    <a:bodyPr/>
                    <a:lstStyle/>
                    <a:p>
                      <a:endParaRPr lang="en-US"/>
                    </a:p>
                  </a:txBody>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73352526"/>
                  </a:ext>
                </a:extLst>
              </a:tr>
              <a:tr h="182880">
                <a:tc>
                  <a:txBody>
                    <a:bodyPr/>
                    <a:lstStyle/>
                    <a:p>
                      <a:pPr algn="l" fontAlgn="b"/>
                      <a:r>
                        <a:rPr lang="en-US" sz="1100" u="none" strike="noStrike" dirty="0">
                          <a:effectLst/>
                        </a:rPr>
                        <a:t>Products</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1100" b="0" i="0" u="none" strike="noStrike" dirty="0">
                          <a:solidFill>
                            <a:srgbClr val="000000"/>
                          </a:solidFill>
                          <a:effectLst/>
                          <a:latin typeface="Calibri" panose="020F0502020204030204" pitchFamily="34" charset="0"/>
                        </a:rPr>
                        <a:t>Segments</a:t>
                      </a:r>
                    </a:p>
                  </a:txBody>
                  <a:tcPr marL="7620" marR="7620" marT="7620" marB="0" anchor="b"/>
                </a:tc>
                <a:tc>
                  <a:txBody>
                    <a:bodyPr/>
                    <a:lstStyle/>
                    <a:p>
                      <a:pPr algn="l" fontAlgn="b"/>
                      <a:r>
                        <a:rPr lang="en-US" sz="1100" u="none" strike="noStrike">
                          <a:effectLst/>
                        </a:rPr>
                        <a:t>Priority</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a:effectLst/>
                        </a:rPr>
                        <a:t>Products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b="0" i="0" u="none" strike="noStrike" dirty="0">
                          <a:solidFill>
                            <a:srgbClr val="000000"/>
                          </a:solidFill>
                          <a:effectLst/>
                          <a:latin typeface="Calibri" panose="020F0502020204030204" pitchFamily="34" charset="0"/>
                        </a:rPr>
                        <a:t>Segments</a:t>
                      </a:r>
                    </a:p>
                  </a:txBody>
                  <a:tcPr marL="7620" marR="7620" marT="7620" marB="0" anchor="b"/>
                </a:tc>
                <a:tc>
                  <a:txBody>
                    <a:bodyPr/>
                    <a:lstStyle/>
                    <a:p>
                      <a:pPr algn="l" fontAlgn="b"/>
                      <a:r>
                        <a:rPr lang="en-US" sz="1100" u="none" strike="noStrike">
                          <a:effectLst/>
                        </a:rPr>
                        <a:t>Priority</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40273626"/>
                  </a:ext>
                </a:extLst>
              </a:tr>
              <a:tr h="180975">
                <a:tc rowSpan="5">
                  <a:txBody>
                    <a:bodyPr/>
                    <a:lstStyle/>
                    <a:p>
                      <a:pPr algn="l" fontAlgn="ctr"/>
                      <a:r>
                        <a:rPr lang="en-US" sz="1100" u="none" strike="noStrike" dirty="0">
                          <a:effectLst/>
                        </a:rPr>
                        <a:t>REV MM</a:t>
                      </a:r>
                      <a:br>
                        <a:rPr lang="en-US" sz="1100" u="none" strike="noStrike" dirty="0">
                          <a:effectLst/>
                        </a:rPr>
                      </a:br>
                      <a:r>
                        <a:rPr lang="en-US" sz="1100" u="none" strike="noStrike" dirty="0">
                          <a:effectLst/>
                        </a:rPr>
                        <a:t>POM</a:t>
                      </a:r>
                      <a:br>
                        <a:rPr lang="en-US" sz="1100" u="none" strike="noStrike" dirty="0">
                          <a:effectLst/>
                        </a:rPr>
                      </a:br>
                      <a:r>
                        <a:rPr lang="en-US" sz="1100" u="none" strike="noStrike" dirty="0">
                          <a:effectLst/>
                        </a:rPr>
                        <a:t>EM</a:t>
                      </a: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b="0" i="0" u="none" strike="noStrike" dirty="0">
                          <a:solidFill>
                            <a:srgbClr val="000000"/>
                          </a:solidFill>
                          <a:effectLst/>
                          <a:latin typeface="Calibri" panose="020F0502020204030204" pitchFamily="34" charset="0"/>
                        </a:rPr>
                        <a:t>A</a:t>
                      </a:r>
                    </a:p>
                  </a:txBody>
                  <a:tcPr marL="7620" marR="7620" marT="7620" marB="0" anchor="ctr"/>
                </a:tc>
                <a:tc>
                  <a:txBody>
                    <a:bodyPr/>
                    <a:lstStyle/>
                    <a:p>
                      <a:pPr algn="l"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tc rowSpan="3">
                  <a:txBody>
                    <a:bodyPr/>
                    <a:lstStyle/>
                    <a:p>
                      <a:pPr algn="l" fontAlgn="ctr"/>
                      <a:r>
                        <a:rPr lang="en-US" sz="1100" u="none" strike="noStrike">
                          <a:effectLst/>
                        </a:rPr>
                        <a:t>REV FL</a:t>
                      </a:r>
                      <a:br>
                        <a:rPr lang="en-US" sz="1100" u="none" strike="noStrike">
                          <a:effectLst/>
                        </a:rPr>
                      </a:br>
                      <a:r>
                        <a:rPr lang="en-US" sz="1100" u="none" strike="noStrike">
                          <a:effectLst/>
                        </a:rPr>
                        <a:t>IST</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T1</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38233112"/>
                  </a:ext>
                </a:extLst>
              </a:tr>
              <a:tr h="182880">
                <a:tc vMerge="1">
                  <a:txBody>
                    <a:bodyPr/>
                    <a:lstStyle/>
                    <a:p>
                      <a:endParaRPr lang="en-US"/>
                    </a:p>
                  </a:txBody>
                  <a:tcPr/>
                </a:tc>
                <a:tc>
                  <a:txBody>
                    <a:bodyPr/>
                    <a:lstStyle/>
                    <a:p>
                      <a:pPr algn="l" fontAlgn="t"/>
                      <a:r>
                        <a:rPr lang="en-US" sz="1100" b="0" i="0" u="none" strike="noStrike" dirty="0">
                          <a:solidFill>
                            <a:srgbClr val="000000"/>
                          </a:solidFill>
                          <a:effectLst/>
                          <a:latin typeface="Calibri" panose="020F0502020204030204" pitchFamily="34" charset="0"/>
                        </a:rPr>
                        <a:t>B</a:t>
                      </a:r>
                    </a:p>
                  </a:txBody>
                  <a:tcPr marL="7620" marR="7620" marT="7620" marB="0"/>
                </a:tc>
                <a:tc>
                  <a:txBody>
                    <a:bodyPr/>
                    <a:lstStyle/>
                    <a:p>
                      <a:pPr algn="l"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7620" marR="7620" marT="7620" marB="0" anchor="b"/>
                </a:tc>
                <a:tc vMerge="1">
                  <a:txBody>
                    <a:bodyPr/>
                    <a:lstStyle/>
                    <a:p>
                      <a:endParaRPr lang="en-US"/>
                    </a:p>
                  </a:txBody>
                  <a:tcPr/>
                </a:tc>
                <a:tc>
                  <a:txBody>
                    <a:bodyPr/>
                    <a:lstStyle/>
                    <a:p>
                      <a:pPr algn="l" fontAlgn="t"/>
                      <a:r>
                        <a:rPr lang="en-US" sz="1100" u="none" strike="noStrike">
                          <a:effectLst/>
                        </a:rPr>
                        <a:t>T2</a:t>
                      </a:r>
                      <a:endParaRPr lang="en-US" sz="1100" b="0" i="0" u="none" strike="noStrike">
                        <a:solidFill>
                          <a:srgbClr val="000000"/>
                        </a:solidFill>
                        <a:effectLst/>
                        <a:latin typeface="Calibri" panose="020F0502020204030204" pitchFamily="34" charset="0"/>
                      </a:endParaRPr>
                    </a:p>
                  </a:txBody>
                  <a:tcPr marL="7620" marR="7620" marT="7620" marB="0"/>
                </a:tc>
                <a:tc>
                  <a:txBody>
                    <a:bodyPr/>
                    <a:lstStyle/>
                    <a:p>
                      <a:pPr algn="l"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73047921"/>
                  </a:ext>
                </a:extLst>
              </a:tr>
              <a:tr h="190500">
                <a:tc vMerge="1">
                  <a:txBody>
                    <a:bodyPr/>
                    <a:lstStyle/>
                    <a:p>
                      <a:endParaRPr lang="en-US"/>
                    </a:p>
                  </a:txBody>
                  <a:tcPr/>
                </a:tc>
                <a:tc>
                  <a:txBody>
                    <a:bodyPr/>
                    <a:lstStyle/>
                    <a:p>
                      <a:pPr algn="l" fontAlgn="b"/>
                      <a:r>
                        <a:rPr lang="en-US" sz="1100" b="0" i="0" u="none" strike="noStrike" dirty="0">
                          <a:solidFill>
                            <a:srgbClr val="000000"/>
                          </a:solidFill>
                          <a:effectLst/>
                          <a:latin typeface="Calibri" panose="020F0502020204030204" pitchFamily="34" charset="0"/>
                        </a:rPr>
                        <a:t>C</a:t>
                      </a:r>
                    </a:p>
                  </a:txBody>
                  <a:tcPr marL="7620" marR="7620" marT="7620" marB="0" anchor="b"/>
                </a:tc>
                <a:tc>
                  <a:txBody>
                    <a:bodyPr/>
                    <a:lstStyle/>
                    <a:p>
                      <a:pPr algn="l" fontAlgn="b"/>
                      <a:r>
                        <a:rPr lang="en-US" sz="1100" u="none" strike="noStrike" dirty="0">
                          <a:effectLst/>
                        </a:rPr>
                        <a:t>3</a:t>
                      </a:r>
                      <a:endParaRPr lang="en-US" sz="1100" b="0" i="0" u="none" strike="noStrike" dirty="0">
                        <a:solidFill>
                          <a:srgbClr val="000000"/>
                        </a:solidFill>
                        <a:effectLst/>
                        <a:latin typeface="Calibri" panose="020F0502020204030204" pitchFamily="34" charset="0"/>
                      </a:endParaRPr>
                    </a:p>
                  </a:txBody>
                  <a:tcPr marL="7620" marR="7620" marT="7620" marB="0" anchor="b"/>
                </a:tc>
                <a:tc vMerge="1">
                  <a:txBody>
                    <a:bodyPr/>
                    <a:lstStyle/>
                    <a:p>
                      <a:endParaRPr lang="en-US"/>
                    </a:p>
                  </a:txBody>
                  <a:tcPr/>
                </a:tc>
                <a:tc>
                  <a:txBody>
                    <a:bodyPr/>
                    <a:lstStyle/>
                    <a:p>
                      <a:pPr algn="l" fontAlgn="b"/>
                      <a:r>
                        <a:rPr lang="en-US" sz="1100" u="none" strike="noStrike">
                          <a:effectLst/>
                        </a:rPr>
                        <a:t>T3</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u="none" strike="noStrike" dirty="0">
                          <a:effectLst/>
                        </a:rPr>
                        <a:t>3</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611715476"/>
                  </a:ext>
                </a:extLst>
              </a:tr>
              <a:tr h="190500">
                <a:tc vMerge="1">
                  <a:txBody>
                    <a:bodyPr/>
                    <a:lstStyle/>
                    <a:p>
                      <a:endParaRPr lang="en-US"/>
                    </a:p>
                  </a:txBody>
                  <a:tcPr/>
                </a:tc>
                <a:tc>
                  <a:txBody>
                    <a:bodyPr/>
                    <a:lstStyle/>
                    <a:p>
                      <a:pPr algn="l" fontAlgn="b"/>
                      <a:r>
                        <a:rPr lang="en-US" sz="1100" b="0" i="0" u="none" strike="noStrike" dirty="0">
                          <a:solidFill>
                            <a:srgbClr val="000000"/>
                          </a:solidFill>
                          <a:effectLst/>
                          <a:latin typeface="Calibri" panose="020F0502020204030204" pitchFamily="34" charset="0"/>
                        </a:rPr>
                        <a:t>D</a:t>
                      </a:r>
                    </a:p>
                  </a:txBody>
                  <a:tcPr marL="7620" marR="7620" marT="7620" marB="0" anchor="b"/>
                </a:tc>
                <a:tc>
                  <a:txBody>
                    <a:bodyPr/>
                    <a:lstStyle/>
                    <a:p>
                      <a:pPr algn="l" fontAlgn="b"/>
                      <a:r>
                        <a:rPr lang="en-US" sz="1100" u="none" strike="noStrike" dirty="0">
                          <a:effectLst/>
                        </a:rPr>
                        <a:t>4</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ct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96658087"/>
                  </a:ext>
                </a:extLst>
              </a:tr>
              <a:tr h="190500">
                <a:tc vMerge="1">
                  <a:txBody>
                    <a:bodyPr/>
                    <a:lstStyle/>
                    <a:p>
                      <a:endParaRPr lang="en-US"/>
                    </a:p>
                  </a:txBody>
                  <a:tcPr/>
                </a:tc>
                <a:tc>
                  <a:txBody>
                    <a:bodyPr/>
                    <a:lstStyle/>
                    <a:p>
                      <a:pPr algn="l" fontAlgn="b"/>
                      <a:r>
                        <a:rPr lang="en-US" sz="1100" b="0" i="0" u="none" strike="noStrike" dirty="0">
                          <a:solidFill>
                            <a:srgbClr val="000000"/>
                          </a:solidFill>
                          <a:effectLst/>
                          <a:latin typeface="Calibri" panose="020F0502020204030204" pitchFamily="34" charset="0"/>
                        </a:rPr>
                        <a:t>E</a:t>
                      </a:r>
                    </a:p>
                  </a:txBody>
                  <a:tcPr marL="7620" marR="7620" marT="7620" marB="0" anchor="b"/>
                </a:tc>
                <a:tc>
                  <a:txBody>
                    <a:bodyPr/>
                    <a:lstStyle/>
                    <a:p>
                      <a:pPr algn="l" fontAlgn="b"/>
                      <a:r>
                        <a:rPr lang="en-US" sz="1100" u="none" strike="noStrike" dirty="0">
                          <a:effectLst/>
                        </a:rPr>
                        <a:t>5</a:t>
                      </a:r>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ctr"/>
                      <a:endParaRPr lang="en-US"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53688792"/>
                  </a:ext>
                </a:extLst>
              </a:tr>
            </a:tbl>
          </a:graphicData>
        </a:graphic>
      </p:graphicFrame>
      <p:graphicFrame>
        <p:nvGraphicFramePr>
          <p:cNvPr id="6" name="Table 5">
            <a:extLst>
              <a:ext uri="{FF2B5EF4-FFF2-40B4-BE49-F238E27FC236}">
                <a16:creationId xmlns:a16="http://schemas.microsoft.com/office/drawing/2014/main" id="{71610DC7-7392-4411-9044-C992657DED78}"/>
              </a:ext>
            </a:extLst>
          </p:cNvPr>
          <p:cNvGraphicFramePr>
            <a:graphicFrameLocks noGrp="1"/>
          </p:cNvGraphicFramePr>
          <p:nvPr>
            <p:extLst/>
          </p:nvPr>
        </p:nvGraphicFramePr>
        <p:xfrm>
          <a:off x="1082350" y="4317682"/>
          <a:ext cx="3898900" cy="1499235"/>
        </p:xfrm>
        <a:graphic>
          <a:graphicData uri="http://schemas.openxmlformats.org/drawingml/2006/table">
            <a:tbl>
              <a:tblPr>
                <a:tableStyleId>{D7AC3CCA-C797-4891-BE02-D94E43425B78}</a:tableStyleId>
              </a:tblPr>
              <a:tblGrid>
                <a:gridCol w="1498600">
                  <a:extLst>
                    <a:ext uri="{9D8B030D-6E8A-4147-A177-3AD203B41FA5}">
                      <a16:colId xmlns:a16="http://schemas.microsoft.com/office/drawing/2014/main" val="2309820476"/>
                    </a:ext>
                  </a:extLst>
                </a:gridCol>
                <a:gridCol w="1257300">
                  <a:extLst>
                    <a:ext uri="{9D8B030D-6E8A-4147-A177-3AD203B41FA5}">
                      <a16:colId xmlns:a16="http://schemas.microsoft.com/office/drawing/2014/main" val="617079867"/>
                    </a:ext>
                  </a:extLst>
                </a:gridCol>
                <a:gridCol w="1143000">
                  <a:extLst>
                    <a:ext uri="{9D8B030D-6E8A-4147-A177-3AD203B41FA5}">
                      <a16:colId xmlns:a16="http://schemas.microsoft.com/office/drawing/2014/main" val="3526335761"/>
                    </a:ext>
                  </a:extLst>
                </a:gridCol>
              </a:tblGrid>
              <a:tr h="190500">
                <a:tc>
                  <a:txBody>
                    <a:bodyPr/>
                    <a:lstStyle/>
                    <a:p>
                      <a:pPr algn="l" fontAlgn="ctr"/>
                      <a:r>
                        <a:rPr lang="en-US" sz="1100" u="none" strike="noStrike">
                          <a:effectLst/>
                        </a:rPr>
                        <a:t>IO LC</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u="none" strike="noStrike">
                          <a:effectLst/>
                        </a:rPr>
                        <a:t> </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endParaRPr lang="en-US" sz="900" b="0" i="0" u="none" strike="noStrike">
                        <a:solidFill>
                          <a:srgbClr val="000000"/>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9905006"/>
                  </a:ext>
                </a:extLst>
              </a:tr>
              <a:tr h="182880">
                <a:tc>
                  <a:txBody>
                    <a:bodyPr/>
                    <a:lstStyle/>
                    <a:p>
                      <a:pPr algn="l" fontAlgn="b"/>
                      <a:r>
                        <a:rPr lang="en-US" sz="1100" u="none" strike="noStrike">
                          <a:effectLst/>
                        </a:rPr>
                        <a:t>Products</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100" b="0" i="0" u="none" strike="noStrike" dirty="0">
                          <a:solidFill>
                            <a:srgbClr val="000000"/>
                          </a:solidFill>
                          <a:effectLst/>
                          <a:latin typeface="Calibri" panose="020F0502020204030204" pitchFamily="34" charset="0"/>
                        </a:rPr>
                        <a:t>Segments</a:t>
                      </a:r>
                    </a:p>
                  </a:txBody>
                  <a:tcPr marL="7620" marR="7620" marT="7620" marB="0" anchor="b"/>
                </a:tc>
                <a:tc>
                  <a:txBody>
                    <a:bodyPr/>
                    <a:lstStyle/>
                    <a:p>
                      <a:pPr algn="l" fontAlgn="b"/>
                      <a:r>
                        <a:rPr lang="en-US" sz="1100" u="none" strike="noStrike" dirty="0">
                          <a:effectLst/>
                        </a:rPr>
                        <a:t>Priority</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4206236"/>
                  </a:ext>
                </a:extLst>
              </a:tr>
              <a:tr h="180975">
                <a:tc rowSpan="6">
                  <a:txBody>
                    <a:bodyPr/>
                    <a:lstStyle/>
                    <a:p>
                      <a:pPr algn="l" fontAlgn="ctr"/>
                      <a:r>
                        <a:rPr lang="en-US" sz="1100" u="none" strike="noStrike">
                          <a:effectLst/>
                        </a:rPr>
                        <a:t>OP LC</a:t>
                      </a:r>
                      <a:endParaRPr lang="en-US" sz="1100" b="0"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100" b="0" i="0" u="none" strike="noStrike" dirty="0">
                          <a:solidFill>
                            <a:srgbClr val="000000"/>
                          </a:solidFill>
                          <a:effectLst/>
                          <a:latin typeface="Calibri" panose="020F0502020204030204" pitchFamily="34" charset="0"/>
                        </a:rPr>
                        <a:t>A-H</a:t>
                      </a:r>
                    </a:p>
                  </a:txBody>
                  <a:tcPr marL="7620" marR="7620" marT="7620" marB="0" anchor="ctr"/>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95588626"/>
                  </a:ext>
                </a:extLst>
              </a:tr>
              <a:tr h="182880">
                <a:tc vMerge="1">
                  <a:txBody>
                    <a:bodyPr/>
                    <a:lstStyle/>
                    <a:p>
                      <a:endParaRPr lang="en-US"/>
                    </a:p>
                  </a:txBody>
                  <a:tcPr/>
                </a:tc>
                <a:tc>
                  <a:txBody>
                    <a:bodyPr/>
                    <a:lstStyle/>
                    <a:p>
                      <a:pPr algn="l" fontAlgn="t"/>
                      <a:r>
                        <a:rPr lang="en-US" sz="1100" b="0" i="0" u="none" strike="noStrike" dirty="0">
                          <a:solidFill>
                            <a:srgbClr val="000000"/>
                          </a:solidFill>
                          <a:effectLst/>
                          <a:latin typeface="Calibri" panose="020F0502020204030204" pitchFamily="34" charset="0"/>
                        </a:rPr>
                        <a:t>A-M</a:t>
                      </a:r>
                    </a:p>
                  </a:txBody>
                  <a:tcPr marL="7620" marR="7620" marT="7620" marB="0"/>
                </a:tc>
                <a:tc>
                  <a:txBody>
                    <a:bodyPr/>
                    <a:lstStyle/>
                    <a:p>
                      <a:pPr algn="r"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93611812"/>
                  </a:ext>
                </a:extLst>
              </a:tr>
              <a:tr h="190500">
                <a:tc vMerge="1">
                  <a:txBody>
                    <a:bodyPr/>
                    <a:lstStyle/>
                    <a:p>
                      <a:endParaRPr lang="en-US"/>
                    </a:p>
                  </a:txBody>
                  <a:tcPr/>
                </a:tc>
                <a:tc>
                  <a:txBody>
                    <a:bodyPr/>
                    <a:lstStyle/>
                    <a:p>
                      <a:pPr algn="l" fontAlgn="b"/>
                      <a:r>
                        <a:rPr lang="en-US" sz="1100" b="0" i="0" u="none" strike="noStrike" dirty="0">
                          <a:solidFill>
                            <a:srgbClr val="000000"/>
                          </a:solidFill>
                          <a:effectLst/>
                          <a:latin typeface="Calibri" panose="020F0502020204030204" pitchFamily="34" charset="0"/>
                        </a:rPr>
                        <a:t>A-L</a:t>
                      </a:r>
                    </a:p>
                  </a:txBody>
                  <a:tcPr marL="7620" marR="7620" marT="7620" marB="0" anchor="b"/>
                </a:tc>
                <a:tc>
                  <a:txBody>
                    <a:bodyPr/>
                    <a:lstStyle/>
                    <a:p>
                      <a:pPr algn="r" fontAlgn="b"/>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33158064"/>
                  </a:ext>
                </a:extLst>
              </a:tr>
              <a:tr h="190500">
                <a:tc vMerge="1">
                  <a:txBody>
                    <a:bodyPr/>
                    <a:lstStyle/>
                    <a:p>
                      <a:endParaRPr lang="en-US"/>
                    </a:p>
                  </a:txBody>
                  <a:tcPr/>
                </a:tc>
                <a:tc>
                  <a:txBody>
                    <a:bodyPr/>
                    <a:lstStyle/>
                    <a:p>
                      <a:pPr algn="l" fontAlgn="b"/>
                      <a:r>
                        <a:rPr lang="en-US" sz="1100" b="0" i="0" u="none" strike="noStrike" dirty="0">
                          <a:solidFill>
                            <a:srgbClr val="000000"/>
                          </a:solidFill>
                          <a:effectLst/>
                          <a:latin typeface="Calibri" panose="020F0502020204030204" pitchFamily="34" charset="0"/>
                        </a:rPr>
                        <a:t>B</a:t>
                      </a:r>
                    </a:p>
                  </a:txBody>
                  <a:tcPr marL="7620" marR="7620" marT="7620" marB="0" anchor="b"/>
                </a:tc>
                <a:tc>
                  <a:txBody>
                    <a:bodyPr/>
                    <a:lstStyle/>
                    <a:p>
                      <a:pPr algn="r" fontAlgn="b"/>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62436395"/>
                  </a:ext>
                </a:extLst>
              </a:tr>
              <a:tr h="190500">
                <a:tc vMerge="1">
                  <a:txBody>
                    <a:bodyPr/>
                    <a:lstStyle/>
                    <a:p>
                      <a:endParaRPr lang="en-US"/>
                    </a:p>
                  </a:txBody>
                  <a:tcPr/>
                </a:tc>
                <a:tc>
                  <a:txBody>
                    <a:bodyPr/>
                    <a:lstStyle/>
                    <a:p>
                      <a:pPr algn="l" fontAlgn="b"/>
                      <a:r>
                        <a:rPr lang="en-US" sz="1100" b="0" i="0" u="none" strike="noStrike" dirty="0">
                          <a:solidFill>
                            <a:srgbClr val="000000"/>
                          </a:solidFill>
                          <a:effectLst/>
                          <a:latin typeface="Calibri" panose="020F0502020204030204" pitchFamily="34" charset="0"/>
                        </a:rPr>
                        <a:t>C</a:t>
                      </a:r>
                    </a:p>
                  </a:txBody>
                  <a:tcPr marL="7620" marR="7620" marT="7620" marB="0" anchor="b"/>
                </a:tc>
                <a:tc>
                  <a:txBody>
                    <a:bodyPr/>
                    <a:lstStyle/>
                    <a:p>
                      <a:pPr algn="r" fontAlgn="b"/>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17087608"/>
                  </a:ext>
                </a:extLst>
              </a:tr>
              <a:tr h="190500">
                <a:tc vMerge="1">
                  <a:txBody>
                    <a:bodyPr/>
                    <a:lstStyle/>
                    <a:p>
                      <a:endParaRPr lang="en-US"/>
                    </a:p>
                  </a:txBody>
                  <a:tcPr/>
                </a:tc>
                <a:tc>
                  <a:txBody>
                    <a:bodyPr/>
                    <a:lstStyle/>
                    <a:p>
                      <a:pPr algn="l" fontAlgn="b"/>
                      <a:r>
                        <a:rPr lang="en-US" sz="1100" b="0" i="0" u="none" strike="noStrike" dirty="0">
                          <a:solidFill>
                            <a:srgbClr val="000000"/>
                          </a:solidFill>
                          <a:effectLst/>
                          <a:latin typeface="Calibri" panose="020F0502020204030204" pitchFamily="34" charset="0"/>
                        </a:rPr>
                        <a:t>D</a:t>
                      </a:r>
                    </a:p>
                  </a:txBody>
                  <a:tcPr marL="7620" marR="7620" marT="7620" marB="0" anchor="b"/>
                </a:tc>
                <a:tc>
                  <a:txBody>
                    <a:bodyPr/>
                    <a:lstStyle/>
                    <a:p>
                      <a:pPr algn="r" fontAlgn="b"/>
                      <a:r>
                        <a:rPr lang="en-US" sz="1100" u="none" strike="noStrike" dirty="0">
                          <a:effectLst/>
                        </a:rPr>
                        <a:t>6</a:t>
                      </a: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83339147"/>
                  </a:ext>
                </a:extLst>
              </a:tr>
            </a:tbl>
          </a:graphicData>
        </a:graphic>
      </p:graphicFrame>
      <p:sp>
        <p:nvSpPr>
          <p:cNvPr id="8" name="TextBox 7">
            <a:extLst>
              <a:ext uri="{FF2B5EF4-FFF2-40B4-BE49-F238E27FC236}">
                <a16:creationId xmlns:a16="http://schemas.microsoft.com/office/drawing/2014/main" id="{06654CA6-1140-48E5-B38F-A00769B7D78E}"/>
              </a:ext>
            </a:extLst>
          </p:cNvPr>
          <p:cNvSpPr txBox="1"/>
          <p:nvPr/>
        </p:nvSpPr>
        <p:spPr>
          <a:xfrm>
            <a:off x="1082350" y="3797559"/>
            <a:ext cx="3889570" cy="160838"/>
          </a:xfrm>
          <a:prstGeom prst="rect">
            <a:avLst/>
          </a:prstGeom>
          <a:noFill/>
        </p:spPr>
        <p:txBody>
          <a:bodyPr wrap="square" lIns="0" tIns="0" rIns="0" bIns="0" rtlCol="0">
            <a:noAutofit/>
          </a:bodyPr>
          <a:lstStyle/>
          <a:p>
            <a:pPr marL="228600" indent="-228600">
              <a:lnSpc>
                <a:spcPct val="100000"/>
              </a:lnSpc>
              <a:spcBef>
                <a:spcPts val="1200"/>
              </a:spcBef>
              <a:buSzPct val="100000"/>
              <a:buFont typeface="Trebuchet MS"/>
              <a:buChar char="•"/>
            </a:pPr>
            <a:r>
              <a:rPr lang="en-US" sz="2000" dirty="0"/>
              <a:t>ONC Product Groups</a:t>
            </a:r>
          </a:p>
        </p:txBody>
      </p:sp>
      <p:sp>
        <p:nvSpPr>
          <p:cNvPr id="11" name="Rectangle 10">
            <a:extLst>
              <a:ext uri="{FF2B5EF4-FFF2-40B4-BE49-F238E27FC236}">
                <a16:creationId xmlns:a16="http://schemas.microsoft.com/office/drawing/2014/main" id="{F69F22B9-B476-40E7-8561-C8628E062E09}"/>
              </a:ext>
            </a:extLst>
          </p:cNvPr>
          <p:cNvSpPr/>
          <p:nvPr/>
        </p:nvSpPr>
        <p:spPr>
          <a:xfrm>
            <a:off x="0" y="26728"/>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ctr"/>
            <a:r>
              <a:rPr lang="en-US" sz="2000" dirty="0">
                <a:solidFill>
                  <a:schemeClr val="accent2">
                    <a:lumMod val="75000"/>
                  </a:schemeClr>
                </a:solidFill>
              </a:rPr>
              <a:t>Add new items and logic for counting Myeloma and Lymphoma detail activities </a:t>
            </a:r>
          </a:p>
          <a:p>
            <a:pPr algn="ctr">
              <a:lnSpc>
                <a:spcPct val="100000"/>
              </a:lnSpc>
            </a:pPr>
            <a:endParaRPr lang="en-US" sz="2000" dirty="0"/>
          </a:p>
        </p:txBody>
      </p:sp>
      <p:sp>
        <p:nvSpPr>
          <p:cNvPr id="3" name="Slide Number Placeholder 2">
            <a:extLst>
              <a:ext uri="{FF2B5EF4-FFF2-40B4-BE49-F238E27FC236}">
                <a16:creationId xmlns:a16="http://schemas.microsoft.com/office/drawing/2014/main" id="{6924B8B1-57DC-4433-BA29-C97FB2E07D9B}"/>
              </a:ext>
            </a:extLst>
          </p:cNvPr>
          <p:cNvSpPr>
            <a:spLocks noGrp="1"/>
          </p:cNvSpPr>
          <p:nvPr>
            <p:ph type="sldNum" sz="quarter" idx="12"/>
          </p:nvPr>
        </p:nvSpPr>
        <p:spPr/>
        <p:txBody>
          <a:bodyPr/>
          <a:lstStyle/>
          <a:p>
            <a:fld id="{B58DE5F1-E0F9-4CCA-92B7-7A6FC4DFEE14}" type="slidenum">
              <a:rPr lang="en-US" smtClean="0"/>
              <a:t>20</a:t>
            </a:fld>
            <a:endParaRPr lang="en-US" dirty="0"/>
          </a:p>
        </p:txBody>
      </p:sp>
    </p:spTree>
    <p:extLst>
      <p:ext uri="{BB962C8B-B14F-4D97-AF65-F5344CB8AC3E}">
        <p14:creationId xmlns:p14="http://schemas.microsoft.com/office/powerpoint/2010/main" val="3351806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B98C6-6C8D-4D0A-87C3-E3C1D3A1DDFC}"/>
              </a:ext>
            </a:extLst>
          </p:cNvPr>
          <p:cNvSpPr>
            <a:spLocks noGrp="1"/>
          </p:cNvSpPr>
          <p:nvPr>
            <p:ph type="title"/>
          </p:nvPr>
        </p:nvSpPr>
        <p:spPr/>
        <p:txBody>
          <a:bodyPr/>
          <a:lstStyle/>
          <a:p>
            <a:r>
              <a:rPr lang="en-US" dirty="0"/>
              <a:t>Calculation of metric at product group level:</a:t>
            </a:r>
          </a:p>
        </p:txBody>
      </p:sp>
      <p:sp>
        <p:nvSpPr>
          <p:cNvPr id="3" name="Slide Number Placeholder 2">
            <a:extLst>
              <a:ext uri="{FF2B5EF4-FFF2-40B4-BE49-F238E27FC236}">
                <a16:creationId xmlns:a16="http://schemas.microsoft.com/office/drawing/2014/main" id="{3556D3FD-4B77-4DFF-9AC5-E3902EE57F38}"/>
              </a:ext>
            </a:extLst>
          </p:cNvPr>
          <p:cNvSpPr>
            <a:spLocks noGrp="1"/>
          </p:cNvSpPr>
          <p:nvPr>
            <p:ph type="sldNum" sz="quarter" idx="12"/>
          </p:nvPr>
        </p:nvSpPr>
        <p:spPr/>
        <p:txBody>
          <a:bodyPr/>
          <a:lstStyle/>
          <a:p>
            <a:fld id="{B58DE5F1-E0F9-4CCA-92B7-7A6FC4DFEE14}" type="slidenum">
              <a:rPr lang="en-US" smtClean="0"/>
              <a:t>21</a:t>
            </a:fld>
            <a:endParaRPr lang="en-US" dirty="0"/>
          </a:p>
        </p:txBody>
      </p:sp>
      <p:graphicFrame>
        <p:nvGraphicFramePr>
          <p:cNvPr id="5" name="Table 4">
            <a:extLst>
              <a:ext uri="{FF2B5EF4-FFF2-40B4-BE49-F238E27FC236}">
                <a16:creationId xmlns:a16="http://schemas.microsoft.com/office/drawing/2014/main" id="{97CE479C-20B9-4BEB-B520-6FD1A058CB25}"/>
              </a:ext>
            </a:extLst>
          </p:cNvPr>
          <p:cNvGraphicFramePr>
            <a:graphicFrameLocks noGrp="1"/>
          </p:cNvGraphicFramePr>
          <p:nvPr>
            <p:extLst/>
          </p:nvPr>
        </p:nvGraphicFramePr>
        <p:xfrm>
          <a:off x="643812" y="1081087"/>
          <a:ext cx="10862388" cy="4511040"/>
        </p:xfrm>
        <a:graphic>
          <a:graphicData uri="http://schemas.openxmlformats.org/drawingml/2006/table">
            <a:tbl>
              <a:tblPr firstRow="1" bandRow="1">
                <a:tableStyleId>{616DA210-FB5B-4158-B5E0-FEB733F419BA}</a:tableStyleId>
              </a:tblPr>
              <a:tblGrid>
                <a:gridCol w="998376">
                  <a:extLst>
                    <a:ext uri="{9D8B030D-6E8A-4147-A177-3AD203B41FA5}">
                      <a16:colId xmlns:a16="http://schemas.microsoft.com/office/drawing/2014/main" val="1394717343"/>
                    </a:ext>
                  </a:extLst>
                </a:gridCol>
                <a:gridCol w="3853543">
                  <a:extLst>
                    <a:ext uri="{9D8B030D-6E8A-4147-A177-3AD203B41FA5}">
                      <a16:colId xmlns:a16="http://schemas.microsoft.com/office/drawing/2014/main" val="4072326938"/>
                    </a:ext>
                  </a:extLst>
                </a:gridCol>
                <a:gridCol w="6010469">
                  <a:extLst>
                    <a:ext uri="{9D8B030D-6E8A-4147-A177-3AD203B41FA5}">
                      <a16:colId xmlns:a16="http://schemas.microsoft.com/office/drawing/2014/main" val="1003515610"/>
                    </a:ext>
                  </a:extLst>
                </a:gridCol>
              </a:tblGrid>
              <a:tr h="370840">
                <a:tc>
                  <a:txBody>
                    <a:bodyPr/>
                    <a:lstStyle/>
                    <a:p>
                      <a:r>
                        <a:rPr lang="en-US" dirty="0"/>
                        <a:t>S. No.</a:t>
                      </a:r>
                    </a:p>
                  </a:txBody>
                  <a:tcPr/>
                </a:tc>
                <a:tc>
                  <a:txBody>
                    <a:bodyPr/>
                    <a:lstStyle/>
                    <a:p>
                      <a:r>
                        <a:rPr lang="en-US" dirty="0"/>
                        <a:t>Metric</a:t>
                      </a:r>
                    </a:p>
                  </a:txBody>
                  <a:tcPr/>
                </a:tc>
                <a:tc>
                  <a:txBody>
                    <a:bodyPr/>
                    <a:lstStyle/>
                    <a:p>
                      <a:r>
                        <a:rPr lang="en-US" dirty="0"/>
                        <a:t>Calculation</a:t>
                      </a:r>
                    </a:p>
                  </a:txBody>
                  <a:tcPr/>
                </a:tc>
                <a:extLst>
                  <a:ext uri="{0D108BD9-81ED-4DB2-BD59-A6C34878D82A}">
                    <a16:rowId xmlns:a16="http://schemas.microsoft.com/office/drawing/2014/main" val="3653209737"/>
                  </a:ext>
                </a:extLst>
              </a:tr>
              <a:tr h="370840">
                <a:tc>
                  <a:txBody>
                    <a:bodyPr/>
                    <a:lstStyle/>
                    <a:p>
                      <a:r>
                        <a:rPr lang="en-US" dirty="0"/>
                        <a:t>1</a:t>
                      </a:r>
                    </a:p>
                  </a:txBody>
                  <a:tcPr/>
                </a:tc>
                <a:tc>
                  <a:txBody>
                    <a:bodyPr/>
                    <a:lstStyle/>
                    <a:p>
                      <a:r>
                        <a:rPr lang="en-US" dirty="0"/>
                        <a:t>Detail &amp; Explanatory Meetings</a:t>
                      </a:r>
                    </a:p>
                  </a:txBody>
                  <a:tcPr/>
                </a:tc>
                <a:tc>
                  <a:txBody>
                    <a:bodyPr/>
                    <a:lstStyle/>
                    <a:p>
                      <a:r>
                        <a:rPr lang="en-US" dirty="0"/>
                        <a:t>Count distinct # of calls which has detail for any of the underlying detail products and count that as # of details at product group level</a:t>
                      </a:r>
                    </a:p>
                  </a:txBody>
                  <a:tcPr/>
                </a:tc>
                <a:extLst>
                  <a:ext uri="{0D108BD9-81ED-4DB2-BD59-A6C34878D82A}">
                    <a16:rowId xmlns:a16="http://schemas.microsoft.com/office/drawing/2014/main" val="970941825"/>
                  </a:ext>
                </a:extLst>
              </a:tr>
              <a:tr h="370840">
                <a:tc>
                  <a:txBody>
                    <a:bodyPr/>
                    <a:lstStyle/>
                    <a:p>
                      <a:r>
                        <a:rPr lang="en-US" dirty="0"/>
                        <a:t>2</a:t>
                      </a:r>
                    </a:p>
                  </a:txBody>
                  <a:tcPr/>
                </a:tc>
                <a:tc>
                  <a:txBody>
                    <a:bodyPr/>
                    <a:lstStyle/>
                    <a:p>
                      <a:r>
                        <a:rPr lang="en-US" dirty="0"/>
                        <a:t>Planned Detail Count</a:t>
                      </a:r>
                    </a:p>
                  </a:txBody>
                  <a:tcPr/>
                </a:tc>
                <a:tc>
                  <a:txBody>
                    <a:bodyPr/>
                    <a:lstStyle/>
                    <a:p>
                      <a:r>
                        <a:rPr lang="en-US" dirty="0"/>
                        <a:t>Nishant to confirm C-SCAN logic for IO CRC/ RCC; Checked and no change required here. MAX Logic present. In sync with BRD</a:t>
                      </a:r>
                    </a:p>
                  </a:txBody>
                  <a:tcPr/>
                </a:tc>
                <a:extLst>
                  <a:ext uri="{0D108BD9-81ED-4DB2-BD59-A6C34878D82A}">
                    <a16:rowId xmlns:a16="http://schemas.microsoft.com/office/drawing/2014/main" val="66570959"/>
                  </a:ext>
                </a:extLst>
              </a:tr>
              <a:tr h="370840">
                <a:tc>
                  <a:txBody>
                    <a:bodyPr/>
                    <a:lstStyle/>
                    <a:p>
                      <a:r>
                        <a:rPr lang="en-US" dirty="0"/>
                        <a:t>3</a:t>
                      </a:r>
                    </a:p>
                  </a:txBody>
                  <a:tcPr/>
                </a:tc>
                <a:tc>
                  <a:txBody>
                    <a:bodyPr/>
                    <a:lstStyle/>
                    <a:p>
                      <a:r>
                        <a:rPr lang="en-US" dirty="0"/>
                        <a:t>TDFA, Clear Ratio &amp; Detail Attainment</a:t>
                      </a:r>
                    </a:p>
                  </a:txBody>
                  <a:tcPr/>
                </a:tc>
                <a:tc>
                  <a:txBody>
                    <a:bodyPr/>
                    <a:lstStyle/>
                    <a:p>
                      <a:r>
                        <a:rPr lang="en-US" dirty="0"/>
                        <a:t>Calculate them at product group level but not at product level</a:t>
                      </a:r>
                    </a:p>
                  </a:txBody>
                  <a:tcPr/>
                </a:tc>
                <a:extLst>
                  <a:ext uri="{0D108BD9-81ED-4DB2-BD59-A6C34878D82A}">
                    <a16:rowId xmlns:a16="http://schemas.microsoft.com/office/drawing/2014/main" val="2446342830"/>
                  </a:ext>
                </a:extLst>
              </a:tr>
              <a:tr h="370840">
                <a:tc>
                  <a:txBody>
                    <a:bodyPr/>
                    <a:lstStyle/>
                    <a:p>
                      <a:r>
                        <a:rPr lang="en-US" dirty="0"/>
                        <a:t>4</a:t>
                      </a:r>
                    </a:p>
                  </a:txBody>
                  <a:tcPr/>
                </a:tc>
                <a:tc>
                  <a:txBody>
                    <a:bodyPr/>
                    <a:lstStyle/>
                    <a:p>
                      <a:r>
                        <a:rPr lang="en-US" dirty="0"/>
                        <a:t>Seminar</a:t>
                      </a:r>
                    </a:p>
                  </a:txBody>
                  <a:tcPr/>
                </a:tc>
                <a:tc>
                  <a:txBody>
                    <a:bodyPr/>
                    <a:lstStyle/>
                    <a:p>
                      <a:r>
                        <a:rPr lang="en-US" dirty="0"/>
                        <a:t>Calculate # of seminar at product level and aggregate the same at product group level</a:t>
                      </a:r>
                    </a:p>
                  </a:txBody>
                  <a:tcPr/>
                </a:tc>
                <a:extLst>
                  <a:ext uri="{0D108BD9-81ED-4DB2-BD59-A6C34878D82A}">
                    <a16:rowId xmlns:a16="http://schemas.microsoft.com/office/drawing/2014/main" val="2919866039"/>
                  </a:ext>
                </a:extLst>
              </a:tr>
              <a:tr h="370840">
                <a:tc>
                  <a:txBody>
                    <a:bodyPr/>
                    <a:lstStyle/>
                    <a:p>
                      <a:r>
                        <a:rPr lang="en-US" dirty="0"/>
                        <a:t>5</a:t>
                      </a:r>
                    </a:p>
                  </a:txBody>
                  <a:tcPr/>
                </a:tc>
                <a:tc>
                  <a:txBody>
                    <a:bodyPr/>
                    <a:lstStyle/>
                    <a:p>
                      <a:r>
                        <a:rPr lang="en-US" dirty="0"/>
                        <a:t>Target Patient</a:t>
                      </a:r>
                    </a:p>
                  </a:txBody>
                  <a:tcPr/>
                </a:tc>
                <a:tc>
                  <a:txBody>
                    <a:bodyPr/>
                    <a:lstStyle/>
                    <a:p>
                      <a:r>
                        <a:rPr lang="en-US" dirty="0"/>
                        <a:t>Nishant to confirm C-SCAN logic for IO CRC/ RCC; Logic is in sync with BRD. No change required.</a:t>
                      </a:r>
                    </a:p>
                  </a:txBody>
                  <a:tcPr/>
                </a:tc>
                <a:extLst>
                  <a:ext uri="{0D108BD9-81ED-4DB2-BD59-A6C34878D82A}">
                    <a16:rowId xmlns:a16="http://schemas.microsoft.com/office/drawing/2014/main" val="1231325804"/>
                  </a:ext>
                </a:extLst>
              </a:tr>
            </a:tbl>
          </a:graphicData>
        </a:graphic>
      </p:graphicFrame>
      <p:sp>
        <p:nvSpPr>
          <p:cNvPr id="6" name="Rectangle 5">
            <a:extLst>
              <a:ext uri="{FF2B5EF4-FFF2-40B4-BE49-F238E27FC236}">
                <a16:creationId xmlns:a16="http://schemas.microsoft.com/office/drawing/2014/main" id="{CA484167-B50F-4DD8-A0F2-096CE24EE3B3}"/>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ctr"/>
            <a:r>
              <a:rPr lang="en-US" sz="2000" dirty="0">
                <a:solidFill>
                  <a:schemeClr val="accent2">
                    <a:lumMod val="75000"/>
                  </a:schemeClr>
                </a:solidFill>
              </a:rPr>
              <a:t>Add new items and logic for counting Myeloma and Lymphoma detail activities </a:t>
            </a:r>
          </a:p>
          <a:p>
            <a:pPr algn="ctr">
              <a:lnSpc>
                <a:spcPct val="100000"/>
              </a:lnSpc>
            </a:pPr>
            <a:endParaRPr lang="en-US" sz="2000" dirty="0"/>
          </a:p>
        </p:txBody>
      </p:sp>
    </p:spTree>
    <p:extLst>
      <p:ext uri="{BB962C8B-B14F-4D97-AF65-F5344CB8AC3E}">
        <p14:creationId xmlns:p14="http://schemas.microsoft.com/office/powerpoint/2010/main" val="2796022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B98C6-6C8D-4D0A-87C3-E3C1D3A1DDFC}"/>
              </a:ext>
            </a:extLst>
          </p:cNvPr>
          <p:cNvSpPr>
            <a:spLocks noGrp="1"/>
          </p:cNvSpPr>
          <p:nvPr>
            <p:ph type="title"/>
          </p:nvPr>
        </p:nvSpPr>
        <p:spPr/>
        <p:txBody>
          <a:bodyPr/>
          <a:lstStyle/>
          <a:p>
            <a:r>
              <a:rPr lang="en-US" dirty="0"/>
              <a:t>Calculation of metric at product group level:</a:t>
            </a:r>
          </a:p>
        </p:txBody>
      </p:sp>
      <p:sp>
        <p:nvSpPr>
          <p:cNvPr id="3" name="Slide Number Placeholder 2">
            <a:extLst>
              <a:ext uri="{FF2B5EF4-FFF2-40B4-BE49-F238E27FC236}">
                <a16:creationId xmlns:a16="http://schemas.microsoft.com/office/drawing/2014/main" id="{3556D3FD-4B77-4DFF-9AC5-E3902EE57F38}"/>
              </a:ext>
            </a:extLst>
          </p:cNvPr>
          <p:cNvSpPr>
            <a:spLocks noGrp="1"/>
          </p:cNvSpPr>
          <p:nvPr>
            <p:ph type="sldNum" sz="quarter" idx="12"/>
          </p:nvPr>
        </p:nvSpPr>
        <p:spPr/>
        <p:txBody>
          <a:bodyPr/>
          <a:lstStyle/>
          <a:p>
            <a:fld id="{B58DE5F1-E0F9-4CCA-92B7-7A6FC4DFEE14}" type="slidenum">
              <a:rPr lang="en-US" smtClean="0"/>
              <a:t>22</a:t>
            </a:fld>
            <a:endParaRPr lang="en-US" dirty="0"/>
          </a:p>
        </p:txBody>
      </p:sp>
      <p:graphicFrame>
        <p:nvGraphicFramePr>
          <p:cNvPr id="5" name="Table 4">
            <a:extLst>
              <a:ext uri="{FF2B5EF4-FFF2-40B4-BE49-F238E27FC236}">
                <a16:creationId xmlns:a16="http://schemas.microsoft.com/office/drawing/2014/main" id="{97CE479C-20B9-4BEB-B520-6FD1A058CB25}"/>
              </a:ext>
            </a:extLst>
          </p:cNvPr>
          <p:cNvGraphicFramePr>
            <a:graphicFrameLocks noGrp="1"/>
          </p:cNvGraphicFramePr>
          <p:nvPr>
            <p:extLst/>
          </p:nvPr>
        </p:nvGraphicFramePr>
        <p:xfrm>
          <a:off x="643812" y="1081086"/>
          <a:ext cx="10842172" cy="4114800"/>
        </p:xfrm>
        <a:graphic>
          <a:graphicData uri="http://schemas.openxmlformats.org/drawingml/2006/table">
            <a:tbl>
              <a:tblPr firstRow="1" bandRow="1">
                <a:tableStyleId>{616DA210-FB5B-4158-B5E0-FEB733F419BA}</a:tableStyleId>
              </a:tblPr>
              <a:tblGrid>
                <a:gridCol w="996518">
                  <a:extLst>
                    <a:ext uri="{9D8B030D-6E8A-4147-A177-3AD203B41FA5}">
                      <a16:colId xmlns:a16="http://schemas.microsoft.com/office/drawing/2014/main" val="1394717343"/>
                    </a:ext>
                  </a:extLst>
                </a:gridCol>
                <a:gridCol w="3846371">
                  <a:extLst>
                    <a:ext uri="{9D8B030D-6E8A-4147-A177-3AD203B41FA5}">
                      <a16:colId xmlns:a16="http://schemas.microsoft.com/office/drawing/2014/main" val="4072326938"/>
                    </a:ext>
                  </a:extLst>
                </a:gridCol>
                <a:gridCol w="5999283">
                  <a:extLst>
                    <a:ext uri="{9D8B030D-6E8A-4147-A177-3AD203B41FA5}">
                      <a16:colId xmlns:a16="http://schemas.microsoft.com/office/drawing/2014/main" val="1003515610"/>
                    </a:ext>
                  </a:extLst>
                </a:gridCol>
              </a:tblGrid>
              <a:tr h="395012">
                <a:tc>
                  <a:txBody>
                    <a:bodyPr/>
                    <a:lstStyle/>
                    <a:p>
                      <a:r>
                        <a:rPr lang="en-US" dirty="0"/>
                        <a:t>S. No.</a:t>
                      </a:r>
                    </a:p>
                  </a:txBody>
                  <a:tcPr/>
                </a:tc>
                <a:tc>
                  <a:txBody>
                    <a:bodyPr/>
                    <a:lstStyle/>
                    <a:p>
                      <a:r>
                        <a:rPr lang="en-US" dirty="0"/>
                        <a:t>Metric</a:t>
                      </a:r>
                    </a:p>
                  </a:txBody>
                  <a:tcPr/>
                </a:tc>
                <a:tc>
                  <a:txBody>
                    <a:bodyPr/>
                    <a:lstStyle/>
                    <a:p>
                      <a:r>
                        <a:rPr lang="en-US" dirty="0"/>
                        <a:t>Calculation</a:t>
                      </a:r>
                    </a:p>
                  </a:txBody>
                  <a:tcPr/>
                </a:tc>
                <a:extLst>
                  <a:ext uri="{0D108BD9-81ED-4DB2-BD59-A6C34878D82A}">
                    <a16:rowId xmlns:a16="http://schemas.microsoft.com/office/drawing/2014/main" val="3653209737"/>
                  </a:ext>
                </a:extLst>
              </a:tr>
              <a:tr h="1002724">
                <a:tc>
                  <a:txBody>
                    <a:bodyPr/>
                    <a:lstStyle/>
                    <a:p>
                      <a:r>
                        <a:rPr lang="en-US" dirty="0"/>
                        <a:t>6</a:t>
                      </a:r>
                    </a:p>
                  </a:txBody>
                  <a:tcPr/>
                </a:tc>
                <a:tc>
                  <a:txBody>
                    <a:bodyPr/>
                    <a:lstStyle/>
                    <a:p>
                      <a:r>
                        <a:rPr lang="en-US" dirty="0"/>
                        <a:t>New Patients</a:t>
                      </a:r>
                    </a:p>
                  </a:txBody>
                  <a:tcPr/>
                </a:tc>
                <a:tc>
                  <a:txBody>
                    <a:bodyPr/>
                    <a:lstStyle/>
                    <a:p>
                      <a:r>
                        <a:rPr lang="en-US" dirty="0"/>
                        <a:t>Take the sum of # of new patients for all treatment lines at product level and aggregate them at product group level</a:t>
                      </a:r>
                    </a:p>
                  </a:txBody>
                  <a:tcPr/>
                </a:tc>
                <a:extLst>
                  <a:ext uri="{0D108BD9-81ED-4DB2-BD59-A6C34878D82A}">
                    <a16:rowId xmlns:a16="http://schemas.microsoft.com/office/drawing/2014/main" val="970941825"/>
                  </a:ext>
                </a:extLst>
              </a:tr>
              <a:tr h="1002724">
                <a:tc>
                  <a:txBody>
                    <a:bodyPr/>
                    <a:lstStyle/>
                    <a:p>
                      <a:r>
                        <a:rPr lang="en-US" dirty="0"/>
                        <a:t>7</a:t>
                      </a:r>
                    </a:p>
                  </a:txBody>
                  <a:tcPr/>
                </a:tc>
                <a:tc>
                  <a:txBody>
                    <a:bodyPr/>
                    <a:lstStyle/>
                    <a:p>
                      <a:r>
                        <a:rPr lang="en-US" dirty="0"/>
                        <a:t>Accumulated Patients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Take the sum of # of accumulated patients for all treatment lines at product level and aggregate them at product group level</a:t>
                      </a:r>
                    </a:p>
                  </a:txBody>
                  <a:tcPr/>
                </a:tc>
                <a:extLst>
                  <a:ext uri="{0D108BD9-81ED-4DB2-BD59-A6C34878D82A}">
                    <a16:rowId xmlns:a16="http://schemas.microsoft.com/office/drawing/2014/main" val="66570959"/>
                  </a:ext>
                </a:extLst>
              </a:tr>
              <a:tr h="698868">
                <a:tc>
                  <a:txBody>
                    <a:bodyPr/>
                    <a:lstStyle/>
                    <a:p>
                      <a:r>
                        <a:rPr lang="en-US" dirty="0"/>
                        <a:t>8</a:t>
                      </a:r>
                    </a:p>
                  </a:txBody>
                  <a:tcPr/>
                </a:tc>
                <a:tc>
                  <a:txBody>
                    <a:bodyPr/>
                    <a:lstStyle/>
                    <a:p>
                      <a:r>
                        <a:rPr lang="en-US" dirty="0"/>
                        <a:t>Target Institution</a:t>
                      </a:r>
                    </a:p>
                  </a:txBody>
                  <a:tcPr/>
                </a:tc>
                <a:tc>
                  <a:txBody>
                    <a:bodyPr/>
                    <a:lstStyle/>
                    <a:p>
                      <a:r>
                        <a:rPr lang="en-US" dirty="0"/>
                        <a:t>Pick target institution flag on the basis of priority. Refer next section for detailed calculation</a:t>
                      </a:r>
                    </a:p>
                  </a:txBody>
                  <a:tcPr/>
                </a:tc>
                <a:extLst>
                  <a:ext uri="{0D108BD9-81ED-4DB2-BD59-A6C34878D82A}">
                    <a16:rowId xmlns:a16="http://schemas.microsoft.com/office/drawing/2014/main" val="2446342830"/>
                  </a:ext>
                </a:extLst>
              </a:tr>
              <a:tr h="1002724">
                <a:tc>
                  <a:txBody>
                    <a:bodyPr/>
                    <a:lstStyle/>
                    <a:p>
                      <a:r>
                        <a:rPr lang="en-US" dirty="0"/>
                        <a:t>9</a:t>
                      </a:r>
                    </a:p>
                  </a:txBody>
                  <a:tcPr/>
                </a:tc>
                <a:tc>
                  <a:txBody>
                    <a:bodyPr/>
                    <a:lstStyle/>
                    <a:p>
                      <a:r>
                        <a:rPr lang="en-US" dirty="0"/>
                        <a:t>Tier</a:t>
                      </a:r>
                    </a:p>
                  </a:txBody>
                  <a:tcPr/>
                </a:tc>
                <a:tc>
                  <a:txBody>
                    <a:bodyPr/>
                    <a:lstStyle/>
                    <a:p>
                      <a:r>
                        <a:rPr lang="en-US" dirty="0"/>
                        <a:t>Pick tier on the basis of priority. Refer next section; TBD ;One </a:t>
                      </a:r>
                      <a:r>
                        <a:rPr lang="en-US" dirty="0" err="1"/>
                        <a:t>insn</a:t>
                      </a:r>
                      <a:r>
                        <a:rPr lang="en-US" dirty="0"/>
                        <a:t> has 1 tier for one Product group will that be the same for HEMA prods.</a:t>
                      </a:r>
                    </a:p>
                  </a:txBody>
                  <a:tcPr/>
                </a:tc>
                <a:extLst>
                  <a:ext uri="{0D108BD9-81ED-4DB2-BD59-A6C34878D82A}">
                    <a16:rowId xmlns:a16="http://schemas.microsoft.com/office/drawing/2014/main" val="2919866039"/>
                  </a:ext>
                </a:extLst>
              </a:tr>
            </a:tbl>
          </a:graphicData>
        </a:graphic>
      </p:graphicFrame>
      <p:sp>
        <p:nvSpPr>
          <p:cNvPr id="6" name="Rectangle 5">
            <a:extLst>
              <a:ext uri="{FF2B5EF4-FFF2-40B4-BE49-F238E27FC236}">
                <a16:creationId xmlns:a16="http://schemas.microsoft.com/office/drawing/2014/main" id="{DCFA927B-B3EF-4A38-A964-63176866F733}"/>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ctr"/>
            <a:r>
              <a:rPr lang="en-US" sz="2000" dirty="0">
                <a:solidFill>
                  <a:schemeClr val="accent2">
                    <a:lumMod val="75000"/>
                  </a:schemeClr>
                </a:solidFill>
              </a:rPr>
              <a:t>Add new items and logic for counting Myeloma and Lymphoma detail activities </a:t>
            </a:r>
          </a:p>
          <a:p>
            <a:pPr algn="ctr">
              <a:lnSpc>
                <a:spcPct val="100000"/>
              </a:lnSpc>
            </a:pPr>
            <a:endParaRPr lang="en-US" sz="2000" dirty="0"/>
          </a:p>
        </p:txBody>
      </p:sp>
    </p:spTree>
    <p:extLst>
      <p:ext uri="{BB962C8B-B14F-4D97-AF65-F5344CB8AC3E}">
        <p14:creationId xmlns:p14="http://schemas.microsoft.com/office/powerpoint/2010/main" val="1652392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B98C6-6C8D-4D0A-87C3-E3C1D3A1DDFC}"/>
              </a:ext>
            </a:extLst>
          </p:cNvPr>
          <p:cNvSpPr>
            <a:spLocks noGrp="1"/>
          </p:cNvSpPr>
          <p:nvPr>
            <p:ph type="title"/>
          </p:nvPr>
        </p:nvSpPr>
        <p:spPr/>
        <p:txBody>
          <a:bodyPr/>
          <a:lstStyle/>
          <a:p>
            <a:r>
              <a:rPr lang="en-US" dirty="0"/>
              <a:t>Calculation of metric at product group level:</a:t>
            </a:r>
          </a:p>
        </p:txBody>
      </p:sp>
      <p:sp>
        <p:nvSpPr>
          <p:cNvPr id="3" name="Slide Number Placeholder 2">
            <a:extLst>
              <a:ext uri="{FF2B5EF4-FFF2-40B4-BE49-F238E27FC236}">
                <a16:creationId xmlns:a16="http://schemas.microsoft.com/office/drawing/2014/main" id="{3556D3FD-4B77-4DFF-9AC5-E3902EE57F38}"/>
              </a:ext>
            </a:extLst>
          </p:cNvPr>
          <p:cNvSpPr>
            <a:spLocks noGrp="1"/>
          </p:cNvSpPr>
          <p:nvPr>
            <p:ph type="sldNum" sz="quarter" idx="12"/>
          </p:nvPr>
        </p:nvSpPr>
        <p:spPr/>
        <p:txBody>
          <a:bodyPr/>
          <a:lstStyle/>
          <a:p>
            <a:fld id="{B58DE5F1-E0F9-4CCA-92B7-7A6FC4DFEE14}" type="slidenum">
              <a:rPr lang="en-US" smtClean="0"/>
              <a:t>23</a:t>
            </a:fld>
            <a:endParaRPr lang="en-US" dirty="0"/>
          </a:p>
        </p:txBody>
      </p:sp>
      <p:graphicFrame>
        <p:nvGraphicFramePr>
          <p:cNvPr id="5" name="Table 4">
            <a:extLst>
              <a:ext uri="{FF2B5EF4-FFF2-40B4-BE49-F238E27FC236}">
                <a16:creationId xmlns:a16="http://schemas.microsoft.com/office/drawing/2014/main" id="{97CE479C-20B9-4BEB-B520-6FD1A058CB25}"/>
              </a:ext>
            </a:extLst>
          </p:cNvPr>
          <p:cNvGraphicFramePr>
            <a:graphicFrameLocks noGrp="1"/>
          </p:cNvGraphicFramePr>
          <p:nvPr>
            <p:extLst/>
          </p:nvPr>
        </p:nvGraphicFramePr>
        <p:xfrm>
          <a:off x="643812" y="1081086"/>
          <a:ext cx="10842172" cy="2712720"/>
        </p:xfrm>
        <a:graphic>
          <a:graphicData uri="http://schemas.openxmlformats.org/drawingml/2006/table">
            <a:tbl>
              <a:tblPr firstRow="1" bandRow="1">
                <a:tableStyleId>{616DA210-FB5B-4158-B5E0-FEB733F419BA}</a:tableStyleId>
              </a:tblPr>
              <a:tblGrid>
                <a:gridCol w="996518">
                  <a:extLst>
                    <a:ext uri="{9D8B030D-6E8A-4147-A177-3AD203B41FA5}">
                      <a16:colId xmlns:a16="http://schemas.microsoft.com/office/drawing/2014/main" val="1394717343"/>
                    </a:ext>
                  </a:extLst>
                </a:gridCol>
                <a:gridCol w="3846371">
                  <a:extLst>
                    <a:ext uri="{9D8B030D-6E8A-4147-A177-3AD203B41FA5}">
                      <a16:colId xmlns:a16="http://schemas.microsoft.com/office/drawing/2014/main" val="4072326938"/>
                    </a:ext>
                  </a:extLst>
                </a:gridCol>
                <a:gridCol w="5999283">
                  <a:extLst>
                    <a:ext uri="{9D8B030D-6E8A-4147-A177-3AD203B41FA5}">
                      <a16:colId xmlns:a16="http://schemas.microsoft.com/office/drawing/2014/main" val="1003515610"/>
                    </a:ext>
                  </a:extLst>
                </a:gridCol>
              </a:tblGrid>
              <a:tr h="395012">
                <a:tc>
                  <a:txBody>
                    <a:bodyPr/>
                    <a:lstStyle/>
                    <a:p>
                      <a:r>
                        <a:rPr lang="en-US" dirty="0"/>
                        <a:t>S. No.</a:t>
                      </a:r>
                    </a:p>
                  </a:txBody>
                  <a:tcPr/>
                </a:tc>
                <a:tc>
                  <a:txBody>
                    <a:bodyPr/>
                    <a:lstStyle/>
                    <a:p>
                      <a:r>
                        <a:rPr lang="en-US" dirty="0"/>
                        <a:t>Metric</a:t>
                      </a:r>
                    </a:p>
                  </a:txBody>
                  <a:tcPr/>
                </a:tc>
                <a:tc>
                  <a:txBody>
                    <a:bodyPr/>
                    <a:lstStyle/>
                    <a:p>
                      <a:r>
                        <a:rPr lang="en-US" dirty="0"/>
                        <a:t>Calculation</a:t>
                      </a:r>
                    </a:p>
                  </a:txBody>
                  <a:tcPr/>
                </a:tc>
                <a:extLst>
                  <a:ext uri="{0D108BD9-81ED-4DB2-BD59-A6C34878D82A}">
                    <a16:rowId xmlns:a16="http://schemas.microsoft.com/office/drawing/2014/main" val="3653209737"/>
                  </a:ext>
                </a:extLst>
              </a:tr>
              <a:tr h="1306579">
                <a:tc>
                  <a:txBody>
                    <a:bodyPr/>
                    <a:lstStyle/>
                    <a:p>
                      <a:r>
                        <a:rPr lang="en-US" dirty="0"/>
                        <a:t>10</a:t>
                      </a:r>
                    </a:p>
                  </a:txBody>
                  <a:tcPr/>
                </a:tc>
                <a:tc>
                  <a:txBody>
                    <a:bodyPr/>
                    <a:lstStyle/>
                    <a:p>
                      <a:r>
                        <a:rPr lang="en-US" dirty="0"/>
                        <a:t>Doctor Segment</a:t>
                      </a:r>
                    </a:p>
                  </a:txBody>
                  <a:tcPr/>
                </a:tc>
                <a:tc>
                  <a:txBody>
                    <a:bodyPr/>
                    <a:lstStyle/>
                    <a:p>
                      <a:r>
                        <a:rPr lang="en-US" dirty="0"/>
                        <a:t>Pick Doctor Segment on the basis of priority. Refer next section; TBD; One </a:t>
                      </a:r>
                      <a:r>
                        <a:rPr lang="en-US" dirty="0" err="1"/>
                        <a:t>insn</a:t>
                      </a:r>
                      <a:r>
                        <a:rPr lang="en-US" dirty="0"/>
                        <a:t> has 1 </a:t>
                      </a:r>
                      <a:r>
                        <a:rPr lang="en-US" dirty="0" err="1"/>
                        <a:t>dr</a:t>
                      </a:r>
                      <a:r>
                        <a:rPr lang="en-US" dirty="0"/>
                        <a:t> seg for one Product group will that be the same for HEMA prods.</a:t>
                      </a:r>
                    </a:p>
                  </a:txBody>
                  <a:tcPr/>
                </a:tc>
                <a:extLst>
                  <a:ext uri="{0D108BD9-81ED-4DB2-BD59-A6C34878D82A}">
                    <a16:rowId xmlns:a16="http://schemas.microsoft.com/office/drawing/2014/main" val="1231325804"/>
                  </a:ext>
                </a:extLst>
              </a:tr>
              <a:tr h="1002724">
                <a:tc>
                  <a:txBody>
                    <a:bodyPr/>
                    <a:lstStyle/>
                    <a:p>
                      <a:r>
                        <a:rPr lang="en-US" dirty="0"/>
                        <a:t>11</a:t>
                      </a:r>
                    </a:p>
                  </a:txBody>
                  <a:tcPr/>
                </a:tc>
                <a:tc>
                  <a:txBody>
                    <a:bodyPr/>
                    <a:lstStyle/>
                    <a:p>
                      <a:r>
                        <a:rPr lang="en-US" dirty="0"/>
                        <a:t>Target Doctor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an </a:t>
                      </a:r>
                      <a:r>
                        <a:rPr lang="en-US" dirty="0" err="1"/>
                        <a:t>insn-dr</a:t>
                      </a:r>
                      <a:r>
                        <a:rPr lang="en-US" dirty="0"/>
                        <a:t> is Targeted for a product within product group then it should be targeted at product group level. Refer next section</a:t>
                      </a:r>
                    </a:p>
                  </a:txBody>
                  <a:tcPr/>
                </a:tc>
                <a:extLst>
                  <a:ext uri="{0D108BD9-81ED-4DB2-BD59-A6C34878D82A}">
                    <a16:rowId xmlns:a16="http://schemas.microsoft.com/office/drawing/2014/main" val="1735309735"/>
                  </a:ext>
                </a:extLst>
              </a:tr>
            </a:tbl>
          </a:graphicData>
        </a:graphic>
      </p:graphicFrame>
      <p:sp>
        <p:nvSpPr>
          <p:cNvPr id="6" name="Rectangle 5">
            <a:extLst>
              <a:ext uri="{FF2B5EF4-FFF2-40B4-BE49-F238E27FC236}">
                <a16:creationId xmlns:a16="http://schemas.microsoft.com/office/drawing/2014/main" id="{DAB3853E-368F-4981-A0F9-69C361266C29}"/>
              </a:ext>
            </a:extLst>
          </p:cNvPr>
          <p:cNvSpPr/>
          <p:nvPr/>
        </p:nvSpPr>
        <p:spPr>
          <a:xfrm>
            <a:off x="-2244" y="4102"/>
            <a:ext cx="12212335" cy="364067"/>
          </a:xfrm>
          <a:prstGeom prst="rect">
            <a:avLst/>
          </a:prstGeom>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en-US" sz="2000" dirty="0">
              <a:solidFill>
                <a:schemeClr val="accent2">
                  <a:lumMod val="75000"/>
                </a:schemeClr>
              </a:solidFill>
            </a:endParaRPr>
          </a:p>
          <a:p>
            <a:pPr algn="ctr"/>
            <a:r>
              <a:rPr lang="en-US" sz="2000" dirty="0">
                <a:solidFill>
                  <a:schemeClr val="accent2">
                    <a:lumMod val="75000"/>
                  </a:schemeClr>
                </a:solidFill>
              </a:rPr>
              <a:t>Add new items and logic for counting Myeloma and Lymphoma detail activities </a:t>
            </a:r>
          </a:p>
          <a:p>
            <a:pPr algn="ctr">
              <a:lnSpc>
                <a:spcPct val="100000"/>
              </a:lnSpc>
            </a:pPr>
            <a:endParaRPr lang="en-US" sz="2000" dirty="0"/>
          </a:p>
        </p:txBody>
      </p:sp>
    </p:spTree>
    <p:extLst>
      <p:ext uri="{BB962C8B-B14F-4D97-AF65-F5344CB8AC3E}">
        <p14:creationId xmlns:p14="http://schemas.microsoft.com/office/powerpoint/2010/main" val="1093453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ristol Myers Squibb">
  <a:themeElements>
    <a:clrScheme name="Bristol Myers Squibb Colors">
      <a:dk1>
        <a:srgbClr val="595454"/>
      </a:dk1>
      <a:lt1>
        <a:srgbClr val="FFFFFF"/>
      </a:lt1>
      <a:dk2>
        <a:srgbClr val="595454"/>
      </a:dk2>
      <a:lt2>
        <a:srgbClr val="EEE7E7"/>
      </a:lt2>
      <a:accent1>
        <a:srgbClr val="595454"/>
      </a:accent1>
      <a:accent2>
        <a:srgbClr val="FFD186"/>
      </a:accent2>
      <a:accent3>
        <a:srgbClr val="59FFB9"/>
      </a:accent3>
      <a:accent4>
        <a:srgbClr val="A69F9F"/>
      </a:accent4>
      <a:accent5>
        <a:srgbClr val="33D6F1"/>
      </a:accent5>
      <a:accent6>
        <a:srgbClr val="FDA97D"/>
      </a:accent6>
      <a:hlink>
        <a:srgbClr val="595454"/>
      </a:hlink>
      <a:folHlink>
        <a:srgbClr val="595454"/>
      </a:folHlink>
    </a:clrScheme>
    <a:fontScheme name="Bristol Myers Squibb Fonts">
      <a:majorFont>
        <a:latin typeface="Trebuchet MS"/>
        <a:ea typeface=""/>
        <a:cs typeface=""/>
      </a:majorFont>
      <a:minorFont>
        <a:latin typeface="Trebuchet MS"/>
        <a:ea typeface=""/>
        <a:cs typeface=""/>
      </a:minorFont>
    </a:fontScheme>
    <a:fmtScheme name="Bristol Myers Squibb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20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Trebuchet MS"/>
          <a:buChar char="•"/>
          <a:defRPr sz="2000"/>
        </a:defPPr>
      </a:lstStyle>
    </a:txDef>
  </a:objectDefaults>
  <a:extraClrSchemeLst/>
  <a:custClrLst>
    <a:custClr name="Purple">
      <a:srgbClr val="BE2BBB"/>
    </a:custClr>
    <a:custClr name="Dark Gray">
      <a:srgbClr val="595454"/>
    </a:custClr>
    <a:custClr name="Gray">
      <a:srgbClr val="A69F9F"/>
    </a:custClr>
    <a:custClr name="Light Gray">
      <a:srgbClr val="EEE7E7"/>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Amber 2">
      <a:srgbClr val="FFD186"/>
    </a:custClr>
    <a:custClr name="Amber 1">
      <a:srgbClr val="FFECCD"/>
    </a:custClr>
    <a:custClr name="Peach 2">
      <a:srgbClr val="FDA97D"/>
    </a:custClr>
    <a:custClr name="Peach 1">
      <a:srgbClr val="FEDCCA"/>
    </a:custClr>
    <a:custClr name="Sienna 2">
      <a:srgbClr val="CB7C78"/>
    </a:custClr>
    <a:custClr name="Sienna 1">
      <a:srgbClr val="DAC5C5"/>
    </a:custClr>
    <a:custClr name="Mint 2">
      <a:srgbClr val="59FFB9"/>
    </a:custClr>
    <a:custClr name="Mint 1">
      <a:srgbClr val="C5FFE6"/>
    </a:custClr>
    <a:custClr name="Aqua 2">
      <a:srgbClr val="33D6F1"/>
    </a:custClr>
    <a:custClr name="Aqua 1">
      <a:srgbClr val="C0F2FB"/>
    </a:custClr>
  </a:custClrLst>
  <a:extLst>
    <a:ext uri="{05A4C25C-085E-4340-85A3-A5531E510DB2}">
      <thm15:themeFamily xmlns:thm15="http://schemas.microsoft.com/office/thememl/2012/main" name="bms-powerpoint-template (003).potx  -  Read-Only" id="{FD796F40-B4E8-4A28-BDC1-591A47BED6E1}" vid="{65C418F9-8773-4E40-B745-46F14E9E8802}"/>
    </a:ext>
  </a:extLst>
</a:theme>
</file>

<file path=ppt/theme/theme2.xml><?xml version="1.0" encoding="utf-8"?>
<a:theme xmlns:a="http://schemas.openxmlformats.org/drawingml/2006/main" name="Bristol Myers Squibb">
  <a:themeElements>
    <a:clrScheme name="Bristol Myers Squibb Colors">
      <a:dk1>
        <a:srgbClr val="595454"/>
      </a:dk1>
      <a:lt1>
        <a:srgbClr val="FFFFFF"/>
      </a:lt1>
      <a:dk2>
        <a:srgbClr val="595454"/>
      </a:dk2>
      <a:lt2>
        <a:srgbClr val="EEE7E7"/>
      </a:lt2>
      <a:accent1>
        <a:srgbClr val="595454"/>
      </a:accent1>
      <a:accent2>
        <a:srgbClr val="FFD186"/>
      </a:accent2>
      <a:accent3>
        <a:srgbClr val="59FFB9"/>
      </a:accent3>
      <a:accent4>
        <a:srgbClr val="A69F9F"/>
      </a:accent4>
      <a:accent5>
        <a:srgbClr val="33D6F1"/>
      </a:accent5>
      <a:accent6>
        <a:srgbClr val="FDA97D"/>
      </a:accent6>
      <a:hlink>
        <a:srgbClr val="595454"/>
      </a:hlink>
      <a:folHlink>
        <a:srgbClr val="595454"/>
      </a:folHlink>
    </a:clrScheme>
    <a:fontScheme name="Bristol Myers Squibb Fonts">
      <a:majorFont>
        <a:latin typeface="Trebuchet MS"/>
        <a:ea typeface=""/>
        <a:cs typeface=""/>
      </a:majorFont>
      <a:minorFont>
        <a:latin typeface="Trebuchet MS"/>
        <a:ea typeface=""/>
        <a:cs typeface=""/>
      </a:minorFont>
    </a:fontScheme>
    <a:fmtScheme name="Bristol Myers Squibb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20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Trebuchet MS"/>
          <a:buChar char="•"/>
          <a:defRPr sz="2000"/>
        </a:defPPr>
      </a:lstStyle>
    </a:txDef>
  </a:objectDefaults>
  <a:extraClrSchemeLst/>
  <a:custClrLst>
    <a:custClr name="Purple">
      <a:srgbClr val="BE2BBB"/>
    </a:custClr>
    <a:custClr name="Dark Gray">
      <a:srgbClr val="595454"/>
    </a:custClr>
    <a:custClr name="Gray">
      <a:srgbClr val="A69F9F"/>
    </a:custClr>
    <a:custClr name="Light Gray">
      <a:srgbClr val="EEE7E7"/>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Amber 2">
      <a:srgbClr val="FFD186"/>
    </a:custClr>
    <a:custClr name="Amber 1">
      <a:srgbClr val="FFECCD"/>
    </a:custClr>
    <a:custClr name="Peach 2">
      <a:srgbClr val="FDA97D"/>
    </a:custClr>
    <a:custClr name="Peach 1">
      <a:srgbClr val="FEDCCA"/>
    </a:custClr>
    <a:custClr name="Sienna 2">
      <a:srgbClr val="CB7C78"/>
    </a:custClr>
    <a:custClr name="Sienna 1">
      <a:srgbClr val="DAC5C5"/>
    </a:custClr>
    <a:custClr name="Mint 2">
      <a:srgbClr val="59FFB9"/>
    </a:custClr>
    <a:custClr name="Mint 1">
      <a:srgbClr val="C5FFE6"/>
    </a:custClr>
    <a:custClr name="Aqua 2">
      <a:srgbClr val="33D6F1"/>
    </a:custClr>
    <a:custClr name="Aqua 1">
      <a:srgbClr val="C0F2FB"/>
    </a:custClr>
  </a:custClrLst>
</a:theme>
</file>

<file path=ppt/theme/theme3.xml><?xml version="1.0" encoding="utf-8"?>
<a:theme xmlns:a="http://schemas.openxmlformats.org/drawingml/2006/main" name="Bristol Myers Squibb">
  <a:themeElements>
    <a:clrScheme name="Bristol Myers Squibb Colors">
      <a:dk1>
        <a:srgbClr val="595454"/>
      </a:dk1>
      <a:lt1>
        <a:srgbClr val="FFFFFF"/>
      </a:lt1>
      <a:dk2>
        <a:srgbClr val="595454"/>
      </a:dk2>
      <a:lt2>
        <a:srgbClr val="EEE7E7"/>
      </a:lt2>
      <a:accent1>
        <a:srgbClr val="595454"/>
      </a:accent1>
      <a:accent2>
        <a:srgbClr val="FFD186"/>
      </a:accent2>
      <a:accent3>
        <a:srgbClr val="59FFB9"/>
      </a:accent3>
      <a:accent4>
        <a:srgbClr val="A69F9F"/>
      </a:accent4>
      <a:accent5>
        <a:srgbClr val="33D6F1"/>
      </a:accent5>
      <a:accent6>
        <a:srgbClr val="FDA97D"/>
      </a:accent6>
      <a:hlink>
        <a:srgbClr val="595454"/>
      </a:hlink>
      <a:folHlink>
        <a:srgbClr val="595454"/>
      </a:folHlink>
    </a:clrScheme>
    <a:fontScheme name="Bristol Myers Squibb Fonts">
      <a:majorFont>
        <a:latin typeface="Trebuchet MS"/>
        <a:ea typeface=""/>
        <a:cs typeface=""/>
      </a:majorFont>
      <a:minorFont>
        <a:latin typeface="Trebuchet MS"/>
        <a:ea typeface=""/>
        <a:cs typeface=""/>
      </a:minorFont>
    </a:fontScheme>
    <a:fmtScheme name="Bristol Myers Squibb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2000"/>
        </a:defPPr>
      </a:lstStyle>
      <a:style>
        <a:lnRef idx="0">
          <a:schemeClr val="accent1"/>
        </a:lnRef>
        <a:fillRef idx="1">
          <a:schemeClr val="accent1"/>
        </a:fillRef>
        <a:effectRef idx="0">
          <a:srgbClr val="000000"/>
        </a:effectRef>
        <a:fontRef idx="minor">
          <a:schemeClr val="lt1"/>
        </a:fontRef>
      </a:style>
    </a:spDef>
    <a:lnDef>
      <a:spPr>
        <a:ln w="12700" cap="sq"/>
      </a:spPr>
      <a:bodyPr/>
      <a:lstStyle/>
      <a:style>
        <a:lnRef idx="1">
          <a:schemeClr val="accent1"/>
        </a:lnRef>
        <a:fillRef idx="0">
          <a:schemeClr val="accent1"/>
        </a:fillRef>
        <a:effectRef idx="0">
          <a:srgbClr val="000000"/>
        </a:effectRef>
        <a:fontRef idx="minor">
          <a:schemeClr val="lt1"/>
        </a:fontRef>
      </a:style>
    </a:lnDef>
    <a:txDef>
      <a:spPr>
        <a:noFill/>
      </a:spPr>
      <a:bodyPr wrap="square" lIns="0" tIns="0" rIns="0" bIns="0" rtlCol="0">
        <a:noAutofit/>
      </a:bodyPr>
      <a:lstStyle>
        <a:defPPr marL="228600" indent="-228600">
          <a:lnSpc>
            <a:spcPct val="100000"/>
          </a:lnSpc>
          <a:spcBef>
            <a:spcPts val="1200"/>
          </a:spcBef>
          <a:buSzPct val="100000"/>
          <a:buFont typeface="Trebuchet MS"/>
          <a:buChar char="•"/>
          <a:defRPr sz="2000"/>
        </a:defPPr>
      </a:lstStyle>
    </a:txDef>
  </a:objectDefaults>
  <a:extraClrSchemeLst/>
  <a:custClrLst>
    <a:custClr name="Purple">
      <a:srgbClr val="BE2BBB"/>
    </a:custClr>
    <a:custClr name="Dark Gray">
      <a:srgbClr val="595454"/>
    </a:custClr>
    <a:custClr name="Gray">
      <a:srgbClr val="A69F9F"/>
    </a:custClr>
    <a:custClr name="Light Gray">
      <a:srgbClr val="EEE7E7"/>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Amber 2">
      <a:srgbClr val="FFD186"/>
    </a:custClr>
    <a:custClr name="Amber 1">
      <a:srgbClr val="FFECCD"/>
    </a:custClr>
    <a:custClr name="Peach 2">
      <a:srgbClr val="FDA97D"/>
    </a:custClr>
    <a:custClr name="Peach 1">
      <a:srgbClr val="FEDCCA"/>
    </a:custClr>
    <a:custClr name="Sienna 2">
      <a:srgbClr val="CB7C78"/>
    </a:custClr>
    <a:custClr name="Sienna 1">
      <a:srgbClr val="DAC5C5"/>
    </a:custClr>
    <a:custClr name="Mint 2">
      <a:srgbClr val="59FFB9"/>
    </a:custClr>
    <a:custClr name="Mint 1">
      <a:srgbClr val="C5FFE6"/>
    </a:custClr>
    <a:custClr name="Aqua 2">
      <a:srgbClr val="33D6F1"/>
    </a:custClr>
    <a:custClr name="Aqua 1">
      <a:srgbClr val="C0F2FB"/>
    </a:custClr>
  </a:custClrLst>
</a:theme>
</file>

<file path=docProps/app.xml><?xml version="1.0" encoding="utf-8"?>
<Properties xmlns="http://schemas.openxmlformats.org/officeDocument/2006/extended-properties" xmlns:vt="http://schemas.openxmlformats.org/officeDocument/2006/docPropsVTypes">
  <Template/>
  <TotalTime>16469</TotalTime>
  <Words>2835</Words>
  <Application>Microsoft Office PowerPoint</Application>
  <PresentationFormat>Widescreen</PresentationFormat>
  <Paragraphs>571</Paragraphs>
  <Slides>23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Yu Gothic</vt:lpstr>
      <vt:lpstr>Arial</vt:lpstr>
      <vt:lpstr>Calibri</vt:lpstr>
      <vt:lpstr>Century Gothic</vt:lpstr>
      <vt:lpstr>Tahoma</vt:lpstr>
      <vt:lpstr>Trebuchet MS</vt:lpstr>
      <vt:lpstr>Wingdings</vt:lpstr>
      <vt:lpstr>Bristol Myers Squibb</vt:lpstr>
      <vt:lpstr>PowerPoint Presentation</vt:lpstr>
      <vt:lpstr>C-SCAN: Approach to add new Celgene Products in Prescription Follow up as well as moving Survey level data to Prescription follow up Object for ONC1  :</vt:lpstr>
      <vt:lpstr>C-SCAN: Approach to add new Celgene Products in Prescription Follow up as well as moving Survey level data to Prescription follow up Object for ONC1</vt:lpstr>
      <vt:lpstr>C-SCAN: Approach to add new Celgene Products in Prescription Follow up:</vt:lpstr>
      <vt:lpstr>C-SCAN: Approach to add new Celgene Products in Patient Tracking Drilldown and C-SCOR Reports:</vt:lpstr>
      <vt:lpstr>C-SCAN: Approach to add new Celgene Products in Patient Tracking Drilldown and C-SCOR Reports:</vt:lpstr>
      <vt:lpstr>C-SCAN: Approach to add new Celgene Products in Patient Tracking Drilldown and C-SCOR Reports:</vt:lpstr>
      <vt:lpstr>C-SCAN: Approach to add new Celgene Products in Patient Tracking Drilldown and C-SCOR Reports:</vt:lpstr>
      <vt:lpstr>Provide ES Amount on the basis of NHI Price</vt:lpstr>
      <vt:lpstr>Summary of NHI price-based ES display change in CIRRUS related system and its impact to end-users</vt:lpstr>
      <vt:lpstr>ES Amount Calculation in C-SCOR Reports</vt:lpstr>
      <vt:lpstr>Calculation of EST and PLAN Sales</vt:lpstr>
      <vt:lpstr>C-SCAN: Approach to show daily level activity aggregation:</vt:lpstr>
      <vt:lpstr>C-SCAN Approach: Calculation of detail per call</vt:lpstr>
      <vt:lpstr>C-SCAN: Add new items and logic for counting Myeloma and Lymphoma detail activities</vt:lpstr>
      <vt:lpstr>C-SCAN: Add new items and logic for counting Myeloma and Lymphoma detail activities</vt:lpstr>
      <vt:lpstr>C-SCAN: Add new items and logic for counting Myeloma and Lymphoma detail activities</vt:lpstr>
      <vt:lpstr>C-SCAN: Add new items and logic for counting Myeloma and Lymphoma detail activities</vt:lpstr>
      <vt:lpstr>C-SCAN: Add new items and logic for counting Myeloma and Lymphoma detail activities</vt:lpstr>
      <vt:lpstr>C-SCAN: Add new items and logic for counting Myeloma and Lymphoma detail activities</vt:lpstr>
      <vt:lpstr>Calculation of metric at product group level:</vt:lpstr>
      <vt:lpstr>Calculation of metric at product group level:</vt:lpstr>
      <vt:lpstr>Calculation of metric at product group level:</vt:lpstr>
    </vt:vector>
  </TitlesOfParts>
  <Manager/>
  <Company>Bristol Myers Squibb</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abhay.sharma@zs.com</dc:creator>
  <cp:keywords/>
  <dc:description/>
  <cp:lastModifiedBy>Abhay Sharma</cp:lastModifiedBy>
  <cp:revision>759</cp:revision>
  <cp:lastPrinted>2019-10-06T00:46:52Z</cp:lastPrinted>
  <dcterms:created xsi:type="dcterms:W3CDTF">2020-03-30T05:57:22Z</dcterms:created>
  <dcterms:modified xsi:type="dcterms:W3CDTF">2020-10-22T17:29:42Z</dcterms:modified>
  <cp:category/>
</cp:coreProperties>
</file>